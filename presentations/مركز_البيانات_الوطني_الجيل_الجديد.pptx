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غلاف" id="{aeed6063-c77e-5848-300e-d1a89fc5e16e}">
          <p14:sldIdLst>
            <p14:sldId id="256"/>
          </p14:sldIdLst>
        </p14:section>
        <p14:section name="المحتويات" id="{0ca4c477-03d5-6bcc-817c-ae184ce2f7d2}">
          <p14:sldIdLst>
            <p14:sldId id="257"/>
          </p14:sldIdLst>
        </p14:section>
        <p14:section name="01 التعريف بالمشروع" id="{9312fbbb-71e4-b609-990f-258c78b29daf}">
          <p14:sldIdLst>
            <p14:sldId id="258"/>
            <p14:sldId id="259"/>
            <p14:sldId id="260"/>
            <p14:sldId id="261"/>
          </p14:sldIdLst>
        </p14:section>
        <p14:section name="02 نقاط القوة" id="{80a2ded3-da51-afbe-40a7-917176966899}">
          <p14:sldIdLst>
            <p14:sldId id="262"/>
            <p14:sldId id="263"/>
          </p14:sldIdLst>
        </p14:section>
        <p14:section name="03 تحليل SWOT" id="{72ee013f-50f0-401a-dd70-1fb4ec4afd73}">
          <p14:sldIdLst>
            <p14:sldId id="264"/>
          </p14:sldIdLst>
        </p14:section>
        <p14:section name="04 التكاليف الرأسمالية" id="{0f3c97d1-1d27-af84-8697-a7582da8fec3}">
          <p14:sldIdLst>
            <p14:sldId id="265"/>
            <p14:sldId id="266"/>
          </p14:sldIdLst>
        </p14:section>
        <p14:section name="05 التكاليف التشغيلية" id="{8fc85cbe-4433-53d3-cb32-5e6c935d4511}">
          <p14:sldIdLst>
            <p14:sldId id="267"/>
            <p14:sldId id="268"/>
          </p14:sldIdLst>
        </p14:section>
        <p14:section name="06 الإيرادات المتوقعة" id="{d0f30264-be4f-847a-5867-19bc40a3b0d2}">
          <p14:sldIdLst>
            <p14:sldId id="269"/>
            <p14:sldId id="270"/>
          </p14:sldIdLst>
        </p14:section>
        <p14:section name="07 المؤشرات المالية" id="{5bdfd066-d99f-36f3-87e9-165ed2944386}">
          <p14:sldIdLst>
            <p14:sldId id="271"/>
            <p14:sldId id="272"/>
          </p14:sldIdLst>
        </p14:section>
        <p14:section name="08 نماذج التمويل" id="{d9b6b09f-d4a8-89a6-c056-617ca97d8bd0}">
          <p14:sldIdLst>
            <p14:sldId id="273"/>
          </p14:sldIdLst>
        </p14:section>
        <p14:section name="09 النتائج الرئيسية" id="{ac5abcfd-80ae-5a16-0be3-8f21784694bd}">
          <p14:sldIdLst>
            <p14:sldId id="274"/>
            <p14:sldId id="275"/>
          </p14:sldIdLst>
        </p14:section>
        <p14:section name="10 التوصيات والفوائد" id="{9c5760ac-8096-ec30-13ba-ca911df9ada9}">
          <p14:sldIdLst>
            <p14:sldId id="276"/>
            <p14:sldId id="277"/>
          </p14:sldIdLst>
        </p14:section>
        <p14:section name="الختام" id="{e07a95c5-c635-79c6-f5b9-61b261b071f1}">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CAPEX</c:v>
                </c:pt>
              </c:strCache>
            </c:strRef>
          </c:tx>
          <c:spPr>
            <a:solidFill>
              <a:schemeClr val="accent1"/>
            </a:solidFill>
            <a:ln w="9525" cap="flat">
              <a:solidFill>
                <a:srgbClr val="F9F9F9"/>
              </a:solidFill>
              <a:prstDash val="solid"/>
              <a:round/>
            </a:ln>
            <a:effectLst/>
          </c:spPr>
          <c:dPt>
            <c:idx val="0"/>
            <c:bubble3D val="0"/>
            <c:spPr>
              <a:solidFill>
                <a:srgbClr val="F15524"/>
              </a:solidFill>
              <a:ln w="25400" cap="flat">
                <a:solidFill>
                  <a:srgbClr val="FFFFFF"/>
                </a:solidFill>
                <a:prstDash val="solid"/>
                <a:round/>
              </a:ln>
              <a:effectLst/>
            </c:spPr>
          </c:dPt>
          <c:dPt>
            <c:idx val="1"/>
            <c:bubble3D val="0"/>
            <c:spPr>
              <a:solidFill>
                <a:srgbClr val="00539B"/>
              </a:solidFill>
              <a:ln w="25400" cap="flat">
                <a:solidFill>
                  <a:srgbClr val="FFFFFF"/>
                </a:solidFill>
                <a:prstDash val="solid"/>
                <a:round/>
              </a:ln>
              <a:effectLst/>
            </c:spPr>
          </c:dPt>
          <c:dLbls>
            <c:dLbl>
              <c:idx val="0"/>
              <c:numFmt formatCode="0%" sourceLinked="0"/>
              <c:spPr/>
              <c:txPr>
                <a:bodyPr/>
                <a:lstStyle/>
                <a:p>
                  <a:pPr>
                    <a:defRPr sz="1200" b="1" i="0" u="none" strike="noStrike">
                      <a:solidFill>
                        <a:srgbClr val="FFFFFF"/>
                      </a:solidFill>
                      <a:latin typeface="JF Flat"/>
                    </a:defRPr>
                  </a:pPr>
                </a:p>
              </c:txPr>
              <c:showLegendKey val="0"/>
              <c:showVal val="0"/>
              <c:showCatName val="0"/>
              <c:showSerName val="0"/>
              <c:showPercent val="1"/>
              <c:showBubbleSize val="0"/>
            </c:dLbl>
            <c:dLbl>
              <c:idx val="1"/>
              <c:numFmt formatCode="0%" sourceLinked="0"/>
              <c:spPr/>
              <c:txPr>
                <a:bodyPr/>
                <a:lstStyle/>
                <a:p>
                  <a:pPr>
                    <a:defRPr sz="1200" b="1" i="0" u="none" strike="noStrike">
                      <a:solidFill>
                        <a:srgbClr val="FFFFFF"/>
                      </a:solidFill>
                      <a:latin typeface="JF Fla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المرحلة الأولى</c:v>
                </c:pt>
                <c:pt idx="1">
                  <c:v>المرحلة الثانية</c:v>
                </c:pt>
              </c:strCache>
            </c:strRef>
          </c:cat>
          <c:val>
            <c:numRef>
              <c:f>Sheet1!$B$2:$B$3</c:f>
              <c:numCache>
                <c:ptCount val="2"/>
                <c:pt idx="0">
                  <c:v>43890874</c:v>
                </c:pt>
                <c:pt idx="1">
                  <c:v>14022000</c:v>
                </c:pt>
              </c:numCache>
            </c:numRef>
          </c:val>
        </c:ser>
        <c:firstSliceAng val="0"/>
        <c:holeSize val="64"/>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الإيرادات</c:v>
                </c:pt>
              </c:strCache>
            </c:strRef>
          </c:tx>
          <c:spPr>
            <a:solidFill>
              <a:srgbClr val="00539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س1</c:v>
                  </c:pt>
                  <c:pt idx="1">
                    <c:v>س2</c:v>
                  </c:pt>
                  <c:pt idx="2">
                    <c:v>س3</c:v>
                  </c:pt>
                  <c:pt idx="3">
                    <c:v>س4</c:v>
                  </c:pt>
                  <c:pt idx="4">
                    <c:v>س5</c:v>
                  </c:pt>
                  <c:pt idx="5">
                    <c:v>س6</c:v>
                  </c:pt>
                  <c:pt idx="6">
                    <c:v>س7</c:v>
                  </c:pt>
                  <c:pt idx="7">
                    <c:v>س8</c:v>
                  </c:pt>
                  <c:pt idx="8">
                    <c:v>س9</c:v>
                  </c:pt>
                  <c:pt idx="9">
                    <c:v>س10</c:v>
                  </c:pt>
                  <c:pt idx="10">
                    <c:v>س11</c:v>
                  </c:pt>
                  <c:pt idx="11">
                    <c:v>س12</c:v>
                  </c:pt>
                </c:lvl>
              </c:multiLvlStrCache>
            </c:multiLvlStrRef>
          </c:cat>
          <c:val>
            <c:numRef>
              <c:f>Sheet1!$B$2:$B$13</c:f>
              <c:numCache>
                <c:formatCode>General</c:formatCode>
                <c:ptCount val="12"/>
                <c:pt idx="0">
                  <c:v>3.8</c:v>
                </c:pt>
                <c:pt idx="1">
                  <c:v>9.9</c:v>
                </c:pt>
                <c:pt idx="2">
                  <c:v>18</c:v>
                </c:pt>
                <c:pt idx="3">
                  <c:v>32.3</c:v>
                </c:pt>
                <c:pt idx="4">
                  <c:v>47.5</c:v>
                </c:pt>
                <c:pt idx="5">
                  <c:v>64.4</c:v>
                </c:pt>
                <c:pt idx="6">
                  <c:v>89.6</c:v>
                </c:pt>
                <c:pt idx="7">
                  <c:v>107.8</c:v>
                </c:pt>
                <c:pt idx="8">
                  <c:v>124.4</c:v>
                </c:pt>
                <c:pt idx="9">
                  <c:v>168.1</c:v>
                </c:pt>
                <c:pt idx="10">
                  <c:v>168.1</c:v>
                </c:pt>
                <c:pt idx="11">
                  <c:v>168.1</c:v>
                </c:pt>
              </c:numCache>
            </c:numRef>
          </c:val>
        </c:ser>
        <c:ser>
          <c:idx val="1"/>
          <c:order val="1"/>
          <c:tx>
            <c:strRef>
              <c:f>Sheet1!$C$1</c:f>
              <c:strCache>
                <c:ptCount val="1"/>
                <c:pt idx="0">
                  <c:v>المصروفات</c:v>
                </c:pt>
              </c:strCache>
            </c:strRef>
          </c:tx>
          <c:spPr>
            <a:solidFill>
              <a:srgbClr val="F1552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س1</c:v>
                  </c:pt>
                  <c:pt idx="1">
                    <c:v>س2</c:v>
                  </c:pt>
                  <c:pt idx="2">
                    <c:v>س3</c:v>
                  </c:pt>
                  <c:pt idx="3">
                    <c:v>س4</c:v>
                  </c:pt>
                  <c:pt idx="4">
                    <c:v>س5</c:v>
                  </c:pt>
                  <c:pt idx="5">
                    <c:v>س6</c:v>
                  </c:pt>
                  <c:pt idx="6">
                    <c:v>س7</c:v>
                  </c:pt>
                  <c:pt idx="7">
                    <c:v>س8</c:v>
                  </c:pt>
                  <c:pt idx="8">
                    <c:v>س9</c:v>
                  </c:pt>
                  <c:pt idx="9">
                    <c:v>س10</c:v>
                  </c:pt>
                  <c:pt idx="10">
                    <c:v>س11</c:v>
                  </c:pt>
                  <c:pt idx="11">
                    <c:v>س12</c:v>
                  </c:pt>
                </c:lvl>
              </c:multiLvlStrCache>
            </c:multiLvlStrRef>
          </c:cat>
          <c:val>
            <c:numRef>
              <c:f>Sheet1!$C$2:$C$13</c:f>
              <c:numCache>
                <c:formatCode>General</c:formatCode>
                <c:ptCount val="12"/>
                <c:pt idx="0">
                  <c:v>45.1</c:v>
                </c:pt>
                <c:pt idx="1">
                  <c:v>45.4</c:v>
                </c:pt>
                <c:pt idx="2">
                  <c:v>46.3</c:v>
                </c:pt>
                <c:pt idx="3">
                  <c:v>46.9</c:v>
                </c:pt>
                <c:pt idx="4">
                  <c:v>41.3</c:v>
                </c:pt>
                <c:pt idx="5">
                  <c:v>28.7</c:v>
                </c:pt>
                <c:pt idx="6">
                  <c:v>30.8</c:v>
                </c:pt>
                <c:pt idx="7">
                  <c:v>31.7</c:v>
                </c:pt>
                <c:pt idx="8">
                  <c:v>32.6</c:v>
                </c:pt>
                <c:pt idx="9">
                  <c:v>30</c:v>
                </c:pt>
                <c:pt idx="10">
                  <c:v>30</c:v>
                </c:pt>
                <c:pt idx="11">
                  <c:v>30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B6B7F"/>
                </a:solidFill>
                <a:latin typeface="JF Fla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9F1"/>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B7F"/>
                </a:solidFill>
                <a:latin typeface="JF Fla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1F2937"/>
              </a:solidFill>
              <a:latin typeface="JF Flat"/>
              <a:cs typeface="JF Fla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عرض تعريفي بمشروع إنشاء مركز البيانات الوطني لشركة الجيل الجديد للتقنية: مركز بقدرة 5.1 ميجاوات في طرابلس، وبتكلفة رأسمالية إجمالية تقارب 57.9 مليون دولار.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يستعرض العرض عشرة محاور تبدأ بالتعريف بالمشروع وتنتهي بالتوصيات والفوائد الاستراتيجية.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مركز البيانات منشأة تقنية متخصصة لاستضافة الخوادم والأنظمة وقواعد البيانات. حجم المشروع المخطط نحو 5.1 ميجاوات، والموقع المقترح مقر الشركة في طرابلس.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شكل (2): موقع مركز البيانات داخل مقر شركة الجيل الجديد للتقنية. أبعاد الموقع 50 × 70 متر، ويضم المبنى الجديد، وأربعة مولدات، ومنطقة للتبريد، ومدخلاً لوجستياً، ومدخلاً للأفراد، وسلّماً خارجياً للوصول إلى الطابق الأول.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شكل (3): أبعاد مركز البيانات. ارتفاع المبنى 14/16 متر، مساحة كل من الطابقين 0 و1 هي 30×55 = 3,300 م²، والطابق -1 هو 15×55 = 825 م²، بإجمالي 4,125 م². الطابق -1 لأنظمة الإطفاء والمستودع، الطابق 0 لمركز البيانات، الطابق 1 لمركز البيانات والخدمات اللوجستية والمكاتب، والسطح للتبريد الإضافي والألواح الشمسية، بارتفاع يصل إلى 6 أمتار للطابق.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خمسة محاور توضح أهمية المشروع: السيادة الرقمية، أمن المعلومات، الخدمات السحابية، كفاءة الإنفاق، والتكامل مع الشبكة الحكومية الآمنة ونقطة تبادل الإنترنت الوطنية.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نقاط القوة الاستراتيجية للشركة – القدرات والأصول المؤسسية: البنية التحتية للشبكات، التخصص التقني، الكوادر الفنية والتشغيلية، توفر الأرض والمساحات، السمعة المؤسسية، الخبرة في تنفيذ المشروعات، الدعم الفني والتشغيلي.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نقاط القوة الاستراتيجية للشركة – التكامل والخدمات الوطنية: توطين البيانات، إدارة حركة البيانات، مسارات الحماية، الشبكة الحكومية الآمنة، التكامل الحكومي، التكامل مع المشروعات القائمة، تحسين خدمات الإنترنت.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تحليل SWOT: نقاط القوة والضعف والفرص والتهديدات، مع الخلاصة الاستراتيجية بأن النجاح يتطلب ضمان الطلب وتأمين التمويل ورفع الاعتمادية.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إجمالي التكلفة الرأسمالية 57,912,874 دولار (371,800,651 دينار ليبي) بسعر صرف 6.42 دينار للدولار؛ المرحلة الأولى 43,890,874 دولار والمرحلة الثانية 14,022,000 دولار.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مكونات الاستثمار الرأسمالي تشمل الدراسات والمبنى والطاقة والتبريد وأنظمة الإدارة والشبكات والأمن السيبراني والتراخيص وإدارة المشروع. يستهدف تشغيل المرحلة الأولى خلال 18–24 شهراً.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بنود المصروفات التشغيلية العشرة وطبيعة كل منها. الكهرباء والتراخيص والبرمجيات والاستهلاك المحاسبي تمثل العناصر الرئيسية في التكلفة.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جدول المصروفات التشغيلية التقديرية لعشر سنوات وفق الجدول المالي بالدراسة. الصفوف المظللة: الكهرباء، التراخيص والبرمجيات، الاستهلاك.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جدول الإيرادات والمصروفات وصافي الربح والعائد من الاستثمار لمدة 12 سنة وفق دراسة الجدوى. الأرقام السالبة باللون الأحمر.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الرسم البياني يقارن الإيرادات بالمصروفات (بالمليون دينار) لمدة 12 سنة. تتجاوز الإيرادات المصروفات ابتداءً من السنة الخامسة. سبعة مصادر رئيسية للإيرادات، مع استهداف 412 جهة خلال عشر سنوات.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المؤشرات الرئيسية على أساس نقدي: فترة استرداد 11 سنة على أساس صافي الربح و9 سنوات على أساس التدفق النقدي، صافي القيمة الحالية 179,889,274 د.ل، ومتوسط عائد سنوي 18% نقدي و12% على صافي الربح.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نتائج النموذج المالي وملاحظة مهمة حول ضرورة مراجعة حسابات التدفقات والخصم قبل اعتماد المؤشرات نهائياً.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أربعة بدائل تمويلية: التمويل المباشر، الشراكة PPP، BOT، وتقاسم الإيرادات. التوجه المقترح إجراء مقارنة مالية وقانونية قبل الالتزام بنموذج واحد.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النتائج الرئيسية للمشروع: الأهمية الاستراتيجية، جاهزية الشركة، الفرص السوقية، التكلفة الاستثمارية.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النتائج الرئيسية للمشروع: الجدوى المالية، المخاطر والتحديات، البدائل التمويلية، البنية التحتية الكهربائية.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سبع توصيات تبدأ بالاعتماد الاستراتيجي للمشروع وتنتهي باستكمال الدراسات التفصيلية لاعتماد الاستثمار النهائي من الإدارة العليا.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الفوائد الاستراتيجية الخمس للمشروع.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شكراً لكم – نرحب بالأسئلة والنقاش.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CONTENT-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sets/logo.png">    </p:cNvPr>
          <p:cNvPicPr>
            <a:picLocks noChangeAspect="1"/>
          </p:cNvPicPr>
          <p:nvPr/>
        </p:nvPicPr>
        <p:blipFill>
          <a:blip r:embed="rId1"/>
          <a:stretch>
            <a:fillRect/>
          </a:stretch>
        </p:blipFill>
        <p:spPr>
          <a:xfrm>
            <a:off x="548640" y="365760"/>
            <a:ext cx="1188720" cy="683057"/>
          </a:xfrm>
          <a:prstGeom prst="rect">
            <a:avLst/>
          </a:prstGeom>
        </p:spPr>
      </p:pic>
      <p:sp>
        <p:nvSpPr>
          <p:cNvPr id="3" name="Text 0"/>
          <p:cNvSpPr/>
          <p:nvPr/>
        </p:nvSpPr>
        <p:spPr>
          <a:xfrm>
            <a:off x="4754880" y="6400800"/>
            <a:ext cx="6888175" cy="256032"/>
          </a:xfrm>
          <a:prstGeom prst="rect">
            <a:avLst/>
          </a:prstGeom>
          <a:noFill/>
          <a:ln/>
        </p:spPr>
        <p:txBody>
          <a:bodyPr wrap="square" lIns="0" tIns="0" rIns="0" bIns="0" rtlCol="0" anchor="ctr"/>
          <a:lstStyle/>
          <a:p>
            <a:pPr algn="r" indent="0" marL="0">
              <a:buNone/>
            </a:pPr>
            <a:r>
              <a:rPr lang="en-US" sz="1000" dirty="0">
                <a:solidFill>
                  <a:srgbClr val="8A9BB0"/>
                </a:solidFill>
                <a:latin typeface="JF Flat" pitchFamily="34" charset="0"/>
                <a:ea typeface="JF Flat" pitchFamily="34" charset="-122"/>
                <a:cs typeface="JF Flat" pitchFamily="34" charset="-120"/>
              </a:rPr>
              <a:t>مشروع إنشاء مركز البيانات الوطني  |  شركة الجيل الجديد للتقنية</a:t>
            </a:r>
            <a:endParaRPr lang="en-US" sz="1000" dirty="0"/>
          </a:p>
        </p:txBody>
      </p:sp>
      <p:sp>
        <p:nvSpPr>
          <p:cNvPr id="4" name="Text 1"/>
          <p:cNvSpPr/>
          <p:nvPr>
            <p:ph idx="102" type="body" hasCustomPrompt="1"/>
          </p:nvPr>
        </p:nvSpPr>
        <p:spPr>
          <a:xfrm>
            <a:off x="2103120" y="384048"/>
            <a:ext cx="9539935" cy="292608"/>
          </a:xfrm>
          <a:prstGeom prst="rect">
            <a:avLst/>
          </a:prstGeom>
          <a:noFill/>
          <a:ln/>
        </p:spPr>
        <p:txBody>
          <a:bodyPr wrap="square" rtlCol="0"/>
          <a:lstStyle>
            <a:lvl1pPr rtl="1" algn="r" indent="0" marL="0">
              <a:buNone/>
              <a:defRPr lang="en-US" sz="1300" b="1" dirty="0">
                <a:solidFill>
                  <a:srgbClr val="F15524"/>
                </a:solidFill>
                <a:latin typeface="JF Flat" pitchFamily="34" charset="0"/>
                <a:ea typeface="JF Flat" pitchFamily="34" charset="-122"/>
                <a:cs typeface="JF Flat" pitchFamily="34" charset="-120"/>
              </a:defRPr>
            </a:lvl1pPr>
          </a:lstStyle>
          <a:p>
            <a:pPr algn="r" indent="0" marL="0">
              <a:buNone/>
            </a:pPr>
            <a:endParaRPr lang="en-US" sz="1300" dirty="0"/>
          </a:p>
        </p:txBody>
      </p:sp>
      <p:sp>
        <p:nvSpPr>
          <p:cNvPr id="5" name="Text 1"/>
          <p:cNvSpPr/>
          <p:nvPr>
            <p:ph idx="103" type="title" hasCustomPrompt="1"/>
          </p:nvPr>
        </p:nvSpPr>
        <p:spPr>
          <a:xfrm>
            <a:off x="2103120" y="676656"/>
            <a:ext cx="9539935" cy="603504"/>
          </a:xfrm>
          <a:prstGeom prst="rect">
            <a:avLst/>
          </a:prstGeom>
          <a:noFill/>
          <a:ln/>
        </p:spPr>
        <p:txBody>
          <a:bodyPr wrap="square" rtlCol="0"/>
          <a:lstStyle>
            <a:lvl1pPr rtl="1" algn="r" indent="0" marL="0">
              <a:buNone/>
              <a:defRPr lang="en-US" sz="3000" b="1" dirty="0">
                <a:solidFill>
                  <a:srgbClr val="06305C"/>
                </a:solidFill>
                <a:latin typeface="JF Flat" pitchFamily="34" charset="0"/>
                <a:ea typeface="JF Flat" pitchFamily="34" charset="-122"/>
                <a:cs typeface="JF Flat" pitchFamily="34" charset="-120"/>
              </a:defRPr>
            </a:lvl1pPr>
          </a:lstStyle>
          <a:p>
            <a:pPr algn="r" indent="0" marL="0">
              <a:buNone/>
            </a:pPr>
            <a:endParaRPr lang="en-US" sz="3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sets/logo_white.png">    </p:cNvPr>
          <p:cNvPicPr>
            <a:picLocks noChangeAspect="1"/>
          </p:cNvPicPr>
          <p:nvPr/>
        </p:nvPicPr>
        <p:blipFill>
          <a:blip r:embed="rId1"/>
          <a:stretch>
            <a:fillRect/>
          </a:stretch>
        </p:blipFill>
        <p:spPr>
          <a:xfrm>
            <a:off x="548640" y="365760"/>
            <a:ext cx="1188720" cy="683057"/>
          </a:xfrm>
          <a:prstGeom prst="rect">
            <a:avLst/>
          </a:prstGeom>
        </p:spPr>
      </p:pic>
      <p:sp>
        <p:nvSpPr>
          <p:cNvPr id="3" name="Text 0"/>
          <p:cNvSpPr/>
          <p:nvPr>
            <p:ph idx="101" type="body" hasCustomPrompt="1"/>
          </p:nvPr>
        </p:nvSpPr>
        <p:spPr>
          <a:xfrm>
            <a:off x="2103120" y="384048"/>
            <a:ext cx="9539935" cy="292608"/>
          </a:xfrm>
          <a:prstGeom prst="rect">
            <a:avLst/>
          </a:prstGeom>
          <a:noFill/>
          <a:ln/>
        </p:spPr>
        <p:txBody>
          <a:bodyPr wrap="square" rtlCol="0"/>
          <a:lstStyle>
            <a:lvl1pPr rtl="1" algn="r" indent="0" marL="0">
              <a:buNone/>
              <a:defRPr lang="en-US" sz="1300" b="1" dirty="0">
                <a:solidFill>
                  <a:srgbClr val="F7941D"/>
                </a:solidFill>
                <a:latin typeface="JF Flat" pitchFamily="34" charset="0"/>
                <a:ea typeface="JF Flat" pitchFamily="34" charset="-122"/>
                <a:cs typeface="JF Flat" pitchFamily="34" charset="-120"/>
              </a:defRPr>
            </a:lvl1pPr>
          </a:lstStyle>
          <a:p>
            <a:pPr algn="r" indent="0" marL="0">
              <a:buNone/>
            </a:pPr>
            <a:endParaRPr lang="en-US" sz="1300" dirty="0"/>
          </a:p>
        </p:txBody>
      </p:sp>
      <p:sp>
        <p:nvSpPr>
          <p:cNvPr id="4" name="Text 0"/>
          <p:cNvSpPr/>
          <p:nvPr>
            <p:ph idx="102" type="title" hasCustomPrompt="1"/>
          </p:nvPr>
        </p:nvSpPr>
        <p:spPr>
          <a:xfrm>
            <a:off x="2103120" y="676656"/>
            <a:ext cx="9539935" cy="603504"/>
          </a:xfrm>
          <a:prstGeom prst="rect">
            <a:avLst/>
          </a:prstGeom>
          <a:noFill/>
          <a:ln/>
        </p:spPr>
        <p:txBody>
          <a:bodyPr wrap="square" rtlCol="0"/>
          <a:lstStyle>
            <a:lvl1pPr rtl="1" algn="r" indent="0" marL="0">
              <a:buNone/>
              <a:defRPr lang="en-US" sz="3000" b="1" dirty="0">
                <a:solidFill>
                  <a:srgbClr val="FFFFFF"/>
                </a:solidFill>
                <a:latin typeface="JF Flat" pitchFamily="34" charset="0"/>
                <a:ea typeface="JF Flat" pitchFamily="34" charset="-122"/>
                <a:cs typeface="JF Flat" pitchFamily="34" charset="-120"/>
              </a:defRPr>
            </a:lvl1pPr>
          </a:lstStyle>
          <a:p>
            <a:pPr algn="r" indent="0" marL="0">
              <a:buNone/>
            </a:pPr>
            <a:endParaRPr lang="en-US" sz="3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941D"/>
                </a:solidFill>
                <a:latin typeface="JF Flat"/>
                <a:ea typeface="JF Flat"/>
                <a:cs typeface="JF Flat"/>
              </a:defRPr>
            </a:lvl1pPr>
          </a:lstStyle>
          <a:p>
            <a:pPr algn="l"/>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4.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2.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slideLayout" Target="../slideLayouts/slideLayout2.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2.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image" Target="../media/image-15-6.png"/><Relationship Id="rId8" Type="http://schemas.openxmlformats.org/officeDocument/2006/relationships/image" Target="../media/image-15-7.png"/><Relationship Id="rId9" Type="http://schemas.openxmlformats.org/officeDocument/2006/relationships/slideLayout" Target="../slideLayouts/slideLayout2.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2.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slideLayout" Target="../slideLayouts/slideLayout2.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Logo" descr="assets/logo_white.png">    </p:cNvPr>
          <p:cNvPicPr>
            <a:picLocks noChangeAspect="1"/>
          </p:cNvPicPr>
          <p:nvPr/>
        </p:nvPicPr>
        <p:blipFill>
          <a:blip r:embed="rId1"/>
          <a:stretch>
            <a:fillRect/>
          </a:stretch>
        </p:blipFill>
        <p:spPr>
          <a:xfrm>
            <a:off x="9814255" y="457200"/>
            <a:ext cx="1828800" cy="1050646"/>
          </a:xfrm>
          <a:prstGeom prst="rect">
            <a:avLst/>
          </a:prstGeom>
        </p:spPr>
      </p:pic>
      <p:sp>
        <p:nvSpPr>
          <p:cNvPr id="3" name="Shape 0"/>
          <p:cNvSpPr/>
          <p:nvPr/>
        </p:nvSpPr>
        <p:spPr>
          <a:xfrm>
            <a:off x="493776" y="1455939"/>
            <a:ext cx="5870448" cy="3946122"/>
          </a:xfrm>
          <a:prstGeom prst="roundRect">
            <a:avLst>
              <a:gd name="adj" fmla="val 4634"/>
            </a:avLst>
          </a:prstGeom>
          <a:solidFill>
            <a:srgbClr val="FFFFFF">
              <a:alpha val="20000"/>
            </a:srgbClr>
          </a:solidFill>
          <a:ln w="12700">
            <a:solidFill>
              <a:srgbClr val="FFFFFF">
                <a:alpha val="40000"/>
              </a:srgbClr>
            </a:solidFill>
            <a:prstDash val="solid"/>
          </a:ln>
          <a:effectLst>
            <a:outerShdw sx="100000" sy="100000" kx="0" ky="0" algn="bl" rotWithShape="0" blurRad="228600" dist="76200" dir="5400000">
              <a:srgbClr val="000000">
                <a:alpha val="40000"/>
              </a:srgbClr>
            </a:outerShdw>
          </a:effectLst>
        </p:spPr>
      </p:sp>
      <p:pic>
        <p:nvPicPr>
          <p:cNvPr id="4" name="Image 1" descr="مبنى مركز البيانات الوطني">    </p:cNvPr>
          <p:cNvPicPr>
            <a:picLocks noChangeAspect="1"/>
          </p:cNvPicPr>
          <p:nvPr/>
        </p:nvPicPr>
        <p:blipFill>
          <a:blip r:embed="rId2"/>
          <a:stretch>
            <a:fillRect/>
          </a:stretch>
        </p:blipFill>
        <p:spPr>
          <a:xfrm>
            <a:off x="548640" y="1510803"/>
            <a:ext cx="5760720" cy="3836394"/>
          </a:xfrm>
          <a:prstGeom prst="rect">
            <a:avLst/>
          </a:prstGeom>
        </p:spPr>
      </p:pic>
      <p:sp>
        <p:nvSpPr>
          <p:cNvPr id="5" name="Text 1"/>
          <p:cNvSpPr txBox="1"/>
          <p:nvPr/>
        </p:nvSpPr>
        <p:spPr>
          <a:xfrm>
            <a:off x="6720840" y="1828800"/>
            <a:ext cx="4922215" cy="365760"/>
          </a:xfrm>
          <a:prstGeom prst="rect">
            <a:avLst/>
          </a:prstGeom>
          <a:noFill/>
          <a:ln/>
        </p:spPr>
        <p:txBody>
          <a:bodyPr wrap="square" lIns="0" tIns="0" rIns="0" bIns="0" rtlCol="0" anchor="t"/>
          <a:lstStyle/>
          <a:p>
            <a:pPr rtl="1" algn="r" indent="0" marL="0">
              <a:buNone/>
            </a:pPr>
            <a:r>
              <a:rPr lang="ar-SA" altLang="en-US" sz="1600" b="1" dirty="0">
                <a:solidFill>
                  <a:srgbClr val="F7941D"/>
                </a:solidFill>
                <a:latin typeface="JF Flat" pitchFamily="34" charset="0"/>
                <a:ea typeface="JF Flat" pitchFamily="34" charset="-122"/>
                <a:cs typeface="JF Flat" pitchFamily="34" charset="-120"/>
              </a:rPr>
              <a:t>عرض تعريفي  |  دراسة الجدوى</a:t>
            </a:r>
            <a:endParaRPr lang="ar-SA" sz="1600" dirty="0"/>
          </a:p>
        </p:txBody>
      </p:sp>
      <p:sp>
        <p:nvSpPr>
          <p:cNvPr id="6" name="Text 2"/>
          <p:cNvSpPr txBox="1"/>
          <p:nvPr/>
        </p:nvSpPr>
        <p:spPr>
          <a:xfrm>
            <a:off x="6720840" y="2240280"/>
            <a:ext cx="4922215" cy="1463040"/>
          </a:xfrm>
          <a:prstGeom prst="rect">
            <a:avLst/>
          </a:prstGeom>
          <a:noFill/>
          <a:ln/>
        </p:spPr>
        <p:txBody>
          <a:bodyPr wrap="square" lIns="0" tIns="0" rIns="0" bIns="0" rtlCol="0" anchor="ctr"/>
          <a:lstStyle/>
          <a:p>
            <a:pPr rtl="1" algn="r" indent="0" marL="0">
              <a:lnSpc>
                <a:spcPct val="95000"/>
              </a:lnSpc>
              <a:buNone/>
            </a:pPr>
            <a:r>
              <a:rPr lang="ar-SA" altLang="en-US" sz="3800" b="1" dirty="0">
                <a:solidFill>
                  <a:srgbClr val="FFFFFF"/>
                </a:solidFill>
                <a:latin typeface="JF Flat" pitchFamily="34" charset="0"/>
                <a:ea typeface="JF Flat" pitchFamily="34" charset="-122"/>
                <a:cs typeface="JF Flat" pitchFamily="34" charset="-120"/>
              </a:rPr>
              <a:t>مشروع إنشاء مركز</a:t>
            </a:r>
            <a:endParaRPr lang="ar-SA" sz="3800" dirty="0"/>
          </a:p>
          <a:p>
            <a:pPr rtl="1" algn="r" indent="0" marL="0">
              <a:lnSpc>
                <a:spcPct val="95000"/>
              </a:lnSpc>
              <a:buNone/>
            </a:pPr>
            <a:r>
              <a:rPr lang="ar-SA" altLang="en-US" sz="3800" b="1" dirty="0">
                <a:solidFill>
                  <a:srgbClr val="FFFFFF"/>
                </a:solidFill>
                <a:latin typeface="JF Flat" pitchFamily="34" charset="0"/>
                <a:ea typeface="JF Flat" pitchFamily="34" charset="-122"/>
                <a:cs typeface="JF Flat" pitchFamily="34" charset="-120"/>
              </a:rPr>
              <a:t>البيانات الوطني</a:t>
            </a:r>
            <a:endParaRPr lang="ar-SA" sz="3800" dirty="0"/>
          </a:p>
        </p:txBody>
      </p:sp>
      <p:sp>
        <p:nvSpPr>
          <p:cNvPr id="7" name="Text 3"/>
          <p:cNvSpPr txBox="1"/>
          <p:nvPr/>
        </p:nvSpPr>
        <p:spPr>
          <a:xfrm>
            <a:off x="6720840" y="3794760"/>
            <a:ext cx="4922215" cy="77724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C9DAEE"/>
                </a:solidFill>
                <a:latin typeface="JF Flat" pitchFamily="34" charset="0"/>
                <a:ea typeface="JF Flat" pitchFamily="34" charset="-122"/>
                <a:cs typeface="JF Flat" pitchFamily="34" charset="-120"/>
              </a:rPr>
              <a:t>بنية تحتية وطنية آمنة وموثوقة لاستضافة البيانات والأنظمة الحكومية، ودعم التحول الرقمي في ليبيا</a:t>
            </a:r>
            <a:endParaRPr lang="ar-SA" sz="1500" dirty="0"/>
          </a:p>
        </p:txBody>
      </p:sp>
      <p:sp>
        <p:nvSpPr>
          <p:cNvPr id="8" name="Shape 4"/>
          <p:cNvSpPr/>
          <p:nvPr/>
        </p:nvSpPr>
        <p:spPr>
          <a:xfrm>
            <a:off x="10180015" y="4754880"/>
            <a:ext cx="1463040" cy="457200"/>
          </a:xfrm>
          <a:prstGeom prst="roundRect">
            <a:avLst>
              <a:gd name="adj" fmla="val 50000"/>
            </a:avLst>
          </a:prstGeom>
          <a:solidFill>
            <a:srgbClr val="FFFFFF">
              <a:alpha val="12000"/>
            </a:srgbClr>
          </a:solidFill>
          <a:ln w="9525">
            <a:solidFill>
              <a:srgbClr val="FFFFFF">
                <a:alpha val="30000"/>
              </a:srgbClr>
            </a:solidFill>
            <a:prstDash val="solid"/>
          </a:ln>
        </p:spPr>
      </p:sp>
      <p:pic>
        <p:nvPicPr>
          <p:cNvPr id="9" name="Image 2" descr="preencoded.png">    </p:cNvPr>
          <p:cNvPicPr>
            <a:picLocks noChangeAspect="1"/>
          </p:cNvPicPr>
          <p:nvPr/>
        </p:nvPicPr>
        <p:blipFill>
          <a:blip r:embed="rId3"/>
          <a:stretch>
            <a:fillRect/>
          </a:stretch>
        </p:blipFill>
        <p:spPr>
          <a:xfrm>
            <a:off x="11277295" y="4864608"/>
            <a:ext cx="237744" cy="237744"/>
          </a:xfrm>
          <a:prstGeom prst="rect">
            <a:avLst/>
          </a:prstGeom>
        </p:spPr>
      </p:pic>
      <p:sp>
        <p:nvSpPr>
          <p:cNvPr id="10" name="Text 5"/>
          <p:cNvSpPr txBox="1"/>
          <p:nvPr/>
        </p:nvSpPr>
        <p:spPr>
          <a:xfrm>
            <a:off x="10253167" y="4754880"/>
            <a:ext cx="987552" cy="45720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JF Flat" pitchFamily="34" charset="0"/>
                <a:ea typeface="JF Flat" pitchFamily="34" charset="-122"/>
                <a:cs typeface="JF Flat" pitchFamily="34" charset="-120"/>
              </a:rPr>
              <a:t>5.1 ميجاوات</a:t>
            </a:r>
            <a:endParaRPr lang="ar-SA" sz="1200" dirty="0"/>
          </a:p>
        </p:txBody>
      </p:sp>
      <p:sp>
        <p:nvSpPr>
          <p:cNvPr id="11" name="Shape 6"/>
          <p:cNvSpPr/>
          <p:nvPr/>
        </p:nvSpPr>
        <p:spPr>
          <a:xfrm>
            <a:off x="8470087" y="4754880"/>
            <a:ext cx="1600200" cy="457200"/>
          </a:xfrm>
          <a:prstGeom prst="roundRect">
            <a:avLst>
              <a:gd name="adj" fmla="val 50000"/>
            </a:avLst>
          </a:prstGeom>
          <a:solidFill>
            <a:srgbClr val="FFFFFF">
              <a:alpha val="12000"/>
            </a:srgbClr>
          </a:solidFill>
          <a:ln w="9525">
            <a:solidFill>
              <a:srgbClr val="FFFFFF">
                <a:alpha val="30000"/>
              </a:srgbClr>
            </a:solidFill>
            <a:prstDash val="solid"/>
          </a:ln>
        </p:spPr>
      </p:sp>
      <p:pic>
        <p:nvPicPr>
          <p:cNvPr id="12" name="Image 3" descr="preencoded.png">    </p:cNvPr>
          <p:cNvPicPr>
            <a:picLocks noChangeAspect="1"/>
          </p:cNvPicPr>
          <p:nvPr/>
        </p:nvPicPr>
        <p:blipFill>
          <a:blip r:embed="rId4"/>
          <a:stretch>
            <a:fillRect/>
          </a:stretch>
        </p:blipFill>
        <p:spPr>
          <a:xfrm>
            <a:off x="9704527" y="4864608"/>
            <a:ext cx="237744" cy="237744"/>
          </a:xfrm>
          <a:prstGeom prst="rect">
            <a:avLst/>
          </a:prstGeom>
        </p:spPr>
      </p:pic>
      <p:sp>
        <p:nvSpPr>
          <p:cNvPr id="13" name="Text 7"/>
          <p:cNvSpPr txBox="1"/>
          <p:nvPr/>
        </p:nvSpPr>
        <p:spPr>
          <a:xfrm>
            <a:off x="8543239" y="4754880"/>
            <a:ext cx="1124712" cy="45720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JF Flat" pitchFamily="34" charset="0"/>
                <a:ea typeface="JF Flat" pitchFamily="34" charset="-122"/>
                <a:cs typeface="JF Flat" pitchFamily="34" charset="-120"/>
              </a:rPr>
              <a:t>طرابلس – ليبيا</a:t>
            </a:r>
            <a:endParaRPr lang="ar-SA" sz="1200" dirty="0"/>
          </a:p>
        </p:txBody>
      </p:sp>
      <p:sp>
        <p:nvSpPr>
          <p:cNvPr id="14" name="Shape 8"/>
          <p:cNvSpPr/>
          <p:nvPr/>
        </p:nvSpPr>
        <p:spPr>
          <a:xfrm>
            <a:off x="6531559" y="4754880"/>
            <a:ext cx="1828800" cy="457200"/>
          </a:xfrm>
          <a:prstGeom prst="roundRect">
            <a:avLst>
              <a:gd name="adj" fmla="val 50000"/>
            </a:avLst>
          </a:prstGeom>
          <a:solidFill>
            <a:srgbClr val="FFFFFF">
              <a:alpha val="12000"/>
            </a:srgbClr>
          </a:solidFill>
          <a:ln w="9525">
            <a:solidFill>
              <a:srgbClr val="FFFFFF">
                <a:alpha val="30000"/>
              </a:srgbClr>
            </a:solidFill>
            <a:prstDash val="solid"/>
          </a:ln>
        </p:spPr>
      </p:sp>
      <p:pic>
        <p:nvPicPr>
          <p:cNvPr id="15" name="Image 4" descr="preencoded.png">    </p:cNvPr>
          <p:cNvPicPr>
            <a:picLocks noChangeAspect="1"/>
          </p:cNvPicPr>
          <p:nvPr/>
        </p:nvPicPr>
        <p:blipFill>
          <a:blip r:embed="rId5"/>
          <a:stretch>
            <a:fillRect/>
          </a:stretch>
        </p:blipFill>
        <p:spPr>
          <a:xfrm>
            <a:off x="7994599" y="4864608"/>
            <a:ext cx="237744" cy="237744"/>
          </a:xfrm>
          <a:prstGeom prst="rect">
            <a:avLst/>
          </a:prstGeom>
        </p:spPr>
      </p:pic>
      <p:sp>
        <p:nvSpPr>
          <p:cNvPr id="16" name="Text 9"/>
          <p:cNvSpPr txBox="1"/>
          <p:nvPr/>
        </p:nvSpPr>
        <p:spPr>
          <a:xfrm>
            <a:off x="6604711" y="4754880"/>
            <a:ext cx="1353312" cy="457200"/>
          </a:xfrm>
          <a:prstGeom prst="rect">
            <a:avLst/>
          </a:prstGeom>
          <a:noFill/>
          <a:ln/>
        </p:spPr>
        <p:txBody>
          <a:bodyPr wrap="square" lIns="0" tIns="0" rIns="0" bIns="0" rtlCol="0" anchor="ctr"/>
          <a:lstStyle/>
          <a:p>
            <a:pPr rtl="1" algn="ctr" indent="0" marL="0">
              <a:buNone/>
            </a:pPr>
            <a:r>
              <a:rPr lang="ar-SA" altLang="en-US" sz="1200" b="1" dirty="0">
                <a:solidFill>
                  <a:srgbClr val="FFFFFF"/>
                </a:solidFill>
                <a:latin typeface="JF Flat" pitchFamily="34" charset="0"/>
                <a:ea typeface="JF Flat" pitchFamily="34" charset="-122"/>
                <a:cs typeface="JF Flat" pitchFamily="34" charset="-120"/>
              </a:rPr>
              <a:t>57.9 مليون دولار</a:t>
            </a:r>
            <a:endParaRPr lang="ar-SA" sz="1200" dirty="0"/>
          </a:p>
        </p:txBody>
      </p:sp>
      <p:sp>
        <p:nvSpPr>
          <p:cNvPr id="17" name="Text 10"/>
          <p:cNvSpPr txBox="1"/>
          <p:nvPr/>
        </p:nvSpPr>
        <p:spPr>
          <a:xfrm>
            <a:off x="6720840" y="5852160"/>
            <a:ext cx="4922215" cy="320040"/>
          </a:xfrm>
          <a:prstGeom prst="rect">
            <a:avLst/>
          </a:prstGeom>
          <a:noFill/>
          <a:ln/>
        </p:spPr>
        <p:txBody>
          <a:bodyPr wrap="square" lIns="0" tIns="0" rIns="0" bIns="0" rtlCol="0" anchor="t"/>
          <a:lstStyle/>
          <a:p>
            <a:pPr rtl="1" algn="r" indent="0" marL="0">
              <a:buNone/>
            </a:pPr>
            <a:r>
              <a:rPr lang="ar-SA" altLang="en-US" sz="1400" b="1" dirty="0">
                <a:solidFill>
                  <a:srgbClr val="FFFFFF"/>
                </a:solidFill>
                <a:latin typeface="JF Flat" pitchFamily="34" charset="0"/>
                <a:ea typeface="JF Flat" pitchFamily="34" charset="-122"/>
                <a:cs typeface="JF Flat" pitchFamily="34" charset="-120"/>
              </a:rPr>
              <a:t>شركة الجيل الجديد للتقنية</a:t>
            </a:r>
            <a:endParaRPr lang="ar-SA" sz="1400" dirty="0"/>
          </a:p>
        </p:txBody>
      </p:sp>
      <p:sp>
        <p:nvSpPr>
          <p:cNvPr id="18" name="Text 11"/>
          <p:cNvSpPr txBox="1"/>
          <p:nvPr/>
        </p:nvSpPr>
        <p:spPr>
          <a:xfrm>
            <a:off x="6720840" y="6172200"/>
            <a:ext cx="4922215" cy="256032"/>
          </a:xfrm>
          <a:prstGeom prst="rect">
            <a:avLst/>
          </a:prstGeom>
          <a:noFill/>
          <a:ln/>
        </p:spPr>
        <p:txBody>
          <a:bodyPr wrap="square" lIns="0" tIns="0" rIns="0" bIns="0" rtlCol="0" anchor="t"/>
          <a:lstStyle/>
          <a:p>
            <a:pPr algn="r" indent="0" marL="0">
              <a:buNone/>
            </a:pPr>
            <a:r>
              <a:rPr lang="ar-SA" altLang="en-US" sz="1000" spc="200" kern="0" dirty="0">
                <a:solidFill>
                  <a:srgbClr val="8FB0D6"/>
                </a:solidFill>
                <a:latin typeface="JF Flat" pitchFamily="34" charset="0"/>
                <a:ea typeface="JF Flat" pitchFamily="34" charset="-122"/>
                <a:cs typeface="JF Flat" pitchFamily="34" charset="-120"/>
              </a:rPr>
              <a:t>ALJEEL ALJADEED FOR TECHNOLOGY</a:t>
            </a:r>
            <a:endParaRPr lang="ar-SA"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محاور العرض</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المحتويات</a:t>
            </a:r>
            <a:endParaRPr lang="en-US" sz="3000" dirty="0"/>
          </a:p>
        </p:txBody>
      </p:sp>
      <p:sp>
        <p:nvSpPr>
          <p:cNvPr id="4" name="!!card0"/>
          <p:cNvSpPr/>
          <p:nvPr/>
        </p:nvSpPr>
        <p:spPr>
          <a:xfrm>
            <a:off x="548640" y="1600200"/>
            <a:ext cx="3291840" cy="4526280"/>
          </a:xfrm>
          <a:prstGeom prst="roundRect">
            <a:avLst>
              <a:gd name="adj" fmla="val 2778"/>
            </a:avLst>
          </a:prstGeom>
          <a:solidFill>
            <a:srgbClr val="06305C"/>
          </a:solidFill>
          <a:ln w="12700">
            <a:solidFill>
              <a:srgbClr val="06305C"/>
            </a:solidFill>
            <a:prstDash val="solid"/>
          </a:ln>
        </p:spPr>
      </p:sp>
      <p:pic>
        <p:nvPicPr>
          <p:cNvPr id="5" name="Image 0" descr="preencoded.png">    </p:cNvPr>
          <p:cNvPicPr>
            <a:picLocks noChangeAspect="1"/>
          </p:cNvPicPr>
          <p:nvPr/>
        </p:nvPicPr>
        <p:blipFill>
          <a:blip r:embed="rId1"/>
          <a:stretch>
            <a:fillRect/>
          </a:stretch>
        </p:blipFill>
        <p:spPr>
          <a:xfrm>
            <a:off x="1691640" y="2148840"/>
            <a:ext cx="1005840" cy="1005840"/>
          </a:xfrm>
          <a:prstGeom prst="rect">
            <a:avLst/>
          </a:prstGeom>
        </p:spPr>
      </p:pic>
      <p:sp>
        <p:nvSpPr>
          <p:cNvPr id="6" name="Text 3"/>
          <p:cNvSpPr txBox="1"/>
          <p:nvPr/>
        </p:nvSpPr>
        <p:spPr>
          <a:xfrm>
            <a:off x="822960" y="3429000"/>
            <a:ext cx="2743200" cy="914400"/>
          </a:xfrm>
          <a:prstGeom prst="rect">
            <a:avLst/>
          </a:prstGeom>
          <a:noFill/>
          <a:ln/>
        </p:spPr>
        <p:txBody>
          <a:bodyPr wrap="square" lIns="0" tIns="0" rIns="0" bIns="0" rtlCol="0" anchor="t"/>
          <a:lstStyle/>
          <a:p>
            <a:pPr algn="ctr" indent="0" marL="0">
              <a:buNone/>
            </a:pPr>
            <a:r>
              <a:rPr lang="ar-SA" altLang="en-US" sz="6000" b="1" dirty="0">
                <a:solidFill>
                  <a:srgbClr val="FFFFFF"/>
                </a:solidFill>
                <a:latin typeface="JF Flat" pitchFamily="34" charset="0"/>
                <a:ea typeface="JF Flat" pitchFamily="34" charset="-122"/>
                <a:cs typeface="JF Flat" pitchFamily="34" charset="-120"/>
              </a:rPr>
              <a:t>10</a:t>
            </a:r>
            <a:endParaRPr lang="ar-SA" sz="6000" dirty="0"/>
          </a:p>
        </p:txBody>
      </p:sp>
      <p:sp>
        <p:nvSpPr>
          <p:cNvPr id="7" name="Text 4"/>
          <p:cNvSpPr txBox="1"/>
          <p:nvPr/>
        </p:nvSpPr>
        <p:spPr>
          <a:xfrm>
            <a:off x="868680" y="4434840"/>
            <a:ext cx="2651760" cy="822960"/>
          </a:xfrm>
          <a:prstGeom prst="rect">
            <a:avLst/>
          </a:prstGeom>
          <a:noFill/>
          <a:ln/>
        </p:spPr>
        <p:txBody>
          <a:bodyPr wrap="square" lIns="0" tIns="0" rIns="0" bIns="0" rtlCol="0" anchor="t"/>
          <a:lstStyle/>
          <a:p>
            <a:pPr rtl="1" algn="ctr" indent="0" marL="0">
              <a:buNone/>
            </a:pPr>
            <a:r>
              <a:rPr lang="ar-SA" altLang="en-US" sz="1400" dirty="0">
                <a:solidFill>
                  <a:srgbClr val="C9DAEE"/>
                </a:solidFill>
                <a:latin typeface="JF Flat" pitchFamily="34" charset="0"/>
                <a:ea typeface="JF Flat" pitchFamily="34" charset="-122"/>
                <a:cs typeface="JF Flat" pitchFamily="34" charset="-120"/>
              </a:rPr>
              <a:t>محاور تغطي الجوانب الاستراتيجية والفنية والمالية للمشروع</a:t>
            </a:r>
            <a:endParaRPr lang="ar-SA" sz="1400" dirty="0"/>
          </a:p>
        </p:txBody>
      </p:sp>
      <p:sp>
        <p:nvSpPr>
          <p:cNvPr id="8" name="!!card1"/>
          <p:cNvSpPr/>
          <p:nvPr/>
        </p:nvSpPr>
        <p:spPr>
          <a:xfrm>
            <a:off x="7939735" y="1600200"/>
            <a:ext cx="3703320" cy="749808"/>
          </a:xfrm>
          <a:prstGeom prst="roundRect">
            <a:avLst>
              <a:gd name="adj" fmla="val 12195"/>
            </a:avLst>
          </a:prstGeom>
          <a:solidFill>
            <a:srgbClr val="F4F7FB"/>
          </a:solidFill>
          <a:ln w="9525">
            <a:solidFill>
              <a:srgbClr val="D6DFEA"/>
            </a:solidFill>
            <a:prstDash val="solid"/>
          </a:ln>
        </p:spPr>
      </p:sp>
      <p:sp>
        <p:nvSpPr>
          <p:cNvPr id="9" name="!!dot0"/>
          <p:cNvSpPr/>
          <p:nvPr/>
        </p:nvSpPr>
        <p:spPr>
          <a:xfrm>
            <a:off x="11048695" y="1719072"/>
            <a:ext cx="512064" cy="512064"/>
          </a:xfrm>
          <a:prstGeom prst="ellipse">
            <a:avLst/>
          </a:prstGeom>
          <a:solidFill>
            <a:srgbClr val="F15524"/>
          </a:solidFill>
          <a:ln w="12700">
            <a:solidFill>
              <a:srgbClr val="F15524"/>
            </a:solidFill>
            <a:prstDash val="solid"/>
          </a:ln>
        </p:spPr>
      </p:sp>
      <p:sp>
        <p:nvSpPr>
          <p:cNvPr id="10" name="Text 7"/>
          <p:cNvSpPr txBox="1"/>
          <p:nvPr/>
        </p:nvSpPr>
        <p:spPr>
          <a:xfrm>
            <a:off x="11048695" y="171907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01</a:t>
            </a:r>
            <a:endParaRPr lang="en-US" sz="1500" dirty="0"/>
          </a:p>
        </p:txBody>
      </p:sp>
      <p:sp>
        <p:nvSpPr>
          <p:cNvPr id="11" name="Text 8"/>
          <p:cNvSpPr txBox="1"/>
          <p:nvPr/>
        </p:nvSpPr>
        <p:spPr>
          <a:xfrm>
            <a:off x="8122615" y="1600200"/>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التعريف بمشروع مركز البيانات الوطني</a:t>
            </a:r>
            <a:endParaRPr lang="ar-SA" sz="1500" dirty="0"/>
          </a:p>
        </p:txBody>
      </p:sp>
      <p:sp>
        <p:nvSpPr>
          <p:cNvPr id="12" name="!!card2"/>
          <p:cNvSpPr/>
          <p:nvPr/>
        </p:nvSpPr>
        <p:spPr>
          <a:xfrm>
            <a:off x="7939735" y="2505456"/>
            <a:ext cx="3703320" cy="749808"/>
          </a:xfrm>
          <a:prstGeom prst="roundRect">
            <a:avLst>
              <a:gd name="adj" fmla="val 12195"/>
            </a:avLst>
          </a:prstGeom>
          <a:solidFill>
            <a:srgbClr val="FFFFFF"/>
          </a:solidFill>
          <a:ln w="9525">
            <a:solidFill>
              <a:srgbClr val="D6DFEA"/>
            </a:solidFill>
            <a:prstDash val="solid"/>
          </a:ln>
        </p:spPr>
      </p:sp>
      <p:sp>
        <p:nvSpPr>
          <p:cNvPr id="13" name="!!dot1"/>
          <p:cNvSpPr/>
          <p:nvPr/>
        </p:nvSpPr>
        <p:spPr>
          <a:xfrm>
            <a:off x="11048695" y="2624328"/>
            <a:ext cx="512064" cy="512064"/>
          </a:xfrm>
          <a:prstGeom prst="ellipse">
            <a:avLst/>
          </a:prstGeom>
          <a:solidFill>
            <a:srgbClr val="F15524"/>
          </a:solidFill>
          <a:ln w="12700">
            <a:solidFill>
              <a:srgbClr val="F15524"/>
            </a:solidFill>
            <a:prstDash val="solid"/>
          </a:ln>
        </p:spPr>
      </p:sp>
      <p:sp>
        <p:nvSpPr>
          <p:cNvPr id="14" name="Text 11"/>
          <p:cNvSpPr txBox="1"/>
          <p:nvPr/>
        </p:nvSpPr>
        <p:spPr>
          <a:xfrm>
            <a:off x="11048695" y="262432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02</a:t>
            </a:r>
            <a:endParaRPr lang="en-US" sz="1500" dirty="0"/>
          </a:p>
        </p:txBody>
      </p:sp>
      <p:sp>
        <p:nvSpPr>
          <p:cNvPr id="15" name="Text 12"/>
          <p:cNvSpPr txBox="1"/>
          <p:nvPr/>
        </p:nvSpPr>
        <p:spPr>
          <a:xfrm>
            <a:off x="8122615" y="2505456"/>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نقاط القوة الاستراتيجية للشركة</a:t>
            </a:r>
            <a:endParaRPr lang="ar-SA" sz="1500" dirty="0"/>
          </a:p>
        </p:txBody>
      </p:sp>
      <p:sp>
        <p:nvSpPr>
          <p:cNvPr id="16" name="!!card3"/>
          <p:cNvSpPr/>
          <p:nvPr/>
        </p:nvSpPr>
        <p:spPr>
          <a:xfrm>
            <a:off x="7939735" y="3410712"/>
            <a:ext cx="3703320" cy="749808"/>
          </a:xfrm>
          <a:prstGeom prst="roundRect">
            <a:avLst>
              <a:gd name="adj" fmla="val 12195"/>
            </a:avLst>
          </a:prstGeom>
          <a:solidFill>
            <a:srgbClr val="F4F7FB"/>
          </a:solidFill>
          <a:ln w="9525">
            <a:solidFill>
              <a:srgbClr val="D6DFEA"/>
            </a:solidFill>
            <a:prstDash val="solid"/>
          </a:ln>
        </p:spPr>
      </p:sp>
      <p:sp>
        <p:nvSpPr>
          <p:cNvPr id="17" name="!!dot2"/>
          <p:cNvSpPr/>
          <p:nvPr/>
        </p:nvSpPr>
        <p:spPr>
          <a:xfrm>
            <a:off x="11048695" y="3529584"/>
            <a:ext cx="512064" cy="512064"/>
          </a:xfrm>
          <a:prstGeom prst="ellipse">
            <a:avLst/>
          </a:prstGeom>
          <a:solidFill>
            <a:srgbClr val="F15524"/>
          </a:solidFill>
          <a:ln w="12700">
            <a:solidFill>
              <a:srgbClr val="F15524"/>
            </a:solidFill>
            <a:prstDash val="solid"/>
          </a:ln>
        </p:spPr>
      </p:sp>
      <p:sp>
        <p:nvSpPr>
          <p:cNvPr id="18" name="Text 15"/>
          <p:cNvSpPr txBox="1"/>
          <p:nvPr/>
        </p:nvSpPr>
        <p:spPr>
          <a:xfrm>
            <a:off x="11048695" y="352958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03</a:t>
            </a:r>
            <a:endParaRPr lang="en-US" sz="1500" dirty="0"/>
          </a:p>
        </p:txBody>
      </p:sp>
      <p:sp>
        <p:nvSpPr>
          <p:cNvPr id="19" name="Text 16"/>
          <p:cNvSpPr txBox="1"/>
          <p:nvPr/>
        </p:nvSpPr>
        <p:spPr>
          <a:xfrm>
            <a:off x="8122615" y="3410712"/>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تحليل SWOT للمشروع</a:t>
            </a:r>
            <a:endParaRPr lang="ar-SA" sz="1500" dirty="0"/>
          </a:p>
        </p:txBody>
      </p:sp>
      <p:sp>
        <p:nvSpPr>
          <p:cNvPr id="20" name="!!card4"/>
          <p:cNvSpPr/>
          <p:nvPr/>
        </p:nvSpPr>
        <p:spPr>
          <a:xfrm>
            <a:off x="7939735" y="4315968"/>
            <a:ext cx="3703320" cy="749808"/>
          </a:xfrm>
          <a:prstGeom prst="roundRect">
            <a:avLst>
              <a:gd name="adj" fmla="val 12195"/>
            </a:avLst>
          </a:prstGeom>
          <a:solidFill>
            <a:srgbClr val="FFFFFF"/>
          </a:solidFill>
          <a:ln w="9525">
            <a:solidFill>
              <a:srgbClr val="D6DFEA"/>
            </a:solidFill>
            <a:prstDash val="solid"/>
          </a:ln>
        </p:spPr>
      </p:sp>
      <p:sp>
        <p:nvSpPr>
          <p:cNvPr id="21" name="!!dot3"/>
          <p:cNvSpPr/>
          <p:nvPr/>
        </p:nvSpPr>
        <p:spPr>
          <a:xfrm>
            <a:off x="11048695" y="4434840"/>
            <a:ext cx="512064" cy="512064"/>
          </a:xfrm>
          <a:prstGeom prst="ellipse">
            <a:avLst/>
          </a:prstGeom>
          <a:solidFill>
            <a:srgbClr val="00539B"/>
          </a:solidFill>
          <a:ln w="12700">
            <a:solidFill>
              <a:srgbClr val="00539B"/>
            </a:solidFill>
            <a:prstDash val="solid"/>
          </a:ln>
        </p:spPr>
      </p:sp>
      <p:sp>
        <p:nvSpPr>
          <p:cNvPr id="22" name="Text 19"/>
          <p:cNvSpPr txBox="1"/>
          <p:nvPr/>
        </p:nvSpPr>
        <p:spPr>
          <a:xfrm>
            <a:off x="11048695" y="44348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04</a:t>
            </a:r>
            <a:endParaRPr lang="en-US" sz="1500" dirty="0"/>
          </a:p>
        </p:txBody>
      </p:sp>
      <p:sp>
        <p:nvSpPr>
          <p:cNvPr id="23" name="Text 20"/>
          <p:cNvSpPr txBox="1"/>
          <p:nvPr/>
        </p:nvSpPr>
        <p:spPr>
          <a:xfrm>
            <a:off x="8122615" y="4315968"/>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التكاليف الرأسمالية (CAPEX)</a:t>
            </a:r>
            <a:endParaRPr lang="ar-SA" sz="1500" dirty="0"/>
          </a:p>
        </p:txBody>
      </p:sp>
      <p:sp>
        <p:nvSpPr>
          <p:cNvPr id="24" name="!!card5"/>
          <p:cNvSpPr/>
          <p:nvPr/>
        </p:nvSpPr>
        <p:spPr>
          <a:xfrm>
            <a:off x="7939735" y="5221224"/>
            <a:ext cx="3703320" cy="749808"/>
          </a:xfrm>
          <a:prstGeom prst="roundRect">
            <a:avLst>
              <a:gd name="adj" fmla="val 12195"/>
            </a:avLst>
          </a:prstGeom>
          <a:solidFill>
            <a:srgbClr val="F4F7FB"/>
          </a:solidFill>
          <a:ln w="9525">
            <a:solidFill>
              <a:srgbClr val="D6DFEA"/>
            </a:solidFill>
            <a:prstDash val="solid"/>
          </a:ln>
        </p:spPr>
      </p:sp>
      <p:sp>
        <p:nvSpPr>
          <p:cNvPr id="25" name="!!dot4"/>
          <p:cNvSpPr/>
          <p:nvPr/>
        </p:nvSpPr>
        <p:spPr>
          <a:xfrm>
            <a:off x="11048695" y="5340096"/>
            <a:ext cx="512064" cy="512064"/>
          </a:xfrm>
          <a:prstGeom prst="ellipse">
            <a:avLst/>
          </a:prstGeom>
          <a:solidFill>
            <a:srgbClr val="00539B"/>
          </a:solidFill>
          <a:ln w="12700">
            <a:solidFill>
              <a:srgbClr val="00539B"/>
            </a:solidFill>
            <a:prstDash val="solid"/>
          </a:ln>
        </p:spPr>
      </p:sp>
      <p:sp>
        <p:nvSpPr>
          <p:cNvPr id="26" name="Text 23"/>
          <p:cNvSpPr txBox="1"/>
          <p:nvPr/>
        </p:nvSpPr>
        <p:spPr>
          <a:xfrm>
            <a:off x="11048695" y="534009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05</a:t>
            </a:r>
            <a:endParaRPr lang="en-US" sz="1500" dirty="0"/>
          </a:p>
        </p:txBody>
      </p:sp>
      <p:sp>
        <p:nvSpPr>
          <p:cNvPr id="27" name="Text 24"/>
          <p:cNvSpPr txBox="1"/>
          <p:nvPr/>
        </p:nvSpPr>
        <p:spPr>
          <a:xfrm>
            <a:off x="8122615" y="5221224"/>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التكاليف التشغيلية (OPEX)</a:t>
            </a:r>
            <a:endParaRPr lang="ar-SA" sz="1500" dirty="0"/>
          </a:p>
        </p:txBody>
      </p:sp>
      <p:sp>
        <p:nvSpPr>
          <p:cNvPr id="28" name="!!card6"/>
          <p:cNvSpPr/>
          <p:nvPr/>
        </p:nvSpPr>
        <p:spPr>
          <a:xfrm>
            <a:off x="3962095" y="1600200"/>
            <a:ext cx="3703320" cy="749808"/>
          </a:xfrm>
          <a:prstGeom prst="roundRect">
            <a:avLst>
              <a:gd name="adj" fmla="val 12195"/>
            </a:avLst>
          </a:prstGeom>
          <a:solidFill>
            <a:srgbClr val="FFFFFF"/>
          </a:solidFill>
          <a:ln w="9525">
            <a:solidFill>
              <a:srgbClr val="D6DFEA"/>
            </a:solidFill>
            <a:prstDash val="solid"/>
          </a:ln>
        </p:spPr>
      </p:sp>
      <p:sp>
        <p:nvSpPr>
          <p:cNvPr id="29" name="!!dot5"/>
          <p:cNvSpPr/>
          <p:nvPr/>
        </p:nvSpPr>
        <p:spPr>
          <a:xfrm>
            <a:off x="7071055" y="1719072"/>
            <a:ext cx="512064" cy="512064"/>
          </a:xfrm>
          <a:prstGeom prst="ellipse">
            <a:avLst/>
          </a:prstGeom>
          <a:solidFill>
            <a:srgbClr val="00539B"/>
          </a:solidFill>
          <a:ln w="12700">
            <a:solidFill>
              <a:srgbClr val="00539B"/>
            </a:solidFill>
            <a:prstDash val="solid"/>
          </a:ln>
        </p:spPr>
      </p:sp>
      <p:sp>
        <p:nvSpPr>
          <p:cNvPr id="30" name="Text 27"/>
          <p:cNvSpPr txBox="1"/>
          <p:nvPr/>
        </p:nvSpPr>
        <p:spPr>
          <a:xfrm>
            <a:off x="7071055" y="1719072"/>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06</a:t>
            </a:r>
            <a:endParaRPr lang="en-US" sz="1500" dirty="0"/>
          </a:p>
        </p:txBody>
      </p:sp>
      <p:sp>
        <p:nvSpPr>
          <p:cNvPr id="31" name="Text 28"/>
          <p:cNvSpPr txBox="1"/>
          <p:nvPr/>
        </p:nvSpPr>
        <p:spPr>
          <a:xfrm>
            <a:off x="4144975" y="1600200"/>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الإيرادات المتوقعة</a:t>
            </a:r>
            <a:endParaRPr lang="ar-SA" sz="1500" dirty="0"/>
          </a:p>
        </p:txBody>
      </p:sp>
      <p:sp>
        <p:nvSpPr>
          <p:cNvPr id="32" name="!!card7"/>
          <p:cNvSpPr/>
          <p:nvPr/>
        </p:nvSpPr>
        <p:spPr>
          <a:xfrm>
            <a:off x="3962095" y="2505456"/>
            <a:ext cx="3703320" cy="749808"/>
          </a:xfrm>
          <a:prstGeom prst="roundRect">
            <a:avLst>
              <a:gd name="adj" fmla="val 12195"/>
            </a:avLst>
          </a:prstGeom>
          <a:solidFill>
            <a:srgbClr val="F4F7FB"/>
          </a:solidFill>
          <a:ln w="9525">
            <a:solidFill>
              <a:srgbClr val="D6DFEA"/>
            </a:solidFill>
            <a:prstDash val="solid"/>
          </a:ln>
        </p:spPr>
      </p:sp>
      <p:sp>
        <p:nvSpPr>
          <p:cNvPr id="33" name="!!dot6"/>
          <p:cNvSpPr/>
          <p:nvPr/>
        </p:nvSpPr>
        <p:spPr>
          <a:xfrm>
            <a:off x="7071055" y="2624328"/>
            <a:ext cx="512064" cy="512064"/>
          </a:xfrm>
          <a:prstGeom prst="ellipse">
            <a:avLst/>
          </a:prstGeom>
          <a:solidFill>
            <a:srgbClr val="00539B"/>
          </a:solidFill>
          <a:ln w="12700">
            <a:solidFill>
              <a:srgbClr val="00539B"/>
            </a:solidFill>
            <a:prstDash val="solid"/>
          </a:ln>
        </p:spPr>
      </p:sp>
      <p:sp>
        <p:nvSpPr>
          <p:cNvPr id="34" name="Text 31"/>
          <p:cNvSpPr txBox="1"/>
          <p:nvPr/>
        </p:nvSpPr>
        <p:spPr>
          <a:xfrm>
            <a:off x="7071055" y="2624328"/>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07</a:t>
            </a:r>
            <a:endParaRPr lang="en-US" sz="1500" dirty="0"/>
          </a:p>
        </p:txBody>
      </p:sp>
      <p:sp>
        <p:nvSpPr>
          <p:cNvPr id="35" name="Text 32"/>
          <p:cNvSpPr txBox="1"/>
          <p:nvPr/>
        </p:nvSpPr>
        <p:spPr>
          <a:xfrm>
            <a:off x="4144975" y="2505456"/>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النماذج المالية ومؤشرات الاستثمار</a:t>
            </a:r>
            <a:endParaRPr lang="ar-SA" sz="1500" dirty="0"/>
          </a:p>
        </p:txBody>
      </p:sp>
      <p:sp>
        <p:nvSpPr>
          <p:cNvPr id="36" name="!!card8"/>
          <p:cNvSpPr/>
          <p:nvPr/>
        </p:nvSpPr>
        <p:spPr>
          <a:xfrm>
            <a:off x="3962095" y="3410712"/>
            <a:ext cx="3703320" cy="749808"/>
          </a:xfrm>
          <a:prstGeom prst="roundRect">
            <a:avLst>
              <a:gd name="adj" fmla="val 12195"/>
            </a:avLst>
          </a:prstGeom>
          <a:solidFill>
            <a:srgbClr val="FFFFFF"/>
          </a:solidFill>
          <a:ln w="9525">
            <a:solidFill>
              <a:srgbClr val="D6DFEA"/>
            </a:solidFill>
            <a:prstDash val="solid"/>
          </a:ln>
        </p:spPr>
      </p:sp>
      <p:sp>
        <p:nvSpPr>
          <p:cNvPr id="37" name="!!dot7"/>
          <p:cNvSpPr/>
          <p:nvPr/>
        </p:nvSpPr>
        <p:spPr>
          <a:xfrm>
            <a:off x="7071055" y="3529584"/>
            <a:ext cx="512064" cy="512064"/>
          </a:xfrm>
          <a:prstGeom prst="ellipse">
            <a:avLst/>
          </a:prstGeom>
          <a:solidFill>
            <a:srgbClr val="00539B"/>
          </a:solidFill>
          <a:ln w="12700">
            <a:solidFill>
              <a:srgbClr val="00539B"/>
            </a:solidFill>
            <a:prstDash val="solid"/>
          </a:ln>
        </p:spPr>
      </p:sp>
      <p:sp>
        <p:nvSpPr>
          <p:cNvPr id="38" name="Text 35"/>
          <p:cNvSpPr txBox="1"/>
          <p:nvPr/>
        </p:nvSpPr>
        <p:spPr>
          <a:xfrm>
            <a:off x="7071055" y="3529584"/>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08</a:t>
            </a:r>
            <a:endParaRPr lang="en-US" sz="1500" dirty="0"/>
          </a:p>
        </p:txBody>
      </p:sp>
      <p:sp>
        <p:nvSpPr>
          <p:cNvPr id="39" name="Text 36"/>
          <p:cNvSpPr txBox="1"/>
          <p:nvPr/>
        </p:nvSpPr>
        <p:spPr>
          <a:xfrm>
            <a:off x="4144975" y="3410712"/>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النماذج المقترحة لتمويل المشروع</a:t>
            </a:r>
            <a:endParaRPr lang="ar-SA" sz="1500" dirty="0"/>
          </a:p>
        </p:txBody>
      </p:sp>
      <p:sp>
        <p:nvSpPr>
          <p:cNvPr id="40" name="!!card9"/>
          <p:cNvSpPr/>
          <p:nvPr/>
        </p:nvSpPr>
        <p:spPr>
          <a:xfrm>
            <a:off x="3962095" y="4315968"/>
            <a:ext cx="3703320" cy="749808"/>
          </a:xfrm>
          <a:prstGeom prst="roundRect">
            <a:avLst>
              <a:gd name="adj" fmla="val 12195"/>
            </a:avLst>
          </a:prstGeom>
          <a:solidFill>
            <a:srgbClr val="F4F7FB"/>
          </a:solidFill>
          <a:ln w="9525">
            <a:solidFill>
              <a:srgbClr val="D6DFEA"/>
            </a:solidFill>
            <a:prstDash val="solid"/>
          </a:ln>
        </p:spPr>
      </p:sp>
      <p:sp>
        <p:nvSpPr>
          <p:cNvPr id="41" name="!!dot8"/>
          <p:cNvSpPr/>
          <p:nvPr/>
        </p:nvSpPr>
        <p:spPr>
          <a:xfrm>
            <a:off x="7071055" y="4434840"/>
            <a:ext cx="512064" cy="512064"/>
          </a:xfrm>
          <a:prstGeom prst="ellipse">
            <a:avLst/>
          </a:prstGeom>
          <a:solidFill>
            <a:srgbClr val="06305C"/>
          </a:solidFill>
          <a:ln w="12700">
            <a:solidFill>
              <a:srgbClr val="06305C"/>
            </a:solidFill>
            <a:prstDash val="solid"/>
          </a:ln>
        </p:spPr>
      </p:sp>
      <p:sp>
        <p:nvSpPr>
          <p:cNvPr id="42" name="Text 39"/>
          <p:cNvSpPr txBox="1"/>
          <p:nvPr/>
        </p:nvSpPr>
        <p:spPr>
          <a:xfrm>
            <a:off x="7071055" y="4434840"/>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09</a:t>
            </a:r>
            <a:endParaRPr lang="en-US" sz="1500" dirty="0"/>
          </a:p>
        </p:txBody>
      </p:sp>
      <p:sp>
        <p:nvSpPr>
          <p:cNvPr id="43" name="Text 40"/>
          <p:cNvSpPr txBox="1"/>
          <p:nvPr/>
        </p:nvSpPr>
        <p:spPr>
          <a:xfrm>
            <a:off x="4144975" y="4315968"/>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النتائج الرئيسية للمشروع</a:t>
            </a:r>
            <a:endParaRPr lang="ar-SA" sz="1500" dirty="0"/>
          </a:p>
        </p:txBody>
      </p:sp>
      <p:sp>
        <p:nvSpPr>
          <p:cNvPr id="44" name="!!card10"/>
          <p:cNvSpPr/>
          <p:nvPr/>
        </p:nvSpPr>
        <p:spPr>
          <a:xfrm>
            <a:off x="3962095" y="5221224"/>
            <a:ext cx="3703320" cy="749808"/>
          </a:xfrm>
          <a:prstGeom prst="roundRect">
            <a:avLst>
              <a:gd name="adj" fmla="val 12195"/>
            </a:avLst>
          </a:prstGeom>
          <a:solidFill>
            <a:srgbClr val="FFFFFF"/>
          </a:solidFill>
          <a:ln w="9525">
            <a:solidFill>
              <a:srgbClr val="D6DFEA"/>
            </a:solidFill>
            <a:prstDash val="solid"/>
          </a:ln>
        </p:spPr>
      </p:sp>
      <p:sp>
        <p:nvSpPr>
          <p:cNvPr id="45" name="!!dot9"/>
          <p:cNvSpPr/>
          <p:nvPr/>
        </p:nvSpPr>
        <p:spPr>
          <a:xfrm>
            <a:off x="7071055" y="5340096"/>
            <a:ext cx="512064" cy="512064"/>
          </a:xfrm>
          <a:prstGeom prst="ellipse">
            <a:avLst/>
          </a:prstGeom>
          <a:solidFill>
            <a:srgbClr val="06305C"/>
          </a:solidFill>
          <a:ln w="12700">
            <a:solidFill>
              <a:srgbClr val="06305C"/>
            </a:solidFill>
            <a:prstDash val="solid"/>
          </a:ln>
        </p:spPr>
      </p:sp>
      <p:sp>
        <p:nvSpPr>
          <p:cNvPr id="46" name="Text 43"/>
          <p:cNvSpPr txBox="1"/>
          <p:nvPr/>
        </p:nvSpPr>
        <p:spPr>
          <a:xfrm>
            <a:off x="7071055" y="5340096"/>
            <a:ext cx="512064"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JF Flat" pitchFamily="34" charset="0"/>
                <a:ea typeface="JF Flat" pitchFamily="34" charset="-122"/>
                <a:cs typeface="JF Flat" pitchFamily="34" charset="-120"/>
              </a:rPr>
              <a:t>10</a:t>
            </a:r>
            <a:endParaRPr lang="en-US" sz="1500" dirty="0"/>
          </a:p>
        </p:txBody>
      </p:sp>
      <p:sp>
        <p:nvSpPr>
          <p:cNvPr id="47" name="Text 44"/>
          <p:cNvSpPr txBox="1"/>
          <p:nvPr/>
        </p:nvSpPr>
        <p:spPr>
          <a:xfrm>
            <a:off x="4144975" y="5221224"/>
            <a:ext cx="2788920" cy="749808"/>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التوصيات والفوائد الاستراتيجية</a:t>
            </a:r>
            <a:endParaRPr lang="ar-SA" sz="15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مشروع إنشاء مركز البيانات الوطني</a:t>
            </a:r>
            <a:endParaRPr lang="en-US" sz="3000" dirty="0"/>
          </a:p>
        </p:txBody>
      </p:sp>
      <p:sp>
        <p:nvSpPr>
          <p:cNvPr id="4" name="!!card0"/>
          <p:cNvSpPr/>
          <p:nvPr/>
        </p:nvSpPr>
        <p:spPr>
          <a:xfrm>
            <a:off x="548640" y="1600200"/>
            <a:ext cx="3566160" cy="4526280"/>
          </a:xfrm>
          <a:prstGeom prst="roundRect">
            <a:avLst>
              <a:gd name="adj" fmla="val 2564"/>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868680" y="1828800"/>
            <a:ext cx="2926080" cy="365760"/>
          </a:xfrm>
          <a:prstGeom prst="rect">
            <a:avLst/>
          </a:prstGeom>
          <a:noFill/>
          <a:ln/>
        </p:spPr>
        <p:txBody>
          <a:bodyPr wrap="square" lIns="0" tIns="0" rIns="0" bIns="0" rtlCol="0" anchor="t"/>
          <a:lstStyle/>
          <a:p>
            <a:pPr rtl="1" algn="ctr" indent="0" marL="0">
              <a:buNone/>
            </a:pPr>
            <a:r>
              <a:rPr lang="ar-SA" altLang="en-US" sz="1500" dirty="0">
                <a:solidFill>
                  <a:srgbClr val="C9DAEE"/>
                </a:solidFill>
                <a:latin typeface="JF Flat" pitchFamily="34" charset="0"/>
                <a:ea typeface="JF Flat" pitchFamily="34" charset="-122"/>
                <a:cs typeface="JF Flat" pitchFamily="34" charset="-120"/>
              </a:rPr>
              <a:t>حجم المشروع المخطط</a:t>
            </a:r>
            <a:endParaRPr lang="ar-SA" sz="1500" dirty="0"/>
          </a:p>
        </p:txBody>
      </p:sp>
      <p:sp>
        <p:nvSpPr>
          <p:cNvPr id="6" name="Text 4"/>
          <p:cNvSpPr txBox="1"/>
          <p:nvPr/>
        </p:nvSpPr>
        <p:spPr>
          <a:xfrm>
            <a:off x="868680" y="2194560"/>
            <a:ext cx="2926080" cy="1051560"/>
          </a:xfrm>
          <a:prstGeom prst="rect">
            <a:avLst/>
          </a:prstGeom>
          <a:noFill/>
          <a:ln/>
        </p:spPr>
        <p:txBody>
          <a:bodyPr wrap="square" lIns="0" tIns="0" rIns="0" bIns="0" rtlCol="0" anchor="ctr"/>
          <a:lstStyle/>
          <a:p>
            <a:pPr algn="ctr" indent="0" marL="0">
              <a:buNone/>
            </a:pPr>
            <a:r>
              <a:rPr lang="ar-SA" altLang="en-US" sz="7200" b="1" dirty="0">
                <a:solidFill>
                  <a:srgbClr val="F15524"/>
                </a:solidFill>
                <a:latin typeface="JF Flat" pitchFamily="34" charset="0"/>
                <a:ea typeface="JF Flat" pitchFamily="34" charset="-122"/>
                <a:cs typeface="JF Flat" pitchFamily="34" charset="-120"/>
              </a:rPr>
              <a:t>5.1</a:t>
            </a:r>
            <a:endParaRPr lang="ar-SA" sz="7200" dirty="0"/>
          </a:p>
        </p:txBody>
      </p:sp>
      <p:sp>
        <p:nvSpPr>
          <p:cNvPr id="7" name="Text 5"/>
          <p:cNvSpPr txBox="1"/>
          <p:nvPr/>
        </p:nvSpPr>
        <p:spPr>
          <a:xfrm>
            <a:off x="868680" y="3246120"/>
            <a:ext cx="2926080" cy="365760"/>
          </a:xfrm>
          <a:prstGeom prst="rect">
            <a:avLst/>
          </a:prstGeom>
          <a:noFill/>
          <a:ln/>
        </p:spPr>
        <p:txBody>
          <a:bodyPr wrap="square" lIns="0" tIns="0" rIns="0" bIns="0" rtlCol="0" anchor="t"/>
          <a:lstStyle/>
          <a:p>
            <a:pPr rtl="1" algn="ctr" indent="0" marL="0">
              <a:buNone/>
            </a:pPr>
            <a:r>
              <a:rPr lang="ar-SA" altLang="en-US" sz="1600" b="1" dirty="0">
                <a:solidFill>
                  <a:srgbClr val="FFFFFF"/>
                </a:solidFill>
                <a:latin typeface="JF Flat" pitchFamily="34" charset="0"/>
                <a:ea typeface="JF Flat" pitchFamily="34" charset="-122"/>
                <a:cs typeface="JF Flat" pitchFamily="34" charset="-120"/>
              </a:rPr>
              <a:t>ميجاوات (نحو)</a:t>
            </a:r>
            <a:endParaRPr lang="ar-SA" sz="1600" dirty="0"/>
          </a:p>
        </p:txBody>
      </p:sp>
      <p:sp>
        <p:nvSpPr>
          <p:cNvPr id="8" name="Shape 6"/>
          <p:cNvSpPr/>
          <p:nvPr/>
        </p:nvSpPr>
        <p:spPr>
          <a:xfrm>
            <a:off x="822960" y="3931920"/>
            <a:ext cx="3017520" cy="1920240"/>
          </a:xfrm>
          <a:prstGeom prst="roundRect">
            <a:avLst>
              <a:gd name="adj" fmla="val 3810"/>
            </a:avLst>
          </a:prstGeom>
          <a:solidFill>
            <a:srgbClr val="FFFFFF">
              <a:alpha val="10000"/>
            </a:srgbClr>
          </a:solidFill>
          <a:ln w="12700">
            <a:solidFill>
              <a:srgbClr val="FFFFFF">
                <a:alpha val="0"/>
              </a:srgbClr>
            </a:solidFill>
            <a:prstDash val="solid"/>
          </a:ln>
        </p:spPr>
      </p:sp>
      <p:sp>
        <p:nvSpPr>
          <p:cNvPr id="9" name="!!dot0"/>
          <p:cNvSpPr/>
          <p:nvPr/>
        </p:nvSpPr>
        <p:spPr>
          <a:xfrm>
            <a:off x="2057400" y="4069080"/>
            <a:ext cx="548640" cy="548640"/>
          </a:xfrm>
          <a:prstGeom prst="ellipse">
            <a:avLst/>
          </a:prstGeom>
          <a:solidFill>
            <a:srgbClr val="F15524"/>
          </a:solidFill>
          <a:ln w="12700">
            <a:solidFill>
              <a:srgbClr val="F15524"/>
            </a:solidFill>
            <a:prstDash val="solid"/>
          </a:ln>
        </p:spPr>
      </p:sp>
      <p:pic>
        <p:nvPicPr>
          <p:cNvPr id="10" name="!!ico0" descr="preencoded.png">    </p:cNvPr>
          <p:cNvPicPr>
            <a:picLocks noChangeAspect="1"/>
          </p:cNvPicPr>
          <p:nvPr/>
        </p:nvPicPr>
        <p:blipFill>
          <a:blip r:embed="rId1"/>
          <a:stretch>
            <a:fillRect/>
          </a:stretch>
        </p:blipFill>
        <p:spPr>
          <a:xfrm>
            <a:off x="2205533" y="4217213"/>
            <a:ext cx="252374" cy="252374"/>
          </a:xfrm>
          <a:prstGeom prst="rect">
            <a:avLst/>
          </a:prstGeom>
        </p:spPr>
      </p:pic>
      <p:sp>
        <p:nvSpPr>
          <p:cNvPr id="11" name="Text 8"/>
          <p:cNvSpPr txBox="1"/>
          <p:nvPr/>
        </p:nvSpPr>
        <p:spPr>
          <a:xfrm>
            <a:off x="960120" y="4681728"/>
            <a:ext cx="2743200" cy="320040"/>
          </a:xfrm>
          <a:prstGeom prst="rect">
            <a:avLst/>
          </a:prstGeom>
          <a:noFill/>
          <a:ln/>
        </p:spPr>
        <p:txBody>
          <a:bodyPr wrap="square" lIns="0" tIns="0" rIns="0" bIns="0" rtlCol="0" anchor="t"/>
          <a:lstStyle/>
          <a:p>
            <a:pPr rtl="1" algn="ctr" indent="0" marL="0">
              <a:buNone/>
            </a:pPr>
            <a:r>
              <a:rPr lang="ar-SA" altLang="en-US" sz="1500" b="1" dirty="0">
                <a:solidFill>
                  <a:srgbClr val="FFFFFF"/>
                </a:solidFill>
                <a:latin typeface="JF Flat" pitchFamily="34" charset="0"/>
                <a:ea typeface="JF Flat" pitchFamily="34" charset="-122"/>
                <a:cs typeface="JF Flat" pitchFamily="34" charset="-120"/>
              </a:rPr>
              <a:t>الموقع المقترح</a:t>
            </a:r>
            <a:endParaRPr lang="ar-SA" sz="1500" dirty="0"/>
          </a:p>
        </p:txBody>
      </p:sp>
      <p:sp>
        <p:nvSpPr>
          <p:cNvPr id="12" name="Text 9"/>
          <p:cNvSpPr txBox="1"/>
          <p:nvPr/>
        </p:nvSpPr>
        <p:spPr>
          <a:xfrm>
            <a:off x="960120" y="5010912"/>
            <a:ext cx="2743200" cy="685800"/>
          </a:xfrm>
          <a:prstGeom prst="rect">
            <a:avLst/>
          </a:prstGeom>
          <a:noFill/>
          <a:ln/>
        </p:spPr>
        <p:txBody>
          <a:bodyPr wrap="square" lIns="0" tIns="0" rIns="0" bIns="0" rtlCol="0" anchor="t"/>
          <a:lstStyle/>
          <a:p>
            <a:pPr rtl="1" algn="ctr" indent="0" marL="0">
              <a:buNone/>
            </a:pPr>
            <a:r>
              <a:rPr lang="ar-SA" altLang="en-US" sz="1400" dirty="0">
                <a:solidFill>
                  <a:srgbClr val="C9DAEE"/>
                </a:solidFill>
                <a:latin typeface="JF Flat" pitchFamily="34" charset="0"/>
                <a:ea typeface="JF Flat" pitchFamily="34" charset="-122"/>
                <a:cs typeface="JF Flat" pitchFamily="34" charset="-120"/>
              </a:rPr>
              <a:t>مقر شركة الجيل الجديد للتقنية في طرابلس</a:t>
            </a:r>
            <a:endParaRPr lang="ar-SA" sz="1400" dirty="0"/>
          </a:p>
        </p:txBody>
      </p:sp>
      <p:sp>
        <p:nvSpPr>
          <p:cNvPr id="13" name="!!card1"/>
          <p:cNvSpPr/>
          <p:nvPr/>
        </p:nvSpPr>
        <p:spPr>
          <a:xfrm>
            <a:off x="4434840" y="1600200"/>
            <a:ext cx="7208215" cy="2103120"/>
          </a:xfrm>
          <a:prstGeom prst="roundRect">
            <a:avLst>
              <a:gd name="adj" fmla="val 434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4" name="!!dot1"/>
          <p:cNvSpPr/>
          <p:nvPr/>
        </p:nvSpPr>
        <p:spPr>
          <a:xfrm>
            <a:off x="10774375" y="1828800"/>
            <a:ext cx="640080" cy="640080"/>
          </a:xfrm>
          <a:prstGeom prst="ellipse">
            <a:avLst/>
          </a:prstGeom>
          <a:solidFill>
            <a:srgbClr val="00539B"/>
          </a:solidFill>
          <a:ln w="12700">
            <a:solidFill>
              <a:srgbClr val="00539B"/>
            </a:solidFill>
            <a:prstDash val="solid"/>
          </a:ln>
        </p:spPr>
      </p:sp>
      <p:pic>
        <p:nvPicPr>
          <p:cNvPr id="15" name="!!ico1" descr="preencoded.png">    </p:cNvPr>
          <p:cNvPicPr>
            <a:picLocks noChangeAspect="1"/>
          </p:cNvPicPr>
          <p:nvPr/>
        </p:nvPicPr>
        <p:blipFill>
          <a:blip r:embed="rId2"/>
          <a:stretch>
            <a:fillRect/>
          </a:stretch>
        </p:blipFill>
        <p:spPr>
          <a:xfrm>
            <a:off x="10947197" y="2001622"/>
            <a:ext cx="294437" cy="294437"/>
          </a:xfrm>
          <a:prstGeom prst="rect">
            <a:avLst/>
          </a:prstGeom>
        </p:spPr>
      </p:pic>
      <p:sp>
        <p:nvSpPr>
          <p:cNvPr id="16" name="Text 12"/>
          <p:cNvSpPr txBox="1"/>
          <p:nvPr/>
        </p:nvSpPr>
        <p:spPr>
          <a:xfrm>
            <a:off x="4709160" y="1828800"/>
            <a:ext cx="5882335" cy="411480"/>
          </a:xfrm>
          <a:prstGeom prst="rect">
            <a:avLst/>
          </a:prstGeom>
          <a:noFill/>
          <a:ln/>
        </p:spPr>
        <p:txBody>
          <a:bodyPr wrap="square" lIns="0" tIns="0" rIns="0" bIns="0" rtlCol="0" anchor="t"/>
          <a:lstStyle/>
          <a:p>
            <a:pPr rtl="1" algn="r" indent="0" marL="0">
              <a:buNone/>
            </a:pPr>
            <a:r>
              <a:rPr lang="ar-SA" altLang="en-US" sz="2000" b="1" dirty="0">
                <a:solidFill>
                  <a:srgbClr val="06305C"/>
                </a:solidFill>
                <a:latin typeface="JF Flat" pitchFamily="34" charset="0"/>
                <a:ea typeface="JF Flat" pitchFamily="34" charset="-122"/>
                <a:cs typeface="JF Flat" pitchFamily="34" charset="-120"/>
              </a:rPr>
              <a:t>ما هو مركز البيانات؟</a:t>
            </a:r>
            <a:endParaRPr lang="ar-SA" sz="2000" dirty="0"/>
          </a:p>
        </p:txBody>
      </p:sp>
      <p:sp>
        <p:nvSpPr>
          <p:cNvPr id="17" name="Text 13"/>
          <p:cNvSpPr txBox="1"/>
          <p:nvPr/>
        </p:nvSpPr>
        <p:spPr>
          <a:xfrm>
            <a:off x="4709160" y="2331720"/>
            <a:ext cx="5882335" cy="1188720"/>
          </a:xfrm>
          <a:prstGeom prst="rect">
            <a:avLst/>
          </a:prstGeom>
          <a:noFill/>
          <a:ln/>
        </p:spPr>
        <p:txBody>
          <a:bodyPr wrap="square" lIns="0" tIns="0" rIns="0" bIns="0" rtlCol="0" anchor="t"/>
          <a:lstStyle/>
          <a:p>
            <a:pPr rtl="1" algn="r" indent="0" marL="0">
              <a:lnSpc>
                <a:spcPct val="120000"/>
              </a:lnSpc>
              <a:buNone/>
            </a:pPr>
            <a:r>
              <a:rPr lang="ar-SA" altLang="en-US" sz="1600" dirty="0">
                <a:solidFill>
                  <a:srgbClr val="1F2937"/>
                </a:solidFill>
                <a:latin typeface="JF Flat" pitchFamily="34" charset="0"/>
                <a:ea typeface="JF Flat" pitchFamily="34" charset="-122"/>
                <a:cs typeface="JF Flat" pitchFamily="34" charset="-120"/>
              </a:rPr>
              <a:t>منشأة تقنية متخصصة لاستضافة الخوادم والأنظمة وقواعد البيانات، وتوفير بيئة آمنة لمعالجة البيانات وتخزينها وتشغيل الخدمات الرقمية.</a:t>
            </a:r>
            <a:endParaRPr lang="ar-SA" sz="1600" dirty="0"/>
          </a:p>
        </p:txBody>
      </p:sp>
      <p:sp>
        <p:nvSpPr>
          <p:cNvPr id="18" name="!!card2"/>
          <p:cNvSpPr/>
          <p:nvPr/>
        </p:nvSpPr>
        <p:spPr>
          <a:xfrm>
            <a:off x="4434840" y="3931920"/>
            <a:ext cx="7208215" cy="2194560"/>
          </a:xfrm>
          <a:prstGeom prst="roundRect">
            <a:avLst>
              <a:gd name="adj" fmla="val 4167"/>
            </a:avLst>
          </a:prstGeom>
          <a:solidFill>
            <a:srgbClr val="FEF0EA"/>
          </a:solidFill>
          <a:ln w="12700">
            <a:solidFill>
              <a:srgbClr val="FEF0EA"/>
            </a:solidFill>
            <a:prstDash val="solid"/>
          </a:ln>
        </p:spPr>
      </p:sp>
      <p:sp>
        <p:nvSpPr>
          <p:cNvPr id="19" name="!!dot2"/>
          <p:cNvSpPr/>
          <p:nvPr/>
        </p:nvSpPr>
        <p:spPr>
          <a:xfrm>
            <a:off x="10774375" y="4160520"/>
            <a:ext cx="640080" cy="640080"/>
          </a:xfrm>
          <a:prstGeom prst="ellipse">
            <a:avLst/>
          </a:prstGeom>
          <a:solidFill>
            <a:srgbClr val="F15524"/>
          </a:solidFill>
          <a:ln w="12700">
            <a:solidFill>
              <a:srgbClr val="F15524"/>
            </a:solidFill>
            <a:prstDash val="solid"/>
          </a:ln>
        </p:spPr>
      </p:sp>
      <p:pic>
        <p:nvPicPr>
          <p:cNvPr id="20" name="!!ico2" descr="preencoded.png">    </p:cNvPr>
          <p:cNvPicPr>
            <a:picLocks noChangeAspect="1"/>
          </p:cNvPicPr>
          <p:nvPr/>
        </p:nvPicPr>
        <p:blipFill>
          <a:blip r:embed="rId3"/>
          <a:stretch>
            <a:fillRect/>
          </a:stretch>
        </p:blipFill>
        <p:spPr>
          <a:xfrm>
            <a:off x="10947197" y="4333342"/>
            <a:ext cx="294437" cy="294437"/>
          </a:xfrm>
          <a:prstGeom prst="rect">
            <a:avLst/>
          </a:prstGeom>
        </p:spPr>
      </p:pic>
      <p:sp>
        <p:nvSpPr>
          <p:cNvPr id="21" name="Text 16"/>
          <p:cNvSpPr txBox="1"/>
          <p:nvPr/>
        </p:nvSpPr>
        <p:spPr>
          <a:xfrm>
            <a:off x="4709160" y="4160520"/>
            <a:ext cx="5882335" cy="411480"/>
          </a:xfrm>
          <a:prstGeom prst="rect">
            <a:avLst/>
          </a:prstGeom>
          <a:noFill/>
          <a:ln/>
        </p:spPr>
        <p:txBody>
          <a:bodyPr wrap="square" lIns="0" tIns="0" rIns="0" bIns="0" rtlCol="0" anchor="t"/>
          <a:lstStyle/>
          <a:p>
            <a:pPr rtl="1" algn="r" indent="0" marL="0">
              <a:buNone/>
            </a:pPr>
            <a:r>
              <a:rPr lang="ar-SA" altLang="en-US" sz="2000" b="1" dirty="0">
                <a:solidFill>
                  <a:srgbClr val="F15524"/>
                </a:solidFill>
                <a:latin typeface="JF Flat" pitchFamily="34" charset="0"/>
                <a:ea typeface="JF Flat" pitchFamily="34" charset="-122"/>
                <a:cs typeface="JF Flat" pitchFamily="34" charset="-120"/>
              </a:rPr>
              <a:t>الهدف الاستراتيجي</a:t>
            </a:r>
            <a:endParaRPr lang="ar-SA" sz="2000" dirty="0"/>
          </a:p>
        </p:txBody>
      </p:sp>
      <p:sp>
        <p:nvSpPr>
          <p:cNvPr id="22" name="Text 17"/>
          <p:cNvSpPr txBox="1"/>
          <p:nvPr/>
        </p:nvSpPr>
        <p:spPr>
          <a:xfrm>
            <a:off x="4709160" y="4663440"/>
            <a:ext cx="5882335" cy="1188720"/>
          </a:xfrm>
          <a:prstGeom prst="rect">
            <a:avLst/>
          </a:prstGeom>
          <a:noFill/>
          <a:ln/>
        </p:spPr>
        <p:txBody>
          <a:bodyPr wrap="square" lIns="0" tIns="0" rIns="0" bIns="0" rtlCol="0" anchor="t"/>
          <a:lstStyle/>
          <a:p>
            <a:pPr rtl="1" algn="r" indent="0" marL="0">
              <a:lnSpc>
                <a:spcPct val="120000"/>
              </a:lnSpc>
              <a:buNone/>
            </a:pPr>
            <a:r>
              <a:rPr lang="ar-SA" altLang="en-US" sz="1600" dirty="0">
                <a:solidFill>
                  <a:srgbClr val="1F2937"/>
                </a:solidFill>
                <a:latin typeface="JF Flat" pitchFamily="34" charset="0"/>
                <a:ea typeface="JF Flat" pitchFamily="34" charset="-122"/>
                <a:cs typeface="JF Flat" pitchFamily="34" charset="-120"/>
              </a:rPr>
              <a:t>إنشاء بنية تحتية وطنية آمنة وموثوقة لاستضافة البيانات والأنظمة الحكومية، ودعم التحول الرقمي في ليبيا.</a:t>
            </a:r>
            <a:endParaRPr lang="ar-SA" sz="16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موقع مركز البيانات</a:t>
            </a:r>
            <a:endParaRPr lang="en-US" sz="3000" dirty="0"/>
          </a:p>
        </p:txBody>
      </p:sp>
      <p:sp>
        <p:nvSpPr>
          <p:cNvPr id="4" name="!!card0"/>
          <p:cNvSpPr/>
          <p:nvPr/>
        </p:nvSpPr>
        <p:spPr>
          <a:xfrm>
            <a:off x="4602175" y="1554480"/>
            <a:ext cx="7040880" cy="4346917"/>
          </a:xfrm>
          <a:prstGeom prst="roundRect">
            <a:avLst>
              <a:gd name="adj" fmla="val 210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pic>
        <p:nvPicPr>
          <p:cNvPr id="5" name="Image 0" descr="شكل (2) يوضح موقع مركز البيانات بشركة الجيل الجديد للتقنية">    </p:cNvPr>
          <p:cNvPicPr>
            <a:picLocks noChangeAspect="1"/>
          </p:cNvPicPr>
          <p:nvPr/>
        </p:nvPicPr>
        <p:blipFill>
          <a:blip r:embed="rId1"/>
          <a:stretch>
            <a:fillRect/>
          </a:stretch>
        </p:blipFill>
        <p:spPr>
          <a:xfrm>
            <a:off x="4739335" y="1691640"/>
            <a:ext cx="6766560" cy="4072597"/>
          </a:xfrm>
          <a:prstGeom prst="rect">
            <a:avLst/>
          </a:prstGeom>
        </p:spPr>
      </p:pic>
      <p:sp>
        <p:nvSpPr>
          <p:cNvPr id="6" name="Text 3"/>
          <p:cNvSpPr txBox="1"/>
          <p:nvPr/>
        </p:nvSpPr>
        <p:spPr>
          <a:xfrm>
            <a:off x="4602175" y="5992837"/>
            <a:ext cx="7040880" cy="365760"/>
          </a:xfrm>
          <a:prstGeom prst="rect">
            <a:avLst/>
          </a:prstGeom>
          <a:noFill/>
          <a:ln/>
        </p:spPr>
        <p:txBody>
          <a:bodyPr wrap="square" lIns="0" tIns="0" rIns="0" bIns="0" rtlCol="0" anchor="t"/>
          <a:lstStyle/>
          <a:p>
            <a:pPr rtl="1" algn="ctr" indent="0" marL="0">
              <a:buNone/>
            </a:pPr>
            <a:r>
              <a:rPr lang="ar-SA" altLang="en-US" sz="1500" b="1" dirty="0">
                <a:solidFill>
                  <a:srgbClr val="06305C"/>
                </a:solidFill>
                <a:latin typeface="JF Flat" pitchFamily="34" charset="0"/>
                <a:ea typeface="JF Flat" pitchFamily="34" charset="-122"/>
                <a:cs typeface="JF Flat" pitchFamily="34" charset="-120"/>
              </a:rPr>
              <a:t>شكل (2) يوضح موقع مركز البيانات بشركة الجيل الجديد للتقنية</a:t>
            </a:r>
            <a:endParaRPr lang="ar-SA" sz="1500" dirty="0"/>
          </a:p>
        </p:txBody>
      </p:sp>
      <p:sp>
        <p:nvSpPr>
          <p:cNvPr id="7" name="!!card1"/>
          <p:cNvSpPr/>
          <p:nvPr/>
        </p:nvSpPr>
        <p:spPr>
          <a:xfrm>
            <a:off x="548640" y="1554480"/>
            <a:ext cx="3779215" cy="786384"/>
          </a:xfrm>
          <a:prstGeom prst="roundRect">
            <a:avLst>
              <a:gd name="adj" fmla="val 11628"/>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8" name="!!dot0"/>
          <p:cNvSpPr/>
          <p:nvPr/>
        </p:nvSpPr>
        <p:spPr>
          <a:xfrm>
            <a:off x="3687775" y="1709928"/>
            <a:ext cx="475488" cy="475488"/>
          </a:xfrm>
          <a:prstGeom prst="ellipse">
            <a:avLst/>
          </a:prstGeom>
          <a:solidFill>
            <a:srgbClr val="F15524"/>
          </a:solidFill>
          <a:ln w="12700">
            <a:solidFill>
              <a:srgbClr val="F15524"/>
            </a:solidFill>
            <a:prstDash val="solid"/>
          </a:ln>
        </p:spPr>
      </p:sp>
      <p:pic>
        <p:nvPicPr>
          <p:cNvPr id="9" name="!!ico0" descr="preencoded.png">    </p:cNvPr>
          <p:cNvPicPr>
            <a:picLocks noChangeAspect="1"/>
          </p:cNvPicPr>
          <p:nvPr/>
        </p:nvPicPr>
        <p:blipFill>
          <a:blip r:embed="rId2"/>
          <a:stretch>
            <a:fillRect/>
          </a:stretch>
        </p:blipFill>
        <p:spPr>
          <a:xfrm>
            <a:off x="3816157" y="1838310"/>
            <a:ext cx="218724" cy="218724"/>
          </a:xfrm>
          <a:prstGeom prst="rect">
            <a:avLst/>
          </a:prstGeom>
        </p:spPr>
      </p:pic>
      <p:sp>
        <p:nvSpPr>
          <p:cNvPr id="10" name="Text 6"/>
          <p:cNvSpPr txBox="1"/>
          <p:nvPr/>
        </p:nvSpPr>
        <p:spPr>
          <a:xfrm>
            <a:off x="685800" y="1627632"/>
            <a:ext cx="2910535" cy="292608"/>
          </a:xfrm>
          <a:prstGeom prst="rect">
            <a:avLst/>
          </a:prstGeom>
          <a:noFill/>
          <a:ln/>
        </p:spPr>
        <p:txBody>
          <a:bodyPr wrap="square" lIns="0" tIns="0" rIns="0" bIns="0" rtlCol="0" anchor="t"/>
          <a:lstStyle/>
          <a:p>
            <a:pPr rtl="1" algn="r" indent="0" marL="0">
              <a:buNone/>
            </a:pPr>
            <a:r>
              <a:rPr lang="ar-SA" altLang="en-US" sz="1200" b="1" dirty="0">
                <a:solidFill>
                  <a:srgbClr val="C9DAEE"/>
                </a:solidFill>
                <a:latin typeface="JF Flat" pitchFamily="34" charset="0"/>
                <a:ea typeface="JF Flat" pitchFamily="34" charset="-122"/>
                <a:cs typeface="JF Flat" pitchFamily="34" charset="-120"/>
              </a:rPr>
              <a:t>مساحة الموقع</a:t>
            </a:r>
            <a:endParaRPr lang="ar-SA" sz="1200" dirty="0"/>
          </a:p>
        </p:txBody>
      </p:sp>
      <p:sp>
        <p:nvSpPr>
          <p:cNvPr id="11" name="Text 7"/>
          <p:cNvSpPr txBox="1"/>
          <p:nvPr/>
        </p:nvSpPr>
        <p:spPr>
          <a:xfrm>
            <a:off x="685800" y="1920240"/>
            <a:ext cx="2910535" cy="365760"/>
          </a:xfrm>
          <a:prstGeom prst="rect">
            <a:avLst/>
          </a:prstGeom>
          <a:noFill/>
          <a:ln/>
        </p:spPr>
        <p:txBody>
          <a:bodyPr wrap="square" lIns="0" tIns="0" rIns="0" bIns="0" rtlCol="0" anchor="ctr"/>
          <a:lstStyle/>
          <a:p>
            <a:pPr rtl="1" algn="r" indent="0" marL="0">
              <a:buNone/>
            </a:pPr>
            <a:r>
              <a:rPr lang="ar-SA" altLang="en-US" sz="1800" b="1" dirty="0">
                <a:solidFill>
                  <a:srgbClr val="FFFFFF"/>
                </a:solidFill>
                <a:latin typeface="JF Flat" pitchFamily="34" charset="0"/>
                <a:ea typeface="JF Flat" pitchFamily="34" charset="-122"/>
                <a:cs typeface="JF Flat" pitchFamily="34" charset="-120"/>
              </a:rPr>
              <a:t>50 × 70 متر</a:t>
            </a:r>
            <a:endParaRPr lang="ar-SA" sz="1800" dirty="0"/>
          </a:p>
        </p:txBody>
      </p:sp>
      <p:sp>
        <p:nvSpPr>
          <p:cNvPr id="12" name="!!card2"/>
          <p:cNvSpPr/>
          <p:nvPr/>
        </p:nvSpPr>
        <p:spPr>
          <a:xfrm>
            <a:off x="548640" y="2450592"/>
            <a:ext cx="3779215" cy="786384"/>
          </a:xfrm>
          <a:prstGeom prst="roundRect">
            <a:avLst>
              <a:gd name="adj" fmla="val 1162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3" name="!!dot1"/>
          <p:cNvSpPr/>
          <p:nvPr/>
        </p:nvSpPr>
        <p:spPr>
          <a:xfrm>
            <a:off x="3687775" y="2606040"/>
            <a:ext cx="475488" cy="475488"/>
          </a:xfrm>
          <a:prstGeom prst="ellipse">
            <a:avLst/>
          </a:prstGeom>
          <a:solidFill>
            <a:srgbClr val="F15524"/>
          </a:solidFill>
          <a:ln w="12700">
            <a:solidFill>
              <a:srgbClr val="F15524"/>
            </a:solidFill>
            <a:prstDash val="solid"/>
          </a:ln>
        </p:spPr>
      </p:sp>
      <p:pic>
        <p:nvPicPr>
          <p:cNvPr id="14" name="!!ico1" descr="preencoded.png">    </p:cNvPr>
          <p:cNvPicPr>
            <a:picLocks noChangeAspect="1"/>
          </p:cNvPicPr>
          <p:nvPr/>
        </p:nvPicPr>
        <p:blipFill>
          <a:blip r:embed="rId3"/>
          <a:stretch>
            <a:fillRect/>
          </a:stretch>
        </p:blipFill>
        <p:spPr>
          <a:xfrm>
            <a:off x="3816157" y="2734422"/>
            <a:ext cx="218724" cy="218724"/>
          </a:xfrm>
          <a:prstGeom prst="rect">
            <a:avLst/>
          </a:prstGeom>
        </p:spPr>
      </p:pic>
      <p:sp>
        <p:nvSpPr>
          <p:cNvPr id="15" name="Text 10"/>
          <p:cNvSpPr txBox="1"/>
          <p:nvPr/>
        </p:nvSpPr>
        <p:spPr>
          <a:xfrm>
            <a:off x="685800" y="2523744"/>
            <a:ext cx="2910535" cy="292608"/>
          </a:xfrm>
          <a:prstGeom prst="rect">
            <a:avLst/>
          </a:prstGeom>
          <a:noFill/>
          <a:ln/>
        </p:spPr>
        <p:txBody>
          <a:bodyPr wrap="square" lIns="0" tIns="0" rIns="0" bIns="0" rtlCol="0" anchor="t"/>
          <a:lstStyle/>
          <a:p>
            <a:pPr rtl="1" algn="r" indent="0" marL="0">
              <a:buNone/>
            </a:pPr>
            <a:r>
              <a:rPr lang="ar-SA" altLang="en-US" sz="1200" b="1" dirty="0">
                <a:solidFill>
                  <a:srgbClr val="5B6B7F"/>
                </a:solidFill>
                <a:latin typeface="JF Flat" pitchFamily="34" charset="0"/>
                <a:ea typeface="JF Flat" pitchFamily="34" charset="-122"/>
                <a:cs typeface="JF Flat" pitchFamily="34" charset="-120"/>
              </a:rPr>
              <a:t>المولدات</a:t>
            </a:r>
            <a:endParaRPr lang="ar-SA" sz="1200" dirty="0"/>
          </a:p>
        </p:txBody>
      </p:sp>
      <p:sp>
        <p:nvSpPr>
          <p:cNvPr id="16" name="Text 11"/>
          <p:cNvSpPr txBox="1"/>
          <p:nvPr/>
        </p:nvSpPr>
        <p:spPr>
          <a:xfrm>
            <a:off x="685800" y="2816352"/>
            <a:ext cx="2910535" cy="36576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4 مولدات (Gen 1 – Gen 4) حول المبنى</a:t>
            </a:r>
            <a:endParaRPr lang="ar-SA" sz="1300" dirty="0"/>
          </a:p>
        </p:txBody>
      </p:sp>
      <p:sp>
        <p:nvSpPr>
          <p:cNvPr id="17" name="!!card3"/>
          <p:cNvSpPr/>
          <p:nvPr/>
        </p:nvSpPr>
        <p:spPr>
          <a:xfrm>
            <a:off x="548640" y="3346704"/>
            <a:ext cx="3779215" cy="786384"/>
          </a:xfrm>
          <a:prstGeom prst="roundRect">
            <a:avLst>
              <a:gd name="adj" fmla="val 1162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8" name="!!dot2"/>
          <p:cNvSpPr/>
          <p:nvPr/>
        </p:nvSpPr>
        <p:spPr>
          <a:xfrm>
            <a:off x="3687775" y="3502152"/>
            <a:ext cx="475488" cy="475488"/>
          </a:xfrm>
          <a:prstGeom prst="ellipse">
            <a:avLst/>
          </a:prstGeom>
          <a:solidFill>
            <a:srgbClr val="00539B"/>
          </a:solidFill>
          <a:ln w="12700">
            <a:solidFill>
              <a:srgbClr val="00539B"/>
            </a:solidFill>
            <a:prstDash val="solid"/>
          </a:ln>
        </p:spPr>
      </p:sp>
      <p:pic>
        <p:nvPicPr>
          <p:cNvPr id="19" name="!!ico2" descr="preencoded.png">    </p:cNvPr>
          <p:cNvPicPr>
            <a:picLocks noChangeAspect="1"/>
          </p:cNvPicPr>
          <p:nvPr/>
        </p:nvPicPr>
        <p:blipFill>
          <a:blip r:embed="rId4"/>
          <a:stretch>
            <a:fillRect/>
          </a:stretch>
        </p:blipFill>
        <p:spPr>
          <a:xfrm>
            <a:off x="3816157" y="3630534"/>
            <a:ext cx="218724" cy="218724"/>
          </a:xfrm>
          <a:prstGeom prst="rect">
            <a:avLst/>
          </a:prstGeom>
        </p:spPr>
      </p:pic>
      <p:sp>
        <p:nvSpPr>
          <p:cNvPr id="20" name="Text 14"/>
          <p:cNvSpPr txBox="1"/>
          <p:nvPr/>
        </p:nvSpPr>
        <p:spPr>
          <a:xfrm>
            <a:off x="685800" y="3419856"/>
            <a:ext cx="2910535" cy="292608"/>
          </a:xfrm>
          <a:prstGeom prst="rect">
            <a:avLst/>
          </a:prstGeom>
          <a:noFill/>
          <a:ln/>
        </p:spPr>
        <p:txBody>
          <a:bodyPr wrap="square" lIns="0" tIns="0" rIns="0" bIns="0" rtlCol="0" anchor="t"/>
          <a:lstStyle/>
          <a:p>
            <a:pPr rtl="1" algn="r" indent="0" marL="0">
              <a:buNone/>
            </a:pPr>
            <a:r>
              <a:rPr lang="ar-SA" altLang="en-US" sz="1200" b="1" dirty="0">
                <a:solidFill>
                  <a:srgbClr val="5B6B7F"/>
                </a:solidFill>
                <a:latin typeface="JF Flat" pitchFamily="34" charset="0"/>
                <a:ea typeface="JF Flat" pitchFamily="34" charset="-122"/>
                <a:cs typeface="JF Flat" pitchFamily="34" charset="-120"/>
              </a:rPr>
              <a:t>التبريد</a:t>
            </a:r>
            <a:endParaRPr lang="ar-SA" sz="1200" dirty="0"/>
          </a:p>
        </p:txBody>
      </p:sp>
      <p:sp>
        <p:nvSpPr>
          <p:cNvPr id="21" name="Text 15"/>
          <p:cNvSpPr txBox="1"/>
          <p:nvPr/>
        </p:nvSpPr>
        <p:spPr>
          <a:xfrm>
            <a:off x="685800" y="3712464"/>
            <a:ext cx="2910535" cy="36576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منطقة مخصصة لأنظمة التبريد</a:t>
            </a:r>
            <a:endParaRPr lang="ar-SA" sz="1300" dirty="0"/>
          </a:p>
        </p:txBody>
      </p:sp>
      <p:sp>
        <p:nvSpPr>
          <p:cNvPr id="22" name="!!card4"/>
          <p:cNvSpPr/>
          <p:nvPr/>
        </p:nvSpPr>
        <p:spPr>
          <a:xfrm>
            <a:off x="548640" y="4242816"/>
            <a:ext cx="3779215" cy="786384"/>
          </a:xfrm>
          <a:prstGeom prst="roundRect">
            <a:avLst>
              <a:gd name="adj" fmla="val 1162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3" name="!!dot3"/>
          <p:cNvSpPr/>
          <p:nvPr/>
        </p:nvSpPr>
        <p:spPr>
          <a:xfrm>
            <a:off x="3687775" y="4398264"/>
            <a:ext cx="475488" cy="475488"/>
          </a:xfrm>
          <a:prstGeom prst="ellipse">
            <a:avLst/>
          </a:prstGeom>
          <a:solidFill>
            <a:srgbClr val="F15524"/>
          </a:solidFill>
          <a:ln w="12700">
            <a:solidFill>
              <a:srgbClr val="F15524"/>
            </a:solidFill>
            <a:prstDash val="solid"/>
          </a:ln>
        </p:spPr>
      </p:sp>
      <p:pic>
        <p:nvPicPr>
          <p:cNvPr id="24" name="!!ico3" descr="preencoded.png">    </p:cNvPr>
          <p:cNvPicPr>
            <a:picLocks noChangeAspect="1"/>
          </p:cNvPicPr>
          <p:nvPr/>
        </p:nvPicPr>
        <p:blipFill>
          <a:blip r:embed="rId5"/>
          <a:stretch>
            <a:fillRect/>
          </a:stretch>
        </p:blipFill>
        <p:spPr>
          <a:xfrm>
            <a:off x="3816157" y="4526646"/>
            <a:ext cx="218724" cy="218724"/>
          </a:xfrm>
          <a:prstGeom prst="rect">
            <a:avLst/>
          </a:prstGeom>
        </p:spPr>
      </p:pic>
      <p:sp>
        <p:nvSpPr>
          <p:cNvPr id="25" name="Text 18"/>
          <p:cNvSpPr txBox="1"/>
          <p:nvPr/>
        </p:nvSpPr>
        <p:spPr>
          <a:xfrm>
            <a:off x="685800" y="4315968"/>
            <a:ext cx="2910535" cy="292608"/>
          </a:xfrm>
          <a:prstGeom prst="rect">
            <a:avLst/>
          </a:prstGeom>
          <a:noFill/>
          <a:ln/>
        </p:spPr>
        <p:txBody>
          <a:bodyPr wrap="square" lIns="0" tIns="0" rIns="0" bIns="0" rtlCol="0" anchor="t"/>
          <a:lstStyle/>
          <a:p>
            <a:pPr rtl="1" algn="r" indent="0" marL="0">
              <a:buNone/>
            </a:pPr>
            <a:r>
              <a:rPr lang="ar-SA" altLang="en-US" sz="1200" b="1" dirty="0">
                <a:solidFill>
                  <a:srgbClr val="5B6B7F"/>
                </a:solidFill>
                <a:latin typeface="JF Flat" pitchFamily="34" charset="0"/>
                <a:ea typeface="JF Flat" pitchFamily="34" charset="-122"/>
                <a:cs typeface="JF Flat" pitchFamily="34" charset="-120"/>
              </a:rPr>
              <a:t>مداخل الموقع</a:t>
            </a:r>
            <a:endParaRPr lang="ar-SA" sz="1200" dirty="0"/>
          </a:p>
        </p:txBody>
      </p:sp>
      <p:sp>
        <p:nvSpPr>
          <p:cNvPr id="26" name="Text 19"/>
          <p:cNvSpPr txBox="1"/>
          <p:nvPr/>
        </p:nvSpPr>
        <p:spPr>
          <a:xfrm>
            <a:off x="685800" y="4608576"/>
            <a:ext cx="2910535" cy="36576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مدخل لوجستي، ومدخل مستقل للأفراد</a:t>
            </a:r>
            <a:endParaRPr lang="ar-SA" sz="1300" dirty="0"/>
          </a:p>
        </p:txBody>
      </p:sp>
      <p:sp>
        <p:nvSpPr>
          <p:cNvPr id="27" name="!!card5"/>
          <p:cNvSpPr/>
          <p:nvPr/>
        </p:nvSpPr>
        <p:spPr>
          <a:xfrm>
            <a:off x="548640" y="5138928"/>
            <a:ext cx="3779215" cy="786384"/>
          </a:xfrm>
          <a:prstGeom prst="roundRect">
            <a:avLst>
              <a:gd name="adj" fmla="val 1162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8" name="!!dot4"/>
          <p:cNvSpPr/>
          <p:nvPr/>
        </p:nvSpPr>
        <p:spPr>
          <a:xfrm>
            <a:off x="3687775" y="5294376"/>
            <a:ext cx="475488" cy="475488"/>
          </a:xfrm>
          <a:prstGeom prst="ellipse">
            <a:avLst/>
          </a:prstGeom>
          <a:solidFill>
            <a:srgbClr val="00539B"/>
          </a:solidFill>
          <a:ln w="12700">
            <a:solidFill>
              <a:srgbClr val="00539B"/>
            </a:solidFill>
            <a:prstDash val="solid"/>
          </a:ln>
        </p:spPr>
      </p:sp>
      <p:pic>
        <p:nvPicPr>
          <p:cNvPr id="29" name="!!ico4" descr="preencoded.png">    </p:cNvPr>
          <p:cNvPicPr>
            <a:picLocks noChangeAspect="1"/>
          </p:cNvPicPr>
          <p:nvPr/>
        </p:nvPicPr>
        <p:blipFill>
          <a:blip r:embed="rId6"/>
          <a:stretch>
            <a:fillRect/>
          </a:stretch>
        </p:blipFill>
        <p:spPr>
          <a:xfrm>
            <a:off x="3816157" y="5422758"/>
            <a:ext cx="218724" cy="218724"/>
          </a:xfrm>
          <a:prstGeom prst="rect">
            <a:avLst/>
          </a:prstGeom>
        </p:spPr>
      </p:pic>
      <p:sp>
        <p:nvSpPr>
          <p:cNvPr id="30" name="Text 22"/>
          <p:cNvSpPr txBox="1"/>
          <p:nvPr/>
        </p:nvSpPr>
        <p:spPr>
          <a:xfrm>
            <a:off x="685800" y="5212080"/>
            <a:ext cx="2910535" cy="292608"/>
          </a:xfrm>
          <a:prstGeom prst="rect">
            <a:avLst/>
          </a:prstGeom>
          <a:noFill/>
          <a:ln/>
        </p:spPr>
        <p:txBody>
          <a:bodyPr wrap="square" lIns="0" tIns="0" rIns="0" bIns="0" rtlCol="0" anchor="t"/>
          <a:lstStyle/>
          <a:p>
            <a:pPr rtl="1" algn="r" indent="0" marL="0">
              <a:buNone/>
            </a:pPr>
            <a:r>
              <a:rPr lang="ar-SA" altLang="en-US" sz="1200" b="1" dirty="0">
                <a:solidFill>
                  <a:srgbClr val="5B6B7F"/>
                </a:solidFill>
                <a:latin typeface="JF Flat" pitchFamily="34" charset="0"/>
                <a:ea typeface="JF Flat" pitchFamily="34" charset="-122"/>
                <a:cs typeface="JF Flat" pitchFamily="34" charset="-120"/>
              </a:rPr>
              <a:t>الوصول للطابق الأول</a:t>
            </a:r>
            <a:endParaRPr lang="ar-SA" sz="1200" dirty="0"/>
          </a:p>
        </p:txBody>
      </p:sp>
      <p:sp>
        <p:nvSpPr>
          <p:cNvPr id="31" name="Text 23"/>
          <p:cNvSpPr txBox="1"/>
          <p:nvPr/>
        </p:nvSpPr>
        <p:spPr>
          <a:xfrm>
            <a:off x="685800" y="5504688"/>
            <a:ext cx="2910535" cy="36576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سلّم خارجي للوصول إلى الطابق رقم 1</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أبعاد مركز البيانات</a:t>
            </a:r>
            <a:endParaRPr lang="en-US" sz="3000" dirty="0"/>
          </a:p>
        </p:txBody>
      </p:sp>
      <p:sp>
        <p:nvSpPr>
          <p:cNvPr id="4" name="!!card0"/>
          <p:cNvSpPr/>
          <p:nvPr/>
        </p:nvSpPr>
        <p:spPr>
          <a:xfrm>
            <a:off x="548640" y="1554480"/>
            <a:ext cx="7863840" cy="4045799"/>
          </a:xfrm>
          <a:prstGeom prst="roundRect">
            <a:avLst>
              <a:gd name="adj" fmla="val 226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pic>
        <p:nvPicPr>
          <p:cNvPr id="5" name="Image 0" descr="شكل (3) يوضح أبعاد مركز البيانات">    </p:cNvPr>
          <p:cNvPicPr>
            <a:picLocks noChangeAspect="1"/>
          </p:cNvPicPr>
          <p:nvPr/>
        </p:nvPicPr>
        <p:blipFill>
          <a:blip r:embed="rId1"/>
          <a:stretch>
            <a:fillRect/>
          </a:stretch>
        </p:blipFill>
        <p:spPr>
          <a:xfrm>
            <a:off x="685800" y="1691640"/>
            <a:ext cx="7589520" cy="3771479"/>
          </a:xfrm>
          <a:prstGeom prst="rect">
            <a:avLst/>
          </a:prstGeom>
        </p:spPr>
      </p:pic>
      <p:sp>
        <p:nvSpPr>
          <p:cNvPr id="6" name="Text 3"/>
          <p:cNvSpPr txBox="1"/>
          <p:nvPr/>
        </p:nvSpPr>
        <p:spPr>
          <a:xfrm>
            <a:off x="548640" y="5737439"/>
            <a:ext cx="7863840" cy="365760"/>
          </a:xfrm>
          <a:prstGeom prst="rect">
            <a:avLst/>
          </a:prstGeom>
          <a:noFill/>
          <a:ln/>
        </p:spPr>
        <p:txBody>
          <a:bodyPr wrap="square" lIns="0" tIns="0" rIns="0" bIns="0" rtlCol="0" anchor="t"/>
          <a:lstStyle/>
          <a:p>
            <a:pPr rtl="1" algn="ctr" indent="0" marL="0">
              <a:buNone/>
            </a:pPr>
            <a:r>
              <a:rPr lang="ar-SA" altLang="en-US" sz="1500" b="1" dirty="0">
                <a:solidFill>
                  <a:srgbClr val="06305C"/>
                </a:solidFill>
                <a:latin typeface="JF Flat" pitchFamily="34" charset="0"/>
                <a:ea typeface="JF Flat" pitchFamily="34" charset="-122"/>
                <a:cs typeface="JF Flat" pitchFamily="34" charset="-120"/>
              </a:rPr>
              <a:t>شكل (3) يوضح أبعاد مركز البيانات</a:t>
            </a:r>
            <a:endParaRPr lang="ar-SA" sz="1500" dirty="0"/>
          </a:p>
        </p:txBody>
      </p:sp>
      <p:sp>
        <p:nvSpPr>
          <p:cNvPr id="7" name="!!card1"/>
          <p:cNvSpPr/>
          <p:nvPr/>
        </p:nvSpPr>
        <p:spPr>
          <a:xfrm>
            <a:off x="8686800" y="1554480"/>
            <a:ext cx="2956255" cy="1005840"/>
          </a:xfrm>
          <a:prstGeom prst="roundRect">
            <a:avLst>
              <a:gd name="adj" fmla="val 90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8" name="!!dot0"/>
          <p:cNvSpPr/>
          <p:nvPr/>
        </p:nvSpPr>
        <p:spPr>
          <a:xfrm>
            <a:off x="10957255" y="1805940"/>
            <a:ext cx="502920" cy="502920"/>
          </a:xfrm>
          <a:prstGeom prst="ellipse">
            <a:avLst/>
          </a:prstGeom>
          <a:solidFill>
            <a:srgbClr val="00539B"/>
          </a:solidFill>
          <a:ln w="12700">
            <a:solidFill>
              <a:srgbClr val="00539B"/>
            </a:solidFill>
            <a:prstDash val="solid"/>
          </a:ln>
        </p:spPr>
      </p:sp>
      <p:pic>
        <p:nvPicPr>
          <p:cNvPr id="9" name="!!ico0" descr="preencoded.png">    </p:cNvPr>
          <p:cNvPicPr>
            <a:picLocks noChangeAspect="1"/>
          </p:cNvPicPr>
          <p:nvPr/>
        </p:nvPicPr>
        <p:blipFill>
          <a:blip r:embed="rId2"/>
          <a:stretch>
            <a:fillRect/>
          </a:stretch>
        </p:blipFill>
        <p:spPr>
          <a:xfrm>
            <a:off x="11093044" y="1941728"/>
            <a:ext cx="231343" cy="231343"/>
          </a:xfrm>
          <a:prstGeom prst="rect">
            <a:avLst/>
          </a:prstGeom>
        </p:spPr>
      </p:pic>
      <p:sp>
        <p:nvSpPr>
          <p:cNvPr id="10" name="Text 6"/>
          <p:cNvSpPr txBox="1"/>
          <p:nvPr/>
        </p:nvSpPr>
        <p:spPr>
          <a:xfrm>
            <a:off x="8823960" y="1645920"/>
            <a:ext cx="2041855" cy="320040"/>
          </a:xfrm>
          <a:prstGeom prst="rect">
            <a:avLst/>
          </a:prstGeom>
          <a:noFill/>
          <a:ln/>
        </p:spPr>
        <p:txBody>
          <a:bodyPr wrap="square" lIns="0" tIns="0" rIns="0" bIns="0" rtlCol="0" anchor="t"/>
          <a:lstStyle/>
          <a:p>
            <a:pPr rtl="1" algn="r" indent="0" marL="0">
              <a:buNone/>
            </a:pPr>
            <a:r>
              <a:rPr lang="ar-SA" altLang="en-US" sz="1150" b="1" dirty="0">
                <a:solidFill>
                  <a:srgbClr val="5B6B7F"/>
                </a:solidFill>
                <a:latin typeface="JF Flat" pitchFamily="34" charset="0"/>
                <a:ea typeface="JF Flat" pitchFamily="34" charset="-122"/>
                <a:cs typeface="JF Flat" pitchFamily="34" charset="-120"/>
              </a:rPr>
              <a:t>ارتفاع المبنى</a:t>
            </a:r>
            <a:endParaRPr lang="ar-SA" sz="1150" dirty="0"/>
          </a:p>
        </p:txBody>
      </p:sp>
      <p:sp>
        <p:nvSpPr>
          <p:cNvPr id="11" name="Text 7"/>
          <p:cNvSpPr txBox="1"/>
          <p:nvPr/>
        </p:nvSpPr>
        <p:spPr>
          <a:xfrm>
            <a:off x="8823960" y="1965960"/>
            <a:ext cx="2041855" cy="502920"/>
          </a:xfrm>
          <a:prstGeom prst="rect">
            <a:avLst/>
          </a:prstGeom>
          <a:noFill/>
          <a:ln/>
        </p:spPr>
        <p:txBody>
          <a:bodyPr wrap="square" lIns="0" tIns="0" rIns="0" bIns="0" rtlCol="0" anchor="ctr"/>
          <a:lstStyle/>
          <a:p>
            <a:pPr algn="r" indent="0" marL="0">
              <a:buNone/>
            </a:pPr>
            <a:r>
              <a:rPr lang="ar-SA" altLang="en-US" sz="2600" b="1" dirty="0">
                <a:solidFill>
                  <a:srgbClr val="00539B"/>
                </a:solidFill>
                <a:latin typeface="JF Flat" pitchFamily="34" charset="0"/>
                <a:ea typeface="JF Flat" pitchFamily="34" charset="-122"/>
                <a:cs typeface="JF Flat" pitchFamily="34" charset="-120"/>
              </a:rPr>
              <a:t>14/16</a:t>
            </a:r>
            <a:pPr algn="r" indent="0" marL="0">
              <a:buNone/>
            </a:pPr>
            <a:r>
              <a:rPr lang="ar-SA" altLang="en-US" sz="1400" b="1" dirty="0">
                <a:solidFill>
                  <a:srgbClr val="5B6B7F"/>
                </a:solidFill>
                <a:latin typeface="JF Flat" pitchFamily="34" charset="0"/>
                <a:ea typeface="JF Flat" pitchFamily="34" charset="-122"/>
                <a:cs typeface="JF Flat" pitchFamily="34" charset="-120"/>
              </a:rPr>
              <a:t>  متر</a:t>
            </a:r>
            <a:endParaRPr lang="ar-SA" sz="1400" dirty="0"/>
          </a:p>
        </p:txBody>
      </p:sp>
      <p:sp>
        <p:nvSpPr>
          <p:cNvPr id="12" name="!!card2"/>
          <p:cNvSpPr/>
          <p:nvPr/>
        </p:nvSpPr>
        <p:spPr>
          <a:xfrm>
            <a:off x="8686800" y="2697480"/>
            <a:ext cx="2956255" cy="1005840"/>
          </a:xfrm>
          <a:prstGeom prst="roundRect">
            <a:avLst>
              <a:gd name="adj" fmla="val 90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3" name="!!dot1"/>
          <p:cNvSpPr/>
          <p:nvPr/>
        </p:nvSpPr>
        <p:spPr>
          <a:xfrm>
            <a:off x="10957255" y="2948940"/>
            <a:ext cx="502920" cy="502920"/>
          </a:xfrm>
          <a:prstGeom prst="ellipse">
            <a:avLst/>
          </a:prstGeom>
          <a:solidFill>
            <a:srgbClr val="00539B"/>
          </a:solidFill>
          <a:ln w="12700">
            <a:solidFill>
              <a:srgbClr val="00539B"/>
            </a:solidFill>
            <a:prstDash val="solid"/>
          </a:ln>
        </p:spPr>
      </p:sp>
      <p:pic>
        <p:nvPicPr>
          <p:cNvPr id="14" name="!!ico1" descr="preencoded.png">    </p:cNvPr>
          <p:cNvPicPr>
            <a:picLocks noChangeAspect="1"/>
          </p:cNvPicPr>
          <p:nvPr/>
        </p:nvPicPr>
        <p:blipFill>
          <a:blip r:embed="rId3"/>
          <a:stretch>
            <a:fillRect/>
          </a:stretch>
        </p:blipFill>
        <p:spPr>
          <a:xfrm>
            <a:off x="11093044" y="3084728"/>
            <a:ext cx="231343" cy="231343"/>
          </a:xfrm>
          <a:prstGeom prst="rect">
            <a:avLst/>
          </a:prstGeom>
        </p:spPr>
      </p:pic>
      <p:sp>
        <p:nvSpPr>
          <p:cNvPr id="15" name="Text 10"/>
          <p:cNvSpPr txBox="1"/>
          <p:nvPr/>
        </p:nvSpPr>
        <p:spPr>
          <a:xfrm>
            <a:off x="8823960" y="2788920"/>
            <a:ext cx="2041855" cy="320040"/>
          </a:xfrm>
          <a:prstGeom prst="rect">
            <a:avLst/>
          </a:prstGeom>
          <a:noFill/>
          <a:ln/>
        </p:spPr>
        <p:txBody>
          <a:bodyPr wrap="square" lIns="0" tIns="0" rIns="0" bIns="0" rtlCol="0" anchor="t"/>
          <a:lstStyle/>
          <a:p>
            <a:pPr rtl="1" algn="r" indent="0" marL="0">
              <a:buNone/>
            </a:pPr>
            <a:r>
              <a:rPr lang="ar-SA" altLang="en-US" sz="1150" b="1" dirty="0">
                <a:solidFill>
                  <a:srgbClr val="5B6B7F"/>
                </a:solidFill>
                <a:latin typeface="JF Flat" pitchFamily="34" charset="0"/>
                <a:ea typeface="JF Flat" pitchFamily="34" charset="-122"/>
                <a:cs typeface="JF Flat" pitchFamily="34" charset="-120"/>
              </a:rPr>
              <a:t>مساحة الطابقين 0 و1 (30×55 م)</a:t>
            </a:r>
            <a:endParaRPr lang="ar-SA" sz="1150" dirty="0"/>
          </a:p>
        </p:txBody>
      </p:sp>
      <p:sp>
        <p:nvSpPr>
          <p:cNvPr id="16" name="Text 11"/>
          <p:cNvSpPr txBox="1"/>
          <p:nvPr/>
        </p:nvSpPr>
        <p:spPr>
          <a:xfrm>
            <a:off x="8823960" y="3108960"/>
            <a:ext cx="2041855" cy="502920"/>
          </a:xfrm>
          <a:prstGeom prst="rect">
            <a:avLst/>
          </a:prstGeom>
          <a:noFill/>
          <a:ln/>
        </p:spPr>
        <p:txBody>
          <a:bodyPr wrap="square" lIns="0" tIns="0" rIns="0" bIns="0" rtlCol="0" anchor="ctr"/>
          <a:lstStyle/>
          <a:p>
            <a:pPr algn="r" indent="0" marL="0">
              <a:buNone/>
            </a:pPr>
            <a:r>
              <a:rPr lang="ar-SA" altLang="en-US" sz="2600" b="1" dirty="0">
                <a:solidFill>
                  <a:srgbClr val="00539B"/>
                </a:solidFill>
                <a:latin typeface="JF Flat" pitchFamily="34" charset="0"/>
                <a:ea typeface="JF Flat" pitchFamily="34" charset="-122"/>
                <a:cs typeface="JF Flat" pitchFamily="34" charset="-120"/>
              </a:rPr>
              <a:t>3,300</a:t>
            </a:r>
            <a:pPr algn="r" indent="0" marL="0">
              <a:buNone/>
            </a:pPr>
            <a:r>
              <a:rPr lang="ar-SA" altLang="en-US" sz="1400" b="1" dirty="0">
                <a:solidFill>
                  <a:srgbClr val="5B6B7F"/>
                </a:solidFill>
                <a:latin typeface="JF Flat" pitchFamily="34" charset="0"/>
                <a:ea typeface="JF Flat" pitchFamily="34" charset="-122"/>
                <a:cs typeface="JF Flat" pitchFamily="34" charset="-120"/>
              </a:rPr>
              <a:t>  م²</a:t>
            </a:r>
            <a:endParaRPr lang="ar-SA" sz="1400" dirty="0"/>
          </a:p>
        </p:txBody>
      </p:sp>
      <p:sp>
        <p:nvSpPr>
          <p:cNvPr id="17" name="!!card3"/>
          <p:cNvSpPr/>
          <p:nvPr/>
        </p:nvSpPr>
        <p:spPr>
          <a:xfrm>
            <a:off x="8686800" y="3840480"/>
            <a:ext cx="2956255" cy="1005840"/>
          </a:xfrm>
          <a:prstGeom prst="roundRect">
            <a:avLst>
              <a:gd name="adj" fmla="val 90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8" name="!!dot2"/>
          <p:cNvSpPr/>
          <p:nvPr/>
        </p:nvSpPr>
        <p:spPr>
          <a:xfrm>
            <a:off x="10957255" y="4091940"/>
            <a:ext cx="502920" cy="502920"/>
          </a:xfrm>
          <a:prstGeom prst="ellipse">
            <a:avLst/>
          </a:prstGeom>
          <a:solidFill>
            <a:srgbClr val="00539B"/>
          </a:solidFill>
          <a:ln w="12700">
            <a:solidFill>
              <a:srgbClr val="00539B"/>
            </a:solidFill>
            <a:prstDash val="solid"/>
          </a:ln>
        </p:spPr>
      </p:sp>
      <p:pic>
        <p:nvPicPr>
          <p:cNvPr id="19" name="!!ico2" descr="preencoded.png">    </p:cNvPr>
          <p:cNvPicPr>
            <a:picLocks noChangeAspect="1"/>
          </p:cNvPicPr>
          <p:nvPr/>
        </p:nvPicPr>
        <p:blipFill>
          <a:blip r:embed="rId4"/>
          <a:stretch>
            <a:fillRect/>
          </a:stretch>
        </p:blipFill>
        <p:spPr>
          <a:xfrm>
            <a:off x="11093044" y="4227728"/>
            <a:ext cx="231343" cy="231343"/>
          </a:xfrm>
          <a:prstGeom prst="rect">
            <a:avLst/>
          </a:prstGeom>
        </p:spPr>
      </p:pic>
      <p:sp>
        <p:nvSpPr>
          <p:cNvPr id="20" name="Text 14"/>
          <p:cNvSpPr txBox="1"/>
          <p:nvPr/>
        </p:nvSpPr>
        <p:spPr>
          <a:xfrm>
            <a:off x="8823960" y="3931920"/>
            <a:ext cx="2041855" cy="320040"/>
          </a:xfrm>
          <a:prstGeom prst="rect">
            <a:avLst/>
          </a:prstGeom>
          <a:noFill/>
          <a:ln/>
        </p:spPr>
        <p:txBody>
          <a:bodyPr wrap="square" lIns="0" tIns="0" rIns="0" bIns="0" rtlCol="0" anchor="t"/>
          <a:lstStyle/>
          <a:p>
            <a:pPr rtl="1" algn="r" indent="0" marL="0">
              <a:buNone/>
            </a:pPr>
            <a:r>
              <a:rPr lang="ar-SA" altLang="en-US" sz="1150" b="1" dirty="0">
                <a:solidFill>
                  <a:srgbClr val="5B6B7F"/>
                </a:solidFill>
                <a:latin typeface="JF Flat" pitchFamily="34" charset="0"/>
                <a:ea typeface="JF Flat" pitchFamily="34" charset="-122"/>
                <a:cs typeface="JF Flat" pitchFamily="34" charset="-120"/>
              </a:rPr>
              <a:t>مساحة الطابق -1 (15×55 م)</a:t>
            </a:r>
            <a:endParaRPr lang="ar-SA" sz="1150" dirty="0"/>
          </a:p>
        </p:txBody>
      </p:sp>
      <p:sp>
        <p:nvSpPr>
          <p:cNvPr id="21" name="Text 15"/>
          <p:cNvSpPr txBox="1"/>
          <p:nvPr/>
        </p:nvSpPr>
        <p:spPr>
          <a:xfrm>
            <a:off x="8823960" y="4251960"/>
            <a:ext cx="2041855" cy="502920"/>
          </a:xfrm>
          <a:prstGeom prst="rect">
            <a:avLst/>
          </a:prstGeom>
          <a:noFill/>
          <a:ln/>
        </p:spPr>
        <p:txBody>
          <a:bodyPr wrap="square" lIns="0" tIns="0" rIns="0" bIns="0" rtlCol="0" anchor="ctr"/>
          <a:lstStyle/>
          <a:p>
            <a:pPr algn="r" indent="0" marL="0">
              <a:buNone/>
            </a:pPr>
            <a:r>
              <a:rPr lang="ar-SA" altLang="en-US" sz="2600" b="1" dirty="0">
                <a:solidFill>
                  <a:srgbClr val="00539B"/>
                </a:solidFill>
                <a:latin typeface="JF Flat" pitchFamily="34" charset="0"/>
                <a:ea typeface="JF Flat" pitchFamily="34" charset="-122"/>
                <a:cs typeface="JF Flat" pitchFamily="34" charset="-120"/>
              </a:rPr>
              <a:t>825</a:t>
            </a:r>
            <a:pPr algn="r" indent="0" marL="0">
              <a:buNone/>
            </a:pPr>
            <a:r>
              <a:rPr lang="ar-SA" altLang="en-US" sz="1400" b="1" dirty="0">
                <a:solidFill>
                  <a:srgbClr val="5B6B7F"/>
                </a:solidFill>
                <a:latin typeface="JF Flat" pitchFamily="34" charset="0"/>
                <a:ea typeface="JF Flat" pitchFamily="34" charset="-122"/>
                <a:cs typeface="JF Flat" pitchFamily="34" charset="-120"/>
              </a:rPr>
              <a:t>  م²</a:t>
            </a:r>
            <a:endParaRPr lang="ar-SA" sz="1400" dirty="0"/>
          </a:p>
        </p:txBody>
      </p:sp>
      <p:sp>
        <p:nvSpPr>
          <p:cNvPr id="22" name="!!card4"/>
          <p:cNvSpPr/>
          <p:nvPr/>
        </p:nvSpPr>
        <p:spPr>
          <a:xfrm>
            <a:off x="8686800" y="4983480"/>
            <a:ext cx="2956255" cy="1005840"/>
          </a:xfrm>
          <a:prstGeom prst="roundRect">
            <a:avLst>
              <a:gd name="adj" fmla="val 9091"/>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23" name="!!dot3"/>
          <p:cNvSpPr/>
          <p:nvPr/>
        </p:nvSpPr>
        <p:spPr>
          <a:xfrm>
            <a:off x="10957255" y="5234940"/>
            <a:ext cx="502920" cy="502920"/>
          </a:xfrm>
          <a:prstGeom prst="ellipse">
            <a:avLst/>
          </a:prstGeom>
          <a:solidFill>
            <a:srgbClr val="F15524"/>
          </a:solidFill>
          <a:ln w="12700">
            <a:solidFill>
              <a:srgbClr val="F15524"/>
            </a:solidFill>
            <a:prstDash val="solid"/>
          </a:ln>
        </p:spPr>
      </p:sp>
      <p:pic>
        <p:nvPicPr>
          <p:cNvPr id="24" name="!!ico3" descr="preencoded.png">    </p:cNvPr>
          <p:cNvPicPr>
            <a:picLocks noChangeAspect="1"/>
          </p:cNvPicPr>
          <p:nvPr/>
        </p:nvPicPr>
        <p:blipFill>
          <a:blip r:embed="rId5"/>
          <a:stretch>
            <a:fillRect/>
          </a:stretch>
        </p:blipFill>
        <p:spPr>
          <a:xfrm>
            <a:off x="11093044" y="5370728"/>
            <a:ext cx="231343" cy="231343"/>
          </a:xfrm>
          <a:prstGeom prst="rect">
            <a:avLst/>
          </a:prstGeom>
        </p:spPr>
      </p:pic>
      <p:sp>
        <p:nvSpPr>
          <p:cNvPr id="25" name="Text 18"/>
          <p:cNvSpPr txBox="1"/>
          <p:nvPr/>
        </p:nvSpPr>
        <p:spPr>
          <a:xfrm>
            <a:off x="8823960" y="5074920"/>
            <a:ext cx="2041855" cy="320040"/>
          </a:xfrm>
          <a:prstGeom prst="rect">
            <a:avLst/>
          </a:prstGeom>
          <a:noFill/>
          <a:ln/>
        </p:spPr>
        <p:txBody>
          <a:bodyPr wrap="square" lIns="0" tIns="0" rIns="0" bIns="0" rtlCol="0" anchor="t"/>
          <a:lstStyle/>
          <a:p>
            <a:pPr rtl="1" algn="r" indent="0" marL="0">
              <a:buNone/>
            </a:pPr>
            <a:r>
              <a:rPr lang="ar-SA" altLang="en-US" sz="1150" b="1" dirty="0">
                <a:solidFill>
                  <a:srgbClr val="C9DAEE"/>
                </a:solidFill>
                <a:latin typeface="JF Flat" pitchFamily="34" charset="0"/>
                <a:ea typeface="JF Flat" pitchFamily="34" charset="-122"/>
                <a:cs typeface="JF Flat" pitchFamily="34" charset="-120"/>
              </a:rPr>
              <a:t>إجمالي المساحة</a:t>
            </a:r>
            <a:endParaRPr lang="ar-SA" sz="1150" dirty="0"/>
          </a:p>
        </p:txBody>
      </p:sp>
      <p:sp>
        <p:nvSpPr>
          <p:cNvPr id="26" name="Text 19"/>
          <p:cNvSpPr txBox="1"/>
          <p:nvPr/>
        </p:nvSpPr>
        <p:spPr>
          <a:xfrm>
            <a:off x="8823960" y="5394960"/>
            <a:ext cx="2041855" cy="502920"/>
          </a:xfrm>
          <a:prstGeom prst="rect">
            <a:avLst/>
          </a:prstGeom>
          <a:noFill/>
          <a:ln/>
        </p:spPr>
        <p:txBody>
          <a:bodyPr wrap="square" lIns="0" tIns="0" rIns="0" bIns="0" rtlCol="0" anchor="ctr"/>
          <a:lstStyle/>
          <a:p>
            <a:pPr algn="r" indent="0" marL="0">
              <a:buNone/>
            </a:pPr>
            <a:r>
              <a:rPr lang="ar-SA" altLang="en-US" sz="2600" b="1" dirty="0">
                <a:solidFill>
                  <a:srgbClr val="F15524"/>
                </a:solidFill>
                <a:latin typeface="JF Flat" pitchFamily="34" charset="0"/>
                <a:ea typeface="JF Flat" pitchFamily="34" charset="-122"/>
                <a:cs typeface="JF Flat" pitchFamily="34" charset="-120"/>
              </a:rPr>
              <a:t>4,125</a:t>
            </a:r>
            <a:pPr algn="r" indent="0" marL="0">
              <a:buNone/>
            </a:pPr>
            <a:r>
              <a:rPr lang="ar-SA" altLang="en-US" sz="1400" b="1" dirty="0">
                <a:solidFill>
                  <a:srgbClr val="FFFFFF"/>
                </a:solidFill>
                <a:latin typeface="JF Flat" pitchFamily="34" charset="0"/>
                <a:ea typeface="JF Flat" pitchFamily="34" charset="-122"/>
                <a:cs typeface="JF Flat" pitchFamily="34" charset="-120"/>
              </a:rPr>
              <a:t>  م²</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01  |  التعريف بالمشروع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أهمية المشروع</a:t>
            </a:r>
            <a:endParaRPr lang="en-US" sz="3000" dirty="0"/>
          </a:p>
        </p:txBody>
      </p:sp>
      <p:sp>
        <p:nvSpPr>
          <p:cNvPr id="4" name="!!card0"/>
          <p:cNvSpPr/>
          <p:nvPr/>
        </p:nvSpPr>
        <p:spPr>
          <a:xfrm>
            <a:off x="9607052"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9789932"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01</a:t>
            </a:r>
            <a:endParaRPr lang="ar-SA" sz="2800" dirty="0"/>
          </a:p>
        </p:txBody>
      </p:sp>
      <p:sp>
        <p:nvSpPr>
          <p:cNvPr id="6" name="!!dot0"/>
          <p:cNvSpPr/>
          <p:nvPr/>
        </p:nvSpPr>
        <p:spPr>
          <a:xfrm>
            <a:off x="10167854" y="2377440"/>
            <a:ext cx="914400" cy="914400"/>
          </a:xfrm>
          <a:prstGeom prst="ellipse">
            <a:avLst/>
          </a:prstGeom>
          <a:solidFill>
            <a:srgbClr val="F15524"/>
          </a:solidFill>
          <a:ln w="12700">
            <a:solidFill>
              <a:srgbClr val="F15524"/>
            </a:solidFill>
            <a:prstDash val="solid"/>
          </a:ln>
        </p:spPr>
      </p:sp>
      <p:pic>
        <p:nvPicPr>
          <p:cNvPr id="7" name="!!ico0" descr="preencoded.png">    </p:cNvPr>
          <p:cNvPicPr>
            <a:picLocks noChangeAspect="1"/>
          </p:cNvPicPr>
          <p:nvPr/>
        </p:nvPicPr>
        <p:blipFill>
          <a:blip r:embed="rId1"/>
          <a:stretch>
            <a:fillRect/>
          </a:stretch>
        </p:blipFill>
        <p:spPr>
          <a:xfrm>
            <a:off x="10414742" y="2624328"/>
            <a:ext cx="420624" cy="420624"/>
          </a:xfrm>
          <a:prstGeom prst="rect">
            <a:avLst/>
          </a:prstGeom>
        </p:spPr>
      </p:pic>
      <p:sp>
        <p:nvSpPr>
          <p:cNvPr id="8" name="Text 5"/>
          <p:cNvSpPr txBox="1"/>
          <p:nvPr/>
        </p:nvSpPr>
        <p:spPr>
          <a:xfrm>
            <a:off x="9744212"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السيادة الرقمية</a:t>
            </a:r>
            <a:endParaRPr lang="ar-SA" sz="1700" dirty="0"/>
          </a:p>
        </p:txBody>
      </p:sp>
      <p:sp>
        <p:nvSpPr>
          <p:cNvPr id="9" name="Text 6"/>
          <p:cNvSpPr txBox="1"/>
          <p:nvPr/>
        </p:nvSpPr>
        <p:spPr>
          <a:xfrm>
            <a:off x="9789932"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توطين البيانات داخل ليبيا وتعزيز السيادة الرقمية.</a:t>
            </a:r>
            <a:endParaRPr lang="ar-SA" sz="1400" dirty="0"/>
          </a:p>
        </p:txBody>
      </p:sp>
      <p:sp>
        <p:nvSpPr>
          <p:cNvPr id="10" name="!!card1"/>
          <p:cNvSpPr/>
          <p:nvPr/>
        </p:nvSpPr>
        <p:spPr>
          <a:xfrm>
            <a:off x="7342449" y="1691640"/>
            <a:ext cx="2036003" cy="4343400"/>
          </a:xfrm>
          <a:prstGeom prst="roundRect">
            <a:avLst>
              <a:gd name="adj" fmla="val 4491"/>
            </a:avLst>
          </a:prstGeom>
          <a:solidFill>
            <a:srgbClr val="F4F7FB"/>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Text 8"/>
          <p:cNvSpPr txBox="1"/>
          <p:nvPr/>
        </p:nvSpPr>
        <p:spPr>
          <a:xfrm>
            <a:off x="7525329"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02</a:t>
            </a:r>
            <a:endParaRPr lang="ar-SA" sz="2800" dirty="0"/>
          </a:p>
        </p:txBody>
      </p:sp>
      <p:sp>
        <p:nvSpPr>
          <p:cNvPr id="12" name="!!dot1"/>
          <p:cNvSpPr/>
          <p:nvPr/>
        </p:nvSpPr>
        <p:spPr>
          <a:xfrm>
            <a:off x="7903251" y="2377440"/>
            <a:ext cx="914400" cy="914400"/>
          </a:xfrm>
          <a:prstGeom prst="ellipse">
            <a:avLst/>
          </a:prstGeom>
          <a:solidFill>
            <a:srgbClr val="00539B"/>
          </a:solidFill>
          <a:ln w="12700">
            <a:solidFill>
              <a:srgbClr val="00539B"/>
            </a:solidFill>
            <a:prstDash val="solid"/>
          </a:ln>
        </p:spPr>
      </p:sp>
      <p:pic>
        <p:nvPicPr>
          <p:cNvPr id="13" name="!!ico1" descr="preencoded.png">    </p:cNvPr>
          <p:cNvPicPr>
            <a:picLocks noChangeAspect="1"/>
          </p:cNvPicPr>
          <p:nvPr/>
        </p:nvPicPr>
        <p:blipFill>
          <a:blip r:embed="rId2"/>
          <a:stretch>
            <a:fillRect/>
          </a:stretch>
        </p:blipFill>
        <p:spPr>
          <a:xfrm>
            <a:off x="8150139" y="2624328"/>
            <a:ext cx="420624" cy="420624"/>
          </a:xfrm>
          <a:prstGeom prst="rect">
            <a:avLst/>
          </a:prstGeom>
        </p:spPr>
      </p:pic>
      <p:sp>
        <p:nvSpPr>
          <p:cNvPr id="14" name="Text 10"/>
          <p:cNvSpPr txBox="1"/>
          <p:nvPr/>
        </p:nvSpPr>
        <p:spPr>
          <a:xfrm>
            <a:off x="7479609"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أمن واستمرارية</a:t>
            </a:r>
            <a:endParaRPr lang="ar-SA" sz="1700" dirty="0"/>
          </a:p>
        </p:txBody>
      </p:sp>
      <p:sp>
        <p:nvSpPr>
          <p:cNvPr id="15" name="Text 11"/>
          <p:cNvSpPr txBox="1"/>
          <p:nvPr/>
        </p:nvSpPr>
        <p:spPr>
          <a:xfrm>
            <a:off x="7525329"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رفع أمن المعلومات واستمرارية الخدمات الحكومية.</a:t>
            </a:r>
            <a:endParaRPr lang="ar-SA" sz="1400" dirty="0"/>
          </a:p>
        </p:txBody>
      </p:sp>
      <p:sp>
        <p:nvSpPr>
          <p:cNvPr id="16" name="!!card2"/>
          <p:cNvSpPr/>
          <p:nvPr/>
        </p:nvSpPr>
        <p:spPr>
          <a:xfrm>
            <a:off x="5077846"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Text 13"/>
          <p:cNvSpPr txBox="1"/>
          <p:nvPr/>
        </p:nvSpPr>
        <p:spPr>
          <a:xfrm>
            <a:off x="5260726"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03</a:t>
            </a:r>
            <a:endParaRPr lang="ar-SA" sz="2800" dirty="0"/>
          </a:p>
        </p:txBody>
      </p:sp>
      <p:sp>
        <p:nvSpPr>
          <p:cNvPr id="18" name="!!dot2"/>
          <p:cNvSpPr/>
          <p:nvPr/>
        </p:nvSpPr>
        <p:spPr>
          <a:xfrm>
            <a:off x="5638648" y="2377440"/>
            <a:ext cx="914400" cy="914400"/>
          </a:xfrm>
          <a:prstGeom prst="ellipse">
            <a:avLst/>
          </a:prstGeom>
          <a:solidFill>
            <a:srgbClr val="F15524"/>
          </a:solidFill>
          <a:ln w="12700">
            <a:solidFill>
              <a:srgbClr val="F15524"/>
            </a:solidFill>
            <a:prstDash val="solid"/>
          </a:ln>
        </p:spPr>
      </p:sp>
      <p:pic>
        <p:nvPicPr>
          <p:cNvPr id="19" name="!!ico2" descr="preencoded.png">    </p:cNvPr>
          <p:cNvPicPr>
            <a:picLocks noChangeAspect="1"/>
          </p:cNvPicPr>
          <p:nvPr/>
        </p:nvPicPr>
        <p:blipFill>
          <a:blip r:embed="rId3"/>
          <a:stretch>
            <a:fillRect/>
          </a:stretch>
        </p:blipFill>
        <p:spPr>
          <a:xfrm>
            <a:off x="5885536" y="2624328"/>
            <a:ext cx="420624" cy="420624"/>
          </a:xfrm>
          <a:prstGeom prst="rect">
            <a:avLst/>
          </a:prstGeom>
        </p:spPr>
      </p:pic>
      <p:sp>
        <p:nvSpPr>
          <p:cNvPr id="20" name="Text 15"/>
          <p:cNvSpPr txBox="1"/>
          <p:nvPr/>
        </p:nvSpPr>
        <p:spPr>
          <a:xfrm>
            <a:off x="5215006"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خدمات سحابية</a:t>
            </a:r>
            <a:endParaRPr lang="ar-SA" sz="1700" dirty="0"/>
          </a:p>
        </p:txBody>
      </p:sp>
      <p:sp>
        <p:nvSpPr>
          <p:cNvPr id="21" name="Text 16"/>
          <p:cNvSpPr txBox="1"/>
          <p:nvPr/>
        </p:nvSpPr>
        <p:spPr>
          <a:xfrm>
            <a:off x="5260726"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توفير خدمات الحوسبة السحابية والنسخ الاحتياطي والتعافي من الكوارث.</a:t>
            </a:r>
            <a:endParaRPr lang="ar-SA" sz="1400" dirty="0"/>
          </a:p>
        </p:txBody>
      </p:sp>
      <p:sp>
        <p:nvSpPr>
          <p:cNvPr id="22" name="!!card3"/>
          <p:cNvSpPr/>
          <p:nvPr/>
        </p:nvSpPr>
        <p:spPr>
          <a:xfrm>
            <a:off x="2813243" y="1691640"/>
            <a:ext cx="2036003" cy="4343400"/>
          </a:xfrm>
          <a:prstGeom prst="roundRect">
            <a:avLst>
              <a:gd name="adj" fmla="val 4491"/>
            </a:avLst>
          </a:prstGeom>
          <a:solidFill>
            <a:srgbClr val="F4F7FB"/>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3" name="Text 18"/>
          <p:cNvSpPr txBox="1"/>
          <p:nvPr/>
        </p:nvSpPr>
        <p:spPr>
          <a:xfrm>
            <a:off x="2996123"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04</a:t>
            </a:r>
            <a:endParaRPr lang="ar-SA" sz="2800" dirty="0"/>
          </a:p>
        </p:txBody>
      </p:sp>
      <p:sp>
        <p:nvSpPr>
          <p:cNvPr id="24" name="!!dot3"/>
          <p:cNvSpPr/>
          <p:nvPr/>
        </p:nvSpPr>
        <p:spPr>
          <a:xfrm>
            <a:off x="3374045" y="2377440"/>
            <a:ext cx="914400" cy="914400"/>
          </a:xfrm>
          <a:prstGeom prst="ellipse">
            <a:avLst/>
          </a:prstGeom>
          <a:solidFill>
            <a:srgbClr val="00539B"/>
          </a:solidFill>
          <a:ln w="12700">
            <a:solidFill>
              <a:srgbClr val="00539B"/>
            </a:solidFill>
            <a:prstDash val="solid"/>
          </a:ln>
        </p:spPr>
      </p:sp>
      <p:pic>
        <p:nvPicPr>
          <p:cNvPr id="25" name="!!ico3" descr="preencoded.png">    </p:cNvPr>
          <p:cNvPicPr>
            <a:picLocks noChangeAspect="1"/>
          </p:cNvPicPr>
          <p:nvPr/>
        </p:nvPicPr>
        <p:blipFill>
          <a:blip r:embed="rId4"/>
          <a:stretch>
            <a:fillRect/>
          </a:stretch>
        </p:blipFill>
        <p:spPr>
          <a:xfrm>
            <a:off x="3620933" y="2624328"/>
            <a:ext cx="420624" cy="420624"/>
          </a:xfrm>
          <a:prstGeom prst="rect">
            <a:avLst/>
          </a:prstGeom>
        </p:spPr>
      </p:pic>
      <p:sp>
        <p:nvSpPr>
          <p:cNvPr id="26" name="Text 20"/>
          <p:cNvSpPr txBox="1"/>
          <p:nvPr/>
        </p:nvSpPr>
        <p:spPr>
          <a:xfrm>
            <a:off x="2950403"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كفاءة الإنفاق</a:t>
            </a:r>
            <a:endParaRPr lang="ar-SA" sz="1700" dirty="0"/>
          </a:p>
        </p:txBody>
      </p:sp>
      <p:sp>
        <p:nvSpPr>
          <p:cNvPr id="27" name="Text 21"/>
          <p:cNvSpPr txBox="1"/>
          <p:nvPr/>
        </p:nvSpPr>
        <p:spPr>
          <a:xfrm>
            <a:off x="2996123"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تحسين كفاءة الإنفاق التقني من خلال مشاركة البنية التحتية.</a:t>
            </a:r>
            <a:endParaRPr lang="ar-SA" sz="1400" dirty="0"/>
          </a:p>
        </p:txBody>
      </p:sp>
      <p:sp>
        <p:nvSpPr>
          <p:cNvPr id="28" name="!!card4"/>
          <p:cNvSpPr/>
          <p:nvPr/>
        </p:nvSpPr>
        <p:spPr>
          <a:xfrm>
            <a:off x="548640" y="1691640"/>
            <a:ext cx="2036003" cy="4343400"/>
          </a:xfrm>
          <a:prstGeom prst="roundRect">
            <a:avLst>
              <a:gd name="adj" fmla="val 4491"/>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9" name="Text 23"/>
          <p:cNvSpPr txBox="1"/>
          <p:nvPr/>
        </p:nvSpPr>
        <p:spPr>
          <a:xfrm>
            <a:off x="731520" y="1874520"/>
            <a:ext cx="1670243" cy="457200"/>
          </a:xfrm>
          <a:prstGeom prst="rect">
            <a:avLst/>
          </a:prstGeom>
          <a:noFill/>
          <a:ln/>
        </p:spPr>
        <p:txBody>
          <a:bodyPr wrap="square" lIns="0" tIns="0" rIns="0" bIns="0" rtlCol="0" anchor="t"/>
          <a:lstStyle/>
          <a:p>
            <a:pPr algn="l" indent="0" marL="0">
              <a:buNone/>
            </a:pPr>
            <a:r>
              <a:rPr lang="ar-SA" altLang="en-US" sz="2800" b="1" dirty="0">
                <a:solidFill>
                  <a:srgbClr val="D9E3EF"/>
                </a:solidFill>
                <a:latin typeface="JF Flat" pitchFamily="34" charset="0"/>
                <a:ea typeface="JF Flat" pitchFamily="34" charset="-122"/>
                <a:cs typeface="JF Flat" pitchFamily="34" charset="-120"/>
              </a:rPr>
              <a:t>05</a:t>
            </a:r>
            <a:endParaRPr lang="ar-SA" sz="2800" dirty="0"/>
          </a:p>
        </p:txBody>
      </p:sp>
      <p:sp>
        <p:nvSpPr>
          <p:cNvPr id="30" name="!!dot4"/>
          <p:cNvSpPr/>
          <p:nvPr/>
        </p:nvSpPr>
        <p:spPr>
          <a:xfrm>
            <a:off x="1109442" y="2377440"/>
            <a:ext cx="914400" cy="914400"/>
          </a:xfrm>
          <a:prstGeom prst="ellipse">
            <a:avLst/>
          </a:prstGeom>
          <a:solidFill>
            <a:srgbClr val="F15524"/>
          </a:solidFill>
          <a:ln w="12700">
            <a:solidFill>
              <a:srgbClr val="F15524"/>
            </a:solidFill>
            <a:prstDash val="solid"/>
          </a:ln>
        </p:spPr>
      </p:sp>
      <p:pic>
        <p:nvPicPr>
          <p:cNvPr id="31" name="!!ico4" descr="preencoded.png">    </p:cNvPr>
          <p:cNvPicPr>
            <a:picLocks noChangeAspect="1"/>
          </p:cNvPicPr>
          <p:nvPr/>
        </p:nvPicPr>
        <p:blipFill>
          <a:blip r:embed="rId5"/>
          <a:stretch>
            <a:fillRect/>
          </a:stretch>
        </p:blipFill>
        <p:spPr>
          <a:xfrm>
            <a:off x="1356330" y="2624328"/>
            <a:ext cx="420624" cy="420624"/>
          </a:xfrm>
          <a:prstGeom prst="rect">
            <a:avLst/>
          </a:prstGeom>
        </p:spPr>
      </p:pic>
      <p:sp>
        <p:nvSpPr>
          <p:cNvPr id="32" name="Text 25"/>
          <p:cNvSpPr txBox="1"/>
          <p:nvPr/>
        </p:nvSpPr>
        <p:spPr>
          <a:xfrm>
            <a:off x="685800" y="3520440"/>
            <a:ext cx="1761683" cy="411480"/>
          </a:xfrm>
          <a:prstGeom prst="rect">
            <a:avLst/>
          </a:prstGeom>
          <a:noFill/>
          <a:ln/>
        </p:spPr>
        <p:txBody>
          <a:bodyPr wrap="square" lIns="0" tIns="0" rIns="0" bIns="0" rtlCol="0" anchor="t"/>
          <a:lstStyle/>
          <a:p>
            <a:pPr rtl="1" algn="ctr" indent="0" marL="0">
              <a:buNone/>
            </a:pPr>
            <a:r>
              <a:rPr lang="ar-SA" altLang="en-US" sz="1700" b="1" dirty="0">
                <a:solidFill>
                  <a:srgbClr val="06305C"/>
                </a:solidFill>
                <a:latin typeface="JF Flat" pitchFamily="34" charset="0"/>
                <a:ea typeface="JF Flat" pitchFamily="34" charset="-122"/>
                <a:cs typeface="JF Flat" pitchFamily="34" charset="-120"/>
              </a:rPr>
              <a:t>التكامل الوطني</a:t>
            </a:r>
            <a:endParaRPr lang="ar-SA" sz="1700" dirty="0"/>
          </a:p>
        </p:txBody>
      </p:sp>
      <p:sp>
        <p:nvSpPr>
          <p:cNvPr id="33" name="Text 26"/>
          <p:cNvSpPr txBox="1"/>
          <p:nvPr/>
        </p:nvSpPr>
        <p:spPr>
          <a:xfrm>
            <a:off x="731520" y="4023360"/>
            <a:ext cx="1670243" cy="1737360"/>
          </a:xfrm>
          <a:prstGeom prst="rect">
            <a:avLst/>
          </a:prstGeom>
          <a:noFill/>
          <a:ln/>
        </p:spPr>
        <p:txBody>
          <a:bodyPr wrap="square" lIns="0" tIns="0" rIns="0" bIns="0" rtlCol="0" anchor="t"/>
          <a:lstStyle/>
          <a:p>
            <a:pPr rtl="1" algn="ctr" indent="0" marL="0">
              <a:lnSpc>
                <a:spcPct val="120000"/>
              </a:lnSpc>
              <a:buNone/>
            </a:pPr>
            <a:r>
              <a:rPr lang="ar-SA" altLang="en-US" sz="1400" dirty="0">
                <a:solidFill>
                  <a:srgbClr val="5B6B7F"/>
                </a:solidFill>
                <a:latin typeface="JF Flat" pitchFamily="34" charset="0"/>
                <a:ea typeface="JF Flat" pitchFamily="34" charset="-122"/>
                <a:cs typeface="JF Flat" pitchFamily="34" charset="-120"/>
              </a:rPr>
              <a:t>التكامل مع الشبكة الحكومية الآمنة ونقطة تبادل الإنترنت الوطنية (IXP).</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02  |  نقاط القوة الاستراتيجية (1/2)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نقاط القوة الاستراتيجية لشركة الجيل الجديد للتقنية</a:t>
            </a:r>
            <a:endParaRPr lang="en-US" sz="3000" dirty="0"/>
          </a:p>
        </p:txBody>
      </p:sp>
      <p:sp>
        <p:nvSpPr>
          <p:cNvPr id="4" name="!!card0"/>
          <p:cNvSpPr/>
          <p:nvPr/>
        </p:nvSpPr>
        <p:spPr>
          <a:xfrm>
            <a:off x="9040901"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dot0"/>
          <p:cNvSpPr/>
          <p:nvPr/>
        </p:nvSpPr>
        <p:spPr>
          <a:xfrm>
            <a:off x="10929823" y="1828800"/>
            <a:ext cx="530352" cy="530352"/>
          </a:xfrm>
          <a:prstGeom prst="ellipse">
            <a:avLst/>
          </a:prstGeom>
          <a:solidFill>
            <a:srgbClr val="00539B"/>
          </a:solidFill>
          <a:ln w="12700">
            <a:solidFill>
              <a:srgbClr val="00539B"/>
            </a:solidFill>
            <a:prstDash val="solid"/>
          </a:ln>
        </p:spPr>
      </p:sp>
      <p:pic>
        <p:nvPicPr>
          <p:cNvPr id="6" name="!!ico0" descr="preencoded.png">    </p:cNvPr>
          <p:cNvPicPr>
            <a:picLocks noChangeAspect="1"/>
          </p:cNvPicPr>
          <p:nvPr/>
        </p:nvPicPr>
        <p:blipFill>
          <a:blip r:embed="rId1"/>
          <a:stretch>
            <a:fillRect/>
          </a:stretch>
        </p:blipFill>
        <p:spPr>
          <a:xfrm>
            <a:off x="11073018" y="1971995"/>
            <a:ext cx="243962" cy="243962"/>
          </a:xfrm>
          <a:prstGeom prst="rect">
            <a:avLst/>
          </a:prstGeom>
        </p:spPr>
      </p:pic>
      <p:sp>
        <p:nvSpPr>
          <p:cNvPr id="7" name="Text 4"/>
          <p:cNvSpPr txBox="1"/>
          <p:nvPr/>
        </p:nvSpPr>
        <p:spPr>
          <a:xfrm>
            <a:off x="9205493"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البنية التحتية للشبكات</a:t>
            </a:r>
            <a:endParaRPr lang="ar-SA" sz="1400" dirty="0"/>
          </a:p>
        </p:txBody>
      </p:sp>
      <p:sp>
        <p:nvSpPr>
          <p:cNvPr id="8" name="Text 5"/>
          <p:cNvSpPr txBox="1"/>
          <p:nvPr/>
        </p:nvSpPr>
        <p:spPr>
          <a:xfrm>
            <a:off x="9223781"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شبكة واسعة الانتشار جغرافياً وذات سعات عالية.</a:t>
            </a:r>
            <a:endParaRPr lang="ar-SA" sz="1250" dirty="0"/>
          </a:p>
        </p:txBody>
      </p:sp>
      <p:sp>
        <p:nvSpPr>
          <p:cNvPr id="9" name="!!card1"/>
          <p:cNvSpPr/>
          <p:nvPr/>
        </p:nvSpPr>
        <p:spPr>
          <a:xfrm>
            <a:off x="6210148"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dot1"/>
          <p:cNvSpPr/>
          <p:nvPr/>
        </p:nvSpPr>
        <p:spPr>
          <a:xfrm>
            <a:off x="8099069" y="1828800"/>
            <a:ext cx="530352" cy="530352"/>
          </a:xfrm>
          <a:prstGeom prst="ellipse">
            <a:avLst/>
          </a:prstGeom>
          <a:solidFill>
            <a:srgbClr val="F15524"/>
          </a:solidFill>
          <a:ln w="12700">
            <a:solidFill>
              <a:srgbClr val="F15524"/>
            </a:solidFill>
            <a:prstDash val="solid"/>
          </a:ln>
        </p:spPr>
      </p:sp>
      <p:pic>
        <p:nvPicPr>
          <p:cNvPr id="11" name="!!ico1" descr="preencoded.png">    </p:cNvPr>
          <p:cNvPicPr>
            <a:picLocks noChangeAspect="1"/>
          </p:cNvPicPr>
          <p:nvPr/>
        </p:nvPicPr>
        <p:blipFill>
          <a:blip r:embed="rId2"/>
          <a:stretch>
            <a:fillRect/>
          </a:stretch>
        </p:blipFill>
        <p:spPr>
          <a:xfrm>
            <a:off x="8242264" y="1971995"/>
            <a:ext cx="243962" cy="243962"/>
          </a:xfrm>
          <a:prstGeom prst="rect">
            <a:avLst/>
          </a:prstGeom>
        </p:spPr>
      </p:pic>
      <p:sp>
        <p:nvSpPr>
          <p:cNvPr id="12" name="Text 8"/>
          <p:cNvSpPr txBox="1"/>
          <p:nvPr/>
        </p:nvSpPr>
        <p:spPr>
          <a:xfrm>
            <a:off x="6374740"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التخصص التقني</a:t>
            </a:r>
            <a:endParaRPr lang="ar-SA" sz="1400" dirty="0"/>
          </a:p>
        </p:txBody>
      </p:sp>
      <p:sp>
        <p:nvSpPr>
          <p:cNvPr id="13" name="Text 9"/>
          <p:cNvSpPr txBox="1"/>
          <p:nvPr/>
        </p:nvSpPr>
        <p:spPr>
          <a:xfrm>
            <a:off x="6393028"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التوافق بين نشاط الشركة ومجال مراكز البيانات والاتصالات وتقنية المعلومات.</a:t>
            </a:r>
            <a:endParaRPr lang="ar-SA" sz="1250" dirty="0"/>
          </a:p>
        </p:txBody>
      </p:sp>
      <p:sp>
        <p:nvSpPr>
          <p:cNvPr id="14" name="!!card2"/>
          <p:cNvSpPr/>
          <p:nvPr/>
        </p:nvSpPr>
        <p:spPr>
          <a:xfrm>
            <a:off x="3379394"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dot2"/>
          <p:cNvSpPr/>
          <p:nvPr/>
        </p:nvSpPr>
        <p:spPr>
          <a:xfrm>
            <a:off x="5268316" y="1828800"/>
            <a:ext cx="530352" cy="530352"/>
          </a:xfrm>
          <a:prstGeom prst="ellipse">
            <a:avLst/>
          </a:prstGeom>
          <a:solidFill>
            <a:srgbClr val="00539B"/>
          </a:solidFill>
          <a:ln w="12700">
            <a:solidFill>
              <a:srgbClr val="00539B"/>
            </a:solidFill>
            <a:prstDash val="solid"/>
          </a:ln>
        </p:spPr>
      </p:sp>
      <p:pic>
        <p:nvPicPr>
          <p:cNvPr id="16" name="!!ico2" descr="preencoded.png">    </p:cNvPr>
          <p:cNvPicPr>
            <a:picLocks noChangeAspect="1"/>
          </p:cNvPicPr>
          <p:nvPr/>
        </p:nvPicPr>
        <p:blipFill>
          <a:blip r:embed="rId3"/>
          <a:stretch>
            <a:fillRect/>
          </a:stretch>
        </p:blipFill>
        <p:spPr>
          <a:xfrm>
            <a:off x="5411511" y="1971995"/>
            <a:ext cx="243962" cy="243962"/>
          </a:xfrm>
          <a:prstGeom prst="rect">
            <a:avLst/>
          </a:prstGeom>
        </p:spPr>
      </p:pic>
      <p:sp>
        <p:nvSpPr>
          <p:cNvPr id="17" name="Text 12"/>
          <p:cNvSpPr txBox="1"/>
          <p:nvPr/>
        </p:nvSpPr>
        <p:spPr>
          <a:xfrm>
            <a:off x="3543986"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الكوادر الفنية والتشغيلية</a:t>
            </a:r>
            <a:endParaRPr lang="ar-SA" sz="1400" dirty="0"/>
          </a:p>
        </p:txBody>
      </p:sp>
      <p:sp>
        <p:nvSpPr>
          <p:cNvPr id="18" name="Text 13"/>
          <p:cNvSpPr txBox="1"/>
          <p:nvPr/>
        </p:nvSpPr>
        <p:spPr>
          <a:xfrm>
            <a:off x="3562274"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الاستفادة من الخبرات القائمة في التنفيذ والتشغيل والصيانة.</a:t>
            </a:r>
            <a:endParaRPr lang="ar-SA" sz="1250" dirty="0"/>
          </a:p>
        </p:txBody>
      </p:sp>
      <p:sp>
        <p:nvSpPr>
          <p:cNvPr id="19" name="!!card3"/>
          <p:cNvSpPr/>
          <p:nvPr/>
        </p:nvSpPr>
        <p:spPr>
          <a:xfrm>
            <a:off x="548640"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dot3"/>
          <p:cNvSpPr/>
          <p:nvPr/>
        </p:nvSpPr>
        <p:spPr>
          <a:xfrm>
            <a:off x="2437562" y="1828800"/>
            <a:ext cx="530352" cy="530352"/>
          </a:xfrm>
          <a:prstGeom prst="ellipse">
            <a:avLst/>
          </a:prstGeom>
          <a:solidFill>
            <a:srgbClr val="F15524"/>
          </a:solidFill>
          <a:ln w="12700">
            <a:solidFill>
              <a:srgbClr val="F15524"/>
            </a:solidFill>
            <a:prstDash val="solid"/>
          </a:ln>
        </p:spPr>
      </p:sp>
      <p:pic>
        <p:nvPicPr>
          <p:cNvPr id="21" name="!!ico3" descr="preencoded.png">    </p:cNvPr>
          <p:cNvPicPr>
            <a:picLocks noChangeAspect="1"/>
          </p:cNvPicPr>
          <p:nvPr/>
        </p:nvPicPr>
        <p:blipFill>
          <a:blip r:embed="rId4"/>
          <a:stretch>
            <a:fillRect/>
          </a:stretch>
        </p:blipFill>
        <p:spPr>
          <a:xfrm>
            <a:off x="2580757" y="1971995"/>
            <a:ext cx="243962" cy="243962"/>
          </a:xfrm>
          <a:prstGeom prst="rect">
            <a:avLst/>
          </a:prstGeom>
        </p:spPr>
      </p:pic>
      <p:sp>
        <p:nvSpPr>
          <p:cNvPr id="22" name="Text 16"/>
          <p:cNvSpPr txBox="1"/>
          <p:nvPr/>
        </p:nvSpPr>
        <p:spPr>
          <a:xfrm>
            <a:off x="713232"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توفر الأرض والمساحات</a:t>
            </a:r>
            <a:endParaRPr lang="ar-SA" sz="1400" dirty="0"/>
          </a:p>
        </p:txBody>
      </p:sp>
      <p:sp>
        <p:nvSpPr>
          <p:cNvPr id="23" name="Text 17"/>
          <p:cNvSpPr txBox="1"/>
          <p:nvPr/>
        </p:nvSpPr>
        <p:spPr>
          <a:xfrm>
            <a:off x="731520"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استغلال أصول الشركة لإنشاء المركز والتوسع مستقبلاً.</a:t>
            </a:r>
            <a:endParaRPr lang="ar-SA" sz="1250" dirty="0"/>
          </a:p>
        </p:txBody>
      </p:sp>
      <p:sp>
        <p:nvSpPr>
          <p:cNvPr id="24" name="!!card4"/>
          <p:cNvSpPr/>
          <p:nvPr/>
        </p:nvSpPr>
        <p:spPr>
          <a:xfrm>
            <a:off x="9040901"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dot4"/>
          <p:cNvSpPr/>
          <p:nvPr/>
        </p:nvSpPr>
        <p:spPr>
          <a:xfrm>
            <a:off x="10929823" y="4206240"/>
            <a:ext cx="530352" cy="530352"/>
          </a:xfrm>
          <a:prstGeom prst="ellipse">
            <a:avLst/>
          </a:prstGeom>
          <a:solidFill>
            <a:srgbClr val="00539B"/>
          </a:solidFill>
          <a:ln w="12700">
            <a:solidFill>
              <a:srgbClr val="00539B"/>
            </a:solidFill>
            <a:prstDash val="solid"/>
          </a:ln>
        </p:spPr>
      </p:sp>
      <p:pic>
        <p:nvPicPr>
          <p:cNvPr id="26" name="!!ico4" descr="preencoded.png">    </p:cNvPr>
          <p:cNvPicPr>
            <a:picLocks noChangeAspect="1"/>
          </p:cNvPicPr>
          <p:nvPr/>
        </p:nvPicPr>
        <p:blipFill>
          <a:blip r:embed="rId5"/>
          <a:stretch>
            <a:fillRect/>
          </a:stretch>
        </p:blipFill>
        <p:spPr>
          <a:xfrm>
            <a:off x="11073018" y="4349435"/>
            <a:ext cx="243962" cy="243962"/>
          </a:xfrm>
          <a:prstGeom prst="rect">
            <a:avLst/>
          </a:prstGeom>
        </p:spPr>
      </p:pic>
      <p:sp>
        <p:nvSpPr>
          <p:cNvPr id="27" name="Text 20"/>
          <p:cNvSpPr txBox="1"/>
          <p:nvPr/>
        </p:nvSpPr>
        <p:spPr>
          <a:xfrm>
            <a:off x="9205493"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السمعة المؤسسية</a:t>
            </a:r>
            <a:endParaRPr lang="ar-SA" sz="1400" dirty="0"/>
          </a:p>
        </p:txBody>
      </p:sp>
      <p:sp>
        <p:nvSpPr>
          <p:cNvPr id="28" name="Text 21"/>
          <p:cNvSpPr txBox="1"/>
          <p:nvPr/>
        </p:nvSpPr>
        <p:spPr>
          <a:xfrm>
            <a:off x="9223781"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الخبرة في تقديم خدمات الاتصالات وتقنية المعلومات.</a:t>
            </a:r>
            <a:endParaRPr lang="ar-SA" sz="1250" dirty="0"/>
          </a:p>
        </p:txBody>
      </p:sp>
      <p:sp>
        <p:nvSpPr>
          <p:cNvPr id="29" name="!!card5"/>
          <p:cNvSpPr/>
          <p:nvPr/>
        </p:nvSpPr>
        <p:spPr>
          <a:xfrm>
            <a:off x="6210148"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dot5"/>
          <p:cNvSpPr/>
          <p:nvPr/>
        </p:nvSpPr>
        <p:spPr>
          <a:xfrm>
            <a:off x="8099069" y="4206240"/>
            <a:ext cx="530352" cy="530352"/>
          </a:xfrm>
          <a:prstGeom prst="ellipse">
            <a:avLst/>
          </a:prstGeom>
          <a:solidFill>
            <a:srgbClr val="F15524"/>
          </a:solidFill>
          <a:ln w="12700">
            <a:solidFill>
              <a:srgbClr val="F15524"/>
            </a:solidFill>
            <a:prstDash val="solid"/>
          </a:ln>
        </p:spPr>
      </p:sp>
      <p:pic>
        <p:nvPicPr>
          <p:cNvPr id="31" name="!!ico5" descr="preencoded.png">    </p:cNvPr>
          <p:cNvPicPr>
            <a:picLocks noChangeAspect="1"/>
          </p:cNvPicPr>
          <p:nvPr/>
        </p:nvPicPr>
        <p:blipFill>
          <a:blip r:embed="rId6"/>
          <a:stretch>
            <a:fillRect/>
          </a:stretch>
        </p:blipFill>
        <p:spPr>
          <a:xfrm>
            <a:off x="8242264" y="4349435"/>
            <a:ext cx="243962" cy="243962"/>
          </a:xfrm>
          <a:prstGeom prst="rect">
            <a:avLst/>
          </a:prstGeom>
        </p:spPr>
      </p:pic>
      <p:sp>
        <p:nvSpPr>
          <p:cNvPr id="32" name="Text 24"/>
          <p:cNvSpPr txBox="1"/>
          <p:nvPr/>
        </p:nvSpPr>
        <p:spPr>
          <a:xfrm>
            <a:off x="6374740"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الخبرة في تنفيذ المشروعات</a:t>
            </a:r>
            <a:endParaRPr lang="ar-SA" sz="1400" dirty="0"/>
          </a:p>
        </p:txBody>
      </p:sp>
      <p:sp>
        <p:nvSpPr>
          <p:cNvPr id="33" name="Text 25"/>
          <p:cNvSpPr txBox="1"/>
          <p:nvPr/>
        </p:nvSpPr>
        <p:spPr>
          <a:xfrm>
            <a:off x="6393028"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الاستفادة من الخبرات المكتسبة في مشروعات الاتصالات وتقنية المعلومات.</a:t>
            </a:r>
            <a:endParaRPr lang="ar-SA" sz="1250" dirty="0"/>
          </a:p>
        </p:txBody>
      </p:sp>
      <p:sp>
        <p:nvSpPr>
          <p:cNvPr id="34" name="!!card6"/>
          <p:cNvSpPr/>
          <p:nvPr/>
        </p:nvSpPr>
        <p:spPr>
          <a:xfrm>
            <a:off x="3379394"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dot6"/>
          <p:cNvSpPr/>
          <p:nvPr/>
        </p:nvSpPr>
        <p:spPr>
          <a:xfrm>
            <a:off x="5268316" y="4206240"/>
            <a:ext cx="530352" cy="530352"/>
          </a:xfrm>
          <a:prstGeom prst="ellipse">
            <a:avLst/>
          </a:prstGeom>
          <a:solidFill>
            <a:srgbClr val="00539B"/>
          </a:solidFill>
          <a:ln w="12700">
            <a:solidFill>
              <a:srgbClr val="00539B"/>
            </a:solidFill>
            <a:prstDash val="solid"/>
          </a:ln>
        </p:spPr>
      </p:sp>
      <p:pic>
        <p:nvPicPr>
          <p:cNvPr id="36" name="!!ico6" descr="preencoded.png">    </p:cNvPr>
          <p:cNvPicPr>
            <a:picLocks noChangeAspect="1"/>
          </p:cNvPicPr>
          <p:nvPr/>
        </p:nvPicPr>
        <p:blipFill>
          <a:blip r:embed="rId7"/>
          <a:stretch>
            <a:fillRect/>
          </a:stretch>
        </p:blipFill>
        <p:spPr>
          <a:xfrm>
            <a:off x="5411511" y="4349435"/>
            <a:ext cx="243962" cy="243962"/>
          </a:xfrm>
          <a:prstGeom prst="rect">
            <a:avLst/>
          </a:prstGeom>
        </p:spPr>
      </p:pic>
      <p:sp>
        <p:nvSpPr>
          <p:cNvPr id="37" name="Text 28"/>
          <p:cNvSpPr txBox="1"/>
          <p:nvPr/>
        </p:nvSpPr>
        <p:spPr>
          <a:xfrm>
            <a:off x="3543986"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الدعم الفني والتشغيلي</a:t>
            </a:r>
            <a:endParaRPr lang="ar-SA" sz="1400" dirty="0"/>
          </a:p>
        </p:txBody>
      </p:sp>
      <p:sp>
        <p:nvSpPr>
          <p:cNvPr id="38" name="Text 29"/>
          <p:cNvSpPr txBox="1"/>
          <p:nvPr/>
        </p:nvSpPr>
        <p:spPr>
          <a:xfrm>
            <a:off x="3562274"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توفير المراقبة والدعم على مدار الساعة، مع ميزة قرب الموقع من البنية التحتية الكهربائية الاستراتيجية.</a:t>
            </a:r>
            <a:endParaRPr lang="ar-SA" sz="1250" dirty="0"/>
          </a:p>
        </p:txBody>
      </p:sp>
      <p:sp>
        <p:nvSpPr>
          <p:cNvPr id="39" name="!!card7"/>
          <p:cNvSpPr/>
          <p:nvPr/>
        </p:nvSpPr>
        <p:spPr>
          <a:xfrm>
            <a:off x="548640" y="3977640"/>
            <a:ext cx="2602154" cy="2194560"/>
          </a:xfrm>
          <a:prstGeom prst="roundRect">
            <a:avLst>
              <a:gd name="adj" fmla="val 4167"/>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pic>
        <p:nvPicPr>
          <p:cNvPr id="40" name="Image 7" descr="preencoded.png">    </p:cNvPr>
          <p:cNvPicPr>
            <a:picLocks noChangeAspect="1"/>
          </p:cNvPicPr>
          <p:nvPr/>
        </p:nvPicPr>
        <p:blipFill>
          <a:blip r:embed="rId8"/>
          <a:stretch>
            <a:fillRect/>
          </a:stretch>
        </p:blipFill>
        <p:spPr>
          <a:xfrm>
            <a:off x="2373554" y="4251960"/>
            <a:ext cx="502920" cy="502920"/>
          </a:xfrm>
          <a:prstGeom prst="rect">
            <a:avLst/>
          </a:prstGeom>
        </p:spPr>
      </p:pic>
      <p:sp>
        <p:nvSpPr>
          <p:cNvPr id="41" name="Text 31"/>
          <p:cNvSpPr txBox="1"/>
          <p:nvPr/>
        </p:nvSpPr>
        <p:spPr>
          <a:xfrm>
            <a:off x="777240" y="4892040"/>
            <a:ext cx="2144954" cy="822960"/>
          </a:xfrm>
          <a:prstGeom prst="rect">
            <a:avLst/>
          </a:prstGeom>
          <a:noFill/>
          <a:ln/>
        </p:spPr>
        <p:txBody>
          <a:bodyPr wrap="square" lIns="0" tIns="0" rIns="0" bIns="0" rtlCol="0" anchor="ctr"/>
          <a:lstStyle/>
          <a:p>
            <a:pPr rtl="1" algn="r" indent="0" marL="0">
              <a:buNone/>
            </a:pPr>
            <a:r>
              <a:rPr lang="ar-SA" altLang="en-US" sz="1900" b="1" dirty="0">
                <a:solidFill>
                  <a:srgbClr val="FFFFFF"/>
                </a:solidFill>
                <a:latin typeface="JF Flat" pitchFamily="34" charset="0"/>
                <a:ea typeface="JF Flat" pitchFamily="34" charset="-122"/>
                <a:cs typeface="JF Flat" pitchFamily="34" charset="-120"/>
              </a:rPr>
              <a:t>القدرات والأصول المؤسسية</a:t>
            </a:r>
            <a:endParaRPr lang="ar-SA" sz="1900" dirty="0"/>
          </a:p>
        </p:txBody>
      </p:sp>
      <p:sp>
        <p:nvSpPr>
          <p:cNvPr id="42" name="Text 32"/>
          <p:cNvSpPr txBox="1"/>
          <p:nvPr/>
        </p:nvSpPr>
        <p:spPr>
          <a:xfrm>
            <a:off x="777240" y="5669280"/>
            <a:ext cx="2144954" cy="320040"/>
          </a:xfrm>
          <a:prstGeom prst="rect">
            <a:avLst/>
          </a:prstGeom>
          <a:noFill/>
          <a:ln/>
        </p:spPr>
        <p:txBody>
          <a:bodyPr wrap="square" lIns="0" tIns="0" rIns="0" bIns="0" rtlCol="0" anchor="t"/>
          <a:lstStyle/>
          <a:p>
            <a:pPr rtl="1" algn="r" indent="0" marL="0">
              <a:buNone/>
            </a:pPr>
            <a:r>
              <a:rPr lang="ar-SA" altLang="en-US" sz="1300" dirty="0">
                <a:solidFill>
                  <a:srgbClr val="C9DAEE"/>
                </a:solidFill>
                <a:latin typeface="JF Flat" pitchFamily="34" charset="0"/>
                <a:ea typeface="JF Flat" pitchFamily="34" charset="-122"/>
                <a:cs typeface="JF Flat" pitchFamily="34" charset="-120"/>
              </a:rPr>
              <a:t>7 عناصر قوة</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02  |  نقاط القوة الاستراتيجية (2/2)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نقاط القوة الاستراتيجية لشركة الجيل الجديد للتقنية</a:t>
            </a:r>
            <a:endParaRPr lang="en-US" sz="3000" dirty="0"/>
          </a:p>
        </p:txBody>
      </p:sp>
      <p:sp>
        <p:nvSpPr>
          <p:cNvPr id="4" name="!!card0"/>
          <p:cNvSpPr/>
          <p:nvPr/>
        </p:nvSpPr>
        <p:spPr>
          <a:xfrm>
            <a:off x="9040901"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dot0"/>
          <p:cNvSpPr/>
          <p:nvPr/>
        </p:nvSpPr>
        <p:spPr>
          <a:xfrm>
            <a:off x="10929823" y="1828800"/>
            <a:ext cx="530352" cy="530352"/>
          </a:xfrm>
          <a:prstGeom prst="ellipse">
            <a:avLst/>
          </a:prstGeom>
          <a:solidFill>
            <a:srgbClr val="00539B"/>
          </a:solidFill>
          <a:ln w="12700">
            <a:solidFill>
              <a:srgbClr val="00539B"/>
            </a:solidFill>
            <a:prstDash val="solid"/>
          </a:ln>
        </p:spPr>
      </p:sp>
      <p:pic>
        <p:nvPicPr>
          <p:cNvPr id="6" name="!!ico0" descr="preencoded.png">    </p:cNvPr>
          <p:cNvPicPr>
            <a:picLocks noChangeAspect="1"/>
          </p:cNvPicPr>
          <p:nvPr/>
        </p:nvPicPr>
        <p:blipFill>
          <a:blip r:embed="rId1"/>
          <a:stretch>
            <a:fillRect/>
          </a:stretch>
        </p:blipFill>
        <p:spPr>
          <a:xfrm>
            <a:off x="11073018" y="1971995"/>
            <a:ext cx="243962" cy="243962"/>
          </a:xfrm>
          <a:prstGeom prst="rect">
            <a:avLst/>
          </a:prstGeom>
        </p:spPr>
      </p:pic>
      <p:sp>
        <p:nvSpPr>
          <p:cNvPr id="7" name="Text 4"/>
          <p:cNvSpPr txBox="1"/>
          <p:nvPr/>
        </p:nvSpPr>
        <p:spPr>
          <a:xfrm>
            <a:off x="9205493"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توطين البيانات</a:t>
            </a:r>
            <a:endParaRPr lang="ar-SA" sz="1400" dirty="0"/>
          </a:p>
        </p:txBody>
      </p:sp>
      <p:sp>
        <p:nvSpPr>
          <p:cNvPr id="8" name="Text 5"/>
          <p:cNvSpPr txBox="1"/>
          <p:nvPr/>
        </p:nvSpPr>
        <p:spPr>
          <a:xfrm>
            <a:off x="9223781"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استضافة البيانات محلياً ودعم السيادة الرقمية.</a:t>
            </a:r>
            <a:endParaRPr lang="ar-SA" sz="1250" dirty="0"/>
          </a:p>
        </p:txBody>
      </p:sp>
      <p:sp>
        <p:nvSpPr>
          <p:cNvPr id="9" name="!!card1"/>
          <p:cNvSpPr/>
          <p:nvPr/>
        </p:nvSpPr>
        <p:spPr>
          <a:xfrm>
            <a:off x="6210148"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dot1"/>
          <p:cNvSpPr/>
          <p:nvPr/>
        </p:nvSpPr>
        <p:spPr>
          <a:xfrm>
            <a:off x="8099069" y="1828800"/>
            <a:ext cx="530352" cy="530352"/>
          </a:xfrm>
          <a:prstGeom prst="ellipse">
            <a:avLst/>
          </a:prstGeom>
          <a:solidFill>
            <a:srgbClr val="F15524"/>
          </a:solidFill>
          <a:ln w="12700">
            <a:solidFill>
              <a:srgbClr val="F15524"/>
            </a:solidFill>
            <a:prstDash val="solid"/>
          </a:ln>
        </p:spPr>
      </p:sp>
      <p:pic>
        <p:nvPicPr>
          <p:cNvPr id="11" name="!!ico1" descr="preencoded.png">    </p:cNvPr>
          <p:cNvPicPr>
            <a:picLocks noChangeAspect="1"/>
          </p:cNvPicPr>
          <p:nvPr/>
        </p:nvPicPr>
        <p:blipFill>
          <a:blip r:embed="rId2"/>
          <a:stretch>
            <a:fillRect/>
          </a:stretch>
        </p:blipFill>
        <p:spPr>
          <a:xfrm>
            <a:off x="8242264" y="1971995"/>
            <a:ext cx="243962" cy="243962"/>
          </a:xfrm>
          <a:prstGeom prst="rect">
            <a:avLst/>
          </a:prstGeom>
        </p:spPr>
      </p:pic>
      <p:sp>
        <p:nvSpPr>
          <p:cNvPr id="12" name="Text 8"/>
          <p:cNvSpPr txBox="1"/>
          <p:nvPr/>
        </p:nvSpPr>
        <p:spPr>
          <a:xfrm>
            <a:off x="6374740"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إدارة حركة البيانات</a:t>
            </a:r>
            <a:endParaRPr lang="ar-SA" sz="1400" dirty="0"/>
          </a:p>
        </p:txBody>
      </p:sp>
      <p:sp>
        <p:nvSpPr>
          <p:cNvPr id="13" name="Text 9"/>
          <p:cNvSpPr txBox="1"/>
          <p:nvPr/>
        </p:nvSpPr>
        <p:spPr>
          <a:xfrm>
            <a:off x="6393028"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القدرة على توجيه حركة المرور عبر مسارات الربط المناسبة.</a:t>
            </a:r>
            <a:endParaRPr lang="ar-SA" sz="1250" dirty="0"/>
          </a:p>
        </p:txBody>
      </p:sp>
      <p:sp>
        <p:nvSpPr>
          <p:cNvPr id="14" name="!!card2"/>
          <p:cNvSpPr/>
          <p:nvPr/>
        </p:nvSpPr>
        <p:spPr>
          <a:xfrm>
            <a:off x="3379394"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dot2"/>
          <p:cNvSpPr/>
          <p:nvPr/>
        </p:nvSpPr>
        <p:spPr>
          <a:xfrm>
            <a:off x="5268316" y="1828800"/>
            <a:ext cx="530352" cy="530352"/>
          </a:xfrm>
          <a:prstGeom prst="ellipse">
            <a:avLst/>
          </a:prstGeom>
          <a:solidFill>
            <a:srgbClr val="00539B"/>
          </a:solidFill>
          <a:ln w="12700">
            <a:solidFill>
              <a:srgbClr val="00539B"/>
            </a:solidFill>
            <a:prstDash val="solid"/>
          </a:ln>
        </p:spPr>
      </p:sp>
      <p:pic>
        <p:nvPicPr>
          <p:cNvPr id="16" name="!!ico2" descr="preencoded.png">    </p:cNvPr>
          <p:cNvPicPr>
            <a:picLocks noChangeAspect="1"/>
          </p:cNvPicPr>
          <p:nvPr/>
        </p:nvPicPr>
        <p:blipFill>
          <a:blip r:embed="rId3"/>
          <a:stretch>
            <a:fillRect/>
          </a:stretch>
        </p:blipFill>
        <p:spPr>
          <a:xfrm>
            <a:off x="5411511" y="1971995"/>
            <a:ext cx="243962" cy="243962"/>
          </a:xfrm>
          <a:prstGeom prst="rect">
            <a:avLst/>
          </a:prstGeom>
        </p:spPr>
      </p:pic>
      <p:sp>
        <p:nvSpPr>
          <p:cNvPr id="17" name="Text 12"/>
          <p:cNvSpPr txBox="1"/>
          <p:nvPr/>
        </p:nvSpPr>
        <p:spPr>
          <a:xfrm>
            <a:off x="3543986"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مسارات الحماية</a:t>
            </a:r>
            <a:endParaRPr lang="ar-SA" sz="1400" dirty="0"/>
          </a:p>
        </p:txBody>
      </p:sp>
      <p:sp>
        <p:nvSpPr>
          <p:cNvPr id="18" name="Text 13"/>
          <p:cNvSpPr txBox="1"/>
          <p:nvPr/>
        </p:nvSpPr>
        <p:spPr>
          <a:xfrm>
            <a:off x="3562274"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توفير مسارات اتصال احتياطية لتعزيز استمرارية الخدمة.</a:t>
            </a:r>
            <a:endParaRPr lang="ar-SA" sz="1250" dirty="0"/>
          </a:p>
        </p:txBody>
      </p:sp>
      <p:sp>
        <p:nvSpPr>
          <p:cNvPr id="19" name="!!card3"/>
          <p:cNvSpPr/>
          <p:nvPr/>
        </p:nvSpPr>
        <p:spPr>
          <a:xfrm>
            <a:off x="548640" y="160020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dot3"/>
          <p:cNvSpPr/>
          <p:nvPr/>
        </p:nvSpPr>
        <p:spPr>
          <a:xfrm>
            <a:off x="2437562" y="1828800"/>
            <a:ext cx="530352" cy="530352"/>
          </a:xfrm>
          <a:prstGeom prst="ellipse">
            <a:avLst/>
          </a:prstGeom>
          <a:solidFill>
            <a:srgbClr val="F15524"/>
          </a:solidFill>
          <a:ln w="12700">
            <a:solidFill>
              <a:srgbClr val="F15524"/>
            </a:solidFill>
            <a:prstDash val="solid"/>
          </a:ln>
        </p:spPr>
      </p:sp>
      <p:pic>
        <p:nvPicPr>
          <p:cNvPr id="21" name="!!ico3" descr="preencoded.png">    </p:cNvPr>
          <p:cNvPicPr>
            <a:picLocks noChangeAspect="1"/>
          </p:cNvPicPr>
          <p:nvPr/>
        </p:nvPicPr>
        <p:blipFill>
          <a:blip r:embed="rId4"/>
          <a:stretch>
            <a:fillRect/>
          </a:stretch>
        </p:blipFill>
        <p:spPr>
          <a:xfrm>
            <a:off x="2580757" y="1971995"/>
            <a:ext cx="243962" cy="243962"/>
          </a:xfrm>
          <a:prstGeom prst="rect">
            <a:avLst/>
          </a:prstGeom>
        </p:spPr>
      </p:pic>
      <p:sp>
        <p:nvSpPr>
          <p:cNvPr id="22" name="Text 16"/>
          <p:cNvSpPr txBox="1"/>
          <p:nvPr/>
        </p:nvSpPr>
        <p:spPr>
          <a:xfrm>
            <a:off x="713232" y="178308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الشبكة الحكومية الآمنة</a:t>
            </a:r>
            <a:endParaRPr lang="ar-SA" sz="1400" dirty="0"/>
          </a:p>
        </p:txBody>
      </p:sp>
      <p:sp>
        <p:nvSpPr>
          <p:cNvPr id="23" name="Text 17"/>
          <p:cNvSpPr txBox="1"/>
          <p:nvPr/>
        </p:nvSpPr>
        <p:spPr>
          <a:xfrm>
            <a:off x="731520" y="256032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ربط الجهات الحكومية بالمركز عبر بنية اتصالات آمنة.</a:t>
            </a:r>
            <a:endParaRPr lang="ar-SA" sz="1250" dirty="0"/>
          </a:p>
        </p:txBody>
      </p:sp>
      <p:sp>
        <p:nvSpPr>
          <p:cNvPr id="24" name="!!card4"/>
          <p:cNvSpPr/>
          <p:nvPr/>
        </p:nvSpPr>
        <p:spPr>
          <a:xfrm>
            <a:off x="9040901"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dot4"/>
          <p:cNvSpPr/>
          <p:nvPr/>
        </p:nvSpPr>
        <p:spPr>
          <a:xfrm>
            <a:off x="10929823" y="4206240"/>
            <a:ext cx="530352" cy="530352"/>
          </a:xfrm>
          <a:prstGeom prst="ellipse">
            <a:avLst/>
          </a:prstGeom>
          <a:solidFill>
            <a:srgbClr val="00539B"/>
          </a:solidFill>
          <a:ln w="12700">
            <a:solidFill>
              <a:srgbClr val="00539B"/>
            </a:solidFill>
            <a:prstDash val="solid"/>
          </a:ln>
        </p:spPr>
      </p:sp>
      <p:pic>
        <p:nvPicPr>
          <p:cNvPr id="26" name="!!ico4" descr="preencoded.png">    </p:cNvPr>
          <p:cNvPicPr>
            <a:picLocks noChangeAspect="1"/>
          </p:cNvPicPr>
          <p:nvPr/>
        </p:nvPicPr>
        <p:blipFill>
          <a:blip r:embed="rId5"/>
          <a:stretch>
            <a:fillRect/>
          </a:stretch>
        </p:blipFill>
        <p:spPr>
          <a:xfrm>
            <a:off x="11073018" y="4349435"/>
            <a:ext cx="243962" cy="243962"/>
          </a:xfrm>
          <a:prstGeom prst="rect">
            <a:avLst/>
          </a:prstGeom>
        </p:spPr>
      </p:pic>
      <p:sp>
        <p:nvSpPr>
          <p:cNvPr id="27" name="Text 20"/>
          <p:cNvSpPr txBox="1"/>
          <p:nvPr/>
        </p:nvSpPr>
        <p:spPr>
          <a:xfrm>
            <a:off x="9205493"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التكامل الحكومي</a:t>
            </a:r>
            <a:endParaRPr lang="ar-SA" sz="1400" dirty="0"/>
          </a:p>
        </p:txBody>
      </p:sp>
      <p:sp>
        <p:nvSpPr>
          <p:cNvPr id="28" name="Text 21"/>
          <p:cNvSpPr txBox="1"/>
          <p:nvPr/>
        </p:nvSpPr>
        <p:spPr>
          <a:xfrm>
            <a:off x="9223781"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توفير أساس تقني لتكامل الأنظمة والخدمات بين الجهات العامة.</a:t>
            </a:r>
            <a:endParaRPr lang="ar-SA" sz="1250" dirty="0"/>
          </a:p>
        </p:txBody>
      </p:sp>
      <p:sp>
        <p:nvSpPr>
          <p:cNvPr id="29" name="!!card5"/>
          <p:cNvSpPr/>
          <p:nvPr/>
        </p:nvSpPr>
        <p:spPr>
          <a:xfrm>
            <a:off x="6210148"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dot5"/>
          <p:cNvSpPr/>
          <p:nvPr/>
        </p:nvSpPr>
        <p:spPr>
          <a:xfrm>
            <a:off x="8099069" y="4206240"/>
            <a:ext cx="530352" cy="530352"/>
          </a:xfrm>
          <a:prstGeom prst="ellipse">
            <a:avLst/>
          </a:prstGeom>
          <a:solidFill>
            <a:srgbClr val="F15524"/>
          </a:solidFill>
          <a:ln w="12700">
            <a:solidFill>
              <a:srgbClr val="F15524"/>
            </a:solidFill>
            <a:prstDash val="solid"/>
          </a:ln>
        </p:spPr>
      </p:sp>
      <p:pic>
        <p:nvPicPr>
          <p:cNvPr id="31" name="!!ico5" descr="preencoded.png">    </p:cNvPr>
          <p:cNvPicPr>
            <a:picLocks noChangeAspect="1"/>
          </p:cNvPicPr>
          <p:nvPr/>
        </p:nvPicPr>
        <p:blipFill>
          <a:blip r:embed="rId6"/>
          <a:stretch>
            <a:fillRect/>
          </a:stretch>
        </p:blipFill>
        <p:spPr>
          <a:xfrm>
            <a:off x="8242264" y="4349435"/>
            <a:ext cx="243962" cy="243962"/>
          </a:xfrm>
          <a:prstGeom prst="rect">
            <a:avLst/>
          </a:prstGeom>
        </p:spPr>
      </p:pic>
      <p:sp>
        <p:nvSpPr>
          <p:cNvPr id="32" name="Text 24"/>
          <p:cNvSpPr txBox="1"/>
          <p:nvPr/>
        </p:nvSpPr>
        <p:spPr>
          <a:xfrm>
            <a:off x="6374740"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التكامل مع المشروعات القائمة</a:t>
            </a:r>
            <a:endParaRPr lang="ar-SA" sz="1400" dirty="0"/>
          </a:p>
        </p:txBody>
      </p:sp>
      <p:sp>
        <p:nvSpPr>
          <p:cNvPr id="33" name="Text 25"/>
          <p:cNvSpPr txBox="1"/>
          <p:nvPr/>
        </p:nvSpPr>
        <p:spPr>
          <a:xfrm>
            <a:off x="6393028"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ربط خدمات المركز بالشبكة الحكومية الآمنة وخدمات الاتصالات.</a:t>
            </a:r>
            <a:endParaRPr lang="ar-SA" sz="1250" dirty="0"/>
          </a:p>
        </p:txBody>
      </p:sp>
      <p:sp>
        <p:nvSpPr>
          <p:cNvPr id="34" name="!!card6"/>
          <p:cNvSpPr/>
          <p:nvPr/>
        </p:nvSpPr>
        <p:spPr>
          <a:xfrm>
            <a:off x="3379394" y="3977640"/>
            <a:ext cx="2602154" cy="2194560"/>
          </a:xfrm>
          <a:prstGeom prst="roundRect">
            <a:avLst>
              <a:gd name="adj" fmla="val 4167"/>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dot6"/>
          <p:cNvSpPr/>
          <p:nvPr/>
        </p:nvSpPr>
        <p:spPr>
          <a:xfrm>
            <a:off x="5268316" y="4206240"/>
            <a:ext cx="530352" cy="530352"/>
          </a:xfrm>
          <a:prstGeom prst="ellipse">
            <a:avLst/>
          </a:prstGeom>
          <a:solidFill>
            <a:srgbClr val="00539B"/>
          </a:solidFill>
          <a:ln w="12700">
            <a:solidFill>
              <a:srgbClr val="00539B"/>
            </a:solidFill>
            <a:prstDash val="solid"/>
          </a:ln>
        </p:spPr>
      </p:sp>
      <p:pic>
        <p:nvPicPr>
          <p:cNvPr id="36" name="!!ico6" descr="preencoded.png">    </p:cNvPr>
          <p:cNvPicPr>
            <a:picLocks noChangeAspect="1"/>
          </p:cNvPicPr>
          <p:nvPr/>
        </p:nvPicPr>
        <p:blipFill>
          <a:blip r:embed="rId7"/>
          <a:stretch>
            <a:fillRect/>
          </a:stretch>
        </p:blipFill>
        <p:spPr>
          <a:xfrm>
            <a:off x="5411511" y="4349435"/>
            <a:ext cx="243962" cy="243962"/>
          </a:xfrm>
          <a:prstGeom prst="rect">
            <a:avLst/>
          </a:prstGeom>
        </p:spPr>
      </p:pic>
      <p:sp>
        <p:nvSpPr>
          <p:cNvPr id="37" name="Text 28"/>
          <p:cNvSpPr txBox="1"/>
          <p:nvPr/>
        </p:nvSpPr>
        <p:spPr>
          <a:xfrm>
            <a:off x="3543986" y="4160520"/>
            <a:ext cx="1642034" cy="621792"/>
          </a:xfrm>
          <a:prstGeom prst="rect">
            <a:avLst/>
          </a:prstGeom>
          <a:noFill/>
          <a:ln/>
        </p:spPr>
        <p:txBody>
          <a:bodyPr wrap="square" lIns="0" tIns="0" rIns="0" bIns="0" rtlCol="0" anchor="ctr"/>
          <a:lstStyle/>
          <a:p>
            <a:pPr rtl="1" algn="r" indent="0" marL="0">
              <a:buNone/>
            </a:pPr>
            <a:r>
              <a:rPr lang="ar-SA" altLang="en-US" sz="1400" b="1" dirty="0">
                <a:solidFill>
                  <a:srgbClr val="06305C"/>
                </a:solidFill>
                <a:latin typeface="JF Flat" pitchFamily="34" charset="0"/>
                <a:ea typeface="JF Flat" pitchFamily="34" charset="-122"/>
                <a:cs typeface="JF Flat" pitchFamily="34" charset="-120"/>
              </a:rPr>
              <a:t>تحسين خدمات الإنترنت</a:t>
            </a:r>
            <a:endParaRPr lang="ar-SA" sz="1400" dirty="0"/>
          </a:p>
        </p:txBody>
      </p:sp>
      <p:sp>
        <p:nvSpPr>
          <p:cNvPr id="38" name="Text 29"/>
          <p:cNvSpPr txBox="1"/>
          <p:nvPr/>
        </p:nvSpPr>
        <p:spPr>
          <a:xfrm>
            <a:off x="3562274" y="4937760"/>
            <a:ext cx="2236394" cy="1143000"/>
          </a:xfrm>
          <a:prstGeom prst="rect">
            <a:avLst/>
          </a:prstGeom>
          <a:noFill/>
          <a:ln/>
        </p:spPr>
        <p:txBody>
          <a:bodyPr wrap="square" lIns="0" tIns="0" rIns="0" bIns="0" rtlCol="0" anchor="t"/>
          <a:lstStyle/>
          <a:p>
            <a:pPr rtl="1" algn="r" indent="0" marL="0">
              <a:lnSpc>
                <a:spcPct val="115000"/>
              </a:lnSpc>
              <a:buNone/>
            </a:pPr>
            <a:r>
              <a:rPr lang="ar-SA" altLang="en-US" sz="1250" dirty="0">
                <a:solidFill>
                  <a:srgbClr val="5B6B7F"/>
                </a:solidFill>
                <a:latin typeface="JF Flat" pitchFamily="34" charset="0"/>
                <a:ea typeface="JF Flat" pitchFamily="34" charset="-122"/>
                <a:cs typeface="JF Flat" pitchFamily="34" charset="-120"/>
              </a:rPr>
              <a:t>إمكانية إنشاء أو تطوير نقطة تبادل إنترنت وطنية (IXP) لتحسين تبادل حركة البيانات محلياً.</a:t>
            </a:r>
            <a:endParaRPr lang="ar-SA" sz="1250" dirty="0"/>
          </a:p>
        </p:txBody>
      </p:sp>
      <p:sp>
        <p:nvSpPr>
          <p:cNvPr id="39" name="!!card7"/>
          <p:cNvSpPr/>
          <p:nvPr/>
        </p:nvSpPr>
        <p:spPr>
          <a:xfrm>
            <a:off x="548640" y="3977640"/>
            <a:ext cx="2602154" cy="2194560"/>
          </a:xfrm>
          <a:prstGeom prst="roundRect">
            <a:avLst>
              <a:gd name="adj" fmla="val 4167"/>
            </a:avLst>
          </a:prstGeom>
          <a:solidFill>
            <a:srgbClr val="F15524"/>
          </a:solidFill>
          <a:ln w="12700">
            <a:solidFill>
              <a:srgbClr val="F15524"/>
            </a:solidFill>
            <a:prstDash val="solid"/>
          </a:ln>
          <a:effectLst>
            <a:outerShdw sx="100000" sy="100000" kx="0" ky="0" algn="bl" rotWithShape="0" blurRad="127000" dist="38100" dir="5400000">
              <a:srgbClr val="1F3A5F">
                <a:alpha val="13000"/>
              </a:srgbClr>
            </a:outerShdw>
          </a:effectLst>
        </p:spPr>
      </p:sp>
      <p:pic>
        <p:nvPicPr>
          <p:cNvPr id="40" name="Image 7" descr="preencoded.png">    </p:cNvPr>
          <p:cNvPicPr>
            <a:picLocks noChangeAspect="1"/>
          </p:cNvPicPr>
          <p:nvPr/>
        </p:nvPicPr>
        <p:blipFill>
          <a:blip r:embed="rId8"/>
          <a:stretch>
            <a:fillRect/>
          </a:stretch>
        </p:blipFill>
        <p:spPr>
          <a:xfrm>
            <a:off x="2373554" y="4251960"/>
            <a:ext cx="502920" cy="502920"/>
          </a:xfrm>
          <a:prstGeom prst="rect">
            <a:avLst/>
          </a:prstGeom>
        </p:spPr>
      </p:pic>
      <p:sp>
        <p:nvSpPr>
          <p:cNvPr id="41" name="Text 31"/>
          <p:cNvSpPr txBox="1"/>
          <p:nvPr/>
        </p:nvSpPr>
        <p:spPr>
          <a:xfrm>
            <a:off x="777240" y="4892040"/>
            <a:ext cx="2144954" cy="822960"/>
          </a:xfrm>
          <a:prstGeom prst="rect">
            <a:avLst/>
          </a:prstGeom>
          <a:noFill/>
          <a:ln/>
        </p:spPr>
        <p:txBody>
          <a:bodyPr wrap="square" lIns="0" tIns="0" rIns="0" bIns="0" rtlCol="0" anchor="ctr"/>
          <a:lstStyle/>
          <a:p>
            <a:pPr rtl="1" algn="r" indent="0" marL="0">
              <a:buNone/>
            </a:pPr>
            <a:r>
              <a:rPr lang="ar-SA" altLang="en-US" sz="1900" b="1" dirty="0">
                <a:solidFill>
                  <a:srgbClr val="FFFFFF"/>
                </a:solidFill>
                <a:latin typeface="JF Flat" pitchFamily="34" charset="0"/>
                <a:ea typeface="JF Flat" pitchFamily="34" charset="-122"/>
                <a:cs typeface="JF Flat" pitchFamily="34" charset="-120"/>
              </a:rPr>
              <a:t>التكامل والخدمات الوطنية</a:t>
            </a:r>
            <a:endParaRPr lang="ar-SA" sz="1900" dirty="0"/>
          </a:p>
        </p:txBody>
      </p:sp>
      <p:sp>
        <p:nvSpPr>
          <p:cNvPr id="42" name="Text 32"/>
          <p:cNvSpPr txBox="1"/>
          <p:nvPr/>
        </p:nvSpPr>
        <p:spPr>
          <a:xfrm>
            <a:off x="777240" y="5669280"/>
            <a:ext cx="2144954" cy="320040"/>
          </a:xfrm>
          <a:prstGeom prst="rect">
            <a:avLst/>
          </a:prstGeom>
          <a:noFill/>
          <a:ln/>
        </p:spPr>
        <p:txBody>
          <a:bodyPr wrap="square" lIns="0" tIns="0" rIns="0" bIns="0" rtlCol="0" anchor="t"/>
          <a:lstStyle/>
          <a:p>
            <a:pPr rtl="1" algn="r" indent="0" marL="0">
              <a:buNone/>
            </a:pPr>
            <a:r>
              <a:rPr lang="ar-SA" altLang="en-US" sz="1300" dirty="0">
                <a:solidFill>
                  <a:srgbClr val="FFE3D6"/>
                </a:solidFill>
                <a:latin typeface="JF Flat" pitchFamily="34" charset="0"/>
                <a:ea typeface="JF Flat" pitchFamily="34" charset="-122"/>
                <a:cs typeface="JF Flat" pitchFamily="34" charset="-120"/>
              </a:rPr>
              <a:t>7 عناصر قوة</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8</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03  |  التحليل الاستراتيجي</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تحليل SWOT للمشروع</a:t>
            </a:r>
            <a:endParaRPr lang="en-US" sz="3000" dirty="0"/>
          </a:p>
        </p:txBody>
      </p:sp>
      <p:sp>
        <p:nvSpPr>
          <p:cNvPr id="4" name="!!card0"/>
          <p:cNvSpPr/>
          <p:nvPr/>
        </p:nvSpPr>
        <p:spPr>
          <a:xfrm>
            <a:off x="6210148" y="1554480"/>
            <a:ext cx="5432908" cy="1938528"/>
          </a:xfrm>
          <a:prstGeom prst="roundRect">
            <a:avLst>
              <a:gd name="adj" fmla="val 4717"/>
            </a:avLst>
          </a:prstGeom>
          <a:solidFill>
            <a:srgbClr val="EAF2FA"/>
          </a:solidFill>
          <a:ln w="12700">
            <a:solidFill>
              <a:srgbClr val="EAF2FA"/>
            </a:solidFill>
            <a:prstDash val="solid"/>
          </a:ln>
        </p:spPr>
      </p:sp>
      <p:sp>
        <p:nvSpPr>
          <p:cNvPr id="5" name="Text 3"/>
          <p:cNvSpPr txBox="1"/>
          <p:nvPr/>
        </p:nvSpPr>
        <p:spPr>
          <a:xfrm>
            <a:off x="6393028" y="1600200"/>
            <a:ext cx="1280160" cy="1280160"/>
          </a:xfrm>
          <a:prstGeom prst="rect">
            <a:avLst/>
          </a:prstGeom>
          <a:noFill/>
          <a:ln/>
        </p:spPr>
        <p:txBody>
          <a:bodyPr wrap="square" lIns="0" tIns="0" rIns="0" bIns="0" rtlCol="0" anchor="t"/>
          <a:lstStyle/>
          <a:p>
            <a:pPr algn="l" indent="0" marL="0">
              <a:buNone/>
            </a:pPr>
            <a:r>
              <a:rPr lang="ar-SA" altLang="en-US" sz="8800" b="1" dirty="0">
                <a:solidFill>
                  <a:srgbClr val="00539B">
                    <a:alpha val="18000"/>
                  </a:srgbClr>
                </a:solidFill>
                <a:latin typeface="JF Flat" pitchFamily="34" charset="0"/>
                <a:ea typeface="JF Flat" pitchFamily="34" charset="-122"/>
                <a:cs typeface="JF Flat" pitchFamily="34" charset="-120"/>
              </a:rPr>
              <a:t>S</a:t>
            </a:r>
            <a:endParaRPr lang="ar-SA" sz="8800" dirty="0"/>
          </a:p>
        </p:txBody>
      </p:sp>
      <p:sp>
        <p:nvSpPr>
          <p:cNvPr id="6" name="Shape 4"/>
          <p:cNvSpPr/>
          <p:nvPr/>
        </p:nvSpPr>
        <p:spPr>
          <a:xfrm>
            <a:off x="9402775" y="1719072"/>
            <a:ext cx="2057400" cy="384048"/>
          </a:xfrm>
          <a:prstGeom prst="roundRect">
            <a:avLst>
              <a:gd name="adj" fmla="val 50000"/>
            </a:avLst>
          </a:prstGeom>
          <a:solidFill>
            <a:srgbClr val="00539B"/>
          </a:solidFill>
          <a:ln w="12700">
            <a:solidFill>
              <a:srgbClr val="00539B"/>
            </a:solidFill>
            <a:prstDash val="solid"/>
          </a:ln>
        </p:spPr>
      </p:sp>
      <p:sp>
        <p:nvSpPr>
          <p:cNvPr id="7" name="Text 5"/>
          <p:cNvSpPr txBox="1"/>
          <p:nvPr/>
        </p:nvSpPr>
        <p:spPr>
          <a:xfrm>
            <a:off x="9402775" y="171907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نقاط القوة</a:t>
            </a:r>
            <a:pPr algn="ctr" indent="0" marL="0">
              <a:buNone/>
            </a:pPr>
            <a:r>
              <a:rPr lang="ar-SA" altLang="en-US" sz="1000" dirty="0">
                <a:solidFill>
                  <a:srgbClr val="FFFFFF"/>
                </a:solidFill>
                <a:latin typeface="JF Flat" pitchFamily="34" charset="0"/>
                <a:ea typeface="JF Flat" pitchFamily="34" charset="-122"/>
                <a:cs typeface="JF Flat" pitchFamily="34" charset="-120"/>
              </a:rPr>
              <a:t>  Strengths</a:t>
            </a:r>
            <a:endParaRPr lang="ar-SA" sz="1400" dirty="0"/>
          </a:p>
        </p:txBody>
      </p:sp>
      <p:sp>
        <p:nvSpPr>
          <p:cNvPr id="8" name="Text 6"/>
          <p:cNvSpPr txBox="1"/>
          <p:nvPr/>
        </p:nvSpPr>
        <p:spPr>
          <a:xfrm>
            <a:off x="6484468" y="219456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بنية اتصالات واسعة وسعات ربط مرتفعة.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تكامل مع الشبكة الحكومية الآمنة.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توفر موقع وأصول وكوادر وخبرات تشغيلية.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إمكانية تقديم خدمات متكاملة للجهات الحكومية.</a:t>
            </a:r>
            <a:endParaRPr lang="ar-SA" sz="1300" dirty="0"/>
          </a:p>
        </p:txBody>
      </p:sp>
      <p:sp>
        <p:nvSpPr>
          <p:cNvPr id="9" name="!!card1"/>
          <p:cNvSpPr/>
          <p:nvPr/>
        </p:nvSpPr>
        <p:spPr>
          <a:xfrm>
            <a:off x="548640" y="1554480"/>
            <a:ext cx="5432908" cy="1938528"/>
          </a:xfrm>
          <a:prstGeom prst="roundRect">
            <a:avLst>
              <a:gd name="adj" fmla="val 4717"/>
            </a:avLst>
          </a:prstGeom>
          <a:solidFill>
            <a:srgbClr val="F1F3F6"/>
          </a:solidFill>
          <a:ln w="12700">
            <a:solidFill>
              <a:srgbClr val="F1F3F6"/>
            </a:solidFill>
            <a:prstDash val="solid"/>
          </a:ln>
        </p:spPr>
      </p:sp>
      <p:sp>
        <p:nvSpPr>
          <p:cNvPr id="10" name="Text 8"/>
          <p:cNvSpPr txBox="1"/>
          <p:nvPr/>
        </p:nvSpPr>
        <p:spPr>
          <a:xfrm>
            <a:off x="731520" y="1600200"/>
            <a:ext cx="1280160" cy="1280160"/>
          </a:xfrm>
          <a:prstGeom prst="rect">
            <a:avLst/>
          </a:prstGeom>
          <a:noFill/>
          <a:ln/>
        </p:spPr>
        <p:txBody>
          <a:bodyPr wrap="square" lIns="0" tIns="0" rIns="0" bIns="0" rtlCol="0" anchor="t"/>
          <a:lstStyle/>
          <a:p>
            <a:pPr algn="l" indent="0" marL="0">
              <a:buNone/>
            </a:pPr>
            <a:r>
              <a:rPr lang="ar-SA" altLang="en-US" sz="8800" b="1" dirty="0">
                <a:solidFill>
                  <a:srgbClr val="5B6B7F">
                    <a:alpha val="18000"/>
                  </a:srgbClr>
                </a:solidFill>
                <a:latin typeface="JF Flat" pitchFamily="34" charset="0"/>
                <a:ea typeface="JF Flat" pitchFamily="34" charset="-122"/>
                <a:cs typeface="JF Flat" pitchFamily="34" charset="-120"/>
              </a:rPr>
              <a:t>W</a:t>
            </a:r>
            <a:endParaRPr lang="ar-SA" sz="8800" dirty="0"/>
          </a:p>
        </p:txBody>
      </p:sp>
      <p:sp>
        <p:nvSpPr>
          <p:cNvPr id="11" name="Shape 9"/>
          <p:cNvSpPr/>
          <p:nvPr/>
        </p:nvSpPr>
        <p:spPr>
          <a:xfrm>
            <a:off x="3741268" y="1719072"/>
            <a:ext cx="2057400" cy="384048"/>
          </a:xfrm>
          <a:prstGeom prst="roundRect">
            <a:avLst>
              <a:gd name="adj" fmla="val 50000"/>
            </a:avLst>
          </a:prstGeom>
          <a:solidFill>
            <a:srgbClr val="5B6B7F"/>
          </a:solidFill>
          <a:ln w="12700">
            <a:solidFill>
              <a:srgbClr val="5B6B7F"/>
            </a:solidFill>
            <a:prstDash val="solid"/>
          </a:ln>
        </p:spPr>
      </p:sp>
      <p:sp>
        <p:nvSpPr>
          <p:cNvPr id="12" name="Text 10"/>
          <p:cNvSpPr txBox="1"/>
          <p:nvPr/>
        </p:nvSpPr>
        <p:spPr>
          <a:xfrm>
            <a:off x="3741268" y="171907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نقاط الضعف</a:t>
            </a:r>
            <a:pPr algn="ctr" indent="0" marL="0">
              <a:buNone/>
            </a:pPr>
            <a:r>
              <a:rPr lang="ar-SA" altLang="en-US" sz="1000" dirty="0">
                <a:solidFill>
                  <a:srgbClr val="FFFFFF"/>
                </a:solidFill>
                <a:latin typeface="JF Flat" pitchFamily="34" charset="0"/>
                <a:ea typeface="JF Flat" pitchFamily="34" charset="-122"/>
                <a:cs typeface="JF Flat" pitchFamily="34" charset="-120"/>
              </a:rPr>
              <a:t>  Weaknesses</a:t>
            </a:r>
            <a:endParaRPr lang="ar-SA" sz="1400" dirty="0"/>
          </a:p>
        </p:txBody>
      </p:sp>
      <p:sp>
        <p:nvSpPr>
          <p:cNvPr id="13" name="Text 11"/>
          <p:cNvSpPr txBox="1"/>
          <p:nvPr/>
        </p:nvSpPr>
        <p:spPr>
          <a:xfrm>
            <a:off x="822960" y="219456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ارتفاع التكلفة الاستثمارية والتشغيلية.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الحاجة إلى استثمارات مستمرة في الأمن والتحديث التقني.</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الحاجة إلى تعزيز الوعي المؤسسي بقيمة مركز البيانات ومعايير اعتماديته.</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تحديات المنافسة السعرية مع مقدمي الخدمات الأقل تكلفة.</a:t>
            </a:r>
            <a:endParaRPr lang="ar-SA" sz="1300" dirty="0"/>
          </a:p>
        </p:txBody>
      </p:sp>
      <p:sp>
        <p:nvSpPr>
          <p:cNvPr id="14" name="!!card2"/>
          <p:cNvSpPr/>
          <p:nvPr/>
        </p:nvSpPr>
        <p:spPr>
          <a:xfrm>
            <a:off x="6210148" y="3657600"/>
            <a:ext cx="5432908" cy="1938528"/>
          </a:xfrm>
          <a:prstGeom prst="roundRect">
            <a:avLst>
              <a:gd name="adj" fmla="val 4717"/>
            </a:avLst>
          </a:prstGeom>
          <a:solidFill>
            <a:srgbClr val="FEF0EA"/>
          </a:solidFill>
          <a:ln w="12700">
            <a:solidFill>
              <a:srgbClr val="FEF0EA"/>
            </a:solidFill>
            <a:prstDash val="solid"/>
          </a:ln>
        </p:spPr>
      </p:sp>
      <p:sp>
        <p:nvSpPr>
          <p:cNvPr id="15" name="Text 13"/>
          <p:cNvSpPr txBox="1"/>
          <p:nvPr/>
        </p:nvSpPr>
        <p:spPr>
          <a:xfrm>
            <a:off x="6393028" y="3703320"/>
            <a:ext cx="1280160" cy="1280160"/>
          </a:xfrm>
          <a:prstGeom prst="rect">
            <a:avLst/>
          </a:prstGeom>
          <a:noFill/>
          <a:ln/>
        </p:spPr>
        <p:txBody>
          <a:bodyPr wrap="square" lIns="0" tIns="0" rIns="0" bIns="0" rtlCol="0" anchor="t"/>
          <a:lstStyle/>
          <a:p>
            <a:pPr algn="l" indent="0" marL="0">
              <a:buNone/>
            </a:pPr>
            <a:r>
              <a:rPr lang="ar-SA" altLang="en-US" sz="8800" b="1" dirty="0">
                <a:solidFill>
                  <a:srgbClr val="F15524">
                    <a:alpha val="18000"/>
                  </a:srgbClr>
                </a:solidFill>
                <a:latin typeface="JF Flat" pitchFamily="34" charset="0"/>
                <a:ea typeface="JF Flat" pitchFamily="34" charset="-122"/>
                <a:cs typeface="JF Flat" pitchFamily="34" charset="-120"/>
              </a:rPr>
              <a:t>O</a:t>
            </a:r>
            <a:endParaRPr lang="ar-SA" sz="8800" dirty="0"/>
          </a:p>
        </p:txBody>
      </p:sp>
      <p:sp>
        <p:nvSpPr>
          <p:cNvPr id="16" name="Shape 14"/>
          <p:cNvSpPr/>
          <p:nvPr/>
        </p:nvSpPr>
        <p:spPr>
          <a:xfrm>
            <a:off x="9402775" y="3822192"/>
            <a:ext cx="2057400" cy="384048"/>
          </a:xfrm>
          <a:prstGeom prst="roundRect">
            <a:avLst>
              <a:gd name="adj" fmla="val 50000"/>
            </a:avLst>
          </a:prstGeom>
          <a:solidFill>
            <a:srgbClr val="F15524"/>
          </a:solidFill>
          <a:ln w="12700">
            <a:solidFill>
              <a:srgbClr val="F15524"/>
            </a:solidFill>
            <a:prstDash val="solid"/>
          </a:ln>
        </p:spPr>
      </p:sp>
      <p:sp>
        <p:nvSpPr>
          <p:cNvPr id="17" name="Text 15"/>
          <p:cNvSpPr txBox="1"/>
          <p:nvPr/>
        </p:nvSpPr>
        <p:spPr>
          <a:xfrm>
            <a:off x="9402775" y="382219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الفرص</a:t>
            </a:r>
            <a:pPr algn="ctr" indent="0" marL="0">
              <a:buNone/>
            </a:pPr>
            <a:r>
              <a:rPr lang="ar-SA" altLang="en-US" sz="1000" dirty="0">
                <a:solidFill>
                  <a:srgbClr val="FFFFFF"/>
                </a:solidFill>
                <a:latin typeface="JF Flat" pitchFamily="34" charset="0"/>
                <a:ea typeface="JF Flat" pitchFamily="34" charset="-122"/>
                <a:cs typeface="JF Flat" pitchFamily="34" charset="-120"/>
              </a:rPr>
              <a:t>  Opportunities</a:t>
            </a:r>
            <a:endParaRPr lang="ar-SA" sz="1400" dirty="0"/>
          </a:p>
        </p:txBody>
      </p:sp>
      <p:sp>
        <p:nvSpPr>
          <p:cNvPr id="18" name="Text 16"/>
          <p:cNvSpPr txBox="1"/>
          <p:nvPr/>
        </p:nvSpPr>
        <p:spPr>
          <a:xfrm>
            <a:off x="6484468" y="429768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تزايد الطلب على استضافة البيانات الحكومية محلياً.</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وجود فرصة للتميز بمعايير واعتمادات دولية.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التكامل مع الشبكة الحكومية الآمنة ونقطة تبادل الإنترنت (IXP).</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تقليل ازدواجية الاستثمار في مراكز منفصلة لدى الجهات العامة.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إمكانية التوسع التدريجي وبناء شراكات تقنية واستثمارية.</a:t>
            </a:r>
            <a:endParaRPr lang="ar-SA" sz="1300" dirty="0"/>
          </a:p>
        </p:txBody>
      </p:sp>
      <p:sp>
        <p:nvSpPr>
          <p:cNvPr id="19" name="!!card3"/>
          <p:cNvSpPr/>
          <p:nvPr/>
        </p:nvSpPr>
        <p:spPr>
          <a:xfrm>
            <a:off x="548640" y="3657600"/>
            <a:ext cx="5432908" cy="1938528"/>
          </a:xfrm>
          <a:prstGeom prst="roundRect">
            <a:avLst>
              <a:gd name="adj" fmla="val 4717"/>
            </a:avLst>
          </a:prstGeom>
          <a:solidFill>
            <a:srgbClr val="FBEDEA"/>
          </a:solidFill>
          <a:ln w="12700">
            <a:solidFill>
              <a:srgbClr val="FBEDEA"/>
            </a:solidFill>
            <a:prstDash val="solid"/>
          </a:ln>
        </p:spPr>
      </p:sp>
      <p:sp>
        <p:nvSpPr>
          <p:cNvPr id="20" name="Text 18"/>
          <p:cNvSpPr txBox="1"/>
          <p:nvPr/>
        </p:nvSpPr>
        <p:spPr>
          <a:xfrm>
            <a:off x="731520" y="3703320"/>
            <a:ext cx="1280160" cy="1280160"/>
          </a:xfrm>
          <a:prstGeom prst="rect">
            <a:avLst/>
          </a:prstGeom>
          <a:noFill/>
          <a:ln/>
        </p:spPr>
        <p:txBody>
          <a:bodyPr wrap="square" lIns="0" tIns="0" rIns="0" bIns="0" rtlCol="0" anchor="t"/>
          <a:lstStyle/>
          <a:p>
            <a:pPr algn="l" indent="0" marL="0">
              <a:buNone/>
            </a:pPr>
            <a:r>
              <a:rPr lang="ar-SA" altLang="en-US" sz="8800" b="1" dirty="0">
                <a:solidFill>
                  <a:srgbClr val="C8361B">
                    <a:alpha val="18000"/>
                  </a:srgbClr>
                </a:solidFill>
                <a:latin typeface="JF Flat" pitchFamily="34" charset="0"/>
                <a:ea typeface="JF Flat" pitchFamily="34" charset="-122"/>
                <a:cs typeface="JF Flat" pitchFamily="34" charset="-120"/>
              </a:rPr>
              <a:t>T</a:t>
            </a:r>
            <a:endParaRPr lang="ar-SA" sz="8800" dirty="0"/>
          </a:p>
        </p:txBody>
      </p:sp>
      <p:sp>
        <p:nvSpPr>
          <p:cNvPr id="21" name="Shape 19"/>
          <p:cNvSpPr/>
          <p:nvPr/>
        </p:nvSpPr>
        <p:spPr>
          <a:xfrm>
            <a:off x="3741268" y="3822192"/>
            <a:ext cx="2057400" cy="384048"/>
          </a:xfrm>
          <a:prstGeom prst="roundRect">
            <a:avLst>
              <a:gd name="adj" fmla="val 50000"/>
            </a:avLst>
          </a:prstGeom>
          <a:solidFill>
            <a:srgbClr val="C8361B"/>
          </a:solidFill>
          <a:ln w="12700">
            <a:solidFill>
              <a:srgbClr val="C8361B"/>
            </a:solidFill>
            <a:prstDash val="solid"/>
          </a:ln>
        </p:spPr>
      </p:sp>
      <p:sp>
        <p:nvSpPr>
          <p:cNvPr id="22" name="Text 20"/>
          <p:cNvSpPr txBox="1"/>
          <p:nvPr/>
        </p:nvSpPr>
        <p:spPr>
          <a:xfrm>
            <a:off x="3741268" y="3822192"/>
            <a:ext cx="2057400" cy="384048"/>
          </a:xfrm>
          <a:prstGeom prst="rect">
            <a:avLst/>
          </a:prstGeom>
          <a:noFill/>
          <a:ln/>
        </p:spPr>
        <p:txBody>
          <a:bodyPr wrap="square" lIns="0" tIns="0" rIns="0" bIns="0" rtlCol="0" anchor="ctr"/>
          <a:lstStyle/>
          <a:p>
            <a:pPr algn="ctr" indent="0" marL="0">
              <a:buNone/>
            </a:pPr>
            <a:r>
              <a:rPr lang="ar-SA" altLang="en-US" sz="1400" b="1" dirty="0">
                <a:solidFill>
                  <a:srgbClr val="FFFFFF"/>
                </a:solidFill>
                <a:latin typeface="JF Flat" pitchFamily="34" charset="0"/>
                <a:ea typeface="JF Flat" pitchFamily="34" charset="-122"/>
                <a:cs typeface="JF Flat" pitchFamily="34" charset="-120"/>
              </a:rPr>
              <a:t>التهديدات</a:t>
            </a:r>
            <a:pPr algn="ctr" indent="0" marL="0">
              <a:buNone/>
            </a:pPr>
            <a:r>
              <a:rPr lang="ar-SA" altLang="en-US" sz="1000" dirty="0">
                <a:solidFill>
                  <a:srgbClr val="FFFFFF"/>
                </a:solidFill>
                <a:latin typeface="JF Flat" pitchFamily="34" charset="0"/>
                <a:ea typeface="JF Flat" pitchFamily="34" charset="-122"/>
                <a:cs typeface="JF Flat" pitchFamily="34" charset="-120"/>
              </a:rPr>
              <a:t>  Threats</a:t>
            </a:r>
            <a:endParaRPr lang="ar-SA" sz="1400" dirty="0"/>
          </a:p>
        </p:txBody>
      </p:sp>
      <p:sp>
        <p:nvSpPr>
          <p:cNvPr id="23" name="Text 21"/>
          <p:cNvSpPr txBox="1"/>
          <p:nvPr/>
        </p:nvSpPr>
        <p:spPr>
          <a:xfrm>
            <a:off x="822960" y="4297680"/>
            <a:ext cx="4975708" cy="1207008"/>
          </a:xfrm>
          <a:prstGeom prst="rect">
            <a:avLst/>
          </a:prstGeom>
          <a:noFill/>
          <a:ln/>
        </p:spPr>
        <p:txBody>
          <a:bodyPr wrap="square" lIns="0" tIns="0" rIns="0" bIns="0" rtlCol="0" anchor="t"/>
          <a:lstStyle/>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عدم استقرار الكهرباء وارتفاع تكاليف الطاقة.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الهجمات السيبرانية ومخاطر فقدان البيانات.</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تقلبات سعر الصرف وتأخر توريد المعدات.</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عدم تحقق الطلب والإيرادات المستهدفة.</a:t>
            </a:r>
            <a:endParaRPr lang="ar-SA" sz="1300" dirty="0"/>
          </a:p>
          <a:p>
            <a:pPr algn="r" marL="177800" indent="-177800">
              <a:spcAft>
                <a:spcPts val="200"/>
              </a:spcAft>
              <a:buSzPct val="100000"/>
              <a:buChar char="•"/>
            </a:pPr>
            <a:r>
              <a:rPr lang="ar-SA" altLang="en-US" sz="1300" dirty="0">
                <a:solidFill>
                  <a:srgbClr val="1F2937"/>
                </a:solidFill>
                <a:latin typeface="JF Flat" pitchFamily="34" charset="0"/>
                <a:ea typeface="JF Flat" pitchFamily="34" charset="-122"/>
                <a:cs typeface="JF Flat" pitchFamily="34" charset="-120"/>
              </a:rPr>
              <a:t>مخاطر التمويل والتراخيص والتأخر في التنفيذ.</a:t>
            </a:r>
            <a:endParaRPr lang="ar-SA" sz="1300" dirty="0"/>
          </a:p>
        </p:txBody>
      </p:sp>
      <p:sp>
        <p:nvSpPr>
          <p:cNvPr id="24" name="!!card4"/>
          <p:cNvSpPr/>
          <p:nvPr/>
        </p:nvSpPr>
        <p:spPr>
          <a:xfrm>
            <a:off x="548640" y="5577840"/>
            <a:ext cx="11094415" cy="658368"/>
          </a:xfrm>
          <a:prstGeom prst="roundRect">
            <a:avLst>
              <a:gd name="adj" fmla="val 13889"/>
            </a:avLst>
          </a:prstGeom>
          <a:solidFill>
            <a:srgbClr val="06305C"/>
          </a:solidFill>
          <a:ln w="12700">
            <a:solidFill>
              <a:srgbClr val="06305C"/>
            </a:solidFill>
            <a:prstDash val="solid"/>
          </a:ln>
        </p:spPr>
      </p:sp>
      <p:pic>
        <p:nvPicPr>
          <p:cNvPr id="25" name="Image 0" descr="preencoded.png">    </p:cNvPr>
          <p:cNvPicPr>
            <a:picLocks noChangeAspect="1"/>
          </p:cNvPicPr>
          <p:nvPr/>
        </p:nvPicPr>
        <p:blipFill>
          <a:blip r:embed="rId1"/>
          <a:stretch>
            <a:fillRect/>
          </a:stretch>
        </p:blipFill>
        <p:spPr>
          <a:xfrm>
            <a:off x="11094415" y="5733288"/>
            <a:ext cx="347472" cy="347472"/>
          </a:xfrm>
          <a:prstGeom prst="rect">
            <a:avLst/>
          </a:prstGeom>
        </p:spPr>
      </p:pic>
      <p:sp>
        <p:nvSpPr>
          <p:cNvPr id="26" name="Text 23"/>
          <p:cNvSpPr txBox="1"/>
          <p:nvPr/>
        </p:nvSpPr>
        <p:spPr>
          <a:xfrm>
            <a:off x="777240" y="5577840"/>
            <a:ext cx="10180015" cy="658368"/>
          </a:xfrm>
          <a:prstGeom prst="rect">
            <a:avLst/>
          </a:prstGeom>
          <a:noFill/>
          <a:ln/>
        </p:spPr>
        <p:txBody>
          <a:bodyPr wrap="square" lIns="0" tIns="0" rIns="0" bIns="0" rtlCol="0" anchor="ctr"/>
          <a:lstStyle/>
          <a:p>
            <a:pPr algn="r" indent="0" marL="0">
              <a:buNone/>
            </a:pPr>
            <a:r>
              <a:rPr lang="ar-SA" altLang="en-US" sz="1400" b="1" dirty="0">
                <a:solidFill>
                  <a:srgbClr val="F7941D"/>
                </a:solidFill>
                <a:latin typeface="JF Flat" pitchFamily="34" charset="0"/>
                <a:ea typeface="JF Flat" pitchFamily="34" charset="-122"/>
                <a:cs typeface="JF Flat" pitchFamily="34" charset="-120"/>
              </a:rPr>
              <a:t>الخلاصة الاستراتيجية: </a:t>
            </a:r>
            <a:pPr algn="r" indent="0" marL="0">
              <a:buNone/>
            </a:pPr>
            <a:r>
              <a:rPr lang="ar-SA" altLang="en-US" sz="1400" dirty="0">
                <a:solidFill>
                  <a:srgbClr val="FFFFFF"/>
                </a:solidFill>
                <a:latin typeface="JF Flat" pitchFamily="34" charset="0"/>
                <a:ea typeface="JF Flat" pitchFamily="34" charset="-122"/>
                <a:cs typeface="JF Flat" pitchFamily="34" charset="-120"/>
              </a:rPr>
              <a:t>يمتلك المشروع مقومات تنافسية واضحة، لكن نجاحه يتطلب ضمان الطلب الفعلي، وتأمين التمويل، ورفع الاعتمادية التشغيلية والأمنية.</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04  |  التكاليف الرأسمالية (CAPEX)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حجم الاستثمار الرأسمالي للمشروع</a:t>
            </a:r>
            <a:endParaRPr lang="en-US" sz="3000" dirty="0"/>
          </a:p>
        </p:txBody>
      </p:sp>
      <p:sp>
        <p:nvSpPr>
          <p:cNvPr id="4" name="Text 2"/>
          <p:cNvSpPr txBox="1"/>
          <p:nvPr/>
        </p:nvSpPr>
        <p:spPr>
          <a:xfrm>
            <a:off x="4754880" y="1554480"/>
            <a:ext cx="6888175" cy="68580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5B6B7F"/>
                </a:solidFill>
                <a:latin typeface="JF Flat" pitchFamily="34" charset="0"/>
                <a:ea typeface="JF Flat" pitchFamily="34" charset="-122"/>
                <a:cs typeface="JF Flat" pitchFamily="34" charset="-120"/>
              </a:rPr>
              <a:t>تمثل التكاليف الرأسمالية الاستثمارات اللازمة لإنشاء المركز وتجهيزه قبل التشغيل والتوسع، وفق تقديرات دراسة الجدوى.</a:t>
            </a:r>
            <a:endParaRPr lang="ar-SA"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754880" y="2377440"/>
          <a:ext cx="6888175" cy="914400"/>
        </p:xfrm>
        <a:graphic>
          <a:graphicData uri="http://schemas.openxmlformats.org/drawingml/2006/table">
            <a:tbl>
              <a:tblPr/>
              <a:tblGrid>
                <a:gridCol w="2270455"/>
                <a:gridCol w="2194560"/>
                <a:gridCol w="2423160"/>
              </a:tblGrid>
              <a:tr h="502920">
                <a:tc>
                  <a:txBody>
                    <a:bodyPr/>
                    <a:lstStyle/>
                    <a:p>
                      <a:pPr rtl="1" algn="ctr" indent="0" marL="0">
                        <a:buNone/>
                      </a:pPr>
                      <a:r>
                        <a:rPr lang="en-US" sz="1400" b="1" dirty="0">
                          <a:solidFill>
                            <a:srgbClr val="FFFFFF"/>
                          </a:solidFill>
                          <a:latin typeface="JF Flat" pitchFamily="34" charset="0"/>
                          <a:ea typeface="JF Flat" pitchFamily="34" charset="-122"/>
                          <a:cs typeface="JF Flat" pitchFamily="34" charset="-120"/>
                        </a:rPr>
                        <a:t>التكلفة بالدينار الليبي</a:t>
                      </a:r>
                      <a:endParaRPr lang="en-US" sz="1400" dirty="0">
                        <a:latin typeface="JF Flat" charset="0"/>
                        <a:ea typeface="JF Flat" charset="0"/>
                        <a:cs typeface="JF Flat"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400" b="1" dirty="0">
                          <a:solidFill>
                            <a:srgbClr val="FFFFFF"/>
                          </a:solidFill>
                          <a:latin typeface="JF Flat" pitchFamily="34" charset="0"/>
                          <a:ea typeface="JF Flat" pitchFamily="34" charset="-122"/>
                          <a:cs typeface="JF Flat" pitchFamily="34" charset="-120"/>
                        </a:rPr>
                        <a:t>التكلفة بالدولار</a:t>
                      </a:r>
                      <a:endParaRPr lang="en-US" sz="1400" dirty="0">
                        <a:latin typeface="JF Flat" charset="0"/>
                        <a:ea typeface="JF Flat" charset="0"/>
                        <a:cs typeface="JF Flat"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400" b="1" dirty="0">
                          <a:solidFill>
                            <a:srgbClr val="FFFFFF"/>
                          </a:solidFill>
                          <a:latin typeface="JF Flat" pitchFamily="34" charset="0"/>
                          <a:ea typeface="JF Flat" pitchFamily="34" charset="-122"/>
                          <a:cs typeface="JF Flat" pitchFamily="34" charset="-120"/>
                        </a:rPr>
                        <a:t>البند</a:t>
                      </a:r>
                      <a:endParaRPr lang="en-US" sz="1400" dirty="0">
                        <a:latin typeface="JF Flat" charset="0"/>
                        <a:ea typeface="JF Flat" charset="0"/>
                        <a:cs typeface="JF Flat" charset="0"/>
                      </a:endParaRPr>
                    </a:p>
                  </a:txBody>
                  <a:tcPr marL="45720" marR="45720" marT="27432" marB="27432" anchor="ctr">
                    <a:lnL w="9525" cap="flat" cmpd="sng" algn="ctr">
                      <a:solidFill>
                        <a:srgbClr val="06305C"/>
                      </a:solidFill>
                      <a:prstDash val="solid"/>
                      <a:round/>
                      <a:headEnd type="none" w="med" len="med"/>
                      <a:tailEnd type="none" w="med" len="med"/>
                    </a:lnL>
                    <a:lnR w="9525" cap="flat" cmpd="sng" algn="ctr">
                      <a:solidFill>
                        <a:srgbClr val="06305C"/>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566928">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281,779,411</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43,890,874</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c>
                  <a:txBody>
                    <a:bodyPr/>
                    <a:lstStyle/>
                    <a:p>
                      <a:pPr rtl="1" algn="r" indent="0" marL="0">
                        <a:buNone/>
                      </a:pPr>
                      <a:r>
                        <a:rPr lang="en-US" sz="1500" b="1" dirty="0">
                          <a:solidFill>
                            <a:srgbClr val="1F2937"/>
                          </a:solidFill>
                          <a:latin typeface="JF Flat" pitchFamily="34" charset="0"/>
                          <a:ea typeface="JF Flat" pitchFamily="34" charset="-122"/>
                          <a:cs typeface="JF Flat" pitchFamily="34" charset="-120"/>
                        </a:rPr>
                        <a:t>المرحلة الأولى</a:t>
                      </a:r>
                      <a:endParaRPr lang="en-US" sz="1500" dirty="0">
                        <a:latin typeface="JF Flat" charset="0"/>
                        <a:ea typeface="JF Flat" charset="0"/>
                        <a:cs typeface="JF Flat"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tcPr>
                </a:tc>
              </a:tr>
              <a:tr h="566928">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90,021,240</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500" dirty="0">
                          <a:solidFill>
                            <a:srgbClr val="1F2937"/>
                          </a:solidFill>
                          <a:latin typeface="JF Flat" pitchFamily="34" charset="0"/>
                          <a:ea typeface="JF Flat" pitchFamily="34" charset="-122"/>
                          <a:cs typeface="JF Flat" pitchFamily="34" charset="-120"/>
                        </a:rPr>
                        <a:t>14,022,000</a:t>
                      </a:r>
                      <a:endParaRPr lang="en-US" sz="15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500" b="1" dirty="0">
                          <a:solidFill>
                            <a:srgbClr val="1F2937"/>
                          </a:solidFill>
                          <a:latin typeface="JF Flat" pitchFamily="34" charset="0"/>
                          <a:ea typeface="JF Flat" pitchFamily="34" charset="-122"/>
                          <a:cs typeface="JF Flat" pitchFamily="34" charset="-120"/>
                        </a:rPr>
                        <a:t>المرحلة الثانية</a:t>
                      </a:r>
                      <a:endParaRPr lang="en-US" sz="1500" dirty="0">
                        <a:latin typeface="JF Flat" charset="0"/>
                        <a:ea typeface="JF Flat" charset="0"/>
                        <a:cs typeface="JF Flat"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621792">
                <a:tc>
                  <a:txBody>
                    <a:bodyPr/>
                    <a:lstStyle/>
                    <a:p>
                      <a:pPr algn="ctr" indent="0" marL="0">
                        <a:buNone/>
                      </a:pPr>
                      <a:r>
                        <a:rPr lang="en-US" sz="1600" b="1" dirty="0">
                          <a:solidFill>
                            <a:srgbClr val="FFFFFF"/>
                          </a:solidFill>
                          <a:latin typeface="JF Flat" pitchFamily="34" charset="0"/>
                          <a:ea typeface="JF Flat" pitchFamily="34" charset="-122"/>
                          <a:cs typeface="JF Flat" pitchFamily="34" charset="-120"/>
                        </a:rPr>
                        <a:t>371,800,651</a:t>
                      </a:r>
                      <a:endParaRPr lang="en-US" sz="16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600" b="1" dirty="0">
                          <a:solidFill>
                            <a:srgbClr val="FFFFFF"/>
                          </a:solidFill>
                          <a:latin typeface="JF Flat" pitchFamily="34" charset="0"/>
                          <a:ea typeface="JF Flat" pitchFamily="34" charset="-122"/>
                          <a:cs typeface="JF Flat" pitchFamily="34" charset="-120"/>
                        </a:rPr>
                        <a:t>57,912,874</a:t>
                      </a:r>
                      <a:endParaRPr lang="en-US" sz="16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rtl="1" algn="r" indent="0" marL="0">
                        <a:buNone/>
                      </a:pPr>
                      <a:r>
                        <a:rPr lang="en-US" sz="1600" b="1" dirty="0">
                          <a:solidFill>
                            <a:srgbClr val="FFFFFF"/>
                          </a:solidFill>
                          <a:latin typeface="JF Flat" pitchFamily="34" charset="0"/>
                          <a:ea typeface="JF Flat" pitchFamily="34" charset="-122"/>
                          <a:cs typeface="JF Flat" pitchFamily="34" charset="-120"/>
                        </a:rPr>
                        <a:t>إجمالي المشروع</a:t>
                      </a:r>
                      <a:endParaRPr lang="en-US" sz="1600" dirty="0">
                        <a:latin typeface="JF Flat" charset="0"/>
                        <a:ea typeface="JF Flat" charset="0"/>
                        <a:cs typeface="JF Flat" charset="0"/>
                      </a:endParaRPr>
                    </a:p>
                  </a:txBody>
                  <a:tcPr marL="137160" marR="13716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r>
            </a:tbl>
          </a:graphicData>
        </a:graphic>
      </p:graphicFrame>
      <p:sp>
        <p:nvSpPr>
          <p:cNvPr id="6" name="!!card0"/>
          <p:cNvSpPr/>
          <p:nvPr/>
        </p:nvSpPr>
        <p:spPr>
          <a:xfrm>
            <a:off x="4754880" y="4937760"/>
            <a:ext cx="3337560" cy="1188720"/>
          </a:xfrm>
          <a:prstGeom prst="roundRect">
            <a:avLst>
              <a:gd name="adj" fmla="val 7692"/>
            </a:avLst>
          </a:prstGeom>
          <a:solidFill>
            <a:srgbClr val="EAF2FA"/>
          </a:solidFill>
          <a:ln w="12700">
            <a:solidFill>
              <a:srgbClr val="EAF2FA"/>
            </a:solidFill>
            <a:prstDash val="solid"/>
          </a:ln>
        </p:spPr>
      </p:sp>
      <p:sp>
        <p:nvSpPr>
          <p:cNvPr id="7" name="!!dot0"/>
          <p:cNvSpPr/>
          <p:nvPr/>
        </p:nvSpPr>
        <p:spPr>
          <a:xfrm>
            <a:off x="7360920" y="5074920"/>
            <a:ext cx="502920" cy="502920"/>
          </a:xfrm>
          <a:prstGeom prst="ellipse">
            <a:avLst/>
          </a:prstGeom>
          <a:solidFill>
            <a:srgbClr val="00539B"/>
          </a:solidFill>
          <a:ln w="12700">
            <a:solidFill>
              <a:srgbClr val="00539B"/>
            </a:solidFill>
            <a:prstDash val="solid"/>
          </a:ln>
        </p:spPr>
      </p:sp>
      <p:pic>
        <p:nvPicPr>
          <p:cNvPr id="8" name="!!ico0" descr="preencoded.png">    </p:cNvPr>
          <p:cNvPicPr>
            <a:picLocks noChangeAspect="1"/>
          </p:cNvPicPr>
          <p:nvPr/>
        </p:nvPicPr>
        <p:blipFill>
          <a:blip r:embed="rId1"/>
          <a:stretch>
            <a:fillRect/>
          </a:stretch>
        </p:blipFill>
        <p:spPr>
          <a:xfrm>
            <a:off x="7496708" y="5210708"/>
            <a:ext cx="231343" cy="231343"/>
          </a:xfrm>
          <a:prstGeom prst="rect">
            <a:avLst/>
          </a:prstGeom>
        </p:spPr>
      </p:pic>
      <p:sp>
        <p:nvSpPr>
          <p:cNvPr id="9" name="Text 5"/>
          <p:cNvSpPr txBox="1"/>
          <p:nvPr/>
        </p:nvSpPr>
        <p:spPr>
          <a:xfrm>
            <a:off x="4892040" y="5074920"/>
            <a:ext cx="2377440"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سعر الصرف المستخدم في الدراسة</a:t>
            </a:r>
            <a:endParaRPr lang="ar-SA" sz="1200" dirty="0"/>
          </a:p>
        </p:txBody>
      </p:sp>
      <p:sp>
        <p:nvSpPr>
          <p:cNvPr id="10" name="Text 6"/>
          <p:cNvSpPr txBox="1"/>
          <p:nvPr/>
        </p:nvSpPr>
        <p:spPr>
          <a:xfrm>
            <a:off x="4892040" y="5440680"/>
            <a:ext cx="2377440" cy="457200"/>
          </a:xfrm>
          <a:prstGeom prst="rect">
            <a:avLst/>
          </a:prstGeom>
          <a:noFill/>
          <a:ln/>
        </p:spPr>
        <p:txBody>
          <a:bodyPr wrap="square" lIns="0" tIns="0" rIns="0" bIns="0" rtlCol="0" anchor="t"/>
          <a:lstStyle/>
          <a:p>
            <a:pPr rtl="1" algn="r" indent="0" marL="0">
              <a:buNone/>
            </a:pPr>
            <a:r>
              <a:rPr lang="ar-SA" altLang="en-US" sz="2000" b="1" dirty="0">
                <a:solidFill>
                  <a:srgbClr val="00539B"/>
                </a:solidFill>
                <a:latin typeface="JF Flat" pitchFamily="34" charset="0"/>
                <a:ea typeface="JF Flat" pitchFamily="34" charset="-122"/>
                <a:cs typeface="JF Flat" pitchFamily="34" charset="-120"/>
              </a:rPr>
              <a:t>6.42 دينار للدولار</a:t>
            </a:r>
            <a:endParaRPr lang="ar-SA" sz="2000" dirty="0"/>
          </a:p>
        </p:txBody>
      </p:sp>
      <p:sp>
        <p:nvSpPr>
          <p:cNvPr id="11" name="!!card1"/>
          <p:cNvSpPr/>
          <p:nvPr/>
        </p:nvSpPr>
        <p:spPr>
          <a:xfrm>
            <a:off x="8305495" y="4937760"/>
            <a:ext cx="3337560" cy="1188720"/>
          </a:xfrm>
          <a:prstGeom prst="roundRect">
            <a:avLst>
              <a:gd name="adj" fmla="val 7692"/>
            </a:avLst>
          </a:prstGeom>
          <a:solidFill>
            <a:srgbClr val="FEF0EA"/>
          </a:solidFill>
          <a:ln w="12700">
            <a:solidFill>
              <a:srgbClr val="FEF0EA"/>
            </a:solidFill>
            <a:prstDash val="solid"/>
          </a:ln>
        </p:spPr>
      </p:sp>
      <p:sp>
        <p:nvSpPr>
          <p:cNvPr id="12" name="!!dot1"/>
          <p:cNvSpPr/>
          <p:nvPr/>
        </p:nvSpPr>
        <p:spPr>
          <a:xfrm>
            <a:off x="10911535" y="5074920"/>
            <a:ext cx="502920" cy="502920"/>
          </a:xfrm>
          <a:prstGeom prst="ellipse">
            <a:avLst/>
          </a:prstGeom>
          <a:solidFill>
            <a:srgbClr val="F15524"/>
          </a:solidFill>
          <a:ln w="12700">
            <a:solidFill>
              <a:srgbClr val="F15524"/>
            </a:solidFill>
            <a:prstDash val="solid"/>
          </a:ln>
        </p:spPr>
      </p:sp>
      <p:pic>
        <p:nvPicPr>
          <p:cNvPr id="13" name="!!ico1" descr="preencoded.png">    </p:cNvPr>
          <p:cNvPicPr>
            <a:picLocks noChangeAspect="1"/>
          </p:cNvPicPr>
          <p:nvPr/>
        </p:nvPicPr>
        <p:blipFill>
          <a:blip r:embed="rId2"/>
          <a:stretch>
            <a:fillRect/>
          </a:stretch>
        </p:blipFill>
        <p:spPr>
          <a:xfrm>
            <a:off x="11047324" y="5210708"/>
            <a:ext cx="231343" cy="231343"/>
          </a:xfrm>
          <a:prstGeom prst="rect">
            <a:avLst/>
          </a:prstGeom>
        </p:spPr>
      </p:pic>
      <p:sp>
        <p:nvSpPr>
          <p:cNvPr id="14" name="Text 9"/>
          <p:cNvSpPr txBox="1"/>
          <p:nvPr/>
        </p:nvSpPr>
        <p:spPr>
          <a:xfrm>
            <a:off x="8442655" y="5074920"/>
            <a:ext cx="2377440"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حصة المرحلة الأولى من الإجمالي</a:t>
            </a:r>
            <a:endParaRPr lang="ar-SA" sz="1200" dirty="0"/>
          </a:p>
        </p:txBody>
      </p:sp>
      <p:sp>
        <p:nvSpPr>
          <p:cNvPr id="15" name="Text 10"/>
          <p:cNvSpPr txBox="1"/>
          <p:nvPr/>
        </p:nvSpPr>
        <p:spPr>
          <a:xfrm>
            <a:off x="8442655" y="5440680"/>
            <a:ext cx="2377440" cy="457200"/>
          </a:xfrm>
          <a:prstGeom prst="rect">
            <a:avLst/>
          </a:prstGeom>
          <a:noFill/>
          <a:ln/>
        </p:spPr>
        <p:txBody>
          <a:bodyPr wrap="square" lIns="0" tIns="0" rIns="0" bIns="0" rtlCol="0" anchor="t"/>
          <a:lstStyle/>
          <a:p>
            <a:pPr algn="r" indent="0" marL="0">
              <a:buNone/>
            </a:pPr>
            <a:r>
              <a:rPr lang="ar-SA" altLang="en-US" sz="2000" b="1" dirty="0">
                <a:solidFill>
                  <a:srgbClr val="F15524"/>
                </a:solidFill>
                <a:latin typeface="JF Flat" pitchFamily="34" charset="0"/>
                <a:ea typeface="JF Flat" pitchFamily="34" charset="-122"/>
                <a:cs typeface="JF Flat" pitchFamily="34" charset="-120"/>
              </a:rPr>
              <a:t>75.8%</a:t>
            </a:r>
            <a:endParaRPr lang="ar-SA" sz="2000" dirty="0"/>
          </a:p>
        </p:txBody>
      </p:sp>
      <p:sp>
        <p:nvSpPr>
          <p:cNvPr id="16" name="!!card2"/>
          <p:cNvSpPr/>
          <p:nvPr/>
        </p:nvSpPr>
        <p:spPr>
          <a:xfrm>
            <a:off x="548640" y="1554480"/>
            <a:ext cx="3931920" cy="4572000"/>
          </a:xfrm>
          <a:prstGeom prst="roundRect">
            <a:avLst>
              <a:gd name="adj" fmla="val 2326"/>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Text 12"/>
          <p:cNvSpPr txBox="1"/>
          <p:nvPr/>
        </p:nvSpPr>
        <p:spPr>
          <a:xfrm>
            <a:off x="777240" y="1737360"/>
            <a:ext cx="3474720" cy="365760"/>
          </a:xfrm>
          <a:prstGeom prst="rect">
            <a:avLst/>
          </a:prstGeom>
          <a:noFill/>
          <a:ln/>
        </p:spPr>
        <p:txBody>
          <a:bodyPr wrap="square" lIns="0" tIns="0" rIns="0" bIns="0" rtlCol="0" anchor="t"/>
          <a:lstStyle/>
          <a:p>
            <a:pPr rtl="1" algn="ctr" indent="0" marL="0">
              <a:buNone/>
            </a:pPr>
            <a:r>
              <a:rPr lang="ar-SA" altLang="en-US" sz="1500" b="1" dirty="0">
                <a:solidFill>
                  <a:srgbClr val="06305C"/>
                </a:solidFill>
                <a:latin typeface="JF Flat" pitchFamily="34" charset="0"/>
                <a:ea typeface="JF Flat" pitchFamily="34" charset="-122"/>
                <a:cs typeface="JF Flat" pitchFamily="34" charset="-120"/>
              </a:rPr>
              <a:t>توزيع الاستثمار حسب المراحل</a:t>
            </a:r>
            <a:endParaRPr lang="ar-SA" sz="1500" dirty="0"/>
          </a:p>
        </p:txBody>
      </p:sp>
      <p:graphicFrame>
        <p:nvGraphicFramePr>
          <p:cNvPr id="18" name="Chart 0" descr=""/>
          <p:cNvGraphicFramePr/>
          <p:nvPr/>
        </p:nvGraphicFramePr>
        <p:xfrm>
          <a:off x="822960" y="2103120"/>
          <a:ext cx="3383280" cy="2926080"/>
        </p:xfrm>
        <a:graphic xmlns:a="http://schemas.openxmlformats.org/drawingml/2006/main">
          <a:graphicData uri="http://schemas.openxmlformats.org/drawingml/2006/chart">
            <c:chart xmlns:c="http://schemas.openxmlformats.org/drawingml/2006/chart" r:id="rId3"/>
          </a:graphicData>
        </a:graphic>
      </p:graphicFrame>
      <p:sp>
        <p:nvSpPr>
          <p:cNvPr id="19" name="Text 13"/>
          <p:cNvSpPr txBox="1"/>
          <p:nvPr/>
        </p:nvSpPr>
        <p:spPr>
          <a:xfrm>
            <a:off x="1828800" y="3063240"/>
            <a:ext cx="1371600" cy="548640"/>
          </a:xfrm>
          <a:prstGeom prst="rect">
            <a:avLst/>
          </a:prstGeom>
          <a:noFill/>
          <a:ln/>
        </p:spPr>
        <p:txBody>
          <a:bodyPr wrap="square" lIns="0" tIns="0" rIns="0" bIns="0" rtlCol="0" anchor="ctr"/>
          <a:lstStyle/>
          <a:p>
            <a:pPr algn="ctr" indent="0" marL="0">
              <a:buNone/>
            </a:pPr>
            <a:r>
              <a:rPr lang="ar-SA" altLang="en-US" sz="3000" b="1" dirty="0">
                <a:solidFill>
                  <a:srgbClr val="06305C"/>
                </a:solidFill>
                <a:latin typeface="JF Flat" pitchFamily="34" charset="0"/>
                <a:ea typeface="JF Flat" pitchFamily="34" charset="-122"/>
                <a:cs typeface="JF Flat" pitchFamily="34" charset="-120"/>
              </a:rPr>
              <a:t>57.9</a:t>
            </a:r>
            <a:endParaRPr lang="ar-SA" sz="3000" dirty="0"/>
          </a:p>
        </p:txBody>
      </p:sp>
      <p:sp>
        <p:nvSpPr>
          <p:cNvPr id="20" name="Text 14"/>
          <p:cNvSpPr txBox="1"/>
          <p:nvPr/>
        </p:nvSpPr>
        <p:spPr>
          <a:xfrm>
            <a:off x="1828800" y="3611880"/>
            <a:ext cx="1371600" cy="27432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مليون دولار</a:t>
            </a:r>
            <a:endParaRPr lang="ar-SA" sz="1200" dirty="0"/>
          </a:p>
        </p:txBody>
      </p:sp>
      <p:sp>
        <p:nvSpPr>
          <p:cNvPr id="21" name="Shape 15"/>
          <p:cNvSpPr/>
          <p:nvPr/>
        </p:nvSpPr>
        <p:spPr>
          <a:xfrm>
            <a:off x="3840480" y="5212080"/>
            <a:ext cx="164592" cy="164592"/>
          </a:xfrm>
          <a:prstGeom prst="ellipse">
            <a:avLst/>
          </a:prstGeom>
          <a:solidFill>
            <a:srgbClr val="F15524"/>
          </a:solidFill>
          <a:ln w="12700">
            <a:solidFill>
              <a:srgbClr val="F15524"/>
            </a:solidFill>
            <a:prstDash val="solid"/>
          </a:ln>
        </p:spPr>
      </p:sp>
      <p:sp>
        <p:nvSpPr>
          <p:cNvPr id="22" name="Text 16"/>
          <p:cNvSpPr txBox="1"/>
          <p:nvPr/>
        </p:nvSpPr>
        <p:spPr>
          <a:xfrm>
            <a:off x="2377440" y="5120640"/>
            <a:ext cx="1371600" cy="347472"/>
          </a:xfrm>
          <a:prstGeom prst="rect">
            <a:avLst/>
          </a:prstGeom>
          <a:noFill/>
          <a:ln/>
        </p:spPr>
        <p:txBody>
          <a:bodyPr wrap="square" lIns="0" tIns="0" rIns="0" bIns="0" rtlCol="0" anchor="ctr"/>
          <a:lstStyle/>
          <a:p>
            <a:pPr rtl="1" algn="r" indent="0" marL="0">
              <a:buNone/>
            </a:pPr>
            <a:r>
              <a:rPr lang="ar-SA" altLang="en-US" sz="1300" b="1" dirty="0">
                <a:solidFill>
                  <a:srgbClr val="1F2937"/>
                </a:solidFill>
                <a:latin typeface="JF Flat" pitchFamily="34" charset="0"/>
                <a:ea typeface="JF Flat" pitchFamily="34" charset="-122"/>
                <a:cs typeface="JF Flat" pitchFamily="34" charset="-120"/>
              </a:rPr>
              <a:t>المرحلة الأولى</a:t>
            </a:r>
            <a:endParaRPr lang="ar-SA" sz="1300" dirty="0"/>
          </a:p>
        </p:txBody>
      </p:sp>
      <p:sp>
        <p:nvSpPr>
          <p:cNvPr id="23" name="Text 17"/>
          <p:cNvSpPr txBox="1"/>
          <p:nvPr/>
        </p:nvSpPr>
        <p:spPr>
          <a:xfrm>
            <a:off x="914400" y="5120640"/>
            <a:ext cx="1417320" cy="347472"/>
          </a:xfrm>
          <a:prstGeom prst="rect">
            <a:avLst/>
          </a:prstGeom>
          <a:noFill/>
          <a:ln/>
        </p:spPr>
        <p:txBody>
          <a:bodyPr wrap="square" lIns="0" tIns="0" rIns="0" bIns="0" rtlCol="0" anchor="ctr"/>
          <a:lstStyle/>
          <a:p>
            <a:pPr rtl="1" algn="l" indent="0" marL="0">
              <a:buNone/>
            </a:pPr>
            <a:r>
              <a:rPr lang="ar-SA" altLang="en-US" sz="1300" dirty="0">
                <a:solidFill>
                  <a:srgbClr val="5B6B7F"/>
                </a:solidFill>
                <a:latin typeface="JF Flat" pitchFamily="34" charset="0"/>
                <a:ea typeface="JF Flat" pitchFamily="34" charset="-122"/>
                <a:cs typeface="JF Flat" pitchFamily="34" charset="-120"/>
              </a:rPr>
              <a:t>43.9 مليون $</a:t>
            </a:r>
            <a:endParaRPr lang="ar-SA" sz="1300" dirty="0"/>
          </a:p>
        </p:txBody>
      </p:sp>
      <p:sp>
        <p:nvSpPr>
          <p:cNvPr id="24" name="Shape 18"/>
          <p:cNvSpPr/>
          <p:nvPr/>
        </p:nvSpPr>
        <p:spPr>
          <a:xfrm>
            <a:off x="3840480" y="5623560"/>
            <a:ext cx="164592" cy="164592"/>
          </a:xfrm>
          <a:prstGeom prst="ellipse">
            <a:avLst/>
          </a:prstGeom>
          <a:solidFill>
            <a:srgbClr val="00539B"/>
          </a:solidFill>
          <a:ln w="12700">
            <a:solidFill>
              <a:srgbClr val="00539B"/>
            </a:solidFill>
            <a:prstDash val="solid"/>
          </a:ln>
        </p:spPr>
      </p:sp>
      <p:sp>
        <p:nvSpPr>
          <p:cNvPr id="25" name="Text 19"/>
          <p:cNvSpPr txBox="1"/>
          <p:nvPr/>
        </p:nvSpPr>
        <p:spPr>
          <a:xfrm>
            <a:off x="2377440" y="5532120"/>
            <a:ext cx="1371600" cy="347472"/>
          </a:xfrm>
          <a:prstGeom prst="rect">
            <a:avLst/>
          </a:prstGeom>
          <a:noFill/>
          <a:ln/>
        </p:spPr>
        <p:txBody>
          <a:bodyPr wrap="square" lIns="0" tIns="0" rIns="0" bIns="0" rtlCol="0" anchor="ctr"/>
          <a:lstStyle/>
          <a:p>
            <a:pPr rtl="1" algn="r" indent="0" marL="0">
              <a:buNone/>
            </a:pPr>
            <a:r>
              <a:rPr lang="ar-SA" altLang="en-US" sz="1300" b="1" dirty="0">
                <a:solidFill>
                  <a:srgbClr val="1F2937"/>
                </a:solidFill>
                <a:latin typeface="JF Flat" pitchFamily="34" charset="0"/>
                <a:ea typeface="JF Flat" pitchFamily="34" charset="-122"/>
                <a:cs typeface="JF Flat" pitchFamily="34" charset="-120"/>
              </a:rPr>
              <a:t>المرحلة الثانية</a:t>
            </a:r>
            <a:endParaRPr lang="ar-SA" sz="1300" dirty="0"/>
          </a:p>
        </p:txBody>
      </p:sp>
      <p:sp>
        <p:nvSpPr>
          <p:cNvPr id="26" name="Text 20"/>
          <p:cNvSpPr txBox="1"/>
          <p:nvPr/>
        </p:nvSpPr>
        <p:spPr>
          <a:xfrm>
            <a:off x="914400" y="5532120"/>
            <a:ext cx="1417320" cy="347472"/>
          </a:xfrm>
          <a:prstGeom prst="rect">
            <a:avLst/>
          </a:prstGeom>
          <a:noFill/>
          <a:ln/>
        </p:spPr>
        <p:txBody>
          <a:bodyPr wrap="square" lIns="0" tIns="0" rIns="0" bIns="0" rtlCol="0" anchor="ctr"/>
          <a:lstStyle/>
          <a:p>
            <a:pPr rtl="1" algn="l" indent="0" marL="0">
              <a:buNone/>
            </a:pPr>
            <a:r>
              <a:rPr lang="ar-SA" altLang="en-US" sz="1300" dirty="0">
                <a:solidFill>
                  <a:srgbClr val="5B6B7F"/>
                </a:solidFill>
                <a:latin typeface="JF Flat" pitchFamily="34" charset="0"/>
                <a:ea typeface="JF Flat" pitchFamily="34" charset="-122"/>
                <a:cs typeface="JF Flat" pitchFamily="34" charset="-120"/>
              </a:rPr>
              <a:t>14.0 مليون $</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04  |  التكاليف الرأسمالية (CAPEX)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أبرز مكونات الاستثمار الرأسمالي وخطة التنفيذ</a:t>
            </a:r>
            <a:endParaRPr lang="en-US" sz="3000" dirty="0"/>
          </a:p>
        </p:txBody>
      </p:sp>
      <p:sp>
        <p:nvSpPr>
          <p:cNvPr id="4" name="!!card0"/>
          <p:cNvSpPr/>
          <p:nvPr/>
        </p:nvSpPr>
        <p:spPr>
          <a:xfrm>
            <a:off x="9316517"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dot0"/>
          <p:cNvSpPr/>
          <p:nvPr/>
        </p:nvSpPr>
        <p:spPr>
          <a:xfrm>
            <a:off x="11021263" y="1764792"/>
            <a:ext cx="457200" cy="457200"/>
          </a:xfrm>
          <a:prstGeom prst="ellipse">
            <a:avLst/>
          </a:prstGeom>
          <a:solidFill>
            <a:srgbClr val="00539B"/>
          </a:solidFill>
          <a:ln w="12700">
            <a:solidFill>
              <a:srgbClr val="00539B"/>
            </a:solidFill>
            <a:prstDash val="solid"/>
          </a:ln>
        </p:spPr>
      </p:sp>
      <p:pic>
        <p:nvPicPr>
          <p:cNvPr id="6" name="!!ico0" descr="preencoded.png">    </p:cNvPr>
          <p:cNvPicPr>
            <a:picLocks noChangeAspect="1"/>
          </p:cNvPicPr>
          <p:nvPr/>
        </p:nvPicPr>
        <p:blipFill>
          <a:blip r:embed="rId1"/>
          <a:stretch>
            <a:fillRect/>
          </a:stretch>
        </p:blipFill>
        <p:spPr>
          <a:xfrm>
            <a:off x="11144707" y="1888236"/>
            <a:ext cx="210312" cy="210312"/>
          </a:xfrm>
          <a:prstGeom prst="rect">
            <a:avLst/>
          </a:prstGeom>
        </p:spPr>
      </p:pic>
      <p:sp>
        <p:nvSpPr>
          <p:cNvPr id="7" name="Text 4"/>
          <p:cNvSpPr txBox="1"/>
          <p:nvPr/>
        </p:nvSpPr>
        <p:spPr>
          <a:xfrm>
            <a:off x="9481109"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01</a:t>
            </a:r>
            <a:endParaRPr lang="ar-SA" sz="1800" dirty="0"/>
          </a:p>
        </p:txBody>
      </p:sp>
      <p:sp>
        <p:nvSpPr>
          <p:cNvPr id="8" name="Text 5"/>
          <p:cNvSpPr txBox="1"/>
          <p:nvPr/>
        </p:nvSpPr>
        <p:spPr>
          <a:xfrm>
            <a:off x="9481109"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الدراسات والتصميم الهندسي واعتماد التصميم.</a:t>
            </a:r>
            <a:endParaRPr lang="ar-SA" sz="1300" dirty="0"/>
          </a:p>
        </p:txBody>
      </p:sp>
      <p:sp>
        <p:nvSpPr>
          <p:cNvPr id="9" name="!!card1"/>
          <p:cNvSpPr/>
          <p:nvPr/>
        </p:nvSpPr>
        <p:spPr>
          <a:xfrm>
            <a:off x="6807098"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0" name="!!dot1"/>
          <p:cNvSpPr/>
          <p:nvPr/>
        </p:nvSpPr>
        <p:spPr>
          <a:xfrm>
            <a:off x="8511845" y="1764792"/>
            <a:ext cx="457200" cy="457200"/>
          </a:xfrm>
          <a:prstGeom prst="ellipse">
            <a:avLst/>
          </a:prstGeom>
          <a:solidFill>
            <a:srgbClr val="00539B"/>
          </a:solidFill>
          <a:ln w="12700">
            <a:solidFill>
              <a:srgbClr val="00539B"/>
            </a:solidFill>
            <a:prstDash val="solid"/>
          </a:ln>
        </p:spPr>
      </p:sp>
      <p:pic>
        <p:nvPicPr>
          <p:cNvPr id="11" name="!!ico1" descr="preencoded.png">    </p:cNvPr>
          <p:cNvPicPr>
            <a:picLocks noChangeAspect="1"/>
          </p:cNvPicPr>
          <p:nvPr/>
        </p:nvPicPr>
        <p:blipFill>
          <a:blip r:embed="rId2"/>
          <a:stretch>
            <a:fillRect/>
          </a:stretch>
        </p:blipFill>
        <p:spPr>
          <a:xfrm>
            <a:off x="8635289" y="1888236"/>
            <a:ext cx="210312" cy="210312"/>
          </a:xfrm>
          <a:prstGeom prst="rect">
            <a:avLst/>
          </a:prstGeom>
        </p:spPr>
      </p:pic>
      <p:sp>
        <p:nvSpPr>
          <p:cNvPr id="12" name="Text 8"/>
          <p:cNvSpPr txBox="1"/>
          <p:nvPr/>
        </p:nvSpPr>
        <p:spPr>
          <a:xfrm>
            <a:off x="6971690"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02</a:t>
            </a:r>
            <a:endParaRPr lang="ar-SA" sz="1800" dirty="0"/>
          </a:p>
        </p:txBody>
      </p:sp>
      <p:sp>
        <p:nvSpPr>
          <p:cNvPr id="13" name="Text 9"/>
          <p:cNvSpPr txBox="1"/>
          <p:nvPr/>
        </p:nvSpPr>
        <p:spPr>
          <a:xfrm>
            <a:off x="6971690"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المبنى والأعمال المدنية والمعمارية.</a:t>
            </a:r>
            <a:endParaRPr lang="ar-SA" sz="1300" dirty="0"/>
          </a:p>
        </p:txBody>
      </p:sp>
      <p:sp>
        <p:nvSpPr>
          <p:cNvPr id="14" name="!!card2"/>
          <p:cNvSpPr/>
          <p:nvPr/>
        </p:nvSpPr>
        <p:spPr>
          <a:xfrm>
            <a:off x="4297680" y="160020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5" name="!!dot2"/>
          <p:cNvSpPr/>
          <p:nvPr/>
        </p:nvSpPr>
        <p:spPr>
          <a:xfrm>
            <a:off x="6002426" y="1764792"/>
            <a:ext cx="457200" cy="457200"/>
          </a:xfrm>
          <a:prstGeom prst="ellipse">
            <a:avLst/>
          </a:prstGeom>
          <a:solidFill>
            <a:srgbClr val="00539B"/>
          </a:solidFill>
          <a:ln w="12700">
            <a:solidFill>
              <a:srgbClr val="00539B"/>
            </a:solidFill>
            <a:prstDash val="solid"/>
          </a:ln>
        </p:spPr>
      </p:sp>
      <p:pic>
        <p:nvPicPr>
          <p:cNvPr id="16" name="!!ico2" descr="preencoded.png">    </p:cNvPr>
          <p:cNvPicPr>
            <a:picLocks noChangeAspect="1"/>
          </p:cNvPicPr>
          <p:nvPr/>
        </p:nvPicPr>
        <p:blipFill>
          <a:blip r:embed="rId3"/>
          <a:stretch>
            <a:fillRect/>
          </a:stretch>
        </p:blipFill>
        <p:spPr>
          <a:xfrm>
            <a:off x="6125870" y="1888236"/>
            <a:ext cx="210312" cy="210312"/>
          </a:xfrm>
          <a:prstGeom prst="rect">
            <a:avLst/>
          </a:prstGeom>
        </p:spPr>
      </p:pic>
      <p:sp>
        <p:nvSpPr>
          <p:cNvPr id="17" name="Text 12"/>
          <p:cNvSpPr txBox="1"/>
          <p:nvPr/>
        </p:nvSpPr>
        <p:spPr>
          <a:xfrm>
            <a:off x="4462272" y="176479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03</a:t>
            </a:r>
            <a:endParaRPr lang="ar-SA" sz="1800" dirty="0"/>
          </a:p>
        </p:txBody>
      </p:sp>
      <p:sp>
        <p:nvSpPr>
          <p:cNvPr id="18" name="Text 13"/>
          <p:cNvSpPr txBox="1"/>
          <p:nvPr/>
        </p:nvSpPr>
        <p:spPr>
          <a:xfrm>
            <a:off x="4462272" y="228600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الكهرباء والتوزيع وأنظمة الطاقة غير المنقطعة (UPS) والمولدات.</a:t>
            </a:r>
            <a:endParaRPr lang="ar-SA" sz="1300" dirty="0"/>
          </a:p>
        </p:txBody>
      </p:sp>
      <p:sp>
        <p:nvSpPr>
          <p:cNvPr id="19" name="!!card3"/>
          <p:cNvSpPr/>
          <p:nvPr/>
        </p:nvSpPr>
        <p:spPr>
          <a:xfrm>
            <a:off x="9316517"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0" name="!!dot3"/>
          <p:cNvSpPr/>
          <p:nvPr/>
        </p:nvSpPr>
        <p:spPr>
          <a:xfrm>
            <a:off x="11021263" y="3334512"/>
            <a:ext cx="457200" cy="457200"/>
          </a:xfrm>
          <a:prstGeom prst="ellipse">
            <a:avLst/>
          </a:prstGeom>
          <a:solidFill>
            <a:srgbClr val="F15524"/>
          </a:solidFill>
          <a:ln w="12700">
            <a:solidFill>
              <a:srgbClr val="F15524"/>
            </a:solidFill>
            <a:prstDash val="solid"/>
          </a:ln>
        </p:spPr>
      </p:sp>
      <p:pic>
        <p:nvPicPr>
          <p:cNvPr id="21" name="!!ico3" descr="preencoded.png">    </p:cNvPr>
          <p:cNvPicPr>
            <a:picLocks noChangeAspect="1"/>
          </p:cNvPicPr>
          <p:nvPr/>
        </p:nvPicPr>
        <p:blipFill>
          <a:blip r:embed="rId4"/>
          <a:stretch>
            <a:fillRect/>
          </a:stretch>
        </p:blipFill>
        <p:spPr>
          <a:xfrm>
            <a:off x="11144707" y="3457956"/>
            <a:ext cx="210312" cy="210312"/>
          </a:xfrm>
          <a:prstGeom prst="rect">
            <a:avLst/>
          </a:prstGeom>
        </p:spPr>
      </p:pic>
      <p:sp>
        <p:nvSpPr>
          <p:cNvPr id="22" name="Text 16"/>
          <p:cNvSpPr txBox="1"/>
          <p:nvPr/>
        </p:nvSpPr>
        <p:spPr>
          <a:xfrm>
            <a:off x="9481109"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04</a:t>
            </a:r>
            <a:endParaRPr lang="ar-SA" sz="1800" dirty="0"/>
          </a:p>
        </p:txBody>
      </p:sp>
      <p:sp>
        <p:nvSpPr>
          <p:cNvPr id="23" name="Text 17"/>
          <p:cNvSpPr txBox="1"/>
          <p:nvPr/>
        </p:nvSpPr>
        <p:spPr>
          <a:xfrm>
            <a:off x="9481109"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أنظمة التبريد والحريق والأمن والمراقبة.</a:t>
            </a:r>
            <a:endParaRPr lang="ar-SA" sz="1300" dirty="0"/>
          </a:p>
        </p:txBody>
      </p:sp>
      <p:sp>
        <p:nvSpPr>
          <p:cNvPr id="24" name="!!card4"/>
          <p:cNvSpPr/>
          <p:nvPr/>
        </p:nvSpPr>
        <p:spPr>
          <a:xfrm>
            <a:off x="6807098"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5" name="!!dot4"/>
          <p:cNvSpPr/>
          <p:nvPr/>
        </p:nvSpPr>
        <p:spPr>
          <a:xfrm>
            <a:off x="8511845" y="3334512"/>
            <a:ext cx="457200" cy="457200"/>
          </a:xfrm>
          <a:prstGeom prst="ellipse">
            <a:avLst/>
          </a:prstGeom>
          <a:solidFill>
            <a:srgbClr val="F15524"/>
          </a:solidFill>
          <a:ln w="12700">
            <a:solidFill>
              <a:srgbClr val="F15524"/>
            </a:solidFill>
            <a:prstDash val="solid"/>
          </a:ln>
        </p:spPr>
      </p:sp>
      <p:pic>
        <p:nvPicPr>
          <p:cNvPr id="26" name="!!ico4" descr="preencoded.png">    </p:cNvPr>
          <p:cNvPicPr>
            <a:picLocks noChangeAspect="1"/>
          </p:cNvPicPr>
          <p:nvPr/>
        </p:nvPicPr>
        <p:blipFill>
          <a:blip r:embed="rId5"/>
          <a:stretch>
            <a:fillRect/>
          </a:stretch>
        </p:blipFill>
        <p:spPr>
          <a:xfrm>
            <a:off x="8635289" y="3457956"/>
            <a:ext cx="210312" cy="210312"/>
          </a:xfrm>
          <a:prstGeom prst="rect">
            <a:avLst/>
          </a:prstGeom>
        </p:spPr>
      </p:pic>
      <p:sp>
        <p:nvSpPr>
          <p:cNvPr id="27" name="Text 20"/>
          <p:cNvSpPr txBox="1"/>
          <p:nvPr/>
        </p:nvSpPr>
        <p:spPr>
          <a:xfrm>
            <a:off x="6971690"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05</a:t>
            </a:r>
            <a:endParaRPr lang="ar-SA" sz="1800" dirty="0"/>
          </a:p>
        </p:txBody>
      </p:sp>
      <p:sp>
        <p:nvSpPr>
          <p:cNvPr id="28" name="Text 21"/>
          <p:cNvSpPr txBox="1"/>
          <p:nvPr/>
        </p:nvSpPr>
        <p:spPr>
          <a:xfrm>
            <a:off x="6971690"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أنظمة إدارة المبنى ومركز البيانات (BMS/DCIM).</a:t>
            </a:r>
            <a:endParaRPr lang="ar-SA" sz="1300" dirty="0"/>
          </a:p>
        </p:txBody>
      </p:sp>
      <p:sp>
        <p:nvSpPr>
          <p:cNvPr id="29" name="!!card5"/>
          <p:cNvSpPr/>
          <p:nvPr/>
        </p:nvSpPr>
        <p:spPr>
          <a:xfrm>
            <a:off x="4297680" y="316992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0" name="!!dot5"/>
          <p:cNvSpPr/>
          <p:nvPr/>
        </p:nvSpPr>
        <p:spPr>
          <a:xfrm>
            <a:off x="6002426" y="3334512"/>
            <a:ext cx="457200" cy="457200"/>
          </a:xfrm>
          <a:prstGeom prst="ellipse">
            <a:avLst/>
          </a:prstGeom>
          <a:solidFill>
            <a:srgbClr val="F15524"/>
          </a:solidFill>
          <a:ln w="12700">
            <a:solidFill>
              <a:srgbClr val="F15524"/>
            </a:solidFill>
            <a:prstDash val="solid"/>
          </a:ln>
        </p:spPr>
      </p:sp>
      <p:pic>
        <p:nvPicPr>
          <p:cNvPr id="31" name="!!ico5" descr="preencoded.png">    </p:cNvPr>
          <p:cNvPicPr>
            <a:picLocks noChangeAspect="1"/>
          </p:cNvPicPr>
          <p:nvPr/>
        </p:nvPicPr>
        <p:blipFill>
          <a:blip r:embed="rId6"/>
          <a:stretch>
            <a:fillRect/>
          </a:stretch>
        </p:blipFill>
        <p:spPr>
          <a:xfrm>
            <a:off x="6125870" y="3457956"/>
            <a:ext cx="210312" cy="210312"/>
          </a:xfrm>
          <a:prstGeom prst="rect">
            <a:avLst/>
          </a:prstGeom>
        </p:spPr>
      </p:pic>
      <p:sp>
        <p:nvSpPr>
          <p:cNvPr id="32" name="Text 24"/>
          <p:cNvSpPr txBox="1"/>
          <p:nvPr/>
        </p:nvSpPr>
        <p:spPr>
          <a:xfrm>
            <a:off x="4462272" y="333451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06</a:t>
            </a:r>
            <a:endParaRPr lang="ar-SA" sz="1800" dirty="0"/>
          </a:p>
        </p:txBody>
      </p:sp>
      <p:sp>
        <p:nvSpPr>
          <p:cNvPr id="33" name="Text 25"/>
          <p:cNvSpPr txBox="1"/>
          <p:nvPr/>
        </p:nvSpPr>
        <p:spPr>
          <a:xfrm>
            <a:off x="4462272" y="385572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البنية الشبكية والألياف والرفوف والتوزيع الداخلي.</a:t>
            </a:r>
            <a:endParaRPr lang="ar-SA" sz="1300" dirty="0"/>
          </a:p>
        </p:txBody>
      </p:sp>
      <p:sp>
        <p:nvSpPr>
          <p:cNvPr id="34" name="!!card6"/>
          <p:cNvSpPr/>
          <p:nvPr/>
        </p:nvSpPr>
        <p:spPr>
          <a:xfrm>
            <a:off x="9316517"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5" name="!!dot6"/>
          <p:cNvSpPr/>
          <p:nvPr/>
        </p:nvSpPr>
        <p:spPr>
          <a:xfrm>
            <a:off x="11021263" y="4904232"/>
            <a:ext cx="457200" cy="457200"/>
          </a:xfrm>
          <a:prstGeom prst="ellipse">
            <a:avLst/>
          </a:prstGeom>
          <a:solidFill>
            <a:srgbClr val="00539B"/>
          </a:solidFill>
          <a:ln w="12700">
            <a:solidFill>
              <a:srgbClr val="00539B"/>
            </a:solidFill>
            <a:prstDash val="solid"/>
          </a:ln>
        </p:spPr>
      </p:sp>
      <p:pic>
        <p:nvPicPr>
          <p:cNvPr id="36" name="!!ico6" descr="preencoded.png">    </p:cNvPr>
          <p:cNvPicPr>
            <a:picLocks noChangeAspect="1"/>
          </p:cNvPicPr>
          <p:nvPr/>
        </p:nvPicPr>
        <p:blipFill>
          <a:blip r:embed="rId7"/>
          <a:stretch>
            <a:fillRect/>
          </a:stretch>
        </p:blipFill>
        <p:spPr>
          <a:xfrm>
            <a:off x="11144707" y="5027676"/>
            <a:ext cx="210312" cy="210312"/>
          </a:xfrm>
          <a:prstGeom prst="rect">
            <a:avLst/>
          </a:prstGeom>
        </p:spPr>
      </p:pic>
      <p:sp>
        <p:nvSpPr>
          <p:cNvPr id="37" name="Text 28"/>
          <p:cNvSpPr txBox="1"/>
          <p:nvPr/>
        </p:nvSpPr>
        <p:spPr>
          <a:xfrm>
            <a:off x="9481109"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07</a:t>
            </a:r>
            <a:endParaRPr lang="ar-SA" sz="1800" dirty="0"/>
          </a:p>
        </p:txBody>
      </p:sp>
      <p:sp>
        <p:nvSpPr>
          <p:cNvPr id="38" name="Text 29"/>
          <p:cNvSpPr txBox="1"/>
          <p:nvPr/>
        </p:nvSpPr>
        <p:spPr>
          <a:xfrm>
            <a:off x="9481109"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أنظمة الأمن السيبراني والحوسبة السحابية.</a:t>
            </a:r>
            <a:endParaRPr lang="ar-SA" sz="1300" dirty="0"/>
          </a:p>
        </p:txBody>
      </p:sp>
      <p:sp>
        <p:nvSpPr>
          <p:cNvPr id="39" name="!!card7"/>
          <p:cNvSpPr/>
          <p:nvPr/>
        </p:nvSpPr>
        <p:spPr>
          <a:xfrm>
            <a:off x="6807098"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0" name="!!dot7"/>
          <p:cNvSpPr/>
          <p:nvPr/>
        </p:nvSpPr>
        <p:spPr>
          <a:xfrm>
            <a:off x="8511845" y="4904232"/>
            <a:ext cx="457200" cy="457200"/>
          </a:xfrm>
          <a:prstGeom prst="ellipse">
            <a:avLst/>
          </a:prstGeom>
          <a:solidFill>
            <a:srgbClr val="00539B"/>
          </a:solidFill>
          <a:ln w="12700">
            <a:solidFill>
              <a:srgbClr val="00539B"/>
            </a:solidFill>
            <a:prstDash val="solid"/>
          </a:ln>
        </p:spPr>
      </p:sp>
      <p:pic>
        <p:nvPicPr>
          <p:cNvPr id="41" name="!!ico7" descr="preencoded.png">    </p:cNvPr>
          <p:cNvPicPr>
            <a:picLocks noChangeAspect="1"/>
          </p:cNvPicPr>
          <p:nvPr/>
        </p:nvPicPr>
        <p:blipFill>
          <a:blip r:embed="rId8"/>
          <a:stretch>
            <a:fillRect/>
          </a:stretch>
        </p:blipFill>
        <p:spPr>
          <a:xfrm>
            <a:off x="8635289" y="5027676"/>
            <a:ext cx="210312" cy="210312"/>
          </a:xfrm>
          <a:prstGeom prst="rect">
            <a:avLst/>
          </a:prstGeom>
        </p:spPr>
      </p:pic>
      <p:sp>
        <p:nvSpPr>
          <p:cNvPr id="42" name="Text 32"/>
          <p:cNvSpPr txBox="1"/>
          <p:nvPr/>
        </p:nvSpPr>
        <p:spPr>
          <a:xfrm>
            <a:off x="6971690"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08</a:t>
            </a:r>
            <a:endParaRPr lang="ar-SA" sz="1800" dirty="0"/>
          </a:p>
        </p:txBody>
      </p:sp>
      <p:sp>
        <p:nvSpPr>
          <p:cNvPr id="43" name="Text 33"/>
          <p:cNvSpPr txBox="1"/>
          <p:nvPr/>
        </p:nvSpPr>
        <p:spPr>
          <a:xfrm>
            <a:off x="6971690"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التراخيص والاعتمادات والتركيب والاختبارات والتدريب.</a:t>
            </a:r>
            <a:endParaRPr lang="ar-SA" sz="1300" dirty="0"/>
          </a:p>
        </p:txBody>
      </p:sp>
      <p:sp>
        <p:nvSpPr>
          <p:cNvPr id="44" name="!!card8"/>
          <p:cNvSpPr/>
          <p:nvPr/>
        </p:nvSpPr>
        <p:spPr>
          <a:xfrm>
            <a:off x="4297680" y="4739640"/>
            <a:ext cx="2326538" cy="1386840"/>
          </a:xfrm>
          <a:prstGeom prst="roundRect">
            <a:avLst>
              <a:gd name="adj" fmla="val 6593"/>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5" name="!!dot8"/>
          <p:cNvSpPr/>
          <p:nvPr/>
        </p:nvSpPr>
        <p:spPr>
          <a:xfrm>
            <a:off x="6002426" y="4904232"/>
            <a:ext cx="457200" cy="457200"/>
          </a:xfrm>
          <a:prstGeom prst="ellipse">
            <a:avLst/>
          </a:prstGeom>
          <a:solidFill>
            <a:srgbClr val="00539B"/>
          </a:solidFill>
          <a:ln w="12700">
            <a:solidFill>
              <a:srgbClr val="00539B"/>
            </a:solidFill>
            <a:prstDash val="solid"/>
          </a:ln>
        </p:spPr>
      </p:sp>
      <p:pic>
        <p:nvPicPr>
          <p:cNvPr id="46" name="!!ico8" descr="preencoded.png">    </p:cNvPr>
          <p:cNvPicPr>
            <a:picLocks noChangeAspect="1"/>
          </p:cNvPicPr>
          <p:nvPr/>
        </p:nvPicPr>
        <p:blipFill>
          <a:blip r:embed="rId9"/>
          <a:stretch>
            <a:fillRect/>
          </a:stretch>
        </p:blipFill>
        <p:spPr>
          <a:xfrm>
            <a:off x="6125870" y="5027676"/>
            <a:ext cx="210312" cy="210312"/>
          </a:xfrm>
          <a:prstGeom prst="rect">
            <a:avLst/>
          </a:prstGeom>
        </p:spPr>
      </p:pic>
      <p:sp>
        <p:nvSpPr>
          <p:cNvPr id="47" name="Text 36"/>
          <p:cNvSpPr txBox="1"/>
          <p:nvPr/>
        </p:nvSpPr>
        <p:spPr>
          <a:xfrm>
            <a:off x="4462272" y="4904232"/>
            <a:ext cx="731520" cy="457200"/>
          </a:xfrm>
          <a:prstGeom prst="rect">
            <a:avLst/>
          </a:prstGeom>
          <a:noFill/>
          <a:ln/>
        </p:spPr>
        <p:txBody>
          <a:bodyPr wrap="square" lIns="0" tIns="0" rIns="0" bIns="0" rtlCol="0" anchor="ctr"/>
          <a:lstStyle/>
          <a:p>
            <a:pPr algn="l" indent="0" marL="0">
              <a:buNone/>
            </a:pPr>
            <a:r>
              <a:rPr lang="ar-SA" altLang="en-US" sz="1800" b="1" dirty="0">
                <a:solidFill>
                  <a:srgbClr val="D9E3EF"/>
                </a:solidFill>
                <a:latin typeface="JF Flat" pitchFamily="34" charset="0"/>
                <a:ea typeface="JF Flat" pitchFamily="34" charset="-122"/>
                <a:cs typeface="JF Flat" pitchFamily="34" charset="-120"/>
              </a:rPr>
              <a:t>09</a:t>
            </a:r>
            <a:endParaRPr lang="ar-SA" sz="1800" dirty="0"/>
          </a:p>
        </p:txBody>
      </p:sp>
      <p:sp>
        <p:nvSpPr>
          <p:cNvPr id="48" name="Text 37"/>
          <p:cNvSpPr txBox="1"/>
          <p:nvPr/>
        </p:nvSpPr>
        <p:spPr>
          <a:xfrm>
            <a:off x="4462272" y="5425440"/>
            <a:ext cx="1997354" cy="609600"/>
          </a:xfrm>
          <a:prstGeom prst="rect">
            <a:avLst/>
          </a:prstGeom>
          <a:noFill/>
          <a:ln/>
        </p:spPr>
        <p:txBody>
          <a:bodyPr wrap="square" lIns="0" tIns="0" rIns="0" bIns="0" rtlCol="0" anchor="ctr"/>
          <a:lstStyle/>
          <a:p>
            <a:pPr rtl="1" algn="r" indent="0" marL="0">
              <a:buNone/>
            </a:pPr>
            <a:r>
              <a:rPr lang="ar-SA" altLang="en-US" sz="1300" b="1" dirty="0">
                <a:solidFill>
                  <a:srgbClr val="06305C"/>
                </a:solidFill>
                <a:latin typeface="JF Flat" pitchFamily="34" charset="0"/>
                <a:ea typeface="JF Flat" pitchFamily="34" charset="-122"/>
                <a:cs typeface="JF Flat" pitchFamily="34" charset="-120"/>
              </a:rPr>
              <a:t>إدارة المشروع والاحتياطي المالي.</a:t>
            </a:r>
            <a:endParaRPr lang="ar-SA" sz="1300" dirty="0"/>
          </a:p>
        </p:txBody>
      </p:sp>
      <p:sp>
        <p:nvSpPr>
          <p:cNvPr id="49" name="!!card9"/>
          <p:cNvSpPr/>
          <p:nvPr/>
        </p:nvSpPr>
        <p:spPr>
          <a:xfrm>
            <a:off x="548640" y="1600200"/>
            <a:ext cx="3474720" cy="4526280"/>
          </a:xfrm>
          <a:prstGeom prst="roundRect">
            <a:avLst>
              <a:gd name="adj" fmla="val 2632"/>
            </a:avLst>
          </a:prstGeom>
          <a:solidFill>
            <a:srgbClr val="06305C"/>
          </a:solidFill>
          <a:ln w="12700">
            <a:solidFill>
              <a:srgbClr val="06305C"/>
            </a:solidFill>
            <a:prstDash val="solid"/>
          </a:ln>
          <a:effectLst>
            <a:outerShdw sx="100000" sy="100000" kx="0" ky="0" algn="bl" rotWithShape="0" blurRad="127000" dist="38100" dir="5400000">
              <a:srgbClr val="1F3A5F">
                <a:alpha val="13000"/>
              </a:srgbClr>
            </a:outerShdw>
          </a:effectLst>
        </p:spPr>
      </p:sp>
      <p:pic>
        <p:nvPicPr>
          <p:cNvPr id="50" name="Image 9" descr="preencoded.png">    </p:cNvPr>
          <p:cNvPicPr>
            <a:picLocks noChangeAspect="1"/>
          </p:cNvPicPr>
          <p:nvPr/>
        </p:nvPicPr>
        <p:blipFill>
          <a:blip r:embed="rId10"/>
          <a:stretch>
            <a:fillRect/>
          </a:stretch>
        </p:blipFill>
        <p:spPr>
          <a:xfrm>
            <a:off x="1920240" y="1874520"/>
            <a:ext cx="731520" cy="731520"/>
          </a:xfrm>
          <a:prstGeom prst="rect">
            <a:avLst/>
          </a:prstGeom>
        </p:spPr>
      </p:pic>
      <p:sp>
        <p:nvSpPr>
          <p:cNvPr id="51" name="Text 39"/>
          <p:cNvSpPr txBox="1"/>
          <p:nvPr/>
        </p:nvSpPr>
        <p:spPr>
          <a:xfrm>
            <a:off x="822960" y="2743200"/>
            <a:ext cx="2926080" cy="365760"/>
          </a:xfrm>
          <a:prstGeom prst="rect">
            <a:avLst/>
          </a:prstGeom>
          <a:noFill/>
          <a:ln/>
        </p:spPr>
        <p:txBody>
          <a:bodyPr wrap="square" lIns="0" tIns="0" rIns="0" bIns="0" rtlCol="0" anchor="t"/>
          <a:lstStyle/>
          <a:p>
            <a:pPr rtl="1" algn="ctr" indent="0" marL="0">
              <a:buNone/>
            </a:pPr>
            <a:r>
              <a:rPr lang="ar-SA" altLang="en-US" sz="1800" b="1" dirty="0">
                <a:solidFill>
                  <a:srgbClr val="FFFFFF"/>
                </a:solidFill>
                <a:latin typeface="JF Flat" pitchFamily="34" charset="0"/>
                <a:ea typeface="JF Flat" pitchFamily="34" charset="-122"/>
                <a:cs typeface="JF Flat" pitchFamily="34" charset="-120"/>
              </a:rPr>
              <a:t>خطة التنفيذ</a:t>
            </a:r>
            <a:endParaRPr lang="ar-SA" sz="1800" dirty="0"/>
          </a:p>
        </p:txBody>
      </p:sp>
      <p:sp>
        <p:nvSpPr>
          <p:cNvPr id="52" name="Text 40"/>
          <p:cNvSpPr txBox="1"/>
          <p:nvPr/>
        </p:nvSpPr>
        <p:spPr>
          <a:xfrm>
            <a:off x="822960" y="3108960"/>
            <a:ext cx="2926080" cy="822960"/>
          </a:xfrm>
          <a:prstGeom prst="rect">
            <a:avLst/>
          </a:prstGeom>
          <a:noFill/>
          <a:ln/>
        </p:spPr>
        <p:txBody>
          <a:bodyPr wrap="square" lIns="0" tIns="0" rIns="0" bIns="0" rtlCol="0" anchor="ctr"/>
          <a:lstStyle/>
          <a:p>
            <a:pPr algn="ctr" indent="0" marL="0">
              <a:buNone/>
            </a:pPr>
            <a:r>
              <a:rPr lang="ar-SA" altLang="en-US" sz="5200" b="1" dirty="0">
                <a:solidFill>
                  <a:srgbClr val="F15524"/>
                </a:solidFill>
                <a:latin typeface="JF Flat" pitchFamily="34" charset="0"/>
                <a:ea typeface="JF Flat" pitchFamily="34" charset="-122"/>
                <a:cs typeface="JF Flat" pitchFamily="34" charset="-120"/>
              </a:rPr>
              <a:t>18–24</a:t>
            </a:r>
            <a:endParaRPr lang="ar-SA" sz="5200" dirty="0"/>
          </a:p>
        </p:txBody>
      </p:sp>
      <p:sp>
        <p:nvSpPr>
          <p:cNvPr id="53" name="Text 41"/>
          <p:cNvSpPr txBox="1"/>
          <p:nvPr/>
        </p:nvSpPr>
        <p:spPr>
          <a:xfrm>
            <a:off x="822960" y="3931920"/>
            <a:ext cx="2926080" cy="365760"/>
          </a:xfrm>
          <a:prstGeom prst="rect">
            <a:avLst/>
          </a:prstGeom>
          <a:noFill/>
          <a:ln/>
        </p:spPr>
        <p:txBody>
          <a:bodyPr wrap="square" lIns="0" tIns="0" rIns="0" bIns="0" rtlCol="0" anchor="t"/>
          <a:lstStyle/>
          <a:p>
            <a:pPr rtl="1" algn="ctr" indent="0" marL="0">
              <a:buNone/>
            </a:pPr>
            <a:r>
              <a:rPr lang="ar-SA" altLang="en-US" sz="1500" b="1" dirty="0">
                <a:solidFill>
                  <a:srgbClr val="FFFFFF"/>
                </a:solidFill>
                <a:latin typeface="JF Flat" pitchFamily="34" charset="0"/>
                <a:ea typeface="JF Flat" pitchFamily="34" charset="-122"/>
                <a:cs typeface="JF Flat" pitchFamily="34" charset="-120"/>
              </a:rPr>
              <a:t>شهراً لتشغيل المرحلة الأولى</a:t>
            </a:r>
            <a:endParaRPr lang="ar-SA" sz="1500" dirty="0"/>
          </a:p>
        </p:txBody>
      </p:sp>
      <p:sp>
        <p:nvSpPr>
          <p:cNvPr id="54" name="Text 42"/>
          <p:cNvSpPr txBox="1"/>
          <p:nvPr/>
        </p:nvSpPr>
        <p:spPr>
          <a:xfrm>
            <a:off x="868680" y="4434840"/>
            <a:ext cx="2834640" cy="1463040"/>
          </a:xfrm>
          <a:prstGeom prst="rect">
            <a:avLst/>
          </a:prstGeom>
          <a:noFill/>
          <a:ln/>
        </p:spPr>
        <p:txBody>
          <a:bodyPr wrap="square" lIns="0" tIns="0" rIns="0" bIns="0" rtlCol="0" anchor="t"/>
          <a:lstStyle/>
          <a:p>
            <a:pPr rtl="1" algn="ctr" indent="0" marL="0">
              <a:lnSpc>
                <a:spcPct val="115000"/>
              </a:lnSpc>
              <a:buNone/>
            </a:pPr>
            <a:r>
              <a:rPr lang="ar-SA" altLang="en-US" sz="1300" dirty="0">
                <a:solidFill>
                  <a:srgbClr val="C9DAEE"/>
                </a:solidFill>
                <a:latin typeface="JF Flat" pitchFamily="34" charset="0"/>
                <a:ea typeface="JF Flat" pitchFamily="34" charset="-122"/>
                <a:cs typeface="JF Flat" pitchFamily="34" charset="-120"/>
              </a:rPr>
              <a:t>استهداف تشغيل المرحلة الأولى خلال 18–24 شهراً من بدء التنفيذ، ثم استكمال التوسعة وفق الطلب الفعلي والجاهزية والتمويل.</a:t>
            </a:r>
            <a:endParaRPr lang="ar-SA" sz="13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05  |  التكاليف التشغيلية (OPEX)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بنود المصروفات التشغيلية</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تشمل المصروفات اللازمة لاستمرار تشغيل مركز البيانات على مدى عشر سنوات.</a:t>
            </a:r>
            <a:endParaRPr lang="ar-SA" sz="1500" dirty="0"/>
          </a:p>
        </p:txBody>
      </p:sp>
      <p:sp>
        <p:nvSpPr>
          <p:cNvPr id="5" name="!!card0"/>
          <p:cNvSpPr/>
          <p:nvPr/>
        </p:nvSpPr>
        <p:spPr>
          <a:xfrm>
            <a:off x="9570476" y="20116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6" name="!!dot0"/>
          <p:cNvSpPr/>
          <p:nvPr/>
        </p:nvSpPr>
        <p:spPr>
          <a:xfrm>
            <a:off x="10286726" y="2240280"/>
            <a:ext cx="640080" cy="640080"/>
          </a:xfrm>
          <a:prstGeom prst="ellipse">
            <a:avLst/>
          </a:prstGeom>
          <a:solidFill>
            <a:srgbClr val="F15524"/>
          </a:solidFill>
          <a:ln w="12700">
            <a:solidFill>
              <a:srgbClr val="F15524"/>
            </a:solidFill>
            <a:prstDash val="solid"/>
          </a:ln>
        </p:spPr>
      </p:sp>
      <p:pic>
        <p:nvPicPr>
          <p:cNvPr id="7" name="!!ico0" descr="preencoded.png">    </p:cNvPr>
          <p:cNvPicPr>
            <a:picLocks noChangeAspect="1"/>
          </p:cNvPicPr>
          <p:nvPr/>
        </p:nvPicPr>
        <p:blipFill>
          <a:blip r:embed="rId1"/>
          <a:stretch>
            <a:fillRect/>
          </a:stretch>
        </p:blipFill>
        <p:spPr>
          <a:xfrm>
            <a:off x="10459547" y="2413102"/>
            <a:ext cx="294437" cy="294437"/>
          </a:xfrm>
          <a:prstGeom prst="rect">
            <a:avLst/>
          </a:prstGeom>
        </p:spPr>
      </p:pic>
      <p:sp>
        <p:nvSpPr>
          <p:cNvPr id="8" name="Text 5"/>
          <p:cNvSpPr txBox="1"/>
          <p:nvPr/>
        </p:nvSpPr>
        <p:spPr>
          <a:xfrm>
            <a:off x="9661916"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الكهرباء</a:t>
            </a:r>
            <a:endParaRPr lang="ar-SA" sz="1400" dirty="0"/>
          </a:p>
        </p:txBody>
      </p:sp>
      <p:sp>
        <p:nvSpPr>
          <p:cNvPr id="9" name="Text 6"/>
          <p:cNvSpPr txBox="1"/>
          <p:nvPr/>
        </p:nvSpPr>
        <p:spPr>
          <a:xfrm>
            <a:off x="9707636"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تشغيل الخوادم وأنظمة الطاقة والتبريد</a:t>
            </a:r>
            <a:endParaRPr lang="ar-SA" sz="1200" dirty="0"/>
          </a:p>
        </p:txBody>
      </p:sp>
      <p:sp>
        <p:nvSpPr>
          <p:cNvPr id="10" name="!!card1"/>
          <p:cNvSpPr/>
          <p:nvPr/>
        </p:nvSpPr>
        <p:spPr>
          <a:xfrm>
            <a:off x="7315017"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dot1"/>
          <p:cNvSpPr/>
          <p:nvPr/>
        </p:nvSpPr>
        <p:spPr>
          <a:xfrm>
            <a:off x="8031267" y="2240280"/>
            <a:ext cx="640080" cy="640080"/>
          </a:xfrm>
          <a:prstGeom prst="ellipse">
            <a:avLst/>
          </a:prstGeom>
          <a:solidFill>
            <a:srgbClr val="00539B"/>
          </a:solidFill>
          <a:ln w="12700">
            <a:solidFill>
              <a:srgbClr val="00539B"/>
            </a:solidFill>
            <a:prstDash val="solid"/>
          </a:ln>
        </p:spPr>
      </p:sp>
      <p:pic>
        <p:nvPicPr>
          <p:cNvPr id="12" name="!!ico1" descr="preencoded.png">    </p:cNvPr>
          <p:cNvPicPr>
            <a:picLocks noChangeAspect="1"/>
          </p:cNvPicPr>
          <p:nvPr/>
        </p:nvPicPr>
        <p:blipFill>
          <a:blip r:embed="rId2"/>
          <a:stretch>
            <a:fillRect/>
          </a:stretch>
        </p:blipFill>
        <p:spPr>
          <a:xfrm>
            <a:off x="8204088" y="2413102"/>
            <a:ext cx="294437" cy="294437"/>
          </a:xfrm>
          <a:prstGeom prst="rect">
            <a:avLst/>
          </a:prstGeom>
        </p:spPr>
      </p:pic>
      <p:sp>
        <p:nvSpPr>
          <p:cNvPr id="13" name="Text 9"/>
          <p:cNvSpPr txBox="1"/>
          <p:nvPr/>
        </p:nvSpPr>
        <p:spPr>
          <a:xfrm>
            <a:off x="7406457"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الوقود</a:t>
            </a:r>
            <a:endParaRPr lang="ar-SA" sz="1400" dirty="0"/>
          </a:p>
        </p:txBody>
      </p:sp>
      <p:sp>
        <p:nvSpPr>
          <p:cNvPr id="14" name="Text 10"/>
          <p:cNvSpPr txBox="1"/>
          <p:nvPr/>
        </p:nvSpPr>
        <p:spPr>
          <a:xfrm>
            <a:off x="7452177"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تشغيل المولدات عند الحاجة</a:t>
            </a:r>
            <a:endParaRPr lang="ar-SA" sz="1200" dirty="0"/>
          </a:p>
        </p:txBody>
      </p:sp>
      <p:sp>
        <p:nvSpPr>
          <p:cNvPr id="15" name="!!card2"/>
          <p:cNvSpPr/>
          <p:nvPr/>
        </p:nvSpPr>
        <p:spPr>
          <a:xfrm>
            <a:off x="5059558"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6" name="!!dot2"/>
          <p:cNvSpPr/>
          <p:nvPr/>
        </p:nvSpPr>
        <p:spPr>
          <a:xfrm>
            <a:off x="5775808" y="2240280"/>
            <a:ext cx="640080" cy="640080"/>
          </a:xfrm>
          <a:prstGeom prst="ellipse">
            <a:avLst/>
          </a:prstGeom>
          <a:solidFill>
            <a:srgbClr val="00539B"/>
          </a:solidFill>
          <a:ln w="12700">
            <a:solidFill>
              <a:srgbClr val="00539B"/>
            </a:solidFill>
            <a:prstDash val="solid"/>
          </a:ln>
        </p:spPr>
      </p:sp>
      <p:pic>
        <p:nvPicPr>
          <p:cNvPr id="17" name="!!ico2" descr="preencoded.png">    </p:cNvPr>
          <p:cNvPicPr>
            <a:picLocks noChangeAspect="1"/>
          </p:cNvPicPr>
          <p:nvPr/>
        </p:nvPicPr>
        <p:blipFill>
          <a:blip r:embed="rId3"/>
          <a:stretch>
            <a:fillRect/>
          </a:stretch>
        </p:blipFill>
        <p:spPr>
          <a:xfrm>
            <a:off x="5948629" y="2413102"/>
            <a:ext cx="294437" cy="294437"/>
          </a:xfrm>
          <a:prstGeom prst="rect">
            <a:avLst/>
          </a:prstGeom>
        </p:spPr>
      </p:pic>
      <p:sp>
        <p:nvSpPr>
          <p:cNvPr id="18" name="Text 13"/>
          <p:cNvSpPr txBox="1"/>
          <p:nvPr/>
        </p:nvSpPr>
        <p:spPr>
          <a:xfrm>
            <a:off x="5150998"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المرتبات</a:t>
            </a:r>
            <a:endParaRPr lang="ar-SA" sz="1400" dirty="0"/>
          </a:p>
        </p:txBody>
      </p:sp>
      <p:sp>
        <p:nvSpPr>
          <p:cNvPr id="19" name="Text 14"/>
          <p:cNvSpPr txBox="1"/>
          <p:nvPr/>
        </p:nvSpPr>
        <p:spPr>
          <a:xfrm>
            <a:off x="5196718"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الكوادر الفنية والتشغيلية والإدارية</a:t>
            </a:r>
            <a:endParaRPr lang="ar-SA" sz="1200" dirty="0"/>
          </a:p>
        </p:txBody>
      </p:sp>
      <p:sp>
        <p:nvSpPr>
          <p:cNvPr id="20" name="!!card3"/>
          <p:cNvSpPr/>
          <p:nvPr/>
        </p:nvSpPr>
        <p:spPr>
          <a:xfrm>
            <a:off x="2804099" y="20116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1" name="!!dot3"/>
          <p:cNvSpPr/>
          <p:nvPr/>
        </p:nvSpPr>
        <p:spPr>
          <a:xfrm>
            <a:off x="3520349" y="2240280"/>
            <a:ext cx="640080" cy="640080"/>
          </a:xfrm>
          <a:prstGeom prst="ellipse">
            <a:avLst/>
          </a:prstGeom>
          <a:solidFill>
            <a:srgbClr val="00539B"/>
          </a:solidFill>
          <a:ln w="12700">
            <a:solidFill>
              <a:srgbClr val="00539B"/>
            </a:solidFill>
            <a:prstDash val="solid"/>
          </a:ln>
        </p:spPr>
      </p:sp>
      <p:pic>
        <p:nvPicPr>
          <p:cNvPr id="22" name="!!ico3" descr="preencoded.png">    </p:cNvPr>
          <p:cNvPicPr>
            <a:picLocks noChangeAspect="1"/>
          </p:cNvPicPr>
          <p:nvPr/>
        </p:nvPicPr>
        <p:blipFill>
          <a:blip r:embed="rId4"/>
          <a:stretch>
            <a:fillRect/>
          </a:stretch>
        </p:blipFill>
        <p:spPr>
          <a:xfrm>
            <a:off x="3693170" y="2413102"/>
            <a:ext cx="294437" cy="294437"/>
          </a:xfrm>
          <a:prstGeom prst="rect">
            <a:avLst/>
          </a:prstGeom>
        </p:spPr>
      </p:pic>
      <p:sp>
        <p:nvSpPr>
          <p:cNvPr id="23" name="Text 17"/>
          <p:cNvSpPr txBox="1"/>
          <p:nvPr/>
        </p:nvSpPr>
        <p:spPr>
          <a:xfrm>
            <a:off x="2895539"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الرعاية الصحية</a:t>
            </a:r>
            <a:endParaRPr lang="ar-SA" sz="1400" dirty="0"/>
          </a:p>
        </p:txBody>
      </p:sp>
      <p:sp>
        <p:nvSpPr>
          <p:cNvPr id="24" name="Text 18"/>
          <p:cNvSpPr txBox="1"/>
          <p:nvPr/>
        </p:nvSpPr>
        <p:spPr>
          <a:xfrm>
            <a:off x="2941259"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المخصصات الصحية للموظفين</a:t>
            </a:r>
            <a:endParaRPr lang="ar-SA" sz="1200" dirty="0"/>
          </a:p>
        </p:txBody>
      </p:sp>
      <p:sp>
        <p:nvSpPr>
          <p:cNvPr id="25" name="!!card4"/>
          <p:cNvSpPr/>
          <p:nvPr/>
        </p:nvSpPr>
        <p:spPr>
          <a:xfrm>
            <a:off x="548640" y="20116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26" name="!!dot4"/>
          <p:cNvSpPr/>
          <p:nvPr/>
        </p:nvSpPr>
        <p:spPr>
          <a:xfrm>
            <a:off x="1264890" y="2240280"/>
            <a:ext cx="640080" cy="640080"/>
          </a:xfrm>
          <a:prstGeom prst="ellipse">
            <a:avLst/>
          </a:prstGeom>
          <a:solidFill>
            <a:srgbClr val="F15524"/>
          </a:solidFill>
          <a:ln w="12700">
            <a:solidFill>
              <a:srgbClr val="F15524"/>
            </a:solidFill>
            <a:prstDash val="solid"/>
          </a:ln>
        </p:spPr>
      </p:sp>
      <p:pic>
        <p:nvPicPr>
          <p:cNvPr id="27" name="!!ico4" descr="preencoded.png">    </p:cNvPr>
          <p:cNvPicPr>
            <a:picLocks noChangeAspect="1"/>
          </p:cNvPicPr>
          <p:nvPr/>
        </p:nvPicPr>
        <p:blipFill>
          <a:blip r:embed="rId5"/>
          <a:stretch>
            <a:fillRect/>
          </a:stretch>
        </p:blipFill>
        <p:spPr>
          <a:xfrm>
            <a:off x="1437711" y="2413102"/>
            <a:ext cx="294437" cy="294437"/>
          </a:xfrm>
          <a:prstGeom prst="rect">
            <a:avLst/>
          </a:prstGeom>
        </p:spPr>
      </p:pic>
      <p:sp>
        <p:nvSpPr>
          <p:cNvPr id="28" name="Text 21"/>
          <p:cNvSpPr txBox="1"/>
          <p:nvPr/>
        </p:nvSpPr>
        <p:spPr>
          <a:xfrm>
            <a:off x="640080" y="29260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التراخيص والبرمجيات</a:t>
            </a:r>
            <a:endParaRPr lang="ar-SA" sz="1400" dirty="0"/>
          </a:p>
        </p:txBody>
      </p:sp>
      <p:sp>
        <p:nvSpPr>
          <p:cNvPr id="29" name="Text 22"/>
          <p:cNvSpPr txBox="1"/>
          <p:nvPr/>
        </p:nvSpPr>
        <p:spPr>
          <a:xfrm>
            <a:off x="685800" y="32918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الأنظمة والتراخيص التقنية</a:t>
            </a:r>
            <a:endParaRPr lang="ar-SA" sz="1200" dirty="0"/>
          </a:p>
        </p:txBody>
      </p:sp>
      <p:sp>
        <p:nvSpPr>
          <p:cNvPr id="30" name="!!card5"/>
          <p:cNvSpPr/>
          <p:nvPr/>
        </p:nvSpPr>
        <p:spPr>
          <a:xfrm>
            <a:off x="9570476" y="4069080"/>
            <a:ext cx="2072579" cy="1874520"/>
          </a:xfrm>
          <a:prstGeom prst="roundRect">
            <a:avLst>
              <a:gd name="adj" fmla="val 4878"/>
            </a:avLst>
          </a:prstGeom>
          <a:solidFill>
            <a:srgbClr val="FEF0EA"/>
          </a:solidFill>
          <a:ln w="9525">
            <a:solidFill>
              <a:srgbClr val="F8C9B5"/>
            </a:solidFill>
            <a:prstDash val="solid"/>
          </a:ln>
          <a:effectLst>
            <a:outerShdw sx="100000" sy="100000" kx="0" ky="0" algn="bl" rotWithShape="0" blurRad="127000" dist="38100" dir="5400000">
              <a:srgbClr val="1F3A5F">
                <a:alpha val="13000"/>
              </a:srgbClr>
            </a:outerShdw>
          </a:effectLst>
        </p:spPr>
      </p:sp>
      <p:sp>
        <p:nvSpPr>
          <p:cNvPr id="31" name="!!dot5"/>
          <p:cNvSpPr/>
          <p:nvPr/>
        </p:nvSpPr>
        <p:spPr>
          <a:xfrm>
            <a:off x="10286726" y="4297680"/>
            <a:ext cx="640080" cy="640080"/>
          </a:xfrm>
          <a:prstGeom prst="ellipse">
            <a:avLst/>
          </a:prstGeom>
          <a:solidFill>
            <a:srgbClr val="F15524"/>
          </a:solidFill>
          <a:ln w="12700">
            <a:solidFill>
              <a:srgbClr val="F15524"/>
            </a:solidFill>
            <a:prstDash val="solid"/>
          </a:ln>
        </p:spPr>
      </p:sp>
      <p:pic>
        <p:nvPicPr>
          <p:cNvPr id="32" name="!!ico5" descr="preencoded.png">    </p:cNvPr>
          <p:cNvPicPr>
            <a:picLocks noChangeAspect="1"/>
          </p:cNvPicPr>
          <p:nvPr/>
        </p:nvPicPr>
        <p:blipFill>
          <a:blip r:embed="rId6"/>
          <a:stretch>
            <a:fillRect/>
          </a:stretch>
        </p:blipFill>
        <p:spPr>
          <a:xfrm>
            <a:off x="10459547" y="4470502"/>
            <a:ext cx="294437" cy="294437"/>
          </a:xfrm>
          <a:prstGeom prst="rect">
            <a:avLst/>
          </a:prstGeom>
        </p:spPr>
      </p:pic>
      <p:sp>
        <p:nvSpPr>
          <p:cNvPr id="33" name="Text 25"/>
          <p:cNvSpPr txBox="1"/>
          <p:nvPr/>
        </p:nvSpPr>
        <p:spPr>
          <a:xfrm>
            <a:off x="9661916"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الاستهلاك المحاسبي</a:t>
            </a:r>
            <a:endParaRPr lang="ar-SA" sz="1400" dirty="0"/>
          </a:p>
        </p:txBody>
      </p:sp>
      <p:sp>
        <p:nvSpPr>
          <p:cNvPr id="34" name="Text 26"/>
          <p:cNvSpPr txBox="1"/>
          <p:nvPr/>
        </p:nvSpPr>
        <p:spPr>
          <a:xfrm>
            <a:off x="9707636"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توزيع تكلفة الأصول على أعمارها الافتراضية</a:t>
            </a:r>
            <a:endParaRPr lang="ar-SA" sz="1200" dirty="0"/>
          </a:p>
        </p:txBody>
      </p:sp>
      <p:sp>
        <p:nvSpPr>
          <p:cNvPr id="35" name="!!card6"/>
          <p:cNvSpPr/>
          <p:nvPr/>
        </p:nvSpPr>
        <p:spPr>
          <a:xfrm>
            <a:off x="7315017"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6" name="!!dot6"/>
          <p:cNvSpPr/>
          <p:nvPr/>
        </p:nvSpPr>
        <p:spPr>
          <a:xfrm>
            <a:off x="8031267" y="4297680"/>
            <a:ext cx="640080" cy="640080"/>
          </a:xfrm>
          <a:prstGeom prst="ellipse">
            <a:avLst/>
          </a:prstGeom>
          <a:solidFill>
            <a:srgbClr val="00539B"/>
          </a:solidFill>
          <a:ln w="12700">
            <a:solidFill>
              <a:srgbClr val="00539B"/>
            </a:solidFill>
            <a:prstDash val="solid"/>
          </a:ln>
        </p:spPr>
      </p:sp>
      <p:pic>
        <p:nvPicPr>
          <p:cNvPr id="37" name="!!ico6" descr="preencoded.png">    </p:cNvPr>
          <p:cNvPicPr>
            <a:picLocks noChangeAspect="1"/>
          </p:cNvPicPr>
          <p:nvPr/>
        </p:nvPicPr>
        <p:blipFill>
          <a:blip r:embed="rId7"/>
          <a:stretch>
            <a:fillRect/>
          </a:stretch>
        </p:blipFill>
        <p:spPr>
          <a:xfrm>
            <a:off x="8204088" y="4470502"/>
            <a:ext cx="294437" cy="294437"/>
          </a:xfrm>
          <a:prstGeom prst="rect">
            <a:avLst/>
          </a:prstGeom>
        </p:spPr>
      </p:pic>
      <p:sp>
        <p:nvSpPr>
          <p:cNvPr id="38" name="Text 29"/>
          <p:cNvSpPr txBox="1"/>
          <p:nvPr/>
        </p:nvSpPr>
        <p:spPr>
          <a:xfrm>
            <a:off x="7406457"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الدعاية والإعلان</a:t>
            </a:r>
            <a:endParaRPr lang="ar-SA" sz="1400" dirty="0"/>
          </a:p>
        </p:txBody>
      </p:sp>
      <p:sp>
        <p:nvSpPr>
          <p:cNvPr id="39" name="Text 30"/>
          <p:cNvSpPr txBox="1"/>
          <p:nvPr/>
        </p:nvSpPr>
        <p:spPr>
          <a:xfrm>
            <a:off x="7452177"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التسويق والترويج للخدمات</a:t>
            </a:r>
            <a:endParaRPr lang="ar-SA" sz="1200" dirty="0"/>
          </a:p>
        </p:txBody>
      </p:sp>
      <p:sp>
        <p:nvSpPr>
          <p:cNvPr id="40" name="!!card7"/>
          <p:cNvSpPr/>
          <p:nvPr/>
        </p:nvSpPr>
        <p:spPr>
          <a:xfrm>
            <a:off x="5059558"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1" name="!!dot7"/>
          <p:cNvSpPr/>
          <p:nvPr/>
        </p:nvSpPr>
        <p:spPr>
          <a:xfrm>
            <a:off x="5775808" y="4297680"/>
            <a:ext cx="640080" cy="640080"/>
          </a:xfrm>
          <a:prstGeom prst="ellipse">
            <a:avLst/>
          </a:prstGeom>
          <a:solidFill>
            <a:srgbClr val="00539B"/>
          </a:solidFill>
          <a:ln w="12700">
            <a:solidFill>
              <a:srgbClr val="00539B"/>
            </a:solidFill>
            <a:prstDash val="solid"/>
          </a:ln>
        </p:spPr>
      </p:sp>
      <p:pic>
        <p:nvPicPr>
          <p:cNvPr id="42" name="!!ico7" descr="preencoded.png">    </p:cNvPr>
          <p:cNvPicPr>
            <a:picLocks noChangeAspect="1"/>
          </p:cNvPicPr>
          <p:nvPr/>
        </p:nvPicPr>
        <p:blipFill>
          <a:blip r:embed="rId8"/>
          <a:stretch>
            <a:fillRect/>
          </a:stretch>
        </p:blipFill>
        <p:spPr>
          <a:xfrm>
            <a:off x="5948629" y="4470502"/>
            <a:ext cx="294437" cy="294437"/>
          </a:xfrm>
          <a:prstGeom prst="rect">
            <a:avLst/>
          </a:prstGeom>
        </p:spPr>
      </p:pic>
      <p:sp>
        <p:nvSpPr>
          <p:cNvPr id="43" name="Text 33"/>
          <p:cNvSpPr txBox="1"/>
          <p:nvPr/>
        </p:nvSpPr>
        <p:spPr>
          <a:xfrm>
            <a:off x="5150998"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البريد والهاتف</a:t>
            </a:r>
            <a:endParaRPr lang="ar-SA" sz="1400" dirty="0"/>
          </a:p>
        </p:txBody>
      </p:sp>
      <p:sp>
        <p:nvSpPr>
          <p:cNvPr id="44" name="Text 34"/>
          <p:cNvSpPr txBox="1"/>
          <p:nvPr/>
        </p:nvSpPr>
        <p:spPr>
          <a:xfrm>
            <a:off x="5196718"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الاتصالات الإدارية والتشغيلية</a:t>
            </a:r>
            <a:endParaRPr lang="ar-SA" sz="1200" dirty="0"/>
          </a:p>
        </p:txBody>
      </p:sp>
      <p:sp>
        <p:nvSpPr>
          <p:cNvPr id="45" name="!!card8"/>
          <p:cNvSpPr/>
          <p:nvPr/>
        </p:nvSpPr>
        <p:spPr>
          <a:xfrm>
            <a:off x="2804099"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46" name="!!dot8"/>
          <p:cNvSpPr/>
          <p:nvPr/>
        </p:nvSpPr>
        <p:spPr>
          <a:xfrm>
            <a:off x="3520349" y="4297680"/>
            <a:ext cx="640080" cy="640080"/>
          </a:xfrm>
          <a:prstGeom prst="ellipse">
            <a:avLst/>
          </a:prstGeom>
          <a:solidFill>
            <a:srgbClr val="00539B"/>
          </a:solidFill>
          <a:ln w="12700">
            <a:solidFill>
              <a:srgbClr val="00539B"/>
            </a:solidFill>
            <a:prstDash val="solid"/>
          </a:ln>
        </p:spPr>
      </p:sp>
      <p:pic>
        <p:nvPicPr>
          <p:cNvPr id="47" name="!!ico8" descr="preencoded.png">    </p:cNvPr>
          <p:cNvPicPr>
            <a:picLocks noChangeAspect="1"/>
          </p:cNvPicPr>
          <p:nvPr/>
        </p:nvPicPr>
        <p:blipFill>
          <a:blip r:embed="rId9"/>
          <a:stretch>
            <a:fillRect/>
          </a:stretch>
        </p:blipFill>
        <p:spPr>
          <a:xfrm>
            <a:off x="3693170" y="4470502"/>
            <a:ext cx="294437" cy="294437"/>
          </a:xfrm>
          <a:prstGeom prst="rect">
            <a:avLst/>
          </a:prstGeom>
        </p:spPr>
      </p:pic>
      <p:sp>
        <p:nvSpPr>
          <p:cNvPr id="48" name="Text 37"/>
          <p:cNvSpPr txBox="1"/>
          <p:nvPr/>
        </p:nvSpPr>
        <p:spPr>
          <a:xfrm>
            <a:off x="2895539"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النظافة</a:t>
            </a:r>
            <a:endParaRPr lang="ar-SA" sz="1400" dirty="0"/>
          </a:p>
        </p:txBody>
      </p:sp>
      <p:sp>
        <p:nvSpPr>
          <p:cNvPr id="49" name="Text 38"/>
          <p:cNvSpPr txBox="1"/>
          <p:nvPr/>
        </p:nvSpPr>
        <p:spPr>
          <a:xfrm>
            <a:off x="2941259"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خدمات النظافة والمحافظة على المنشأة</a:t>
            </a:r>
            <a:endParaRPr lang="ar-SA" sz="1200" dirty="0"/>
          </a:p>
        </p:txBody>
      </p:sp>
      <p:sp>
        <p:nvSpPr>
          <p:cNvPr id="50" name="!!card9"/>
          <p:cNvSpPr/>
          <p:nvPr/>
        </p:nvSpPr>
        <p:spPr>
          <a:xfrm>
            <a:off x="548640" y="4069080"/>
            <a:ext cx="2072579"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1" name="!!dot9"/>
          <p:cNvSpPr/>
          <p:nvPr/>
        </p:nvSpPr>
        <p:spPr>
          <a:xfrm>
            <a:off x="1264890" y="4297680"/>
            <a:ext cx="640080" cy="640080"/>
          </a:xfrm>
          <a:prstGeom prst="ellipse">
            <a:avLst/>
          </a:prstGeom>
          <a:solidFill>
            <a:srgbClr val="00539B"/>
          </a:solidFill>
          <a:ln w="12700">
            <a:solidFill>
              <a:srgbClr val="00539B"/>
            </a:solidFill>
            <a:prstDash val="solid"/>
          </a:ln>
        </p:spPr>
      </p:sp>
      <p:pic>
        <p:nvPicPr>
          <p:cNvPr id="52" name="!!ico9" descr="preencoded.png">    </p:cNvPr>
          <p:cNvPicPr>
            <a:picLocks noChangeAspect="1"/>
          </p:cNvPicPr>
          <p:nvPr/>
        </p:nvPicPr>
        <p:blipFill>
          <a:blip r:embed="rId10"/>
          <a:stretch>
            <a:fillRect/>
          </a:stretch>
        </p:blipFill>
        <p:spPr>
          <a:xfrm>
            <a:off x="1437711" y="4470502"/>
            <a:ext cx="294437" cy="294437"/>
          </a:xfrm>
          <a:prstGeom prst="rect">
            <a:avLst/>
          </a:prstGeom>
        </p:spPr>
      </p:pic>
      <p:sp>
        <p:nvSpPr>
          <p:cNvPr id="53" name="Text 41"/>
          <p:cNvSpPr txBox="1"/>
          <p:nvPr/>
        </p:nvSpPr>
        <p:spPr>
          <a:xfrm>
            <a:off x="640080" y="4983480"/>
            <a:ext cx="1889699" cy="365760"/>
          </a:xfrm>
          <a:prstGeom prst="rect">
            <a:avLst/>
          </a:prstGeom>
          <a:noFill/>
          <a:ln/>
        </p:spPr>
        <p:txBody>
          <a:bodyPr wrap="square" lIns="0" tIns="0" rIns="0" bIns="0" rtlCol="0" anchor="t"/>
          <a:lstStyle/>
          <a:p>
            <a:pPr rtl="1" algn="ctr" indent="0" marL="0">
              <a:buNone/>
            </a:pPr>
            <a:r>
              <a:rPr lang="ar-SA" altLang="en-US" sz="1400" b="1" dirty="0">
                <a:solidFill>
                  <a:srgbClr val="06305C"/>
                </a:solidFill>
                <a:latin typeface="JF Flat" pitchFamily="34" charset="0"/>
                <a:ea typeface="JF Flat" pitchFamily="34" charset="-122"/>
                <a:cs typeface="JF Flat" pitchFamily="34" charset="-120"/>
              </a:rPr>
              <a:t>ضريبة المبيعات</a:t>
            </a:r>
            <a:endParaRPr lang="ar-SA" sz="1400" dirty="0"/>
          </a:p>
        </p:txBody>
      </p:sp>
      <p:sp>
        <p:nvSpPr>
          <p:cNvPr id="54" name="Text 42"/>
          <p:cNvSpPr txBox="1"/>
          <p:nvPr/>
        </p:nvSpPr>
        <p:spPr>
          <a:xfrm>
            <a:off x="685800" y="5349240"/>
            <a:ext cx="1798259" cy="548640"/>
          </a:xfrm>
          <a:prstGeom prst="rect">
            <a:avLst/>
          </a:prstGeom>
          <a:noFill/>
          <a:ln/>
        </p:spPr>
        <p:txBody>
          <a:bodyPr wrap="square" lIns="0" tIns="0" rIns="0" bIns="0" rtlCol="0" anchor="t"/>
          <a:lstStyle/>
          <a:p>
            <a:pPr rtl="1" algn="ctr" indent="0" marL="0">
              <a:buNone/>
            </a:pPr>
            <a:r>
              <a:rPr lang="ar-SA" altLang="en-US" sz="1200" dirty="0">
                <a:solidFill>
                  <a:srgbClr val="5B6B7F"/>
                </a:solidFill>
                <a:latin typeface="JF Flat" pitchFamily="34" charset="0"/>
                <a:ea typeface="JF Flat" pitchFamily="34" charset="-122"/>
                <a:cs typeface="JF Flat" pitchFamily="34" charset="-120"/>
              </a:rPr>
              <a:t>وفق الافتراضات الواردة بالدراسة</a:t>
            </a:r>
            <a:endParaRPr lang="ar-SA" sz="1200" dirty="0"/>
          </a:p>
        </p:txBody>
      </p:sp>
      <p:sp>
        <p:nvSpPr>
          <p:cNvPr id="55" name="Shape 43"/>
          <p:cNvSpPr/>
          <p:nvPr/>
        </p:nvSpPr>
        <p:spPr>
          <a:xfrm>
            <a:off x="11478463" y="6089904"/>
            <a:ext cx="128016" cy="128016"/>
          </a:xfrm>
          <a:prstGeom prst="ellipse">
            <a:avLst/>
          </a:prstGeom>
          <a:solidFill>
            <a:srgbClr val="F15524"/>
          </a:solidFill>
          <a:ln w="12700">
            <a:solidFill>
              <a:srgbClr val="F15524"/>
            </a:solidFill>
            <a:prstDash val="solid"/>
          </a:ln>
        </p:spPr>
      </p:sp>
      <p:sp>
        <p:nvSpPr>
          <p:cNvPr id="56" name="Text 44"/>
          <p:cNvSpPr txBox="1"/>
          <p:nvPr/>
        </p:nvSpPr>
        <p:spPr>
          <a:xfrm>
            <a:off x="5882335" y="6016752"/>
            <a:ext cx="5486400" cy="274320"/>
          </a:xfrm>
          <a:prstGeom prst="rect">
            <a:avLst/>
          </a:prstGeom>
          <a:noFill/>
          <a:ln/>
        </p:spPr>
        <p:txBody>
          <a:bodyPr wrap="square" lIns="0" tIns="0" rIns="0" bIns="0" rtlCol="0" anchor="ctr"/>
          <a:lstStyle/>
          <a:p>
            <a:pPr rtl="1" algn="r" indent="0" marL="0">
              <a:buNone/>
            </a:pPr>
            <a:r>
              <a:rPr lang="ar-SA" altLang="en-US" sz="1000" dirty="0">
                <a:solidFill>
                  <a:srgbClr val="5B6B7F"/>
                </a:solidFill>
                <a:latin typeface="JF Flat" pitchFamily="34" charset="0"/>
                <a:ea typeface="JF Flat" pitchFamily="34" charset="-122"/>
                <a:cs typeface="JF Flat" pitchFamily="34" charset="-120"/>
              </a:rPr>
              <a:t>العناصر المميزة باللون البرتقالي تمثل البنود الرئيسية في التكلفة</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05  |  التكاليف التشغيلية (OPEX)</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إجمالي المصروفات التشغيلية التقديرية (10 سنوات)</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885414"/>
                <a:gridCol w="885414"/>
                <a:gridCol w="885414"/>
                <a:gridCol w="885414"/>
                <a:gridCol w="885414"/>
                <a:gridCol w="885414"/>
                <a:gridCol w="885414"/>
                <a:gridCol w="885414"/>
                <a:gridCol w="885414"/>
                <a:gridCol w="885414"/>
                <a:gridCol w="2240280"/>
              </a:tblGrid>
              <a:tr h="384048">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العاشرة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التاسعة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الثامنة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السابعة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السادسة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الخامسة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الرابعة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الثالثة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الثانية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 الأولى</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اسم المصروف</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5,679,289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5,125,005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4,411,098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3,641,299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2,919,618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2,149,819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1,435,750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884,265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495,657</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219,964</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 الكهرباء (بالكيلو وات)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1,500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2,100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2,880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 وقود</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1,260,000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1,170,000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936,000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864,000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720,000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720,000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مرتبات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2,520,000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1,890,000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1,800,000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1,440,000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1,368,000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1,080,000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1,080,000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رعاية صحية</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4,757,220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تراخيص وبرمجيات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13,546,714</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17,114,629</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30,840,157</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37,913,392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مصروفات الاستهلاك</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250,000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مصروفات الدعاية والإعلان</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24,000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14,400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8,640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8,640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بريد وهاتف</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115,000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110,000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92,000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92,000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69,000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69,000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69,000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نظافة</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324612">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1,689,758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1,249,761</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1,083,271</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900,737</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647,525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477,595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324,615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181,188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99,988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1F2937"/>
                          </a:solidFill>
                          <a:latin typeface="JF Flat" pitchFamily="34" charset="0"/>
                          <a:ea typeface="JF Flat" pitchFamily="34" charset="-122"/>
                          <a:cs typeface="JF Flat" pitchFamily="34" charset="-120"/>
                        </a:rPr>
                        <a:t>38,095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ضريبة المبيعات</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324612">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30,011,980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32,585,614</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31,705,218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30,752,885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28,718,191</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41,302,392</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46,909,118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46,297,505</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45,393,358</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algn="ctr" indent="0" marL="0">
                        <a:buNone/>
                      </a:pPr>
                      <a:r>
                        <a:rPr lang="en-US" sz="1100" b="1" dirty="0">
                          <a:solidFill>
                            <a:srgbClr val="FFFFFF"/>
                          </a:solidFill>
                          <a:latin typeface="JF Flat" pitchFamily="34" charset="0"/>
                          <a:ea typeface="JF Flat" pitchFamily="34" charset="-122"/>
                          <a:cs typeface="JF Flat" pitchFamily="34" charset="-120"/>
                        </a:rPr>
                        <a:t>45,056,550</a:t>
                      </a:r>
                      <a:endParaRPr lang="en-US" sz="1100" dirty="0">
                        <a:latin typeface="JF Flat" charset="0"/>
                        <a:ea typeface="JF Flat" charset="0"/>
                        <a:cs typeface="JF Flat" charset="0"/>
                      </a:endParaRPr>
                    </a:p>
                  </a:txBody>
                  <a:tcPr marL="45720" marR="45720" marT="27432" marB="27432"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c>
                  <a:txBody>
                    <a:bodyPr/>
                    <a:lstStyle/>
                    <a:p>
                      <a:pPr rtl="1" algn="r" indent="0" marL="0">
                        <a:buNone/>
                      </a:pPr>
                      <a:r>
                        <a:rPr lang="en-US" sz="1100" b="1" dirty="0">
                          <a:solidFill>
                            <a:srgbClr val="FFFFFF"/>
                          </a:solidFill>
                          <a:latin typeface="JF Flat" pitchFamily="34" charset="0"/>
                          <a:ea typeface="JF Flat" pitchFamily="34" charset="-122"/>
                          <a:cs typeface="JF Flat" pitchFamily="34" charset="-120"/>
                        </a:rPr>
                        <a:t>الإجمالي</a:t>
                      </a:r>
                      <a:endParaRPr lang="en-US" sz="1100" dirty="0">
                        <a:latin typeface="JF Flat" charset="0"/>
                        <a:ea typeface="JF Flat" charset="0"/>
                        <a:cs typeface="JF Flat" charset="0"/>
                      </a:endParaRPr>
                    </a:p>
                  </a:txBody>
                  <a:tcPr marL="91440" marR="91440"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15524"/>
                    </a:solidFill>
                  </a:tcPr>
                </a:tc>
              </a:tr>
            </a:tbl>
          </a:graphicData>
        </a:graphic>
      </p:graphicFrame>
      <p:sp>
        <p:nvSpPr>
          <p:cNvPr id="5" name="!!card0"/>
          <p:cNvSpPr/>
          <p:nvPr/>
        </p:nvSpPr>
        <p:spPr>
          <a:xfrm>
            <a:off x="548640" y="5486400"/>
            <a:ext cx="11094415" cy="749808"/>
          </a:xfrm>
          <a:prstGeom prst="roundRect">
            <a:avLst>
              <a:gd name="adj" fmla="val 12195"/>
            </a:avLst>
          </a:prstGeom>
          <a:solidFill>
            <a:srgbClr val="EAF2FA"/>
          </a:solidFill>
          <a:ln w="12700">
            <a:solidFill>
              <a:srgbClr val="EAF2FA"/>
            </a:solidFill>
            <a:prstDash val="solid"/>
          </a:ln>
        </p:spPr>
      </p:sp>
      <p:pic>
        <p:nvPicPr>
          <p:cNvPr id="6" name="Image 0" descr="preencoded.png">    </p:cNvPr>
          <p:cNvPicPr>
            <a:picLocks noChangeAspect="1"/>
          </p:cNvPicPr>
          <p:nvPr/>
        </p:nvPicPr>
        <p:blipFill>
          <a:blip r:embed="rId1"/>
          <a:stretch>
            <a:fillRect/>
          </a:stretch>
        </p:blipFill>
        <p:spPr>
          <a:xfrm>
            <a:off x="11140135" y="5705856"/>
            <a:ext cx="310896" cy="310896"/>
          </a:xfrm>
          <a:prstGeom prst="rect">
            <a:avLst/>
          </a:prstGeom>
        </p:spPr>
      </p:pic>
      <p:sp>
        <p:nvSpPr>
          <p:cNvPr id="7" name="Text 3"/>
          <p:cNvSpPr txBox="1"/>
          <p:nvPr/>
        </p:nvSpPr>
        <p:spPr>
          <a:xfrm>
            <a:off x="731520" y="5486400"/>
            <a:ext cx="10225735" cy="749808"/>
          </a:xfrm>
          <a:prstGeom prst="rect">
            <a:avLst/>
          </a:prstGeom>
          <a:noFill/>
          <a:ln/>
        </p:spPr>
        <p:txBody>
          <a:bodyPr wrap="square" lIns="0" tIns="0" rIns="0" bIns="0" rtlCol="0" anchor="ctr"/>
          <a:lstStyle/>
          <a:p>
            <a:pPr rtl="1" algn="r" indent="0" marL="0">
              <a:buNone/>
            </a:pPr>
            <a:r>
              <a:rPr lang="ar-SA" altLang="en-US" sz="1200" dirty="0">
                <a:solidFill>
                  <a:srgbClr val="06305C"/>
                </a:solidFill>
                <a:latin typeface="JF Flat" pitchFamily="34" charset="0"/>
                <a:ea typeface="JF Flat" pitchFamily="34" charset="-122"/>
                <a:cs typeface="JF Flat" pitchFamily="34" charset="-120"/>
              </a:rPr>
              <a:t>تُظهر التقديرات أن الكهرباء والتراخيص والبرمجيات والاستهلاك المحاسبي تمثل عناصر رئيسية في التكلفة. ويجب التمييز عند تقييم الربحية بين المصروفات النقدية الفعلية والاستهلاك المحاسبي، لأنه يؤثر في الأرباح دون أن يمثل تدفقاً نقدياً مماثلاً في سنة احتسابه.</a:t>
            </a:r>
            <a:endParaRPr lang="ar-SA" sz="12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06  |  الإيرادات المتوقعة</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الإيرادات السنوية المتوقعة وفق دراسة الجدوى</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تعتمد الإيرادات على تقديم خدمات متعددة للجهات الحكومية والمؤسسات، مع التوسع التدريجي في عدد العملاء والخدمات المقدمة.</a:t>
            </a:r>
            <a:endParaRPr lang="ar-SA"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938528"/>
          <a:ext cx="11094415" cy="914400"/>
        </p:xfrm>
        <a:graphic>
          <a:graphicData uri="http://schemas.openxmlformats.org/drawingml/2006/table">
            <a:tbl>
              <a:tblPr/>
              <a:tblGrid>
                <a:gridCol w="794995"/>
                <a:gridCol w="794995"/>
                <a:gridCol w="794995"/>
                <a:gridCol w="794995"/>
                <a:gridCol w="794995"/>
                <a:gridCol w="794995"/>
                <a:gridCol w="794995"/>
                <a:gridCol w="794995"/>
                <a:gridCol w="794995"/>
                <a:gridCol w="794995"/>
                <a:gridCol w="794995"/>
                <a:gridCol w="794995"/>
                <a:gridCol w="1554480"/>
              </a:tblGrid>
              <a:tr h="384048">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12</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11</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10</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9</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8</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7</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6</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5</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4</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3</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2</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سنة 1</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c>
                  <a:txBody>
                    <a:bodyPr/>
                    <a:lstStyle/>
                    <a:p>
                      <a:pPr rtl="1" algn="ctr" indent="0" marL="0">
                        <a:buNone/>
                      </a:pPr>
                      <a:r>
                        <a:rPr lang="en-US" sz="1100" b="1" dirty="0">
                          <a:solidFill>
                            <a:srgbClr val="FFFFFF"/>
                          </a:solidFill>
                          <a:latin typeface="JF Flat" pitchFamily="34" charset="0"/>
                          <a:ea typeface="JF Flat" pitchFamily="34" charset="-122"/>
                          <a:cs typeface="JF Flat" pitchFamily="34" charset="-120"/>
                        </a:rPr>
                        <a:t>السنة</a:t>
                      </a:r>
                      <a:endParaRPr lang="en-US" sz="1100" dirty="0">
                        <a:latin typeface="JF Flat" charset="0"/>
                        <a:ea typeface="JF Flat" charset="0"/>
                        <a:cs typeface="JF Flat" charset="0"/>
                      </a:endParaRPr>
                    </a:p>
                  </a:txBody>
                  <a:tcPr marL="45720" marR="45720" marT="27432" marB="27432" anchor="ctr">
                    <a:lnL w="9525" cap="flat" cmpd="sng" algn="ctr">
                      <a:solidFill>
                        <a:srgbClr val="3A5F88"/>
                      </a:solidFill>
                      <a:prstDash val="solid"/>
                      <a:round/>
                      <a:headEnd type="none" w="med" len="med"/>
                      <a:tailEnd type="none" w="med" len="med"/>
                    </a:lnL>
                    <a:lnR w="9525" cap="flat" cmpd="sng" algn="ctr">
                      <a:solidFill>
                        <a:srgbClr val="3A5F88"/>
                      </a:solidFill>
                      <a:prstDash val="solid"/>
                      <a:round/>
                      <a:headEnd type="none" w="med" len="med"/>
                      <a:tailEnd type="none" w="med" len="med"/>
                    </a:lnR>
                    <a:lnT w="9525" cap="flat" cmpd="sng" algn="ctr">
                      <a:solidFill>
                        <a:srgbClr val="06305C"/>
                      </a:solidFill>
                      <a:prstDash val="solid"/>
                      <a:round/>
                      <a:headEnd type="none" w="med" len="med"/>
                      <a:tailEnd type="none" w="med" len="med"/>
                    </a:lnT>
                    <a:lnB w="9525" cap="flat" cmpd="sng" algn="ctr">
                      <a:solidFill>
                        <a:srgbClr val="06305C"/>
                      </a:solidFill>
                      <a:prstDash val="solid"/>
                      <a:round/>
                      <a:headEnd type="none" w="med" len="med"/>
                      <a:tailEnd type="none" w="med" len="med"/>
                    </a:lnB>
                    <a:solidFill>
                      <a:srgbClr val="06305C"/>
                    </a:solidFill>
                  </a:tcPr>
                </a:tc>
              </a:tr>
              <a:tr h="402336">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168,135,118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168,135,118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168,135,118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124,354,318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107,788,160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89,625,600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64,430,322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47,521,927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32,300,030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18,028,692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9,949,104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algn="ctr" indent="0" marL="0">
                        <a:buNone/>
                      </a:pPr>
                      <a:r>
                        <a:rPr lang="en-US" sz="1000" b="1" dirty="0">
                          <a:solidFill>
                            <a:srgbClr val="00539B"/>
                          </a:solidFill>
                          <a:latin typeface="JF Flat" pitchFamily="34" charset="0"/>
                          <a:ea typeface="JF Flat" pitchFamily="34" charset="-122"/>
                          <a:cs typeface="JF Flat" pitchFamily="34" charset="-120"/>
                        </a:rPr>
                        <a:t>3,790,512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الإيرادات</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EAF2FA"/>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30,011,980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30,011,980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30,011,980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32,585,614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31,705,218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30,752,885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28,718,191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41,302,392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46,909,118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46,297,505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45,393,358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45,056,550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المصروفات</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402336">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138,123,138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138,123,138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138,123,138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91,768,704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76,082,942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58,872,715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35,712,131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1F2937"/>
                          </a:solidFill>
                          <a:latin typeface="JF Flat" pitchFamily="34" charset="0"/>
                          <a:ea typeface="JF Flat" pitchFamily="34" charset="-122"/>
                          <a:cs typeface="JF Flat" pitchFamily="34" charset="-120"/>
                        </a:rPr>
                        <a:t>6,219,535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-14,609,088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-28,268,813</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-35,444,254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algn="ctr" indent="0" marL="0">
                        <a:buNone/>
                      </a:pPr>
                      <a:r>
                        <a:rPr lang="en-US" sz="1000" b="1" dirty="0">
                          <a:solidFill>
                            <a:srgbClr val="C8361B"/>
                          </a:solidFill>
                          <a:latin typeface="JF Flat" pitchFamily="34" charset="0"/>
                          <a:ea typeface="JF Flat" pitchFamily="34" charset="-122"/>
                          <a:cs typeface="JF Flat" pitchFamily="34" charset="-120"/>
                        </a:rPr>
                        <a:t>-41,266,038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صافي (ربح / خسارة)</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EF0EA"/>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563,437,247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425,314,109</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287,190,972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149,067,834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57,299,130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-18,783,812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-77,656,527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-113,368,658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-119,588,194</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-104,979,106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-76,710,292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-41,266,038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صافي الربح التراكمي</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84,609,680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222,732,817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314,501,521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390,584,463</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449,457,178</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395,148,069</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401,367,605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386,758,517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358,489,703</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323,045,450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الرصيد المتبقي للاسترداد</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FFFFF"/>
                    </a:solidFill>
                  </a:tcPr>
                </a:tc>
              </a:tr>
              <a:tr h="402336">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37.1%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37.1%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37.1%</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24.7%</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20.5%</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16%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9.6%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1F2937"/>
                          </a:solidFill>
                          <a:latin typeface="JF Flat" pitchFamily="34" charset="0"/>
                          <a:ea typeface="JF Flat" pitchFamily="34" charset="-122"/>
                          <a:cs typeface="JF Flat" pitchFamily="34" charset="-120"/>
                        </a:rPr>
                        <a:t>2.2%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-5.2%</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-10.0%</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-12.6%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C8361B"/>
                          </a:solidFill>
                          <a:latin typeface="JF Flat" pitchFamily="34" charset="0"/>
                          <a:ea typeface="JF Flat" pitchFamily="34" charset="-122"/>
                          <a:cs typeface="JF Flat" pitchFamily="34" charset="-120"/>
                        </a:rPr>
                        <a:t>-14.6%</a:t>
                      </a:r>
                      <a:endParaRPr lang="en-US" sz="1000" dirty="0">
                        <a:latin typeface="JF Flat" charset="0"/>
                        <a:ea typeface="JF Flat" charset="0"/>
                        <a:cs typeface="JF Flat" charset="0"/>
                      </a:endParaRPr>
                    </a:p>
                  </a:txBody>
                  <a:tcPr marL="9144" marR="9144" marT="18288" marB="18288"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c>
                  <a:txBody>
                    <a:bodyPr/>
                    <a:lstStyle/>
                    <a:p>
                      <a:pPr rtl="1" algn="r" indent="0" marL="0">
                        <a:buNone/>
                      </a:pPr>
                      <a:r>
                        <a:rPr lang="en-US" sz="1100" b="1" dirty="0">
                          <a:solidFill>
                            <a:srgbClr val="06305C"/>
                          </a:solidFill>
                          <a:latin typeface="JF Flat" pitchFamily="34" charset="0"/>
                          <a:ea typeface="JF Flat" pitchFamily="34" charset="-122"/>
                          <a:cs typeface="JF Flat" pitchFamily="34" charset="-120"/>
                        </a:rPr>
                        <a:t>العائد من الاستثمار</a:t>
                      </a:r>
                      <a:endParaRPr lang="en-US" sz="1100" dirty="0">
                        <a:latin typeface="JF Flat" charset="0"/>
                        <a:ea typeface="JF Flat" charset="0"/>
                        <a:cs typeface="JF Flat" charset="0"/>
                      </a:endParaRPr>
                    </a:p>
                  </a:txBody>
                  <a:tcPr marL="73152" marR="73152" marT="0" marB="0" anchor="ctr">
                    <a:lnL w="9525" cap="flat" cmpd="sng" algn="ctr">
                      <a:solidFill>
                        <a:srgbClr val="D6DFEA"/>
                      </a:solidFill>
                      <a:prstDash val="solid"/>
                      <a:round/>
                      <a:headEnd type="none" w="med" len="med"/>
                      <a:tailEnd type="none" w="med" len="med"/>
                    </a:lnL>
                    <a:lnR w="9525" cap="flat" cmpd="sng" algn="ctr">
                      <a:solidFill>
                        <a:srgbClr val="D6DFEA"/>
                      </a:solidFill>
                      <a:prstDash val="solid"/>
                      <a:round/>
                      <a:headEnd type="none" w="med" len="med"/>
                      <a:tailEnd type="none" w="med" len="med"/>
                    </a:lnR>
                    <a:lnT w="9525" cap="flat" cmpd="sng" algn="ctr">
                      <a:solidFill>
                        <a:srgbClr val="D6DFEA"/>
                      </a:solidFill>
                      <a:prstDash val="solid"/>
                      <a:round/>
                      <a:headEnd type="none" w="med" len="med"/>
                      <a:tailEnd type="none" w="med" len="med"/>
                    </a:lnT>
                    <a:lnB w="9525" cap="flat" cmpd="sng" algn="ctr">
                      <a:solidFill>
                        <a:srgbClr val="D6DFEA"/>
                      </a:solidFill>
                      <a:prstDash val="solid"/>
                      <a:round/>
                      <a:headEnd type="none" w="med" len="med"/>
                      <a:tailEnd type="none" w="med" len="med"/>
                    </a:lnB>
                    <a:solidFill>
                      <a:srgbClr val="F4F7FB"/>
                    </a:solidFill>
                  </a:tcPr>
                </a:tc>
              </a:tr>
            </a:tbl>
          </a:graphicData>
        </a:graphic>
      </p:graphicFrame>
      <p:sp>
        <p:nvSpPr>
          <p:cNvPr id="6" name="!!card0"/>
          <p:cNvSpPr/>
          <p:nvPr/>
        </p:nvSpPr>
        <p:spPr>
          <a:xfrm>
            <a:off x="8097317"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7" name="!!dot0"/>
          <p:cNvSpPr/>
          <p:nvPr/>
        </p:nvSpPr>
        <p:spPr>
          <a:xfrm>
            <a:off x="10929823" y="5193792"/>
            <a:ext cx="512064" cy="512064"/>
          </a:xfrm>
          <a:prstGeom prst="ellipse">
            <a:avLst/>
          </a:prstGeom>
          <a:solidFill>
            <a:srgbClr val="00539B"/>
          </a:solidFill>
          <a:ln w="12700">
            <a:solidFill>
              <a:srgbClr val="00539B"/>
            </a:solidFill>
            <a:prstDash val="solid"/>
          </a:ln>
        </p:spPr>
      </p:sp>
      <p:pic>
        <p:nvPicPr>
          <p:cNvPr id="8" name="!!ico0" descr="preencoded.png">    </p:cNvPr>
          <p:cNvPicPr>
            <a:picLocks noChangeAspect="1"/>
          </p:cNvPicPr>
          <p:nvPr/>
        </p:nvPicPr>
        <p:blipFill>
          <a:blip r:embed="rId1"/>
          <a:stretch>
            <a:fillRect/>
          </a:stretch>
        </p:blipFill>
        <p:spPr>
          <a:xfrm>
            <a:off x="11068080" y="5332049"/>
            <a:ext cx="235549" cy="235549"/>
          </a:xfrm>
          <a:prstGeom prst="rect">
            <a:avLst/>
          </a:prstGeom>
        </p:spPr>
      </p:pic>
      <p:sp>
        <p:nvSpPr>
          <p:cNvPr id="9" name="Text 5"/>
          <p:cNvSpPr txBox="1"/>
          <p:nvPr/>
        </p:nvSpPr>
        <p:spPr>
          <a:xfrm>
            <a:off x="8234477"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JF Flat" pitchFamily="34" charset="0"/>
                <a:ea typeface="JF Flat" pitchFamily="34" charset="-122"/>
                <a:cs typeface="JF Flat" pitchFamily="34" charset="-120"/>
              </a:rPr>
              <a:t>السنة الخامسة</a:t>
            </a:r>
            <a:endParaRPr lang="ar-SA" sz="1600" dirty="0"/>
          </a:p>
        </p:txBody>
      </p:sp>
      <p:sp>
        <p:nvSpPr>
          <p:cNvPr id="10" name="Text 6"/>
          <p:cNvSpPr txBox="1"/>
          <p:nvPr/>
        </p:nvSpPr>
        <p:spPr>
          <a:xfrm>
            <a:off x="8234477"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أول صافي ربح سنوي موجب وفق الجدول</a:t>
            </a:r>
            <a:endParaRPr lang="ar-SA" sz="1200" dirty="0"/>
          </a:p>
        </p:txBody>
      </p:sp>
      <p:sp>
        <p:nvSpPr>
          <p:cNvPr id="11" name="!!card1"/>
          <p:cNvSpPr/>
          <p:nvPr/>
        </p:nvSpPr>
        <p:spPr>
          <a:xfrm>
            <a:off x="4322978"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2" name="!!dot1"/>
          <p:cNvSpPr/>
          <p:nvPr/>
        </p:nvSpPr>
        <p:spPr>
          <a:xfrm>
            <a:off x="7155485" y="5193792"/>
            <a:ext cx="512064" cy="512064"/>
          </a:xfrm>
          <a:prstGeom prst="ellipse">
            <a:avLst/>
          </a:prstGeom>
          <a:solidFill>
            <a:srgbClr val="00539B"/>
          </a:solidFill>
          <a:ln w="12700">
            <a:solidFill>
              <a:srgbClr val="00539B"/>
            </a:solidFill>
            <a:prstDash val="solid"/>
          </a:ln>
        </p:spPr>
      </p:sp>
      <p:pic>
        <p:nvPicPr>
          <p:cNvPr id="13" name="!!ico1" descr="preencoded.png">    </p:cNvPr>
          <p:cNvPicPr>
            <a:picLocks noChangeAspect="1"/>
          </p:cNvPicPr>
          <p:nvPr/>
        </p:nvPicPr>
        <p:blipFill>
          <a:blip r:embed="rId2"/>
          <a:stretch>
            <a:fillRect/>
          </a:stretch>
        </p:blipFill>
        <p:spPr>
          <a:xfrm>
            <a:off x="7293742" y="5332049"/>
            <a:ext cx="235549" cy="235549"/>
          </a:xfrm>
          <a:prstGeom prst="rect">
            <a:avLst/>
          </a:prstGeom>
        </p:spPr>
      </p:pic>
      <p:sp>
        <p:nvSpPr>
          <p:cNvPr id="14" name="Text 9"/>
          <p:cNvSpPr txBox="1"/>
          <p:nvPr/>
        </p:nvSpPr>
        <p:spPr>
          <a:xfrm>
            <a:off x="4460138"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JF Flat" pitchFamily="34" charset="0"/>
                <a:ea typeface="JF Flat" pitchFamily="34" charset="-122"/>
                <a:cs typeface="JF Flat" pitchFamily="34" charset="-120"/>
              </a:rPr>
              <a:t>السنة الثامنة</a:t>
            </a:r>
            <a:endParaRPr lang="ar-SA" sz="1600" dirty="0"/>
          </a:p>
        </p:txBody>
      </p:sp>
      <p:sp>
        <p:nvSpPr>
          <p:cNvPr id="15" name="Text 10"/>
          <p:cNvSpPr txBox="1"/>
          <p:nvPr/>
        </p:nvSpPr>
        <p:spPr>
          <a:xfrm>
            <a:off x="4460138"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تحول صافي الربح التراكمي إلى الموجب</a:t>
            </a:r>
            <a:endParaRPr lang="ar-SA" sz="1200" dirty="0"/>
          </a:p>
        </p:txBody>
      </p:sp>
      <p:sp>
        <p:nvSpPr>
          <p:cNvPr id="16" name="!!card2"/>
          <p:cNvSpPr/>
          <p:nvPr/>
        </p:nvSpPr>
        <p:spPr>
          <a:xfrm>
            <a:off x="548640" y="5029200"/>
            <a:ext cx="3545738" cy="841248"/>
          </a:xfrm>
          <a:prstGeom prst="roundRect">
            <a:avLst>
              <a:gd name="adj" fmla="val 1087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dot2"/>
          <p:cNvSpPr/>
          <p:nvPr/>
        </p:nvSpPr>
        <p:spPr>
          <a:xfrm>
            <a:off x="3381146" y="5193792"/>
            <a:ext cx="512064" cy="512064"/>
          </a:xfrm>
          <a:prstGeom prst="ellipse">
            <a:avLst/>
          </a:prstGeom>
          <a:solidFill>
            <a:srgbClr val="F15524"/>
          </a:solidFill>
          <a:ln w="12700">
            <a:solidFill>
              <a:srgbClr val="F15524"/>
            </a:solidFill>
            <a:prstDash val="solid"/>
          </a:ln>
        </p:spPr>
      </p:sp>
      <p:pic>
        <p:nvPicPr>
          <p:cNvPr id="18" name="!!ico2" descr="preencoded.png">    </p:cNvPr>
          <p:cNvPicPr>
            <a:picLocks noChangeAspect="1"/>
          </p:cNvPicPr>
          <p:nvPr/>
        </p:nvPicPr>
        <p:blipFill>
          <a:blip r:embed="rId3"/>
          <a:stretch>
            <a:fillRect/>
          </a:stretch>
        </p:blipFill>
        <p:spPr>
          <a:xfrm>
            <a:off x="3519404" y="5332049"/>
            <a:ext cx="235549" cy="235549"/>
          </a:xfrm>
          <a:prstGeom prst="rect">
            <a:avLst/>
          </a:prstGeom>
        </p:spPr>
      </p:pic>
      <p:sp>
        <p:nvSpPr>
          <p:cNvPr id="19" name="Text 13"/>
          <p:cNvSpPr txBox="1"/>
          <p:nvPr/>
        </p:nvSpPr>
        <p:spPr>
          <a:xfrm>
            <a:off x="685800" y="5102352"/>
            <a:ext cx="2585618" cy="347472"/>
          </a:xfrm>
          <a:prstGeom prst="rect">
            <a:avLst/>
          </a:prstGeom>
          <a:noFill/>
          <a:ln/>
        </p:spPr>
        <p:txBody>
          <a:bodyPr wrap="square" lIns="0" tIns="0" rIns="0" bIns="0" rtlCol="0" anchor="t"/>
          <a:lstStyle/>
          <a:p>
            <a:pPr rtl="1" algn="r" indent="0" marL="0">
              <a:buNone/>
            </a:pPr>
            <a:r>
              <a:rPr lang="ar-SA" altLang="en-US" sz="1600" b="1" dirty="0">
                <a:solidFill>
                  <a:srgbClr val="06305C"/>
                </a:solidFill>
                <a:latin typeface="JF Flat" pitchFamily="34" charset="0"/>
                <a:ea typeface="JF Flat" pitchFamily="34" charset="-122"/>
                <a:cs typeface="JF Flat" pitchFamily="34" charset="-120"/>
              </a:rPr>
              <a:t>37.1%</a:t>
            </a:r>
            <a:endParaRPr lang="ar-SA" sz="1600" dirty="0"/>
          </a:p>
        </p:txBody>
      </p:sp>
      <p:sp>
        <p:nvSpPr>
          <p:cNvPr id="20" name="Text 14"/>
          <p:cNvSpPr txBox="1"/>
          <p:nvPr/>
        </p:nvSpPr>
        <p:spPr>
          <a:xfrm>
            <a:off x="685800" y="5449824"/>
            <a:ext cx="2585618" cy="320040"/>
          </a:xfrm>
          <a:prstGeom prst="rect">
            <a:avLst/>
          </a:prstGeom>
          <a:noFill/>
          <a:ln/>
        </p:spPr>
        <p:txBody>
          <a:bodyPr wrap="square" lIns="0" tIns="0" rIns="0" bIns="0" rtlCol="0" anchor="t"/>
          <a:lstStyle/>
          <a:p>
            <a:pPr rtl="1" algn="r" indent="0" marL="0">
              <a:buNone/>
            </a:pPr>
            <a:r>
              <a:rPr lang="ar-SA" altLang="en-US" sz="1200" dirty="0">
                <a:solidFill>
                  <a:srgbClr val="5B6B7F"/>
                </a:solidFill>
                <a:latin typeface="JF Flat" pitchFamily="34" charset="0"/>
                <a:ea typeface="JF Flat" pitchFamily="34" charset="-122"/>
                <a:cs typeface="JF Flat" pitchFamily="34" charset="-120"/>
              </a:rPr>
              <a:t>العائد من الاستثمار ابتداءً من السنة العاشرة</a:t>
            </a:r>
            <a:endParaRPr lang="ar-SA" sz="1200" dirty="0"/>
          </a:p>
        </p:txBody>
      </p:sp>
      <p:sp>
        <p:nvSpPr>
          <p:cNvPr id="21" name="Text 15"/>
          <p:cNvSpPr txBox="1"/>
          <p:nvPr/>
        </p:nvSpPr>
        <p:spPr>
          <a:xfrm>
            <a:off x="1188720" y="5989320"/>
            <a:ext cx="10454335" cy="274320"/>
          </a:xfrm>
          <a:prstGeom prst="rect">
            <a:avLst/>
          </a:prstGeom>
          <a:noFill/>
          <a:ln/>
        </p:spPr>
        <p:txBody>
          <a:bodyPr wrap="square" lIns="0" tIns="0" rIns="0" bIns="0" rtlCol="0" anchor="t"/>
          <a:lstStyle/>
          <a:p>
            <a:pPr rtl="1" algn="r" indent="0" marL="0">
              <a:buNone/>
            </a:pPr>
            <a:r>
              <a:rPr lang="ar-SA" altLang="en-US" sz="1000" i="1" dirty="0">
                <a:solidFill>
                  <a:srgbClr val="5B6B7F"/>
                </a:solidFill>
                <a:latin typeface="JF Flat" pitchFamily="34" charset="0"/>
                <a:ea typeface="JF Flat" pitchFamily="34" charset="-122"/>
                <a:cs typeface="JF Flat" pitchFamily="34" charset="-120"/>
              </a:rPr>
              <a:t>ملاحظة: الإيرادات تقديرات تخطيطية مشروطة بتحقق الطلب والتعاقدات والتسعير والجاهزية التشغيلية، وليست إيرادات مضمونة.</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06  |  الإيرادات المتوقعة</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نمو الإيرادات ومصادرها الرئيسية</a:t>
            </a:r>
            <a:endParaRPr lang="en-US" sz="3000" dirty="0"/>
          </a:p>
        </p:txBody>
      </p:sp>
      <p:sp>
        <p:nvSpPr>
          <p:cNvPr id="4" name="!!card0"/>
          <p:cNvSpPr/>
          <p:nvPr/>
        </p:nvSpPr>
        <p:spPr>
          <a:xfrm>
            <a:off x="548640" y="1554480"/>
            <a:ext cx="6309360" cy="4572000"/>
          </a:xfrm>
          <a:prstGeom prst="roundRect">
            <a:avLst>
              <a:gd name="adj" fmla="val 2000"/>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Text 3"/>
          <p:cNvSpPr txBox="1"/>
          <p:nvPr/>
        </p:nvSpPr>
        <p:spPr>
          <a:xfrm>
            <a:off x="777240" y="1691640"/>
            <a:ext cx="5852160" cy="365760"/>
          </a:xfrm>
          <a:prstGeom prst="rect">
            <a:avLst/>
          </a:prstGeom>
          <a:noFill/>
          <a:ln/>
        </p:spPr>
        <p:txBody>
          <a:bodyPr wrap="square" lIns="0" tIns="0" rIns="0" bIns="0" rtlCol="0" anchor="t"/>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الإيرادات مقابل المصروفات (مليون دينار ليبي)</a:t>
            </a:r>
            <a:endParaRPr lang="ar-SA" sz="1500" dirty="0"/>
          </a:p>
        </p:txBody>
      </p:sp>
      <p:graphicFrame>
        <p:nvGraphicFramePr>
          <p:cNvPr id="6" name="Chart 0" descr=""/>
          <p:cNvGraphicFramePr/>
          <p:nvPr/>
        </p:nvGraphicFramePr>
        <p:xfrm>
          <a:off x="685800" y="210312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7132320" y="1554480"/>
            <a:ext cx="4510735" cy="365760"/>
          </a:xfrm>
          <a:prstGeom prst="rect">
            <a:avLst/>
          </a:prstGeom>
          <a:noFill/>
          <a:ln/>
        </p:spPr>
        <p:txBody>
          <a:bodyPr wrap="square" lIns="0" tIns="0" rIns="0" bIns="0" rtlCol="0" anchor="t"/>
          <a:lstStyle/>
          <a:p>
            <a:pPr rtl="1" algn="r" indent="0" marL="0">
              <a:buNone/>
            </a:pPr>
            <a:r>
              <a:rPr lang="ar-SA" altLang="en-US" sz="1700" b="1" dirty="0">
                <a:solidFill>
                  <a:srgbClr val="06305C"/>
                </a:solidFill>
                <a:latin typeface="JF Flat" pitchFamily="34" charset="0"/>
                <a:ea typeface="JF Flat" pitchFamily="34" charset="-122"/>
                <a:cs typeface="JF Flat" pitchFamily="34" charset="-120"/>
              </a:rPr>
              <a:t>مصادر الإيرادات الرئيسية</a:t>
            </a:r>
            <a:endParaRPr lang="ar-SA" sz="1700" dirty="0"/>
          </a:p>
        </p:txBody>
      </p:sp>
      <p:sp>
        <p:nvSpPr>
          <p:cNvPr id="8" name="!!dot0"/>
          <p:cNvSpPr/>
          <p:nvPr/>
        </p:nvSpPr>
        <p:spPr>
          <a:xfrm>
            <a:off x="11277295" y="2048256"/>
            <a:ext cx="347472" cy="347472"/>
          </a:xfrm>
          <a:prstGeom prst="ellipse">
            <a:avLst/>
          </a:prstGeom>
          <a:solidFill>
            <a:srgbClr val="00539B"/>
          </a:solidFill>
          <a:ln w="12700">
            <a:solidFill>
              <a:srgbClr val="00539B"/>
            </a:solidFill>
            <a:prstDash val="solid"/>
          </a:ln>
        </p:spPr>
      </p:sp>
      <p:pic>
        <p:nvPicPr>
          <p:cNvPr id="9" name="!!ico0" descr="preencoded.png">    </p:cNvPr>
          <p:cNvPicPr>
            <a:picLocks noChangeAspect="1"/>
          </p:cNvPicPr>
          <p:nvPr/>
        </p:nvPicPr>
        <p:blipFill>
          <a:blip r:embed="rId2"/>
          <a:stretch>
            <a:fillRect/>
          </a:stretch>
        </p:blipFill>
        <p:spPr>
          <a:xfrm>
            <a:off x="11371113" y="2142073"/>
            <a:ext cx="159837" cy="159837"/>
          </a:xfrm>
          <a:prstGeom prst="rect">
            <a:avLst/>
          </a:prstGeom>
        </p:spPr>
      </p:pic>
      <p:sp>
        <p:nvSpPr>
          <p:cNvPr id="10" name="Text 6"/>
          <p:cNvSpPr txBox="1"/>
          <p:nvPr/>
        </p:nvSpPr>
        <p:spPr>
          <a:xfrm>
            <a:off x="7132320" y="20116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إيواء المعدات والخوادم (Colocation).</a:t>
            </a:r>
            <a:endParaRPr lang="ar-SA" sz="1250" dirty="0"/>
          </a:p>
        </p:txBody>
      </p:sp>
      <p:sp>
        <p:nvSpPr>
          <p:cNvPr id="11" name="!!dot1"/>
          <p:cNvSpPr/>
          <p:nvPr/>
        </p:nvSpPr>
        <p:spPr>
          <a:xfrm>
            <a:off x="11277295" y="2505456"/>
            <a:ext cx="347472" cy="347472"/>
          </a:xfrm>
          <a:prstGeom prst="ellipse">
            <a:avLst/>
          </a:prstGeom>
          <a:solidFill>
            <a:srgbClr val="F15524"/>
          </a:solidFill>
          <a:ln w="12700">
            <a:solidFill>
              <a:srgbClr val="F15524"/>
            </a:solidFill>
            <a:prstDash val="solid"/>
          </a:ln>
        </p:spPr>
      </p:sp>
      <p:pic>
        <p:nvPicPr>
          <p:cNvPr id="12" name="!!ico1" descr="preencoded.png">    </p:cNvPr>
          <p:cNvPicPr>
            <a:picLocks noChangeAspect="1"/>
          </p:cNvPicPr>
          <p:nvPr/>
        </p:nvPicPr>
        <p:blipFill>
          <a:blip r:embed="rId3"/>
          <a:stretch>
            <a:fillRect/>
          </a:stretch>
        </p:blipFill>
        <p:spPr>
          <a:xfrm>
            <a:off x="11371113" y="2599273"/>
            <a:ext cx="159837" cy="159837"/>
          </a:xfrm>
          <a:prstGeom prst="rect">
            <a:avLst/>
          </a:prstGeom>
        </p:spPr>
      </p:pic>
      <p:sp>
        <p:nvSpPr>
          <p:cNvPr id="13" name="Text 8"/>
          <p:cNvSpPr txBox="1"/>
          <p:nvPr/>
        </p:nvSpPr>
        <p:spPr>
          <a:xfrm>
            <a:off x="7132320" y="24688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الحوسبة السحابية (Cloud Computing / IaaS).</a:t>
            </a:r>
            <a:endParaRPr lang="ar-SA" sz="1250" dirty="0"/>
          </a:p>
        </p:txBody>
      </p:sp>
      <p:sp>
        <p:nvSpPr>
          <p:cNvPr id="14" name="!!dot2"/>
          <p:cNvSpPr/>
          <p:nvPr/>
        </p:nvSpPr>
        <p:spPr>
          <a:xfrm>
            <a:off x="11277295" y="2962656"/>
            <a:ext cx="347472" cy="347472"/>
          </a:xfrm>
          <a:prstGeom prst="ellipse">
            <a:avLst/>
          </a:prstGeom>
          <a:solidFill>
            <a:srgbClr val="00539B"/>
          </a:solidFill>
          <a:ln w="12700">
            <a:solidFill>
              <a:srgbClr val="00539B"/>
            </a:solidFill>
            <a:prstDash val="solid"/>
          </a:ln>
        </p:spPr>
      </p:sp>
      <p:pic>
        <p:nvPicPr>
          <p:cNvPr id="15" name="!!ico2" descr="preencoded.png">    </p:cNvPr>
          <p:cNvPicPr>
            <a:picLocks noChangeAspect="1"/>
          </p:cNvPicPr>
          <p:nvPr/>
        </p:nvPicPr>
        <p:blipFill>
          <a:blip r:embed="rId4"/>
          <a:stretch>
            <a:fillRect/>
          </a:stretch>
        </p:blipFill>
        <p:spPr>
          <a:xfrm>
            <a:off x="11371113" y="3056473"/>
            <a:ext cx="159837" cy="159837"/>
          </a:xfrm>
          <a:prstGeom prst="rect">
            <a:avLst/>
          </a:prstGeom>
        </p:spPr>
      </p:pic>
      <p:sp>
        <p:nvSpPr>
          <p:cNvPr id="16" name="Text 10"/>
          <p:cNvSpPr txBox="1"/>
          <p:nvPr/>
        </p:nvSpPr>
        <p:spPr>
          <a:xfrm>
            <a:off x="7132320" y="29260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البريد الإلكتروني والتخزين السحابي.</a:t>
            </a:r>
            <a:endParaRPr lang="ar-SA" sz="1250" dirty="0"/>
          </a:p>
        </p:txBody>
      </p:sp>
      <p:sp>
        <p:nvSpPr>
          <p:cNvPr id="17" name="!!dot3"/>
          <p:cNvSpPr/>
          <p:nvPr/>
        </p:nvSpPr>
        <p:spPr>
          <a:xfrm>
            <a:off x="11277295" y="3419856"/>
            <a:ext cx="347472" cy="347472"/>
          </a:xfrm>
          <a:prstGeom prst="ellipse">
            <a:avLst/>
          </a:prstGeom>
          <a:solidFill>
            <a:srgbClr val="F15524"/>
          </a:solidFill>
          <a:ln w="12700">
            <a:solidFill>
              <a:srgbClr val="F15524"/>
            </a:solidFill>
            <a:prstDash val="solid"/>
          </a:ln>
        </p:spPr>
      </p:sp>
      <p:pic>
        <p:nvPicPr>
          <p:cNvPr id="18" name="!!ico3" descr="preencoded.png">    </p:cNvPr>
          <p:cNvPicPr>
            <a:picLocks noChangeAspect="1"/>
          </p:cNvPicPr>
          <p:nvPr/>
        </p:nvPicPr>
        <p:blipFill>
          <a:blip r:embed="rId5"/>
          <a:stretch>
            <a:fillRect/>
          </a:stretch>
        </p:blipFill>
        <p:spPr>
          <a:xfrm>
            <a:off x="11371113" y="3513673"/>
            <a:ext cx="159837" cy="159837"/>
          </a:xfrm>
          <a:prstGeom prst="rect">
            <a:avLst/>
          </a:prstGeom>
        </p:spPr>
      </p:pic>
      <p:sp>
        <p:nvSpPr>
          <p:cNvPr id="19" name="Text 12"/>
          <p:cNvSpPr txBox="1"/>
          <p:nvPr/>
        </p:nvSpPr>
        <p:spPr>
          <a:xfrm>
            <a:off x="7132320" y="33832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النسخ الاحتياطي والتعافي من الكوارث.</a:t>
            </a:r>
            <a:endParaRPr lang="ar-SA" sz="1250" dirty="0"/>
          </a:p>
        </p:txBody>
      </p:sp>
      <p:sp>
        <p:nvSpPr>
          <p:cNvPr id="20" name="!!dot4"/>
          <p:cNvSpPr/>
          <p:nvPr/>
        </p:nvSpPr>
        <p:spPr>
          <a:xfrm>
            <a:off x="11277295" y="3877056"/>
            <a:ext cx="347472" cy="347472"/>
          </a:xfrm>
          <a:prstGeom prst="ellipse">
            <a:avLst/>
          </a:prstGeom>
          <a:solidFill>
            <a:srgbClr val="00539B"/>
          </a:solidFill>
          <a:ln w="12700">
            <a:solidFill>
              <a:srgbClr val="00539B"/>
            </a:solidFill>
            <a:prstDash val="solid"/>
          </a:ln>
        </p:spPr>
      </p:sp>
      <p:pic>
        <p:nvPicPr>
          <p:cNvPr id="21" name="!!ico4" descr="preencoded.png">    </p:cNvPr>
          <p:cNvPicPr>
            <a:picLocks noChangeAspect="1"/>
          </p:cNvPicPr>
          <p:nvPr/>
        </p:nvPicPr>
        <p:blipFill>
          <a:blip r:embed="rId6"/>
          <a:stretch>
            <a:fillRect/>
          </a:stretch>
        </p:blipFill>
        <p:spPr>
          <a:xfrm>
            <a:off x="11371113" y="3970873"/>
            <a:ext cx="159837" cy="159837"/>
          </a:xfrm>
          <a:prstGeom prst="rect">
            <a:avLst/>
          </a:prstGeom>
        </p:spPr>
      </p:pic>
      <p:sp>
        <p:nvSpPr>
          <p:cNvPr id="22" name="Text 14"/>
          <p:cNvSpPr txBox="1"/>
          <p:nvPr/>
        </p:nvSpPr>
        <p:spPr>
          <a:xfrm>
            <a:off x="7132320" y="38404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خدمات الأمن السيبراني المدارة (SOCaaS وFirewall).</a:t>
            </a:r>
            <a:endParaRPr lang="ar-SA" sz="1250" dirty="0"/>
          </a:p>
        </p:txBody>
      </p:sp>
      <p:sp>
        <p:nvSpPr>
          <p:cNvPr id="23" name="!!dot5"/>
          <p:cNvSpPr/>
          <p:nvPr/>
        </p:nvSpPr>
        <p:spPr>
          <a:xfrm>
            <a:off x="11277295" y="4334256"/>
            <a:ext cx="347472" cy="347472"/>
          </a:xfrm>
          <a:prstGeom prst="ellipse">
            <a:avLst/>
          </a:prstGeom>
          <a:solidFill>
            <a:srgbClr val="F15524"/>
          </a:solidFill>
          <a:ln w="12700">
            <a:solidFill>
              <a:srgbClr val="F15524"/>
            </a:solidFill>
            <a:prstDash val="solid"/>
          </a:ln>
        </p:spPr>
      </p:sp>
      <p:pic>
        <p:nvPicPr>
          <p:cNvPr id="24" name="!!ico5" descr="preencoded.png">    </p:cNvPr>
          <p:cNvPicPr>
            <a:picLocks noChangeAspect="1"/>
          </p:cNvPicPr>
          <p:nvPr/>
        </p:nvPicPr>
        <p:blipFill>
          <a:blip r:embed="rId7"/>
          <a:stretch>
            <a:fillRect/>
          </a:stretch>
        </p:blipFill>
        <p:spPr>
          <a:xfrm>
            <a:off x="11371113" y="4428073"/>
            <a:ext cx="159837" cy="159837"/>
          </a:xfrm>
          <a:prstGeom prst="rect">
            <a:avLst/>
          </a:prstGeom>
        </p:spPr>
      </p:pic>
      <p:sp>
        <p:nvSpPr>
          <p:cNvPr id="25" name="Text 16"/>
          <p:cNvSpPr txBox="1"/>
          <p:nvPr/>
        </p:nvSpPr>
        <p:spPr>
          <a:xfrm>
            <a:off x="7132320" y="42976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خدمات مراقبة الشبكات والأنظمة (NOCaaS).</a:t>
            </a:r>
            <a:endParaRPr lang="ar-SA" sz="1250" dirty="0"/>
          </a:p>
        </p:txBody>
      </p:sp>
      <p:sp>
        <p:nvSpPr>
          <p:cNvPr id="26" name="!!dot6"/>
          <p:cNvSpPr/>
          <p:nvPr/>
        </p:nvSpPr>
        <p:spPr>
          <a:xfrm>
            <a:off x="11277295" y="4791456"/>
            <a:ext cx="347472" cy="347472"/>
          </a:xfrm>
          <a:prstGeom prst="ellipse">
            <a:avLst/>
          </a:prstGeom>
          <a:solidFill>
            <a:srgbClr val="00539B"/>
          </a:solidFill>
          <a:ln w="12700">
            <a:solidFill>
              <a:srgbClr val="00539B"/>
            </a:solidFill>
            <a:prstDash val="solid"/>
          </a:ln>
        </p:spPr>
      </p:sp>
      <p:pic>
        <p:nvPicPr>
          <p:cNvPr id="27" name="!!ico6" descr="preencoded.png">    </p:cNvPr>
          <p:cNvPicPr>
            <a:picLocks noChangeAspect="1"/>
          </p:cNvPicPr>
          <p:nvPr/>
        </p:nvPicPr>
        <p:blipFill>
          <a:blip r:embed="rId8"/>
          <a:stretch>
            <a:fillRect/>
          </a:stretch>
        </p:blipFill>
        <p:spPr>
          <a:xfrm>
            <a:off x="11371113" y="4885273"/>
            <a:ext cx="159837" cy="159837"/>
          </a:xfrm>
          <a:prstGeom prst="rect">
            <a:avLst/>
          </a:prstGeom>
        </p:spPr>
      </p:pic>
      <p:sp>
        <p:nvSpPr>
          <p:cNvPr id="28" name="Text 18"/>
          <p:cNvSpPr txBox="1"/>
          <p:nvPr/>
        </p:nvSpPr>
        <p:spPr>
          <a:xfrm>
            <a:off x="7132320" y="4754880"/>
            <a:ext cx="4007815" cy="420624"/>
          </a:xfrm>
          <a:prstGeom prst="rect">
            <a:avLst/>
          </a:prstGeom>
          <a:noFill/>
          <a:ln/>
        </p:spPr>
        <p:txBody>
          <a:bodyPr wrap="square" lIns="0" tIns="0" rIns="0" bIns="0" rtlCol="0" anchor="ctr"/>
          <a:lstStyle/>
          <a:p>
            <a:pPr rtl="1" algn="r" indent="0" marL="0">
              <a:buNone/>
            </a:pPr>
            <a:r>
              <a:rPr lang="ar-SA" altLang="en-US" sz="1250" dirty="0">
                <a:solidFill>
                  <a:srgbClr val="1F2937"/>
                </a:solidFill>
                <a:latin typeface="JF Flat" pitchFamily="34" charset="0"/>
                <a:ea typeface="JF Flat" pitchFamily="34" charset="-122"/>
                <a:cs typeface="JF Flat" pitchFamily="34" charset="-120"/>
              </a:rPr>
              <a:t>الوصلة الآمنة وحماية حركة الإنترنت من هجمات حجب الخدمة (Clean Pipe).</a:t>
            </a:r>
            <a:endParaRPr lang="ar-SA" sz="1250" dirty="0"/>
          </a:p>
        </p:txBody>
      </p:sp>
      <p:sp>
        <p:nvSpPr>
          <p:cNvPr id="29" name="!!card1"/>
          <p:cNvSpPr/>
          <p:nvPr/>
        </p:nvSpPr>
        <p:spPr>
          <a:xfrm>
            <a:off x="7132320" y="5303520"/>
            <a:ext cx="4510735" cy="822960"/>
          </a:xfrm>
          <a:prstGeom prst="roundRect">
            <a:avLst>
              <a:gd name="adj" fmla="val 11111"/>
            </a:avLst>
          </a:prstGeom>
          <a:solidFill>
            <a:srgbClr val="06305C"/>
          </a:solidFill>
          <a:ln w="12700">
            <a:solidFill>
              <a:srgbClr val="06305C"/>
            </a:solidFill>
            <a:prstDash val="solid"/>
          </a:ln>
        </p:spPr>
      </p:sp>
      <p:sp>
        <p:nvSpPr>
          <p:cNvPr id="30" name="Text 20"/>
          <p:cNvSpPr txBox="1"/>
          <p:nvPr/>
        </p:nvSpPr>
        <p:spPr>
          <a:xfrm>
            <a:off x="7269480" y="5303520"/>
            <a:ext cx="1188720" cy="822960"/>
          </a:xfrm>
          <a:prstGeom prst="rect">
            <a:avLst/>
          </a:prstGeom>
          <a:noFill/>
          <a:ln/>
        </p:spPr>
        <p:txBody>
          <a:bodyPr wrap="square" lIns="0" tIns="0" rIns="0" bIns="0" rtlCol="0" anchor="ctr"/>
          <a:lstStyle/>
          <a:p>
            <a:pPr algn="ctr" indent="0" marL="0">
              <a:buNone/>
            </a:pPr>
            <a:r>
              <a:rPr lang="ar-SA" altLang="en-US" sz="3600" b="1" dirty="0">
                <a:solidFill>
                  <a:srgbClr val="F15524"/>
                </a:solidFill>
                <a:latin typeface="JF Flat" pitchFamily="34" charset="0"/>
                <a:ea typeface="JF Flat" pitchFamily="34" charset="-122"/>
                <a:cs typeface="JF Flat" pitchFamily="34" charset="-120"/>
              </a:rPr>
              <a:t>412</a:t>
            </a:r>
            <a:endParaRPr lang="ar-SA" sz="3600" dirty="0"/>
          </a:p>
        </p:txBody>
      </p:sp>
      <p:sp>
        <p:nvSpPr>
          <p:cNvPr id="31" name="Text 21"/>
          <p:cNvSpPr txBox="1"/>
          <p:nvPr/>
        </p:nvSpPr>
        <p:spPr>
          <a:xfrm>
            <a:off x="8458200" y="5303520"/>
            <a:ext cx="3047695" cy="822960"/>
          </a:xfrm>
          <a:prstGeom prst="rect">
            <a:avLst/>
          </a:prstGeom>
          <a:noFill/>
          <a:ln/>
        </p:spPr>
        <p:txBody>
          <a:bodyPr wrap="square" lIns="0" tIns="0" rIns="0" bIns="0" rtlCol="0" anchor="ctr"/>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افتراض السوق: </a:t>
            </a:r>
            <a:pPr algn="r" indent="0" marL="0">
              <a:buNone/>
            </a:pPr>
            <a:r>
              <a:rPr lang="ar-SA" altLang="en-US" sz="1100" dirty="0">
                <a:solidFill>
                  <a:srgbClr val="FFFFFF"/>
                </a:solidFill>
                <a:latin typeface="JF Flat" pitchFamily="34" charset="0"/>
                <a:ea typeface="JF Flat" pitchFamily="34" charset="-122"/>
                <a:cs typeface="JF Flat" pitchFamily="34" charset="-120"/>
              </a:rPr>
              <a:t>استهداف 412 جهة خلال عشر سنوات، بدءاً من 15 جهة في السنة الأولى، وصولاً إلى تغطية الجهات المستهدفة في السنة العاشرة.</a:t>
            </a:r>
            <a:endParaRPr lang="ar-SA" sz="11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07  |  النماذج المالية ومؤشرات الاستثمار</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المؤشرات الرئيسية للاستثمار (أساس نقدي)</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تعرض الدراسة النتائج المالية وفق منهجين: الربح المحاسبي والتدفقات النقدية.</a:t>
            </a:r>
            <a:endParaRPr lang="ar-SA" sz="1500" dirty="0"/>
          </a:p>
        </p:txBody>
      </p:sp>
      <p:sp>
        <p:nvSpPr>
          <p:cNvPr id="5" name="!!card0"/>
          <p:cNvSpPr/>
          <p:nvPr/>
        </p:nvSpPr>
        <p:spPr>
          <a:xfrm>
            <a:off x="8097317"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6" name="!!dot0"/>
          <p:cNvSpPr/>
          <p:nvPr/>
        </p:nvSpPr>
        <p:spPr>
          <a:xfrm>
            <a:off x="10865815" y="2240280"/>
            <a:ext cx="548640" cy="548640"/>
          </a:xfrm>
          <a:prstGeom prst="ellipse">
            <a:avLst/>
          </a:prstGeom>
          <a:solidFill>
            <a:srgbClr val="00539B"/>
          </a:solidFill>
          <a:ln w="12700">
            <a:solidFill>
              <a:srgbClr val="00539B"/>
            </a:solidFill>
            <a:prstDash val="solid"/>
          </a:ln>
        </p:spPr>
      </p:sp>
      <p:pic>
        <p:nvPicPr>
          <p:cNvPr id="7" name="!!ico0" descr="preencoded.png">    </p:cNvPr>
          <p:cNvPicPr>
            <a:picLocks noChangeAspect="1"/>
          </p:cNvPicPr>
          <p:nvPr/>
        </p:nvPicPr>
        <p:blipFill>
          <a:blip r:embed="rId1"/>
          <a:stretch>
            <a:fillRect/>
          </a:stretch>
        </p:blipFill>
        <p:spPr>
          <a:xfrm>
            <a:off x="11013948" y="2388413"/>
            <a:ext cx="252374" cy="252374"/>
          </a:xfrm>
          <a:prstGeom prst="rect">
            <a:avLst/>
          </a:prstGeom>
        </p:spPr>
      </p:pic>
      <p:sp>
        <p:nvSpPr>
          <p:cNvPr id="8" name="Text 5"/>
          <p:cNvSpPr txBox="1"/>
          <p:nvPr/>
        </p:nvSpPr>
        <p:spPr>
          <a:xfrm>
            <a:off x="8325917"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فترة الاسترداد على أساس صافي الربح</a:t>
            </a:r>
            <a:endParaRPr lang="ar-SA" sz="1300" dirty="0"/>
          </a:p>
        </p:txBody>
      </p:sp>
      <p:sp>
        <p:nvSpPr>
          <p:cNvPr id="9" name="Text 6"/>
          <p:cNvSpPr txBox="1"/>
          <p:nvPr/>
        </p:nvSpPr>
        <p:spPr>
          <a:xfrm>
            <a:off x="8325917" y="2880360"/>
            <a:ext cx="3088538" cy="822960"/>
          </a:xfrm>
          <a:prstGeom prst="rect">
            <a:avLst/>
          </a:prstGeom>
          <a:noFill/>
          <a:ln/>
        </p:spPr>
        <p:txBody>
          <a:bodyPr wrap="square" lIns="0" tIns="0" rIns="0" bIns="0" rtlCol="0" anchor="ctr"/>
          <a:lstStyle/>
          <a:p>
            <a:pPr algn="r" indent="0" marL="0">
              <a:buNone/>
            </a:pPr>
            <a:r>
              <a:rPr lang="ar-SA" altLang="en-US" sz="4400" b="1" dirty="0">
                <a:solidFill>
                  <a:srgbClr val="00539B"/>
                </a:solidFill>
                <a:latin typeface="JF Flat" pitchFamily="34" charset="0"/>
                <a:ea typeface="JF Flat" pitchFamily="34" charset="-122"/>
                <a:cs typeface="JF Flat" pitchFamily="34" charset="-120"/>
              </a:rPr>
              <a:t>11.0</a:t>
            </a:r>
            <a:pPr algn="r" indent="0" marL="0">
              <a:buNone/>
            </a:pPr>
            <a:r>
              <a:rPr lang="ar-SA" altLang="en-US" sz="1500" b="1" dirty="0">
                <a:solidFill>
                  <a:srgbClr val="5B6B7F"/>
                </a:solidFill>
                <a:latin typeface="JF Flat" pitchFamily="34" charset="0"/>
                <a:ea typeface="JF Flat" pitchFamily="34" charset="-122"/>
                <a:cs typeface="JF Flat" pitchFamily="34" charset="-120"/>
              </a:rPr>
              <a:t>  سنة</a:t>
            </a:r>
            <a:endParaRPr lang="ar-SA" sz="1400" dirty="0"/>
          </a:p>
        </p:txBody>
      </p:sp>
      <p:sp>
        <p:nvSpPr>
          <p:cNvPr id="10" name="!!card1"/>
          <p:cNvSpPr/>
          <p:nvPr/>
        </p:nvSpPr>
        <p:spPr>
          <a:xfrm>
            <a:off x="4322978"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dot1"/>
          <p:cNvSpPr/>
          <p:nvPr/>
        </p:nvSpPr>
        <p:spPr>
          <a:xfrm>
            <a:off x="7091477" y="2240280"/>
            <a:ext cx="548640" cy="548640"/>
          </a:xfrm>
          <a:prstGeom prst="ellipse">
            <a:avLst/>
          </a:prstGeom>
          <a:solidFill>
            <a:srgbClr val="F15524"/>
          </a:solidFill>
          <a:ln w="12700">
            <a:solidFill>
              <a:srgbClr val="F15524"/>
            </a:solidFill>
            <a:prstDash val="solid"/>
          </a:ln>
        </p:spPr>
      </p:sp>
      <p:pic>
        <p:nvPicPr>
          <p:cNvPr id="12" name="!!ico1" descr="preencoded.png">    </p:cNvPr>
          <p:cNvPicPr>
            <a:picLocks noChangeAspect="1"/>
          </p:cNvPicPr>
          <p:nvPr/>
        </p:nvPicPr>
        <p:blipFill>
          <a:blip r:embed="rId2"/>
          <a:stretch>
            <a:fillRect/>
          </a:stretch>
        </p:blipFill>
        <p:spPr>
          <a:xfrm>
            <a:off x="7239610" y="2388413"/>
            <a:ext cx="252374" cy="252374"/>
          </a:xfrm>
          <a:prstGeom prst="rect">
            <a:avLst/>
          </a:prstGeom>
        </p:spPr>
      </p:pic>
      <p:sp>
        <p:nvSpPr>
          <p:cNvPr id="13" name="Text 9"/>
          <p:cNvSpPr txBox="1"/>
          <p:nvPr/>
        </p:nvSpPr>
        <p:spPr>
          <a:xfrm>
            <a:off x="4551578"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فترة الاسترداد على أساس التدفق النقدي</a:t>
            </a:r>
            <a:endParaRPr lang="ar-SA" sz="1300" dirty="0"/>
          </a:p>
        </p:txBody>
      </p:sp>
      <p:sp>
        <p:nvSpPr>
          <p:cNvPr id="14" name="Text 10"/>
          <p:cNvSpPr txBox="1"/>
          <p:nvPr/>
        </p:nvSpPr>
        <p:spPr>
          <a:xfrm>
            <a:off x="4551578" y="2880360"/>
            <a:ext cx="3088538" cy="822960"/>
          </a:xfrm>
          <a:prstGeom prst="rect">
            <a:avLst/>
          </a:prstGeom>
          <a:noFill/>
          <a:ln/>
        </p:spPr>
        <p:txBody>
          <a:bodyPr wrap="square" lIns="0" tIns="0" rIns="0" bIns="0" rtlCol="0" anchor="ctr"/>
          <a:lstStyle/>
          <a:p>
            <a:pPr algn="r" indent="0" marL="0">
              <a:buNone/>
            </a:pPr>
            <a:r>
              <a:rPr lang="ar-SA" altLang="en-US" sz="4400" b="1" dirty="0">
                <a:solidFill>
                  <a:srgbClr val="F15524"/>
                </a:solidFill>
                <a:latin typeface="JF Flat" pitchFamily="34" charset="0"/>
                <a:ea typeface="JF Flat" pitchFamily="34" charset="-122"/>
                <a:cs typeface="JF Flat" pitchFamily="34" charset="-120"/>
              </a:rPr>
              <a:t>9.0</a:t>
            </a:r>
            <a:pPr algn="r" indent="0" marL="0">
              <a:buNone/>
            </a:pPr>
            <a:r>
              <a:rPr lang="ar-SA" altLang="en-US" sz="1500" b="1" dirty="0">
                <a:solidFill>
                  <a:srgbClr val="5B6B7F"/>
                </a:solidFill>
                <a:latin typeface="JF Flat" pitchFamily="34" charset="0"/>
                <a:ea typeface="JF Flat" pitchFamily="34" charset="-122"/>
                <a:cs typeface="JF Flat" pitchFamily="34" charset="-120"/>
              </a:rPr>
              <a:t>  سنوات</a:t>
            </a:r>
            <a:endParaRPr lang="ar-SA" sz="1400" dirty="0"/>
          </a:p>
        </p:txBody>
      </p:sp>
      <p:sp>
        <p:nvSpPr>
          <p:cNvPr id="15" name="!!card2"/>
          <p:cNvSpPr/>
          <p:nvPr/>
        </p:nvSpPr>
        <p:spPr>
          <a:xfrm>
            <a:off x="548640" y="201168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6" name="!!dot2"/>
          <p:cNvSpPr/>
          <p:nvPr/>
        </p:nvSpPr>
        <p:spPr>
          <a:xfrm>
            <a:off x="3317138" y="2240280"/>
            <a:ext cx="548640" cy="548640"/>
          </a:xfrm>
          <a:prstGeom prst="ellipse">
            <a:avLst/>
          </a:prstGeom>
          <a:solidFill>
            <a:srgbClr val="06305C"/>
          </a:solidFill>
          <a:ln w="12700">
            <a:solidFill>
              <a:srgbClr val="06305C"/>
            </a:solidFill>
            <a:prstDash val="solid"/>
          </a:ln>
        </p:spPr>
      </p:sp>
      <p:pic>
        <p:nvPicPr>
          <p:cNvPr id="17" name="!!ico2" descr="preencoded.png">    </p:cNvPr>
          <p:cNvPicPr>
            <a:picLocks noChangeAspect="1"/>
          </p:cNvPicPr>
          <p:nvPr/>
        </p:nvPicPr>
        <p:blipFill>
          <a:blip r:embed="rId3"/>
          <a:stretch>
            <a:fillRect/>
          </a:stretch>
        </p:blipFill>
        <p:spPr>
          <a:xfrm>
            <a:off x="3465271" y="2388413"/>
            <a:ext cx="252374" cy="252374"/>
          </a:xfrm>
          <a:prstGeom prst="rect">
            <a:avLst/>
          </a:prstGeom>
        </p:spPr>
      </p:pic>
      <p:sp>
        <p:nvSpPr>
          <p:cNvPr id="18" name="Text 13"/>
          <p:cNvSpPr txBox="1"/>
          <p:nvPr/>
        </p:nvSpPr>
        <p:spPr>
          <a:xfrm>
            <a:off x="777240" y="224028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صافي القيمة الحالية NPV</a:t>
            </a:r>
            <a:endParaRPr lang="ar-SA" sz="1300" dirty="0"/>
          </a:p>
        </p:txBody>
      </p:sp>
      <p:sp>
        <p:nvSpPr>
          <p:cNvPr id="19" name="Text 14"/>
          <p:cNvSpPr txBox="1"/>
          <p:nvPr/>
        </p:nvSpPr>
        <p:spPr>
          <a:xfrm>
            <a:off x="777240" y="2880360"/>
            <a:ext cx="3088538" cy="822960"/>
          </a:xfrm>
          <a:prstGeom prst="rect">
            <a:avLst/>
          </a:prstGeom>
          <a:noFill/>
          <a:ln/>
        </p:spPr>
        <p:txBody>
          <a:bodyPr wrap="square" lIns="0" tIns="0" rIns="0" bIns="0" rtlCol="0" anchor="ctr"/>
          <a:lstStyle/>
          <a:p>
            <a:pPr algn="r" indent="0" marL="0">
              <a:buNone/>
            </a:pPr>
            <a:r>
              <a:rPr lang="ar-SA" altLang="en-US" sz="3000" b="1" dirty="0">
                <a:solidFill>
                  <a:srgbClr val="06305C"/>
                </a:solidFill>
                <a:latin typeface="JF Flat" pitchFamily="34" charset="0"/>
                <a:ea typeface="JF Flat" pitchFamily="34" charset="-122"/>
                <a:cs typeface="JF Flat" pitchFamily="34" charset="-120"/>
              </a:rPr>
              <a:t>179,889,274</a:t>
            </a:r>
            <a:pPr algn="r" indent="0" marL="0">
              <a:buNone/>
            </a:pPr>
            <a:r>
              <a:rPr lang="ar-SA" altLang="en-US" sz="1500" b="1" dirty="0">
                <a:solidFill>
                  <a:srgbClr val="5B6B7F"/>
                </a:solidFill>
                <a:latin typeface="JF Flat" pitchFamily="34" charset="0"/>
                <a:ea typeface="JF Flat" pitchFamily="34" charset="-122"/>
                <a:cs typeface="JF Flat" pitchFamily="34" charset="-120"/>
              </a:rPr>
              <a:t>  د.ل</a:t>
            </a:r>
            <a:endParaRPr lang="ar-SA" sz="1400" dirty="0"/>
          </a:p>
        </p:txBody>
      </p:sp>
      <p:sp>
        <p:nvSpPr>
          <p:cNvPr id="20" name="!!card3"/>
          <p:cNvSpPr/>
          <p:nvPr/>
        </p:nvSpPr>
        <p:spPr>
          <a:xfrm>
            <a:off x="8097317"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1" name="!!dot3"/>
          <p:cNvSpPr/>
          <p:nvPr/>
        </p:nvSpPr>
        <p:spPr>
          <a:xfrm>
            <a:off x="10865815" y="4343400"/>
            <a:ext cx="548640" cy="548640"/>
          </a:xfrm>
          <a:prstGeom prst="ellipse">
            <a:avLst/>
          </a:prstGeom>
          <a:solidFill>
            <a:srgbClr val="06305C"/>
          </a:solidFill>
          <a:ln w="12700">
            <a:solidFill>
              <a:srgbClr val="06305C"/>
            </a:solidFill>
            <a:prstDash val="solid"/>
          </a:ln>
        </p:spPr>
      </p:sp>
      <p:pic>
        <p:nvPicPr>
          <p:cNvPr id="22" name="!!ico3" descr="preencoded.png">    </p:cNvPr>
          <p:cNvPicPr>
            <a:picLocks noChangeAspect="1"/>
          </p:cNvPicPr>
          <p:nvPr/>
        </p:nvPicPr>
        <p:blipFill>
          <a:blip r:embed="rId4"/>
          <a:stretch>
            <a:fillRect/>
          </a:stretch>
        </p:blipFill>
        <p:spPr>
          <a:xfrm>
            <a:off x="11013948" y="4491533"/>
            <a:ext cx="252374" cy="252374"/>
          </a:xfrm>
          <a:prstGeom prst="rect">
            <a:avLst/>
          </a:prstGeom>
        </p:spPr>
      </p:pic>
      <p:sp>
        <p:nvSpPr>
          <p:cNvPr id="23" name="Text 17"/>
          <p:cNvSpPr txBox="1"/>
          <p:nvPr/>
        </p:nvSpPr>
        <p:spPr>
          <a:xfrm>
            <a:off x="8325917"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إجمالي صافي التدفق النقدي خلال 12 سنة</a:t>
            </a:r>
            <a:endParaRPr lang="ar-SA" sz="1300" dirty="0"/>
          </a:p>
        </p:txBody>
      </p:sp>
      <p:sp>
        <p:nvSpPr>
          <p:cNvPr id="24" name="Text 18"/>
          <p:cNvSpPr txBox="1"/>
          <p:nvPr/>
        </p:nvSpPr>
        <p:spPr>
          <a:xfrm>
            <a:off x="8325917" y="4983480"/>
            <a:ext cx="3088538" cy="822960"/>
          </a:xfrm>
          <a:prstGeom prst="rect">
            <a:avLst/>
          </a:prstGeom>
          <a:noFill/>
          <a:ln/>
        </p:spPr>
        <p:txBody>
          <a:bodyPr wrap="square" lIns="0" tIns="0" rIns="0" bIns="0" rtlCol="0" anchor="ctr"/>
          <a:lstStyle/>
          <a:p>
            <a:pPr algn="r" indent="0" marL="0">
              <a:buNone/>
            </a:pPr>
            <a:r>
              <a:rPr lang="ar-SA" altLang="en-US" sz="3000" b="1" dirty="0">
                <a:solidFill>
                  <a:srgbClr val="06305C"/>
                </a:solidFill>
                <a:latin typeface="JF Flat" pitchFamily="34" charset="0"/>
                <a:ea typeface="JF Flat" pitchFamily="34" charset="-122"/>
                <a:cs typeface="JF Flat" pitchFamily="34" charset="-120"/>
              </a:rPr>
              <a:t>179,889,274</a:t>
            </a:r>
            <a:pPr algn="r" indent="0" marL="0">
              <a:buNone/>
            </a:pPr>
            <a:r>
              <a:rPr lang="ar-SA" altLang="en-US" sz="1500" b="1" dirty="0">
                <a:solidFill>
                  <a:srgbClr val="5B6B7F"/>
                </a:solidFill>
                <a:latin typeface="JF Flat" pitchFamily="34" charset="0"/>
                <a:ea typeface="JF Flat" pitchFamily="34" charset="-122"/>
                <a:cs typeface="JF Flat" pitchFamily="34" charset="-120"/>
              </a:rPr>
              <a:t>  د.ل</a:t>
            </a:r>
            <a:endParaRPr lang="ar-SA" sz="1400" dirty="0"/>
          </a:p>
        </p:txBody>
      </p:sp>
      <p:sp>
        <p:nvSpPr>
          <p:cNvPr id="25" name="!!card4"/>
          <p:cNvSpPr/>
          <p:nvPr/>
        </p:nvSpPr>
        <p:spPr>
          <a:xfrm>
            <a:off x="4322978"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6" name="!!dot4"/>
          <p:cNvSpPr/>
          <p:nvPr/>
        </p:nvSpPr>
        <p:spPr>
          <a:xfrm>
            <a:off x="7091477" y="4343400"/>
            <a:ext cx="548640" cy="548640"/>
          </a:xfrm>
          <a:prstGeom prst="ellipse">
            <a:avLst/>
          </a:prstGeom>
          <a:solidFill>
            <a:srgbClr val="F15524"/>
          </a:solidFill>
          <a:ln w="12700">
            <a:solidFill>
              <a:srgbClr val="F15524"/>
            </a:solidFill>
            <a:prstDash val="solid"/>
          </a:ln>
        </p:spPr>
      </p:sp>
      <p:pic>
        <p:nvPicPr>
          <p:cNvPr id="27" name="!!ico4" descr="preencoded.png">    </p:cNvPr>
          <p:cNvPicPr>
            <a:picLocks noChangeAspect="1"/>
          </p:cNvPicPr>
          <p:nvPr/>
        </p:nvPicPr>
        <p:blipFill>
          <a:blip r:embed="rId5"/>
          <a:stretch>
            <a:fillRect/>
          </a:stretch>
        </p:blipFill>
        <p:spPr>
          <a:xfrm>
            <a:off x="7239610" y="4491533"/>
            <a:ext cx="252374" cy="252374"/>
          </a:xfrm>
          <a:prstGeom prst="rect">
            <a:avLst/>
          </a:prstGeom>
        </p:spPr>
      </p:pic>
      <p:sp>
        <p:nvSpPr>
          <p:cNvPr id="28" name="Text 21"/>
          <p:cNvSpPr txBox="1"/>
          <p:nvPr/>
        </p:nvSpPr>
        <p:spPr>
          <a:xfrm>
            <a:off x="4551578"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العائد السنوي على أساس التدفق النقدي</a:t>
            </a:r>
            <a:endParaRPr lang="ar-SA" sz="1300" dirty="0"/>
          </a:p>
        </p:txBody>
      </p:sp>
      <p:sp>
        <p:nvSpPr>
          <p:cNvPr id="29" name="Text 22"/>
          <p:cNvSpPr txBox="1"/>
          <p:nvPr/>
        </p:nvSpPr>
        <p:spPr>
          <a:xfrm>
            <a:off x="4551578" y="4983480"/>
            <a:ext cx="3088538" cy="822960"/>
          </a:xfrm>
          <a:prstGeom prst="rect">
            <a:avLst/>
          </a:prstGeom>
          <a:noFill/>
          <a:ln/>
        </p:spPr>
        <p:txBody>
          <a:bodyPr wrap="square" lIns="0" tIns="0" rIns="0" bIns="0" rtlCol="0" anchor="ctr"/>
          <a:lstStyle/>
          <a:p>
            <a:pPr algn="r" indent="0" marL="0">
              <a:buNone/>
            </a:pPr>
            <a:r>
              <a:rPr lang="ar-SA" altLang="en-US" sz="4400" b="1" dirty="0">
                <a:solidFill>
                  <a:srgbClr val="F15524"/>
                </a:solidFill>
                <a:latin typeface="JF Flat" pitchFamily="34" charset="0"/>
                <a:ea typeface="JF Flat" pitchFamily="34" charset="-122"/>
                <a:cs typeface="JF Flat" pitchFamily="34" charset="-120"/>
              </a:rPr>
              <a:t>18%</a:t>
            </a:r>
            <a:pPr algn="r" indent="0" marL="0">
              <a:buNone/>
            </a:pPr>
            <a:r>
              <a:rPr lang="ar-SA" altLang="en-US" sz="1500" b="1" dirty="0">
                <a:solidFill>
                  <a:srgbClr val="5B6B7F"/>
                </a:solidFill>
                <a:latin typeface="JF Flat" pitchFamily="34" charset="0"/>
                <a:ea typeface="JF Flat" pitchFamily="34" charset="-122"/>
                <a:cs typeface="JF Flat" pitchFamily="34" charset="-120"/>
              </a:rPr>
              <a:t>  متوسط سنوي</a:t>
            </a:r>
            <a:endParaRPr lang="ar-SA" sz="1400" dirty="0"/>
          </a:p>
        </p:txBody>
      </p:sp>
      <p:sp>
        <p:nvSpPr>
          <p:cNvPr id="30" name="!!card5"/>
          <p:cNvSpPr/>
          <p:nvPr/>
        </p:nvSpPr>
        <p:spPr>
          <a:xfrm>
            <a:off x="548640" y="4114800"/>
            <a:ext cx="3545738" cy="1874520"/>
          </a:xfrm>
          <a:prstGeom prst="roundRect">
            <a:avLst>
              <a:gd name="adj" fmla="val 4878"/>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1" name="!!dot5"/>
          <p:cNvSpPr/>
          <p:nvPr/>
        </p:nvSpPr>
        <p:spPr>
          <a:xfrm>
            <a:off x="3317138" y="4343400"/>
            <a:ext cx="548640" cy="548640"/>
          </a:xfrm>
          <a:prstGeom prst="ellipse">
            <a:avLst/>
          </a:prstGeom>
          <a:solidFill>
            <a:srgbClr val="00539B"/>
          </a:solidFill>
          <a:ln w="12700">
            <a:solidFill>
              <a:srgbClr val="00539B"/>
            </a:solidFill>
            <a:prstDash val="solid"/>
          </a:ln>
        </p:spPr>
      </p:sp>
      <p:pic>
        <p:nvPicPr>
          <p:cNvPr id="32" name="!!ico5" descr="preencoded.png">    </p:cNvPr>
          <p:cNvPicPr>
            <a:picLocks noChangeAspect="1"/>
          </p:cNvPicPr>
          <p:nvPr/>
        </p:nvPicPr>
        <p:blipFill>
          <a:blip r:embed="rId6"/>
          <a:stretch>
            <a:fillRect/>
          </a:stretch>
        </p:blipFill>
        <p:spPr>
          <a:xfrm>
            <a:off x="3465271" y="4491533"/>
            <a:ext cx="252374" cy="252374"/>
          </a:xfrm>
          <a:prstGeom prst="rect">
            <a:avLst/>
          </a:prstGeom>
        </p:spPr>
      </p:pic>
      <p:sp>
        <p:nvSpPr>
          <p:cNvPr id="33" name="Text 25"/>
          <p:cNvSpPr txBox="1"/>
          <p:nvPr/>
        </p:nvSpPr>
        <p:spPr>
          <a:xfrm>
            <a:off x="777240" y="4343400"/>
            <a:ext cx="2402738" cy="548640"/>
          </a:xfrm>
          <a:prstGeom prst="rect">
            <a:avLst/>
          </a:prstGeom>
          <a:noFill/>
          <a:ln/>
        </p:spPr>
        <p:txBody>
          <a:bodyPr wrap="square" lIns="0" tIns="0" rIns="0" bIns="0" rtlCol="0" anchor="ctr"/>
          <a:lstStyle/>
          <a:p>
            <a:pPr rtl="1" algn="r" indent="0" marL="0">
              <a:buNone/>
            </a:pPr>
            <a:r>
              <a:rPr lang="ar-SA" altLang="en-US" sz="1300" b="1" dirty="0">
                <a:solidFill>
                  <a:srgbClr val="5B6B7F"/>
                </a:solidFill>
                <a:latin typeface="JF Flat" pitchFamily="34" charset="0"/>
                <a:ea typeface="JF Flat" pitchFamily="34" charset="-122"/>
                <a:cs typeface="JF Flat" pitchFamily="34" charset="-120"/>
              </a:rPr>
              <a:t>العائد السنوي على صافي الربح</a:t>
            </a:r>
            <a:endParaRPr lang="ar-SA" sz="1300" dirty="0"/>
          </a:p>
        </p:txBody>
      </p:sp>
      <p:sp>
        <p:nvSpPr>
          <p:cNvPr id="34" name="Text 26"/>
          <p:cNvSpPr txBox="1"/>
          <p:nvPr/>
        </p:nvSpPr>
        <p:spPr>
          <a:xfrm>
            <a:off x="777240" y="4983480"/>
            <a:ext cx="3088538" cy="822960"/>
          </a:xfrm>
          <a:prstGeom prst="rect">
            <a:avLst/>
          </a:prstGeom>
          <a:noFill/>
          <a:ln/>
        </p:spPr>
        <p:txBody>
          <a:bodyPr wrap="square" lIns="0" tIns="0" rIns="0" bIns="0" rtlCol="0" anchor="ctr"/>
          <a:lstStyle/>
          <a:p>
            <a:pPr algn="r" indent="0" marL="0">
              <a:buNone/>
            </a:pPr>
            <a:r>
              <a:rPr lang="ar-SA" altLang="en-US" sz="4400" b="1" dirty="0">
                <a:solidFill>
                  <a:srgbClr val="00539B"/>
                </a:solidFill>
                <a:latin typeface="JF Flat" pitchFamily="34" charset="0"/>
                <a:ea typeface="JF Flat" pitchFamily="34" charset="-122"/>
                <a:cs typeface="JF Flat" pitchFamily="34" charset="-120"/>
              </a:rPr>
              <a:t>12%</a:t>
            </a:r>
            <a:pPr algn="r" indent="0" marL="0">
              <a:buNone/>
            </a:pPr>
            <a:r>
              <a:rPr lang="ar-SA" altLang="en-US" sz="1500" b="1" dirty="0">
                <a:solidFill>
                  <a:srgbClr val="5B6B7F"/>
                </a:solidFill>
                <a:latin typeface="JF Flat" pitchFamily="34" charset="0"/>
                <a:ea typeface="JF Flat" pitchFamily="34" charset="-122"/>
                <a:cs typeface="JF Flat" pitchFamily="34" charset="-120"/>
              </a:rPr>
              <a:t>  متوسط سنوي</a:t>
            </a:r>
            <a:endParaRPr lang="ar-SA" sz="1400" dirty="0"/>
          </a:p>
        </p:txBody>
      </p:sp>
      <p:sp>
        <p:nvSpPr>
          <p:cNvPr id="35" name="Text 27"/>
          <p:cNvSpPr txBox="1"/>
          <p:nvPr/>
        </p:nvSpPr>
        <p:spPr>
          <a:xfrm>
            <a:off x="548640" y="6126480"/>
            <a:ext cx="11094415" cy="228600"/>
          </a:xfrm>
          <a:prstGeom prst="rect">
            <a:avLst/>
          </a:prstGeom>
          <a:noFill/>
          <a:ln/>
        </p:spPr>
        <p:txBody>
          <a:bodyPr wrap="square" lIns="0" tIns="0" rIns="0" bIns="0" rtlCol="0" anchor="t"/>
          <a:lstStyle/>
          <a:p>
            <a:pPr rtl="1" algn="r" indent="0" marL="0">
              <a:buNone/>
            </a:pPr>
            <a:r>
              <a:rPr lang="ar-SA" altLang="en-US" sz="1000" i="1" dirty="0">
                <a:solidFill>
                  <a:srgbClr val="5B6B7F"/>
                </a:solidFill>
                <a:latin typeface="JF Flat" pitchFamily="34" charset="0"/>
                <a:ea typeface="JF Flat" pitchFamily="34" charset="-122"/>
                <a:cs typeface="JF Flat" pitchFamily="34" charset="-120"/>
              </a:rPr>
              <a:t>ملاحظة: هذه المؤشرات أولية وليست ضماناً للعائد.</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07  |  النماذج المالية ومؤشرات الاستثمار</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نتائج النموذج المالي</a:t>
            </a:r>
            <a:endParaRPr lang="en-US" sz="3000" dirty="0"/>
          </a:p>
        </p:txBody>
      </p:sp>
      <p:sp>
        <p:nvSpPr>
          <p:cNvPr id="4" name="!!card0"/>
          <p:cNvSpPr/>
          <p:nvPr/>
        </p:nvSpPr>
        <p:spPr>
          <a:xfrm>
            <a:off x="4526280" y="1600200"/>
            <a:ext cx="7116775" cy="822960"/>
          </a:xfrm>
          <a:prstGeom prst="roundRect">
            <a:avLst>
              <a:gd name="adj" fmla="val 11111"/>
            </a:avLst>
          </a:prstGeom>
          <a:solidFill>
            <a:srgbClr val="FFFFFF"/>
          </a:solidFill>
          <a:ln w="9525">
            <a:solidFill>
              <a:srgbClr val="D6DFEA"/>
            </a:solidFill>
            <a:prstDash val="solid"/>
          </a:ln>
        </p:spPr>
      </p:sp>
      <p:sp>
        <p:nvSpPr>
          <p:cNvPr id="5" name="!!dot0"/>
          <p:cNvSpPr/>
          <p:nvPr/>
        </p:nvSpPr>
        <p:spPr>
          <a:xfrm>
            <a:off x="10929823" y="1755648"/>
            <a:ext cx="512064" cy="512064"/>
          </a:xfrm>
          <a:prstGeom prst="ellipse">
            <a:avLst/>
          </a:prstGeom>
          <a:solidFill>
            <a:srgbClr val="F15524"/>
          </a:solidFill>
          <a:ln w="12700">
            <a:solidFill>
              <a:srgbClr val="F15524"/>
            </a:solidFill>
            <a:prstDash val="solid"/>
          </a:ln>
        </p:spPr>
      </p:sp>
      <p:pic>
        <p:nvPicPr>
          <p:cNvPr id="6" name="!!ico0" descr="preencoded.png">    </p:cNvPr>
          <p:cNvPicPr>
            <a:picLocks noChangeAspect="1"/>
          </p:cNvPicPr>
          <p:nvPr/>
        </p:nvPicPr>
        <p:blipFill>
          <a:blip r:embed="rId1"/>
          <a:stretch>
            <a:fillRect/>
          </a:stretch>
        </p:blipFill>
        <p:spPr>
          <a:xfrm>
            <a:off x="11068080" y="1893905"/>
            <a:ext cx="235549" cy="235549"/>
          </a:xfrm>
          <a:prstGeom prst="rect">
            <a:avLst/>
          </a:prstGeom>
        </p:spPr>
      </p:pic>
      <p:sp>
        <p:nvSpPr>
          <p:cNvPr id="7" name="Text 4"/>
          <p:cNvSpPr txBox="1"/>
          <p:nvPr/>
        </p:nvSpPr>
        <p:spPr>
          <a:xfrm>
            <a:off x="4709160" y="1600200"/>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تبدأ الأرباح المحاسبية السنوية بالظهور في السنة الخامسة وفق جدول الأرباح والخسائر، بينما يشير الملخص التنفيذي إلى السنة السادسة؛ ويجب توحيد هذا الاختلاف في النسخة النهائية للدراسة.</a:t>
            </a:r>
            <a:endParaRPr lang="ar-SA" sz="1350" dirty="0"/>
          </a:p>
        </p:txBody>
      </p:sp>
      <p:sp>
        <p:nvSpPr>
          <p:cNvPr id="8" name="!!card1"/>
          <p:cNvSpPr/>
          <p:nvPr/>
        </p:nvSpPr>
        <p:spPr>
          <a:xfrm>
            <a:off x="4526280" y="2532888"/>
            <a:ext cx="7116775" cy="822960"/>
          </a:xfrm>
          <a:prstGeom prst="roundRect">
            <a:avLst>
              <a:gd name="adj" fmla="val 11111"/>
            </a:avLst>
          </a:prstGeom>
          <a:solidFill>
            <a:srgbClr val="F4F7FB"/>
          </a:solidFill>
          <a:ln w="9525">
            <a:solidFill>
              <a:srgbClr val="D6DFEA"/>
            </a:solidFill>
            <a:prstDash val="solid"/>
          </a:ln>
        </p:spPr>
      </p:sp>
      <p:sp>
        <p:nvSpPr>
          <p:cNvPr id="9" name="!!dot1"/>
          <p:cNvSpPr/>
          <p:nvPr/>
        </p:nvSpPr>
        <p:spPr>
          <a:xfrm>
            <a:off x="10929823" y="2688336"/>
            <a:ext cx="512064" cy="512064"/>
          </a:xfrm>
          <a:prstGeom prst="ellipse">
            <a:avLst/>
          </a:prstGeom>
          <a:solidFill>
            <a:srgbClr val="00539B"/>
          </a:solidFill>
          <a:ln w="12700">
            <a:solidFill>
              <a:srgbClr val="00539B"/>
            </a:solidFill>
            <a:prstDash val="solid"/>
          </a:ln>
        </p:spPr>
      </p:sp>
      <p:pic>
        <p:nvPicPr>
          <p:cNvPr id="10" name="!!ico1" descr="preencoded.png">    </p:cNvPr>
          <p:cNvPicPr>
            <a:picLocks noChangeAspect="1"/>
          </p:cNvPicPr>
          <p:nvPr/>
        </p:nvPicPr>
        <p:blipFill>
          <a:blip r:embed="rId2"/>
          <a:stretch>
            <a:fillRect/>
          </a:stretch>
        </p:blipFill>
        <p:spPr>
          <a:xfrm>
            <a:off x="11068080" y="2826593"/>
            <a:ext cx="235549" cy="235549"/>
          </a:xfrm>
          <a:prstGeom prst="rect">
            <a:avLst/>
          </a:prstGeom>
        </p:spPr>
      </p:pic>
      <p:sp>
        <p:nvSpPr>
          <p:cNvPr id="11" name="Text 7"/>
          <p:cNvSpPr txBox="1"/>
          <p:nvPr/>
        </p:nvSpPr>
        <p:spPr>
          <a:xfrm>
            <a:off x="4709160" y="2532888"/>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تتحول التدفقات النقدية التشغيلية إلى قيمة موجبة من السنة الثانية.</a:t>
            </a:r>
            <a:endParaRPr lang="ar-SA" sz="1350" dirty="0"/>
          </a:p>
        </p:txBody>
      </p:sp>
      <p:sp>
        <p:nvSpPr>
          <p:cNvPr id="12" name="!!card2"/>
          <p:cNvSpPr/>
          <p:nvPr/>
        </p:nvSpPr>
        <p:spPr>
          <a:xfrm>
            <a:off x="4526280" y="3465576"/>
            <a:ext cx="7116775" cy="822960"/>
          </a:xfrm>
          <a:prstGeom prst="roundRect">
            <a:avLst>
              <a:gd name="adj" fmla="val 11111"/>
            </a:avLst>
          </a:prstGeom>
          <a:solidFill>
            <a:srgbClr val="FFFFFF"/>
          </a:solidFill>
          <a:ln w="9525">
            <a:solidFill>
              <a:srgbClr val="D6DFEA"/>
            </a:solidFill>
            <a:prstDash val="solid"/>
          </a:ln>
        </p:spPr>
      </p:sp>
      <p:sp>
        <p:nvSpPr>
          <p:cNvPr id="13" name="!!dot2"/>
          <p:cNvSpPr/>
          <p:nvPr/>
        </p:nvSpPr>
        <p:spPr>
          <a:xfrm>
            <a:off x="10929823" y="3621024"/>
            <a:ext cx="512064" cy="512064"/>
          </a:xfrm>
          <a:prstGeom prst="ellipse">
            <a:avLst/>
          </a:prstGeom>
          <a:solidFill>
            <a:srgbClr val="00539B"/>
          </a:solidFill>
          <a:ln w="12700">
            <a:solidFill>
              <a:srgbClr val="00539B"/>
            </a:solidFill>
            <a:prstDash val="solid"/>
          </a:ln>
        </p:spPr>
      </p:sp>
      <p:pic>
        <p:nvPicPr>
          <p:cNvPr id="14" name="!!ico2" descr="preencoded.png">    </p:cNvPr>
          <p:cNvPicPr>
            <a:picLocks noChangeAspect="1"/>
          </p:cNvPicPr>
          <p:nvPr/>
        </p:nvPicPr>
        <p:blipFill>
          <a:blip r:embed="rId3"/>
          <a:stretch>
            <a:fillRect/>
          </a:stretch>
        </p:blipFill>
        <p:spPr>
          <a:xfrm>
            <a:off x="11068080" y="3759281"/>
            <a:ext cx="235549" cy="235549"/>
          </a:xfrm>
          <a:prstGeom prst="rect">
            <a:avLst/>
          </a:prstGeom>
        </p:spPr>
      </p:pic>
      <p:sp>
        <p:nvSpPr>
          <p:cNvPr id="15" name="Text 10"/>
          <p:cNvSpPr txBox="1"/>
          <p:nvPr/>
        </p:nvSpPr>
        <p:spPr>
          <a:xfrm>
            <a:off x="4709160" y="3465576"/>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يصل التدفق النقدي التراكمي إلى الموجب خلال السنة التاسعة، وفق النموذج الوارد في الدراسة.</a:t>
            </a:r>
            <a:endParaRPr lang="ar-SA" sz="1350" dirty="0"/>
          </a:p>
        </p:txBody>
      </p:sp>
      <p:sp>
        <p:nvSpPr>
          <p:cNvPr id="16" name="!!card3"/>
          <p:cNvSpPr/>
          <p:nvPr/>
        </p:nvSpPr>
        <p:spPr>
          <a:xfrm>
            <a:off x="4526280" y="4398264"/>
            <a:ext cx="7116775" cy="822960"/>
          </a:xfrm>
          <a:prstGeom prst="roundRect">
            <a:avLst>
              <a:gd name="adj" fmla="val 11111"/>
            </a:avLst>
          </a:prstGeom>
          <a:solidFill>
            <a:srgbClr val="F4F7FB"/>
          </a:solidFill>
          <a:ln w="9525">
            <a:solidFill>
              <a:srgbClr val="D6DFEA"/>
            </a:solidFill>
            <a:prstDash val="solid"/>
          </a:ln>
        </p:spPr>
      </p:sp>
      <p:sp>
        <p:nvSpPr>
          <p:cNvPr id="17" name="!!dot3"/>
          <p:cNvSpPr/>
          <p:nvPr/>
        </p:nvSpPr>
        <p:spPr>
          <a:xfrm>
            <a:off x="10929823" y="4553712"/>
            <a:ext cx="512064" cy="512064"/>
          </a:xfrm>
          <a:prstGeom prst="ellipse">
            <a:avLst/>
          </a:prstGeom>
          <a:solidFill>
            <a:srgbClr val="00539B"/>
          </a:solidFill>
          <a:ln w="12700">
            <a:solidFill>
              <a:srgbClr val="00539B"/>
            </a:solidFill>
            <a:prstDash val="solid"/>
          </a:ln>
        </p:spPr>
      </p:sp>
      <p:pic>
        <p:nvPicPr>
          <p:cNvPr id="18" name="!!ico3" descr="preencoded.png">    </p:cNvPr>
          <p:cNvPicPr>
            <a:picLocks noChangeAspect="1"/>
          </p:cNvPicPr>
          <p:nvPr/>
        </p:nvPicPr>
        <p:blipFill>
          <a:blip r:embed="rId4"/>
          <a:stretch>
            <a:fillRect/>
          </a:stretch>
        </p:blipFill>
        <p:spPr>
          <a:xfrm>
            <a:off x="11068080" y="4691969"/>
            <a:ext cx="235549" cy="235549"/>
          </a:xfrm>
          <a:prstGeom prst="rect">
            <a:avLst/>
          </a:prstGeom>
        </p:spPr>
      </p:pic>
      <p:sp>
        <p:nvSpPr>
          <p:cNvPr id="19" name="Text 13"/>
          <p:cNvSpPr txBox="1"/>
          <p:nvPr/>
        </p:nvSpPr>
        <p:spPr>
          <a:xfrm>
            <a:off x="4709160" y="4398264"/>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يبلغ متوسط العائد السنوي على أساس التدفق النقدي نحو 18%، ومتوسط العائد السنوي على صافي الربح نحو 12% وفق تقديرات الدراسة.</a:t>
            </a:r>
            <a:endParaRPr lang="ar-SA" sz="1350" dirty="0"/>
          </a:p>
        </p:txBody>
      </p:sp>
      <p:sp>
        <p:nvSpPr>
          <p:cNvPr id="20" name="!!card4"/>
          <p:cNvSpPr/>
          <p:nvPr/>
        </p:nvSpPr>
        <p:spPr>
          <a:xfrm>
            <a:off x="4526280" y="5330952"/>
            <a:ext cx="7116775" cy="822960"/>
          </a:xfrm>
          <a:prstGeom prst="roundRect">
            <a:avLst>
              <a:gd name="adj" fmla="val 11111"/>
            </a:avLst>
          </a:prstGeom>
          <a:solidFill>
            <a:srgbClr val="FFFFFF"/>
          </a:solidFill>
          <a:ln w="9525">
            <a:solidFill>
              <a:srgbClr val="D6DFEA"/>
            </a:solidFill>
            <a:prstDash val="solid"/>
          </a:ln>
        </p:spPr>
      </p:sp>
      <p:sp>
        <p:nvSpPr>
          <p:cNvPr id="21" name="!!dot4"/>
          <p:cNvSpPr/>
          <p:nvPr/>
        </p:nvSpPr>
        <p:spPr>
          <a:xfrm>
            <a:off x="10929823" y="5486400"/>
            <a:ext cx="512064" cy="512064"/>
          </a:xfrm>
          <a:prstGeom prst="ellipse">
            <a:avLst/>
          </a:prstGeom>
          <a:solidFill>
            <a:srgbClr val="00539B"/>
          </a:solidFill>
          <a:ln w="12700">
            <a:solidFill>
              <a:srgbClr val="00539B"/>
            </a:solidFill>
            <a:prstDash val="solid"/>
          </a:ln>
        </p:spPr>
      </p:sp>
      <p:pic>
        <p:nvPicPr>
          <p:cNvPr id="22" name="!!ico4" descr="preencoded.png">    </p:cNvPr>
          <p:cNvPicPr>
            <a:picLocks noChangeAspect="1"/>
          </p:cNvPicPr>
          <p:nvPr/>
        </p:nvPicPr>
        <p:blipFill>
          <a:blip r:embed="rId5"/>
          <a:stretch>
            <a:fillRect/>
          </a:stretch>
        </p:blipFill>
        <p:spPr>
          <a:xfrm>
            <a:off x="11068080" y="5624657"/>
            <a:ext cx="235549" cy="235549"/>
          </a:xfrm>
          <a:prstGeom prst="rect">
            <a:avLst/>
          </a:prstGeom>
        </p:spPr>
      </p:pic>
      <p:sp>
        <p:nvSpPr>
          <p:cNvPr id="23" name="Text 16"/>
          <p:cNvSpPr txBox="1"/>
          <p:nvPr/>
        </p:nvSpPr>
        <p:spPr>
          <a:xfrm>
            <a:off x="4709160" y="5330952"/>
            <a:ext cx="6110935" cy="822960"/>
          </a:xfrm>
          <a:prstGeom prst="rect">
            <a:avLst/>
          </a:prstGeom>
          <a:noFill/>
          <a:ln/>
        </p:spPr>
        <p:txBody>
          <a:bodyPr wrap="square" lIns="0" tIns="0" rIns="0" bIns="0" rtlCol="0" anchor="ctr"/>
          <a:lstStyle/>
          <a:p>
            <a:pPr rtl="1" algn="r" indent="0" marL="0">
              <a:buNone/>
            </a:pPr>
            <a:r>
              <a:rPr lang="ar-SA" altLang="en-US" sz="1350" dirty="0">
                <a:solidFill>
                  <a:srgbClr val="1F2937"/>
                </a:solidFill>
                <a:latin typeface="JF Flat" pitchFamily="34" charset="0"/>
                <a:ea typeface="JF Flat" pitchFamily="34" charset="-122"/>
                <a:cs typeface="JF Flat" pitchFamily="34" charset="-120"/>
              </a:rPr>
              <a:t>يتأثر العائد بدرجة كبيرة بتكلفة الاستهلاك، وتوقيت التوسعة، وحجم الطلب الفعلي.</a:t>
            </a:r>
            <a:endParaRPr lang="ar-SA" sz="1350" dirty="0"/>
          </a:p>
        </p:txBody>
      </p:sp>
      <p:sp>
        <p:nvSpPr>
          <p:cNvPr id="24" name="!!card5"/>
          <p:cNvSpPr/>
          <p:nvPr/>
        </p:nvSpPr>
        <p:spPr>
          <a:xfrm>
            <a:off x="548640" y="1600200"/>
            <a:ext cx="3703320" cy="4526280"/>
          </a:xfrm>
          <a:prstGeom prst="roundRect">
            <a:avLst>
              <a:gd name="adj" fmla="val 2469"/>
            </a:avLst>
          </a:prstGeom>
          <a:solidFill>
            <a:srgbClr val="FEF0EA"/>
          </a:solidFill>
          <a:ln w="9525">
            <a:solidFill>
              <a:srgbClr val="F8C9B5"/>
            </a:solidFill>
            <a:prstDash val="solid"/>
          </a:ln>
        </p:spPr>
      </p:sp>
      <p:sp>
        <p:nvSpPr>
          <p:cNvPr id="25" name="!!dot5"/>
          <p:cNvSpPr/>
          <p:nvPr/>
        </p:nvSpPr>
        <p:spPr>
          <a:xfrm>
            <a:off x="777240" y="1828800"/>
            <a:ext cx="640080" cy="640080"/>
          </a:xfrm>
          <a:prstGeom prst="ellipse">
            <a:avLst/>
          </a:prstGeom>
          <a:solidFill>
            <a:srgbClr val="F15524"/>
          </a:solidFill>
          <a:ln w="12700">
            <a:solidFill>
              <a:srgbClr val="F15524"/>
            </a:solidFill>
            <a:prstDash val="solid"/>
          </a:ln>
        </p:spPr>
      </p:sp>
      <p:pic>
        <p:nvPicPr>
          <p:cNvPr id="26" name="!!ico5" descr="preencoded.png">    </p:cNvPr>
          <p:cNvPicPr>
            <a:picLocks noChangeAspect="1"/>
          </p:cNvPicPr>
          <p:nvPr/>
        </p:nvPicPr>
        <p:blipFill>
          <a:blip r:embed="rId6"/>
          <a:stretch>
            <a:fillRect/>
          </a:stretch>
        </p:blipFill>
        <p:spPr>
          <a:xfrm>
            <a:off x="950062" y="2001622"/>
            <a:ext cx="294437" cy="294437"/>
          </a:xfrm>
          <a:prstGeom prst="rect">
            <a:avLst/>
          </a:prstGeom>
        </p:spPr>
      </p:pic>
      <p:sp>
        <p:nvSpPr>
          <p:cNvPr id="27" name="Text 19"/>
          <p:cNvSpPr txBox="1"/>
          <p:nvPr/>
        </p:nvSpPr>
        <p:spPr>
          <a:xfrm>
            <a:off x="1508760" y="1828800"/>
            <a:ext cx="2560320" cy="640080"/>
          </a:xfrm>
          <a:prstGeom prst="rect">
            <a:avLst/>
          </a:prstGeom>
          <a:noFill/>
          <a:ln/>
        </p:spPr>
        <p:txBody>
          <a:bodyPr wrap="square" lIns="0" tIns="0" rIns="0" bIns="0" rtlCol="0" anchor="ctr"/>
          <a:lstStyle/>
          <a:p>
            <a:pPr rtl="1" algn="r" indent="0" marL="0">
              <a:buNone/>
            </a:pPr>
            <a:r>
              <a:rPr lang="ar-SA" altLang="en-US" sz="1800" b="1" dirty="0">
                <a:solidFill>
                  <a:srgbClr val="F15524"/>
                </a:solidFill>
                <a:latin typeface="JF Flat" pitchFamily="34" charset="0"/>
                <a:ea typeface="JF Flat" pitchFamily="34" charset="-122"/>
                <a:cs typeface="JF Flat" pitchFamily="34" charset="-120"/>
              </a:rPr>
              <a:t>ملاحظة مالية مهمة</a:t>
            </a:r>
            <a:endParaRPr lang="ar-SA" sz="1800" dirty="0"/>
          </a:p>
        </p:txBody>
      </p:sp>
      <p:sp>
        <p:nvSpPr>
          <p:cNvPr id="28" name="Text 20"/>
          <p:cNvSpPr txBox="1"/>
          <p:nvPr/>
        </p:nvSpPr>
        <p:spPr>
          <a:xfrm>
            <a:off x="822960" y="2697480"/>
            <a:ext cx="3154680" cy="3200400"/>
          </a:xfrm>
          <a:prstGeom prst="rect">
            <a:avLst/>
          </a:prstGeom>
          <a:noFill/>
          <a:ln/>
        </p:spPr>
        <p:txBody>
          <a:bodyPr wrap="square" lIns="0" tIns="0" rIns="0" bIns="0" rtlCol="0" anchor="t"/>
          <a:lstStyle/>
          <a:p>
            <a:pPr rtl="1" algn="r" indent="0" marL="0">
              <a:lnSpc>
                <a:spcPct val="125000"/>
              </a:lnSpc>
              <a:buNone/>
            </a:pPr>
            <a:r>
              <a:rPr lang="ar-SA" altLang="en-US" sz="1400" dirty="0">
                <a:solidFill>
                  <a:srgbClr val="1F2937"/>
                </a:solidFill>
                <a:latin typeface="JF Flat" pitchFamily="34" charset="0"/>
                <a:ea typeface="JF Flat" pitchFamily="34" charset="-122"/>
                <a:cs typeface="JF Flat" pitchFamily="34" charset="-120"/>
              </a:rPr>
              <a:t>هذه المؤشرات أولية وليست ضماناً للعائد. كما أن صافي التدفقات النقدية التراكمي ليس مرادفاً تلقائياً لصافي القيمة الحالية (NPV) بالمعنى المالي المتعارف عليه؛ لذا يجب مراجعة حسابات التدفقات والخصم قبل اعتماد المؤشرات الاستثمارية نهائياً.</a:t>
            </a:r>
            <a:endParaRPr lang="ar-SA" sz="14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08  |  النماذج المقترحة لتمويل المشروع</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بدائل تمويل المشروع</a:t>
            </a:r>
            <a:endParaRPr lang="en-US" sz="3000" dirty="0"/>
          </a:p>
        </p:txBody>
      </p:sp>
      <p:sp>
        <p:nvSpPr>
          <p:cNvPr id="4" name="Text 2"/>
          <p:cNvSpPr txBox="1"/>
          <p:nvPr/>
        </p:nvSpPr>
        <p:spPr>
          <a:xfrm>
            <a:off x="548640" y="1481328"/>
            <a:ext cx="11094415" cy="347472"/>
          </a:xfrm>
          <a:prstGeom prst="rect">
            <a:avLst/>
          </a:prstGeom>
          <a:noFill/>
          <a:ln/>
        </p:spPr>
        <p:txBody>
          <a:bodyPr wrap="square" lIns="0" tIns="0" rIns="0" bIns="0" rtlCol="0" anchor="t"/>
          <a:lstStyle/>
          <a:p>
            <a:pPr rtl="1" algn="r" indent="0" marL="0">
              <a:buNone/>
            </a:pPr>
            <a:r>
              <a:rPr lang="ar-SA" altLang="en-US" sz="1500" dirty="0">
                <a:solidFill>
                  <a:srgbClr val="5B6B7F"/>
                </a:solidFill>
                <a:latin typeface="JF Flat" pitchFamily="34" charset="0"/>
                <a:ea typeface="JF Flat" pitchFamily="34" charset="-122"/>
                <a:cs typeface="JF Flat" pitchFamily="34" charset="-120"/>
              </a:rPr>
              <a:t>نظراً لارتفاع الاستثمار الرأسمالي، تعرض الدراسة بدائل تمويلية يمكن المفاضلة بينها:</a:t>
            </a:r>
            <a:endParaRPr lang="ar-SA" sz="1500" dirty="0"/>
          </a:p>
        </p:txBody>
      </p:sp>
      <p:sp>
        <p:nvSpPr>
          <p:cNvPr id="5" name="!!card0"/>
          <p:cNvSpPr/>
          <p:nvPr/>
        </p:nvSpPr>
        <p:spPr>
          <a:xfrm>
            <a:off x="9040901"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6" name="Shape 4"/>
          <p:cNvSpPr/>
          <p:nvPr/>
        </p:nvSpPr>
        <p:spPr>
          <a:xfrm>
            <a:off x="9040901" y="1901952"/>
            <a:ext cx="2602154" cy="960120"/>
          </a:xfrm>
          <a:prstGeom prst="roundRect">
            <a:avLst>
              <a:gd name="adj" fmla="val 9524"/>
            </a:avLst>
          </a:prstGeom>
          <a:solidFill>
            <a:srgbClr val="06305C"/>
          </a:solidFill>
          <a:ln w="12700">
            <a:solidFill>
              <a:srgbClr val="06305C"/>
            </a:solidFill>
            <a:prstDash val="solid"/>
          </a:ln>
        </p:spPr>
      </p:sp>
      <p:sp>
        <p:nvSpPr>
          <p:cNvPr id="7" name="Shape 5"/>
          <p:cNvSpPr/>
          <p:nvPr/>
        </p:nvSpPr>
        <p:spPr>
          <a:xfrm>
            <a:off x="9040901" y="2542032"/>
            <a:ext cx="2602154" cy="320040"/>
          </a:xfrm>
          <a:prstGeom prst="rect">
            <a:avLst/>
          </a:prstGeom>
          <a:solidFill>
            <a:srgbClr val="06305C"/>
          </a:solidFill>
          <a:ln w="12700">
            <a:solidFill>
              <a:srgbClr val="06305C"/>
            </a:solidFill>
            <a:prstDash val="solid"/>
          </a:ln>
        </p:spPr>
      </p:sp>
      <p:pic>
        <p:nvPicPr>
          <p:cNvPr id="8" name="Image 0" descr="preencoded.png">    </p:cNvPr>
          <p:cNvPicPr>
            <a:picLocks noChangeAspect="1"/>
          </p:cNvPicPr>
          <p:nvPr/>
        </p:nvPicPr>
        <p:blipFill>
          <a:blip r:embed="rId1"/>
          <a:stretch>
            <a:fillRect/>
          </a:stretch>
        </p:blipFill>
        <p:spPr>
          <a:xfrm>
            <a:off x="11076127" y="2130552"/>
            <a:ext cx="384048" cy="384048"/>
          </a:xfrm>
          <a:prstGeom prst="rect">
            <a:avLst/>
          </a:prstGeom>
        </p:spPr>
      </p:pic>
      <p:sp>
        <p:nvSpPr>
          <p:cNvPr id="9" name="Text 6"/>
          <p:cNvSpPr txBox="1"/>
          <p:nvPr/>
        </p:nvSpPr>
        <p:spPr>
          <a:xfrm>
            <a:off x="9178061"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التمويل المباشر</a:t>
            </a:r>
            <a:endParaRPr lang="ar-SA" sz="1300" dirty="0"/>
          </a:p>
        </p:txBody>
      </p:sp>
      <p:sp>
        <p:nvSpPr>
          <p:cNvPr id="10" name="Text 7"/>
          <p:cNvSpPr txBox="1"/>
          <p:nvPr/>
        </p:nvSpPr>
        <p:spPr>
          <a:xfrm>
            <a:off x="9178061"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Direct</a:t>
            </a:r>
            <a:endParaRPr lang="ar-SA" sz="1100" dirty="0"/>
          </a:p>
        </p:txBody>
      </p:sp>
      <p:sp>
        <p:nvSpPr>
          <p:cNvPr id="11" name="Text 8"/>
          <p:cNvSpPr txBox="1"/>
          <p:nvPr/>
        </p:nvSpPr>
        <p:spPr>
          <a:xfrm>
            <a:off x="9223781"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12" name="Text 9"/>
          <p:cNvSpPr txBox="1"/>
          <p:nvPr/>
        </p:nvSpPr>
        <p:spPr>
          <a:xfrm>
            <a:off x="9223781"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تمويل الشركة للمشروع من مواردها أو من مصادر تمويل تحصل عليها.</a:t>
            </a:r>
            <a:endParaRPr lang="ar-SA" sz="1200" dirty="0"/>
          </a:p>
        </p:txBody>
      </p:sp>
      <p:sp>
        <p:nvSpPr>
          <p:cNvPr id="13" name="Shape 10"/>
          <p:cNvSpPr/>
          <p:nvPr/>
        </p:nvSpPr>
        <p:spPr>
          <a:xfrm>
            <a:off x="9178061" y="4096512"/>
            <a:ext cx="2327834" cy="457200"/>
          </a:xfrm>
          <a:prstGeom prst="roundRect">
            <a:avLst>
              <a:gd name="adj" fmla="val 16000"/>
            </a:avLst>
          </a:prstGeom>
          <a:solidFill>
            <a:srgbClr val="FEF0EA"/>
          </a:solidFill>
          <a:ln w="12700">
            <a:solidFill>
              <a:srgbClr val="FEF0EA"/>
            </a:solidFill>
            <a:prstDash val="solid"/>
          </a:ln>
        </p:spPr>
      </p:sp>
      <p:pic>
        <p:nvPicPr>
          <p:cNvPr id="14" name="Image 1" descr="preencoded.png">    </p:cNvPr>
          <p:cNvPicPr>
            <a:picLocks noChangeAspect="1"/>
          </p:cNvPicPr>
          <p:nvPr/>
        </p:nvPicPr>
        <p:blipFill>
          <a:blip r:embed="rId2"/>
          <a:stretch>
            <a:fillRect/>
          </a:stretch>
        </p:blipFill>
        <p:spPr>
          <a:xfrm>
            <a:off x="11204143" y="4215384"/>
            <a:ext cx="219456" cy="219456"/>
          </a:xfrm>
          <a:prstGeom prst="rect">
            <a:avLst/>
          </a:prstGeom>
        </p:spPr>
      </p:pic>
      <p:sp>
        <p:nvSpPr>
          <p:cNvPr id="15" name="Text 11"/>
          <p:cNvSpPr txBox="1"/>
          <p:nvPr/>
        </p:nvSpPr>
        <p:spPr>
          <a:xfrm>
            <a:off x="9269501"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سيطرة مباشرة أكبر على المشروع</a:t>
            </a:r>
            <a:endParaRPr lang="ar-SA" sz="1150" dirty="0"/>
          </a:p>
        </p:txBody>
      </p:sp>
      <p:sp>
        <p:nvSpPr>
          <p:cNvPr id="16" name="!!card1"/>
          <p:cNvSpPr/>
          <p:nvPr/>
        </p:nvSpPr>
        <p:spPr>
          <a:xfrm>
            <a:off x="6210148"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Shape 13"/>
          <p:cNvSpPr/>
          <p:nvPr/>
        </p:nvSpPr>
        <p:spPr>
          <a:xfrm>
            <a:off x="6210148" y="1901952"/>
            <a:ext cx="2602154" cy="960120"/>
          </a:xfrm>
          <a:prstGeom prst="roundRect">
            <a:avLst>
              <a:gd name="adj" fmla="val 9524"/>
            </a:avLst>
          </a:prstGeom>
          <a:solidFill>
            <a:srgbClr val="06305C"/>
          </a:solidFill>
          <a:ln w="12700">
            <a:solidFill>
              <a:srgbClr val="06305C"/>
            </a:solidFill>
            <a:prstDash val="solid"/>
          </a:ln>
        </p:spPr>
      </p:sp>
      <p:sp>
        <p:nvSpPr>
          <p:cNvPr id="18" name="Shape 14"/>
          <p:cNvSpPr/>
          <p:nvPr/>
        </p:nvSpPr>
        <p:spPr>
          <a:xfrm>
            <a:off x="6210148" y="2542032"/>
            <a:ext cx="2602154" cy="320040"/>
          </a:xfrm>
          <a:prstGeom prst="rect">
            <a:avLst/>
          </a:prstGeom>
          <a:solidFill>
            <a:srgbClr val="06305C"/>
          </a:solidFill>
          <a:ln w="12700">
            <a:solidFill>
              <a:srgbClr val="06305C"/>
            </a:solidFill>
            <a:prstDash val="solid"/>
          </a:ln>
        </p:spPr>
      </p:sp>
      <p:pic>
        <p:nvPicPr>
          <p:cNvPr id="19" name="Image 2" descr="preencoded.png">    </p:cNvPr>
          <p:cNvPicPr>
            <a:picLocks noChangeAspect="1"/>
          </p:cNvPicPr>
          <p:nvPr/>
        </p:nvPicPr>
        <p:blipFill>
          <a:blip r:embed="rId3"/>
          <a:stretch>
            <a:fillRect/>
          </a:stretch>
        </p:blipFill>
        <p:spPr>
          <a:xfrm>
            <a:off x="8245373" y="2130552"/>
            <a:ext cx="384048" cy="384048"/>
          </a:xfrm>
          <a:prstGeom prst="rect">
            <a:avLst/>
          </a:prstGeom>
        </p:spPr>
      </p:pic>
      <p:sp>
        <p:nvSpPr>
          <p:cNvPr id="20" name="Text 15"/>
          <p:cNvSpPr txBox="1"/>
          <p:nvPr/>
        </p:nvSpPr>
        <p:spPr>
          <a:xfrm>
            <a:off x="6347308"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الشراكة بين القطاعين العام والخاص</a:t>
            </a:r>
            <a:endParaRPr lang="ar-SA" sz="1300" dirty="0"/>
          </a:p>
        </p:txBody>
      </p:sp>
      <p:sp>
        <p:nvSpPr>
          <p:cNvPr id="21" name="Text 16"/>
          <p:cNvSpPr txBox="1"/>
          <p:nvPr/>
        </p:nvSpPr>
        <p:spPr>
          <a:xfrm>
            <a:off x="6347308"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PPP</a:t>
            </a:r>
            <a:endParaRPr lang="ar-SA" sz="1100" dirty="0"/>
          </a:p>
        </p:txBody>
      </p:sp>
      <p:sp>
        <p:nvSpPr>
          <p:cNvPr id="22" name="Text 17"/>
          <p:cNvSpPr txBox="1"/>
          <p:nvPr/>
        </p:nvSpPr>
        <p:spPr>
          <a:xfrm>
            <a:off x="6393028"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23" name="Text 18"/>
          <p:cNvSpPr txBox="1"/>
          <p:nvPr/>
        </p:nvSpPr>
        <p:spPr>
          <a:xfrm>
            <a:off x="6393028"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مساهمة الشركة بالأصول والبنية التحتية، مع مساهمة الشريك بالتمويل والتجهيزات وفق الاتفاق.</a:t>
            </a:r>
            <a:endParaRPr lang="ar-SA" sz="1200" dirty="0"/>
          </a:p>
        </p:txBody>
      </p:sp>
      <p:sp>
        <p:nvSpPr>
          <p:cNvPr id="24" name="Shape 19"/>
          <p:cNvSpPr/>
          <p:nvPr/>
        </p:nvSpPr>
        <p:spPr>
          <a:xfrm>
            <a:off x="6347308" y="4096512"/>
            <a:ext cx="2327834" cy="457200"/>
          </a:xfrm>
          <a:prstGeom prst="roundRect">
            <a:avLst>
              <a:gd name="adj" fmla="val 16000"/>
            </a:avLst>
          </a:prstGeom>
          <a:solidFill>
            <a:srgbClr val="FEF0EA"/>
          </a:solidFill>
          <a:ln w="12700">
            <a:solidFill>
              <a:srgbClr val="FEF0EA"/>
            </a:solidFill>
            <a:prstDash val="solid"/>
          </a:ln>
        </p:spPr>
      </p:sp>
      <p:pic>
        <p:nvPicPr>
          <p:cNvPr id="25" name="Image 3" descr="preencoded.png">    </p:cNvPr>
          <p:cNvPicPr>
            <a:picLocks noChangeAspect="1"/>
          </p:cNvPicPr>
          <p:nvPr/>
        </p:nvPicPr>
        <p:blipFill>
          <a:blip r:embed="rId4"/>
          <a:stretch>
            <a:fillRect/>
          </a:stretch>
        </p:blipFill>
        <p:spPr>
          <a:xfrm>
            <a:off x="8373389" y="4215384"/>
            <a:ext cx="219456" cy="219456"/>
          </a:xfrm>
          <a:prstGeom prst="rect">
            <a:avLst/>
          </a:prstGeom>
        </p:spPr>
      </p:pic>
      <p:sp>
        <p:nvSpPr>
          <p:cNvPr id="26" name="Text 20"/>
          <p:cNvSpPr txBox="1"/>
          <p:nvPr/>
        </p:nvSpPr>
        <p:spPr>
          <a:xfrm>
            <a:off x="6438748"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تقاسم التمويل والمخاطر</a:t>
            </a:r>
            <a:endParaRPr lang="ar-SA" sz="1150" dirty="0"/>
          </a:p>
        </p:txBody>
      </p:sp>
      <p:sp>
        <p:nvSpPr>
          <p:cNvPr id="27" name="!!card2"/>
          <p:cNvSpPr/>
          <p:nvPr/>
        </p:nvSpPr>
        <p:spPr>
          <a:xfrm>
            <a:off x="3379394"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8" name="Shape 22"/>
          <p:cNvSpPr/>
          <p:nvPr/>
        </p:nvSpPr>
        <p:spPr>
          <a:xfrm>
            <a:off x="3379394" y="1901952"/>
            <a:ext cx="2602154" cy="960120"/>
          </a:xfrm>
          <a:prstGeom prst="roundRect">
            <a:avLst>
              <a:gd name="adj" fmla="val 9524"/>
            </a:avLst>
          </a:prstGeom>
          <a:solidFill>
            <a:srgbClr val="06305C"/>
          </a:solidFill>
          <a:ln w="12700">
            <a:solidFill>
              <a:srgbClr val="06305C"/>
            </a:solidFill>
            <a:prstDash val="solid"/>
          </a:ln>
        </p:spPr>
      </p:sp>
      <p:sp>
        <p:nvSpPr>
          <p:cNvPr id="29" name="Shape 23"/>
          <p:cNvSpPr/>
          <p:nvPr/>
        </p:nvSpPr>
        <p:spPr>
          <a:xfrm>
            <a:off x="3379394" y="2542032"/>
            <a:ext cx="2602154" cy="320040"/>
          </a:xfrm>
          <a:prstGeom prst="rect">
            <a:avLst/>
          </a:prstGeom>
          <a:solidFill>
            <a:srgbClr val="06305C"/>
          </a:solidFill>
          <a:ln w="12700">
            <a:solidFill>
              <a:srgbClr val="06305C"/>
            </a:solidFill>
            <a:prstDash val="solid"/>
          </a:ln>
        </p:spPr>
      </p:sp>
      <p:pic>
        <p:nvPicPr>
          <p:cNvPr id="30" name="Image 4" descr="preencoded.png">    </p:cNvPr>
          <p:cNvPicPr>
            <a:picLocks noChangeAspect="1"/>
          </p:cNvPicPr>
          <p:nvPr/>
        </p:nvPicPr>
        <p:blipFill>
          <a:blip r:embed="rId5"/>
          <a:stretch>
            <a:fillRect/>
          </a:stretch>
        </p:blipFill>
        <p:spPr>
          <a:xfrm>
            <a:off x="5414620" y="2130552"/>
            <a:ext cx="384048" cy="384048"/>
          </a:xfrm>
          <a:prstGeom prst="rect">
            <a:avLst/>
          </a:prstGeom>
        </p:spPr>
      </p:pic>
      <p:sp>
        <p:nvSpPr>
          <p:cNvPr id="31" name="Text 24"/>
          <p:cNvSpPr txBox="1"/>
          <p:nvPr/>
        </p:nvSpPr>
        <p:spPr>
          <a:xfrm>
            <a:off x="3516554"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البناء والتشغيل ونقل الملكية</a:t>
            </a:r>
            <a:endParaRPr lang="ar-SA" sz="1300" dirty="0"/>
          </a:p>
        </p:txBody>
      </p:sp>
      <p:sp>
        <p:nvSpPr>
          <p:cNvPr id="32" name="Text 25"/>
          <p:cNvSpPr txBox="1"/>
          <p:nvPr/>
        </p:nvSpPr>
        <p:spPr>
          <a:xfrm>
            <a:off x="3516554"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BOT</a:t>
            </a:r>
            <a:endParaRPr lang="ar-SA" sz="1100" dirty="0"/>
          </a:p>
        </p:txBody>
      </p:sp>
      <p:sp>
        <p:nvSpPr>
          <p:cNvPr id="33" name="Text 26"/>
          <p:cNvSpPr txBox="1"/>
          <p:nvPr/>
        </p:nvSpPr>
        <p:spPr>
          <a:xfrm>
            <a:off x="3562274"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34" name="Text 27"/>
          <p:cNvSpPr txBox="1"/>
          <p:nvPr/>
        </p:nvSpPr>
        <p:spPr>
          <a:xfrm>
            <a:off x="3562274"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يتولى المستثمر إنشاء المركز وتشغيله وفق عقد، ثم تُنقل ملكيته حسب شروط الاتفاق.</a:t>
            </a:r>
            <a:endParaRPr lang="ar-SA" sz="1200" dirty="0"/>
          </a:p>
        </p:txBody>
      </p:sp>
      <p:sp>
        <p:nvSpPr>
          <p:cNvPr id="35" name="Shape 28"/>
          <p:cNvSpPr/>
          <p:nvPr/>
        </p:nvSpPr>
        <p:spPr>
          <a:xfrm>
            <a:off x="3516554" y="4096512"/>
            <a:ext cx="2327834" cy="457200"/>
          </a:xfrm>
          <a:prstGeom prst="roundRect">
            <a:avLst>
              <a:gd name="adj" fmla="val 16000"/>
            </a:avLst>
          </a:prstGeom>
          <a:solidFill>
            <a:srgbClr val="FEF0EA"/>
          </a:solidFill>
          <a:ln w="12700">
            <a:solidFill>
              <a:srgbClr val="FEF0EA"/>
            </a:solidFill>
            <a:prstDash val="solid"/>
          </a:ln>
        </p:spPr>
      </p:sp>
      <p:pic>
        <p:nvPicPr>
          <p:cNvPr id="36" name="Image 5" descr="preencoded.png">    </p:cNvPr>
          <p:cNvPicPr>
            <a:picLocks noChangeAspect="1"/>
          </p:cNvPicPr>
          <p:nvPr/>
        </p:nvPicPr>
        <p:blipFill>
          <a:blip r:embed="rId6"/>
          <a:stretch>
            <a:fillRect/>
          </a:stretch>
        </p:blipFill>
        <p:spPr>
          <a:xfrm>
            <a:off x="5542636" y="4215384"/>
            <a:ext cx="219456" cy="219456"/>
          </a:xfrm>
          <a:prstGeom prst="rect">
            <a:avLst/>
          </a:prstGeom>
        </p:spPr>
      </p:pic>
      <p:sp>
        <p:nvSpPr>
          <p:cNvPr id="37" name="Text 29"/>
          <p:cNvSpPr txBox="1"/>
          <p:nvPr/>
        </p:nvSpPr>
        <p:spPr>
          <a:xfrm>
            <a:off x="3607994"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تخفيف العبء الرأسمالي المباشر في البداية</a:t>
            </a:r>
            <a:endParaRPr lang="ar-SA" sz="1150" dirty="0"/>
          </a:p>
        </p:txBody>
      </p:sp>
      <p:sp>
        <p:nvSpPr>
          <p:cNvPr id="38" name="!!card3"/>
          <p:cNvSpPr/>
          <p:nvPr/>
        </p:nvSpPr>
        <p:spPr>
          <a:xfrm>
            <a:off x="548640" y="1901952"/>
            <a:ext cx="2602154" cy="2788920"/>
          </a:xfrm>
          <a:prstGeom prst="roundRect">
            <a:avLst>
              <a:gd name="adj" fmla="val 3514"/>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39" name="Shape 31"/>
          <p:cNvSpPr/>
          <p:nvPr/>
        </p:nvSpPr>
        <p:spPr>
          <a:xfrm>
            <a:off x="548640" y="1901952"/>
            <a:ext cx="2602154" cy="960120"/>
          </a:xfrm>
          <a:prstGeom prst="roundRect">
            <a:avLst>
              <a:gd name="adj" fmla="val 9524"/>
            </a:avLst>
          </a:prstGeom>
          <a:solidFill>
            <a:srgbClr val="06305C"/>
          </a:solidFill>
          <a:ln w="12700">
            <a:solidFill>
              <a:srgbClr val="06305C"/>
            </a:solidFill>
            <a:prstDash val="solid"/>
          </a:ln>
        </p:spPr>
      </p:sp>
      <p:sp>
        <p:nvSpPr>
          <p:cNvPr id="40" name="Shape 32"/>
          <p:cNvSpPr/>
          <p:nvPr/>
        </p:nvSpPr>
        <p:spPr>
          <a:xfrm>
            <a:off x="548640" y="2542032"/>
            <a:ext cx="2602154" cy="320040"/>
          </a:xfrm>
          <a:prstGeom prst="rect">
            <a:avLst/>
          </a:prstGeom>
          <a:solidFill>
            <a:srgbClr val="06305C"/>
          </a:solidFill>
          <a:ln w="12700">
            <a:solidFill>
              <a:srgbClr val="06305C"/>
            </a:solidFill>
            <a:prstDash val="solid"/>
          </a:ln>
        </p:spPr>
      </p:sp>
      <p:pic>
        <p:nvPicPr>
          <p:cNvPr id="41" name="Image 6" descr="preencoded.png">    </p:cNvPr>
          <p:cNvPicPr>
            <a:picLocks noChangeAspect="1"/>
          </p:cNvPicPr>
          <p:nvPr/>
        </p:nvPicPr>
        <p:blipFill>
          <a:blip r:embed="rId7"/>
          <a:stretch>
            <a:fillRect/>
          </a:stretch>
        </p:blipFill>
        <p:spPr>
          <a:xfrm>
            <a:off x="2583866" y="2130552"/>
            <a:ext cx="384048" cy="384048"/>
          </a:xfrm>
          <a:prstGeom prst="rect">
            <a:avLst/>
          </a:prstGeom>
        </p:spPr>
      </p:pic>
      <p:sp>
        <p:nvSpPr>
          <p:cNvPr id="42" name="Text 33"/>
          <p:cNvSpPr txBox="1"/>
          <p:nvPr/>
        </p:nvSpPr>
        <p:spPr>
          <a:xfrm>
            <a:off x="685800" y="1956816"/>
            <a:ext cx="1870634" cy="603504"/>
          </a:xfrm>
          <a:prstGeom prst="rect">
            <a:avLst/>
          </a:prstGeom>
          <a:noFill/>
          <a:ln/>
        </p:spPr>
        <p:txBody>
          <a:bodyPr wrap="square" lIns="0" tIns="0" rIns="0" bIns="0" rtlCol="0" anchor="ctr"/>
          <a:lstStyle/>
          <a:p>
            <a:pPr rtl="1" algn="r" indent="0" marL="0">
              <a:buNone/>
            </a:pPr>
            <a:r>
              <a:rPr lang="ar-SA" altLang="en-US" sz="1300" b="1" dirty="0">
                <a:solidFill>
                  <a:srgbClr val="FFFFFF"/>
                </a:solidFill>
                <a:latin typeface="JF Flat" pitchFamily="34" charset="0"/>
                <a:ea typeface="JF Flat" pitchFamily="34" charset="-122"/>
                <a:cs typeface="JF Flat" pitchFamily="34" charset="-120"/>
              </a:rPr>
              <a:t>تقاسم الإيرادات</a:t>
            </a:r>
            <a:endParaRPr lang="ar-SA" sz="1300" dirty="0"/>
          </a:p>
        </p:txBody>
      </p:sp>
      <p:sp>
        <p:nvSpPr>
          <p:cNvPr id="43" name="Text 34"/>
          <p:cNvSpPr txBox="1"/>
          <p:nvPr/>
        </p:nvSpPr>
        <p:spPr>
          <a:xfrm>
            <a:off x="685800" y="2560320"/>
            <a:ext cx="1870634" cy="237744"/>
          </a:xfrm>
          <a:prstGeom prst="rect">
            <a:avLst/>
          </a:prstGeom>
          <a:noFill/>
          <a:ln/>
        </p:spPr>
        <p:txBody>
          <a:bodyPr wrap="square" lIns="0" tIns="0" rIns="0" bIns="0" rtlCol="0" anchor="t"/>
          <a:lstStyle/>
          <a:p>
            <a:pPr algn="r" indent="0" marL="0">
              <a:buNone/>
            </a:pPr>
            <a:r>
              <a:rPr lang="ar-SA" altLang="en-US" sz="1100" b="1" dirty="0">
                <a:solidFill>
                  <a:srgbClr val="F7941D"/>
                </a:solidFill>
                <a:latin typeface="JF Flat" pitchFamily="34" charset="0"/>
                <a:ea typeface="JF Flat" pitchFamily="34" charset="-122"/>
                <a:cs typeface="JF Flat" pitchFamily="34" charset="-120"/>
              </a:rPr>
              <a:t>Revenue Share</a:t>
            </a:r>
            <a:endParaRPr lang="ar-SA" sz="1100" dirty="0"/>
          </a:p>
        </p:txBody>
      </p:sp>
      <p:sp>
        <p:nvSpPr>
          <p:cNvPr id="44" name="Text 35"/>
          <p:cNvSpPr txBox="1"/>
          <p:nvPr/>
        </p:nvSpPr>
        <p:spPr>
          <a:xfrm>
            <a:off x="731520" y="2953512"/>
            <a:ext cx="2236394" cy="274320"/>
          </a:xfrm>
          <a:prstGeom prst="rect">
            <a:avLst/>
          </a:prstGeom>
          <a:noFill/>
          <a:ln/>
        </p:spPr>
        <p:txBody>
          <a:bodyPr wrap="square" lIns="0" tIns="0" rIns="0" bIns="0" rtlCol="0" anchor="t"/>
          <a:lstStyle/>
          <a:p>
            <a:pPr rtl="1" algn="r" indent="0" marL="0">
              <a:buNone/>
            </a:pPr>
            <a:r>
              <a:rPr lang="ar-SA" altLang="en-US" sz="1100" b="1" dirty="0">
                <a:solidFill>
                  <a:srgbClr val="00539B"/>
                </a:solidFill>
                <a:latin typeface="JF Flat" pitchFamily="34" charset="0"/>
                <a:ea typeface="JF Flat" pitchFamily="34" charset="-122"/>
                <a:cs typeface="JF Flat" pitchFamily="34" charset="-120"/>
              </a:rPr>
              <a:t>آلية العمل</a:t>
            </a:r>
            <a:endParaRPr lang="ar-SA" sz="1100" dirty="0"/>
          </a:p>
        </p:txBody>
      </p:sp>
      <p:sp>
        <p:nvSpPr>
          <p:cNvPr id="45" name="Text 36"/>
          <p:cNvSpPr txBox="1"/>
          <p:nvPr/>
        </p:nvSpPr>
        <p:spPr>
          <a:xfrm>
            <a:off x="731520" y="3209544"/>
            <a:ext cx="2236394" cy="868680"/>
          </a:xfrm>
          <a:prstGeom prst="rect">
            <a:avLst/>
          </a:prstGeom>
          <a:noFill/>
          <a:ln/>
        </p:spPr>
        <p:txBody>
          <a:bodyPr wrap="square" lIns="0" tIns="0" rIns="0" bIns="0" rtlCol="0" anchor="t"/>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الاتفاق مع شريك تقني أو استثماري على توزيع الإيرادات مقابل التمويل أو الخدمات أو التجهيزات.</a:t>
            </a:r>
            <a:endParaRPr lang="ar-SA" sz="1200" dirty="0"/>
          </a:p>
        </p:txBody>
      </p:sp>
      <p:sp>
        <p:nvSpPr>
          <p:cNvPr id="46" name="Shape 37"/>
          <p:cNvSpPr/>
          <p:nvPr/>
        </p:nvSpPr>
        <p:spPr>
          <a:xfrm>
            <a:off x="685800" y="4096512"/>
            <a:ext cx="2327834" cy="457200"/>
          </a:xfrm>
          <a:prstGeom prst="roundRect">
            <a:avLst>
              <a:gd name="adj" fmla="val 16000"/>
            </a:avLst>
          </a:prstGeom>
          <a:solidFill>
            <a:srgbClr val="FEF0EA"/>
          </a:solidFill>
          <a:ln w="12700">
            <a:solidFill>
              <a:srgbClr val="FEF0EA"/>
            </a:solidFill>
            <a:prstDash val="solid"/>
          </a:ln>
        </p:spPr>
      </p:sp>
      <p:pic>
        <p:nvPicPr>
          <p:cNvPr id="47" name="Image 7" descr="preencoded.png">    </p:cNvPr>
          <p:cNvPicPr>
            <a:picLocks noChangeAspect="1"/>
          </p:cNvPicPr>
          <p:nvPr/>
        </p:nvPicPr>
        <p:blipFill>
          <a:blip r:embed="rId8"/>
          <a:stretch>
            <a:fillRect/>
          </a:stretch>
        </p:blipFill>
        <p:spPr>
          <a:xfrm>
            <a:off x="2711882" y="4215384"/>
            <a:ext cx="219456" cy="219456"/>
          </a:xfrm>
          <a:prstGeom prst="rect">
            <a:avLst/>
          </a:prstGeom>
        </p:spPr>
      </p:pic>
      <p:sp>
        <p:nvSpPr>
          <p:cNvPr id="48" name="Text 38"/>
          <p:cNvSpPr txBox="1"/>
          <p:nvPr/>
        </p:nvSpPr>
        <p:spPr>
          <a:xfrm>
            <a:off x="777240" y="4096512"/>
            <a:ext cx="1870634" cy="457200"/>
          </a:xfrm>
          <a:prstGeom prst="rect">
            <a:avLst/>
          </a:prstGeom>
          <a:noFill/>
          <a:ln/>
        </p:spPr>
        <p:txBody>
          <a:bodyPr wrap="square" lIns="0" tIns="0" rIns="0" bIns="0" rtlCol="0" anchor="ctr"/>
          <a:lstStyle/>
          <a:p>
            <a:pPr rtl="1" algn="r" indent="0" marL="0">
              <a:buNone/>
            </a:pPr>
            <a:r>
              <a:rPr lang="ar-SA" altLang="en-US" sz="1150" b="1" dirty="0">
                <a:solidFill>
                  <a:srgbClr val="F15524"/>
                </a:solidFill>
                <a:latin typeface="JF Flat" pitchFamily="34" charset="0"/>
                <a:ea typeface="JF Flat" pitchFamily="34" charset="-122"/>
                <a:cs typeface="JF Flat" pitchFamily="34" charset="-120"/>
              </a:rPr>
              <a:t>ربط العائد التجاري بالأداء والإيرادات</a:t>
            </a:r>
            <a:endParaRPr lang="ar-SA" sz="1150" dirty="0"/>
          </a:p>
        </p:txBody>
      </p:sp>
      <p:sp>
        <p:nvSpPr>
          <p:cNvPr id="49" name="!!card4"/>
          <p:cNvSpPr/>
          <p:nvPr/>
        </p:nvSpPr>
        <p:spPr>
          <a:xfrm>
            <a:off x="548640" y="4846320"/>
            <a:ext cx="11094415" cy="1371600"/>
          </a:xfrm>
          <a:prstGeom prst="roundRect">
            <a:avLst>
              <a:gd name="adj" fmla="val 6667"/>
            </a:avLst>
          </a:prstGeom>
          <a:solidFill>
            <a:srgbClr val="EAF2FA"/>
          </a:solidFill>
          <a:ln w="12700">
            <a:solidFill>
              <a:srgbClr val="EAF2FA"/>
            </a:solidFill>
            <a:prstDash val="solid"/>
          </a:ln>
        </p:spPr>
      </p:sp>
      <p:sp>
        <p:nvSpPr>
          <p:cNvPr id="50" name="!!dot0"/>
          <p:cNvSpPr/>
          <p:nvPr/>
        </p:nvSpPr>
        <p:spPr>
          <a:xfrm>
            <a:off x="11002975" y="4956048"/>
            <a:ext cx="420624" cy="420624"/>
          </a:xfrm>
          <a:prstGeom prst="ellipse">
            <a:avLst/>
          </a:prstGeom>
          <a:solidFill>
            <a:srgbClr val="00539B"/>
          </a:solidFill>
          <a:ln w="12700">
            <a:solidFill>
              <a:srgbClr val="00539B"/>
            </a:solidFill>
            <a:prstDash val="solid"/>
          </a:ln>
        </p:spPr>
      </p:sp>
      <p:pic>
        <p:nvPicPr>
          <p:cNvPr id="51" name="!!ico0" descr="preencoded.png">    </p:cNvPr>
          <p:cNvPicPr>
            <a:picLocks noChangeAspect="1"/>
          </p:cNvPicPr>
          <p:nvPr/>
        </p:nvPicPr>
        <p:blipFill>
          <a:blip r:embed="rId9"/>
          <a:stretch>
            <a:fillRect/>
          </a:stretch>
        </p:blipFill>
        <p:spPr>
          <a:xfrm>
            <a:off x="11116544" y="5069616"/>
            <a:ext cx="193487" cy="193487"/>
          </a:xfrm>
          <a:prstGeom prst="rect">
            <a:avLst/>
          </a:prstGeom>
        </p:spPr>
      </p:pic>
      <p:sp>
        <p:nvSpPr>
          <p:cNvPr id="52" name="Text 41"/>
          <p:cNvSpPr txBox="1"/>
          <p:nvPr/>
        </p:nvSpPr>
        <p:spPr>
          <a:xfrm>
            <a:off x="731520" y="4983480"/>
            <a:ext cx="10180015" cy="365760"/>
          </a:xfrm>
          <a:prstGeom prst="rect">
            <a:avLst/>
          </a:prstGeom>
          <a:noFill/>
          <a:ln/>
        </p:spPr>
        <p:txBody>
          <a:bodyPr wrap="square" lIns="0" tIns="0" rIns="0" bIns="0" rtlCol="0" anchor="ctr"/>
          <a:lstStyle/>
          <a:p>
            <a:pPr algn="r" indent="0" marL="0">
              <a:buNone/>
            </a:pPr>
            <a:r>
              <a:rPr lang="ar-SA" altLang="en-US" sz="1300" b="1" dirty="0">
                <a:solidFill>
                  <a:srgbClr val="00539B"/>
                </a:solidFill>
                <a:latin typeface="JF Flat" pitchFamily="34" charset="0"/>
                <a:ea typeface="JF Flat" pitchFamily="34" charset="-122"/>
                <a:cs typeface="JF Flat" pitchFamily="34" charset="-120"/>
              </a:rPr>
              <a:t>التوجه المقترح: </a:t>
            </a:r>
            <a:pPr algn="r" indent="0" marL="0">
              <a:buNone/>
            </a:pPr>
            <a:r>
              <a:rPr lang="ar-SA" altLang="en-US" sz="1300" dirty="0">
                <a:solidFill>
                  <a:srgbClr val="06305C"/>
                </a:solidFill>
                <a:latin typeface="JF Flat" pitchFamily="34" charset="0"/>
                <a:ea typeface="JF Flat" pitchFamily="34" charset="-122"/>
                <a:cs typeface="JF Flat" pitchFamily="34" charset="-120"/>
              </a:rPr>
              <a:t>إجراء مقارنة مالية وقانونية بين البدائل، وعدم الالتزام بنموذج واحد قبل التفاوض مع الشركاء المحتملين.</a:t>
            </a:r>
            <a:endParaRPr lang="ar-SA" sz="1300" dirty="0"/>
          </a:p>
        </p:txBody>
      </p:sp>
      <p:sp>
        <p:nvSpPr>
          <p:cNvPr id="53" name="Text 42"/>
          <p:cNvSpPr txBox="1"/>
          <p:nvPr/>
        </p:nvSpPr>
        <p:spPr>
          <a:xfrm>
            <a:off x="731520" y="5376672"/>
            <a:ext cx="10180015" cy="256032"/>
          </a:xfrm>
          <a:prstGeom prst="rect">
            <a:avLst/>
          </a:prstGeom>
          <a:noFill/>
          <a:ln/>
        </p:spPr>
        <p:txBody>
          <a:bodyPr wrap="square" lIns="0" tIns="0" rIns="0" bIns="0" rtlCol="0" anchor="ctr"/>
          <a:lstStyle/>
          <a:p>
            <a:pPr rtl="1" algn="r" indent="0" marL="0">
              <a:buNone/>
            </a:pPr>
            <a:r>
              <a:rPr lang="ar-SA" altLang="en-US" sz="1100" b="1" dirty="0">
                <a:solidFill>
                  <a:srgbClr val="06305C"/>
                </a:solidFill>
                <a:latin typeface="JF Flat" pitchFamily="34" charset="0"/>
                <a:ea typeface="JF Flat" pitchFamily="34" charset="-122"/>
                <a:cs typeface="JF Flat" pitchFamily="34" charset="-120"/>
              </a:rPr>
              <a:t>ويجب أن تتضمن المقارنة:</a:t>
            </a:r>
            <a:endParaRPr lang="ar-SA" sz="1100" dirty="0"/>
          </a:p>
        </p:txBody>
      </p:sp>
      <p:sp>
        <p:nvSpPr>
          <p:cNvPr id="54" name="Shape 43"/>
          <p:cNvSpPr/>
          <p:nvPr/>
        </p:nvSpPr>
        <p:spPr>
          <a:xfrm>
            <a:off x="10362895" y="5687568"/>
            <a:ext cx="1097280" cy="384048"/>
          </a:xfrm>
          <a:prstGeom prst="roundRect">
            <a:avLst>
              <a:gd name="adj" fmla="val 50000"/>
            </a:avLst>
          </a:prstGeom>
          <a:solidFill>
            <a:srgbClr val="FFFFFF"/>
          </a:solidFill>
          <a:ln w="9525">
            <a:solidFill>
              <a:srgbClr val="9DB9D8"/>
            </a:solidFill>
            <a:prstDash val="solid"/>
          </a:ln>
        </p:spPr>
      </p:sp>
      <p:sp>
        <p:nvSpPr>
          <p:cNvPr id="55" name="Text 44"/>
          <p:cNvSpPr txBox="1"/>
          <p:nvPr/>
        </p:nvSpPr>
        <p:spPr>
          <a:xfrm>
            <a:off x="10362895" y="5687568"/>
            <a:ext cx="109728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تكلفة التمويل</a:t>
            </a:r>
            <a:endParaRPr lang="ar-SA" sz="1000" dirty="0"/>
          </a:p>
        </p:txBody>
      </p:sp>
      <p:sp>
        <p:nvSpPr>
          <p:cNvPr id="56" name="Shape 45"/>
          <p:cNvSpPr/>
          <p:nvPr/>
        </p:nvSpPr>
        <p:spPr>
          <a:xfrm>
            <a:off x="8707831" y="5687568"/>
            <a:ext cx="1600200" cy="384048"/>
          </a:xfrm>
          <a:prstGeom prst="roundRect">
            <a:avLst>
              <a:gd name="adj" fmla="val 50000"/>
            </a:avLst>
          </a:prstGeom>
          <a:solidFill>
            <a:srgbClr val="FFFFFF"/>
          </a:solidFill>
          <a:ln w="9525">
            <a:solidFill>
              <a:srgbClr val="9DB9D8"/>
            </a:solidFill>
            <a:prstDash val="solid"/>
          </a:ln>
        </p:spPr>
      </p:sp>
      <p:sp>
        <p:nvSpPr>
          <p:cNvPr id="57" name="Text 46"/>
          <p:cNvSpPr txBox="1"/>
          <p:nvPr/>
        </p:nvSpPr>
        <p:spPr>
          <a:xfrm>
            <a:off x="8707831" y="5687568"/>
            <a:ext cx="160020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حصة الشركة من الإيرادات</a:t>
            </a:r>
            <a:endParaRPr lang="ar-SA" sz="1000" dirty="0"/>
          </a:p>
        </p:txBody>
      </p:sp>
      <p:sp>
        <p:nvSpPr>
          <p:cNvPr id="58" name="Shape 47"/>
          <p:cNvSpPr/>
          <p:nvPr/>
        </p:nvSpPr>
        <p:spPr>
          <a:xfrm>
            <a:off x="7189927" y="5687568"/>
            <a:ext cx="1463040" cy="384048"/>
          </a:xfrm>
          <a:prstGeom prst="roundRect">
            <a:avLst>
              <a:gd name="adj" fmla="val 50000"/>
            </a:avLst>
          </a:prstGeom>
          <a:solidFill>
            <a:srgbClr val="FFFFFF"/>
          </a:solidFill>
          <a:ln w="9525">
            <a:solidFill>
              <a:srgbClr val="9DB9D8"/>
            </a:solidFill>
            <a:prstDash val="solid"/>
          </a:ln>
        </p:spPr>
      </p:sp>
      <p:sp>
        <p:nvSpPr>
          <p:cNvPr id="59" name="Text 48"/>
          <p:cNvSpPr txBox="1"/>
          <p:nvPr/>
        </p:nvSpPr>
        <p:spPr>
          <a:xfrm>
            <a:off x="7189927" y="5687568"/>
            <a:ext cx="146304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حقوق الملكية والسيطرة</a:t>
            </a:r>
            <a:endParaRPr lang="ar-SA" sz="1000" dirty="0"/>
          </a:p>
        </p:txBody>
      </p:sp>
      <p:sp>
        <p:nvSpPr>
          <p:cNvPr id="60" name="Shape 49"/>
          <p:cNvSpPr/>
          <p:nvPr/>
        </p:nvSpPr>
        <p:spPr>
          <a:xfrm>
            <a:off x="5489143" y="5687568"/>
            <a:ext cx="1645920" cy="384048"/>
          </a:xfrm>
          <a:prstGeom prst="roundRect">
            <a:avLst>
              <a:gd name="adj" fmla="val 50000"/>
            </a:avLst>
          </a:prstGeom>
          <a:solidFill>
            <a:srgbClr val="FFFFFF"/>
          </a:solidFill>
          <a:ln w="9525">
            <a:solidFill>
              <a:srgbClr val="9DB9D8"/>
            </a:solidFill>
            <a:prstDash val="solid"/>
          </a:ln>
        </p:spPr>
      </p:sp>
      <p:sp>
        <p:nvSpPr>
          <p:cNvPr id="61" name="Text 50"/>
          <p:cNvSpPr txBox="1"/>
          <p:nvPr/>
        </p:nvSpPr>
        <p:spPr>
          <a:xfrm>
            <a:off x="5489143" y="5687568"/>
            <a:ext cx="164592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مسؤولية التشغيل والصيانة</a:t>
            </a:r>
            <a:endParaRPr lang="ar-SA" sz="1000" dirty="0"/>
          </a:p>
        </p:txBody>
      </p:sp>
      <p:sp>
        <p:nvSpPr>
          <p:cNvPr id="62" name="Shape 51"/>
          <p:cNvSpPr/>
          <p:nvPr/>
        </p:nvSpPr>
        <p:spPr>
          <a:xfrm>
            <a:off x="4474159" y="5687568"/>
            <a:ext cx="960120" cy="384048"/>
          </a:xfrm>
          <a:prstGeom prst="roundRect">
            <a:avLst>
              <a:gd name="adj" fmla="val 50000"/>
            </a:avLst>
          </a:prstGeom>
          <a:solidFill>
            <a:srgbClr val="FFFFFF"/>
          </a:solidFill>
          <a:ln w="9525">
            <a:solidFill>
              <a:srgbClr val="9DB9D8"/>
            </a:solidFill>
            <a:prstDash val="solid"/>
          </a:ln>
        </p:spPr>
      </p:sp>
      <p:sp>
        <p:nvSpPr>
          <p:cNvPr id="63" name="Text 52"/>
          <p:cNvSpPr txBox="1"/>
          <p:nvPr/>
        </p:nvSpPr>
        <p:spPr>
          <a:xfrm>
            <a:off x="4474159" y="5687568"/>
            <a:ext cx="96012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مخاطر الطلب</a:t>
            </a:r>
            <a:endParaRPr lang="ar-SA" sz="1000" dirty="0"/>
          </a:p>
        </p:txBody>
      </p:sp>
      <p:sp>
        <p:nvSpPr>
          <p:cNvPr id="64" name="Shape 53"/>
          <p:cNvSpPr/>
          <p:nvPr/>
        </p:nvSpPr>
        <p:spPr>
          <a:xfrm>
            <a:off x="2453335" y="5687568"/>
            <a:ext cx="1965960" cy="384048"/>
          </a:xfrm>
          <a:prstGeom prst="roundRect">
            <a:avLst>
              <a:gd name="adj" fmla="val 50000"/>
            </a:avLst>
          </a:prstGeom>
          <a:solidFill>
            <a:srgbClr val="FFFFFF"/>
          </a:solidFill>
          <a:ln w="9525">
            <a:solidFill>
              <a:srgbClr val="9DB9D8"/>
            </a:solidFill>
            <a:prstDash val="solid"/>
          </a:ln>
        </p:spPr>
      </p:sp>
      <p:sp>
        <p:nvSpPr>
          <p:cNvPr id="65" name="Text 54"/>
          <p:cNvSpPr txBox="1"/>
          <p:nvPr/>
        </p:nvSpPr>
        <p:spPr>
          <a:xfrm>
            <a:off x="2453335" y="5687568"/>
            <a:ext cx="196596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ملكية البيانات الحكومية وسيادتها</a:t>
            </a:r>
            <a:endParaRPr lang="ar-SA" sz="1000" dirty="0"/>
          </a:p>
        </p:txBody>
      </p:sp>
      <p:sp>
        <p:nvSpPr>
          <p:cNvPr id="66" name="Shape 55"/>
          <p:cNvSpPr/>
          <p:nvPr/>
        </p:nvSpPr>
        <p:spPr>
          <a:xfrm>
            <a:off x="478231" y="5687568"/>
            <a:ext cx="1920240" cy="384048"/>
          </a:xfrm>
          <a:prstGeom prst="roundRect">
            <a:avLst>
              <a:gd name="adj" fmla="val 50000"/>
            </a:avLst>
          </a:prstGeom>
          <a:solidFill>
            <a:srgbClr val="FFFFFF"/>
          </a:solidFill>
          <a:ln w="9525">
            <a:solidFill>
              <a:srgbClr val="9DB9D8"/>
            </a:solidFill>
            <a:prstDash val="solid"/>
          </a:ln>
        </p:spPr>
      </p:sp>
      <p:sp>
        <p:nvSpPr>
          <p:cNvPr id="67" name="Text 56"/>
          <p:cNvSpPr txBox="1"/>
          <p:nvPr/>
        </p:nvSpPr>
        <p:spPr>
          <a:xfrm>
            <a:off x="478231" y="5687568"/>
            <a:ext cx="1920240" cy="384048"/>
          </a:xfrm>
          <a:prstGeom prst="rect">
            <a:avLst/>
          </a:prstGeom>
          <a:noFill/>
          <a:ln/>
        </p:spPr>
        <p:txBody>
          <a:bodyPr wrap="square" lIns="0" tIns="0" rIns="0" bIns="0" rtlCol="0" anchor="ctr"/>
          <a:lstStyle/>
          <a:p>
            <a:pPr rtl="1" algn="ctr" indent="0" marL="0">
              <a:buNone/>
            </a:pPr>
            <a:r>
              <a:rPr lang="ar-SA" altLang="en-US" sz="1000" b="1" dirty="0">
                <a:solidFill>
                  <a:srgbClr val="06305C"/>
                </a:solidFill>
                <a:latin typeface="JF Flat" pitchFamily="34" charset="0"/>
                <a:ea typeface="JF Flat" pitchFamily="34" charset="-122"/>
                <a:cs typeface="JF Flat" pitchFamily="34" charset="-120"/>
              </a:rPr>
              <a:t>شروط إنهاء العقد ونقل الأصول</a:t>
            </a:r>
            <a:endParaRPr lang="ar-SA" sz="1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18</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09  |  النتائج الرئيسية للمشروع (1/2)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النتائج الرئيسية للمشروع</a:t>
            </a:r>
            <a:endParaRPr lang="en-US" sz="3000" dirty="0"/>
          </a:p>
        </p:txBody>
      </p:sp>
      <p:sp>
        <p:nvSpPr>
          <p:cNvPr id="4" name="!!card0"/>
          <p:cNvSpPr/>
          <p:nvPr/>
        </p:nvSpPr>
        <p:spPr>
          <a:xfrm>
            <a:off x="6233008"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5" name="!!dot0"/>
          <p:cNvSpPr/>
          <p:nvPr/>
        </p:nvSpPr>
        <p:spPr>
          <a:xfrm>
            <a:off x="10774375" y="1874520"/>
            <a:ext cx="640080" cy="640080"/>
          </a:xfrm>
          <a:prstGeom prst="ellipse">
            <a:avLst/>
          </a:prstGeom>
          <a:solidFill>
            <a:srgbClr val="00539B"/>
          </a:solidFill>
          <a:ln w="12700">
            <a:solidFill>
              <a:srgbClr val="00539B"/>
            </a:solidFill>
            <a:prstDash val="solid"/>
          </a:ln>
        </p:spPr>
      </p:sp>
      <p:pic>
        <p:nvPicPr>
          <p:cNvPr id="6" name="!!ico0" descr="preencoded.png">    </p:cNvPr>
          <p:cNvPicPr>
            <a:picLocks noChangeAspect="1"/>
          </p:cNvPicPr>
          <p:nvPr/>
        </p:nvPicPr>
        <p:blipFill>
          <a:blip r:embed="rId1"/>
          <a:stretch>
            <a:fillRect/>
          </a:stretch>
        </p:blipFill>
        <p:spPr>
          <a:xfrm>
            <a:off x="10947197" y="2047342"/>
            <a:ext cx="294437" cy="294437"/>
          </a:xfrm>
          <a:prstGeom prst="rect">
            <a:avLst/>
          </a:prstGeom>
        </p:spPr>
      </p:pic>
      <p:sp>
        <p:nvSpPr>
          <p:cNvPr id="7" name="Text 4"/>
          <p:cNvSpPr txBox="1"/>
          <p:nvPr/>
        </p:nvSpPr>
        <p:spPr>
          <a:xfrm>
            <a:off x="6461608"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01</a:t>
            </a:r>
            <a:endParaRPr lang="ar-SA" sz="2600" dirty="0"/>
          </a:p>
        </p:txBody>
      </p:sp>
      <p:sp>
        <p:nvSpPr>
          <p:cNvPr id="8" name="Text 5"/>
          <p:cNvSpPr txBox="1"/>
          <p:nvPr/>
        </p:nvSpPr>
        <p:spPr>
          <a:xfrm>
            <a:off x="7330288"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الأهمية الاستراتيجية</a:t>
            </a:r>
            <a:endParaRPr lang="ar-SA" sz="1800" dirty="0"/>
          </a:p>
        </p:txBody>
      </p:sp>
      <p:sp>
        <p:nvSpPr>
          <p:cNvPr id="9" name="Text 6"/>
          <p:cNvSpPr txBox="1"/>
          <p:nvPr/>
        </p:nvSpPr>
        <p:spPr>
          <a:xfrm>
            <a:off x="6507328"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يمثل إنشاء مركز البيانات الوطني مشروعاً استراتيجياً لدعم التحول الرقمي في ليبيا، وتوطين البيانات الحكومية، وتعزيز السيادة الرقمية وأمن المعلومات واستمرارية الخدمات.</a:t>
            </a:r>
            <a:endParaRPr lang="ar-SA" sz="1350" dirty="0"/>
          </a:p>
        </p:txBody>
      </p:sp>
      <p:sp>
        <p:nvSpPr>
          <p:cNvPr id="10" name="!!card1"/>
          <p:cNvSpPr/>
          <p:nvPr/>
        </p:nvSpPr>
        <p:spPr>
          <a:xfrm>
            <a:off x="548640"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dot1"/>
          <p:cNvSpPr/>
          <p:nvPr/>
        </p:nvSpPr>
        <p:spPr>
          <a:xfrm>
            <a:off x="5090008" y="1874520"/>
            <a:ext cx="640080" cy="640080"/>
          </a:xfrm>
          <a:prstGeom prst="ellipse">
            <a:avLst/>
          </a:prstGeom>
          <a:solidFill>
            <a:srgbClr val="F15524"/>
          </a:solidFill>
          <a:ln w="12700">
            <a:solidFill>
              <a:srgbClr val="F15524"/>
            </a:solidFill>
            <a:prstDash val="solid"/>
          </a:ln>
        </p:spPr>
      </p:sp>
      <p:pic>
        <p:nvPicPr>
          <p:cNvPr id="12" name="!!ico1" descr="preencoded.png">    </p:cNvPr>
          <p:cNvPicPr>
            <a:picLocks noChangeAspect="1"/>
          </p:cNvPicPr>
          <p:nvPr/>
        </p:nvPicPr>
        <p:blipFill>
          <a:blip r:embed="rId2"/>
          <a:stretch>
            <a:fillRect/>
          </a:stretch>
        </p:blipFill>
        <p:spPr>
          <a:xfrm>
            <a:off x="5262829" y="2047342"/>
            <a:ext cx="294437" cy="294437"/>
          </a:xfrm>
          <a:prstGeom prst="rect">
            <a:avLst/>
          </a:prstGeom>
        </p:spPr>
      </p:pic>
      <p:sp>
        <p:nvSpPr>
          <p:cNvPr id="13" name="Text 9"/>
          <p:cNvSpPr txBox="1"/>
          <p:nvPr/>
        </p:nvSpPr>
        <p:spPr>
          <a:xfrm>
            <a:off x="777240"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02</a:t>
            </a:r>
            <a:endParaRPr lang="ar-SA" sz="2600" dirty="0"/>
          </a:p>
        </p:txBody>
      </p:sp>
      <p:sp>
        <p:nvSpPr>
          <p:cNvPr id="14" name="Text 10"/>
          <p:cNvSpPr txBox="1"/>
          <p:nvPr/>
        </p:nvSpPr>
        <p:spPr>
          <a:xfrm>
            <a:off x="1645920"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جاهزية الشركة</a:t>
            </a:r>
            <a:endParaRPr lang="ar-SA" sz="1800" dirty="0"/>
          </a:p>
        </p:txBody>
      </p:sp>
      <p:sp>
        <p:nvSpPr>
          <p:cNvPr id="15" name="Text 11"/>
          <p:cNvSpPr txBox="1"/>
          <p:nvPr/>
        </p:nvSpPr>
        <p:spPr>
          <a:xfrm>
            <a:off x="822960"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تمتلك شركة الجيل الجديد للتقنية مقومات تنافسية تؤهلها لتنفيذ المشروع، أبرزها البنية التحتية الشبكية، والشبكة الحكومية الآمنة، والكوادر الفنية، والخبرة التشغيلية، والموقع المقترح للمشروع.</a:t>
            </a:r>
            <a:endParaRPr lang="ar-SA" sz="1350" dirty="0"/>
          </a:p>
        </p:txBody>
      </p:sp>
      <p:sp>
        <p:nvSpPr>
          <p:cNvPr id="16" name="!!card2"/>
          <p:cNvSpPr/>
          <p:nvPr/>
        </p:nvSpPr>
        <p:spPr>
          <a:xfrm>
            <a:off x="6233008"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dot2"/>
          <p:cNvSpPr/>
          <p:nvPr/>
        </p:nvSpPr>
        <p:spPr>
          <a:xfrm>
            <a:off x="10774375" y="4251960"/>
            <a:ext cx="640080" cy="640080"/>
          </a:xfrm>
          <a:prstGeom prst="ellipse">
            <a:avLst/>
          </a:prstGeom>
          <a:solidFill>
            <a:srgbClr val="00539B"/>
          </a:solidFill>
          <a:ln w="12700">
            <a:solidFill>
              <a:srgbClr val="00539B"/>
            </a:solidFill>
            <a:prstDash val="solid"/>
          </a:ln>
        </p:spPr>
      </p:sp>
      <p:pic>
        <p:nvPicPr>
          <p:cNvPr id="18" name="!!ico2" descr="preencoded.png">    </p:cNvPr>
          <p:cNvPicPr>
            <a:picLocks noChangeAspect="1"/>
          </p:cNvPicPr>
          <p:nvPr/>
        </p:nvPicPr>
        <p:blipFill>
          <a:blip r:embed="rId3"/>
          <a:stretch>
            <a:fillRect/>
          </a:stretch>
        </p:blipFill>
        <p:spPr>
          <a:xfrm>
            <a:off x="10947197" y="4424782"/>
            <a:ext cx="294437" cy="294437"/>
          </a:xfrm>
          <a:prstGeom prst="rect">
            <a:avLst/>
          </a:prstGeom>
        </p:spPr>
      </p:pic>
      <p:sp>
        <p:nvSpPr>
          <p:cNvPr id="19" name="Text 14"/>
          <p:cNvSpPr txBox="1"/>
          <p:nvPr/>
        </p:nvSpPr>
        <p:spPr>
          <a:xfrm>
            <a:off x="6461608"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03</a:t>
            </a:r>
            <a:endParaRPr lang="ar-SA" sz="2600" dirty="0"/>
          </a:p>
        </p:txBody>
      </p:sp>
      <p:sp>
        <p:nvSpPr>
          <p:cNvPr id="20" name="Text 15"/>
          <p:cNvSpPr txBox="1"/>
          <p:nvPr/>
        </p:nvSpPr>
        <p:spPr>
          <a:xfrm>
            <a:off x="7330288"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الفرص السوقية</a:t>
            </a:r>
            <a:endParaRPr lang="ar-SA" sz="1800" dirty="0"/>
          </a:p>
        </p:txBody>
      </p:sp>
      <p:sp>
        <p:nvSpPr>
          <p:cNvPr id="21" name="Text 16"/>
          <p:cNvSpPr txBox="1"/>
          <p:nvPr/>
        </p:nvSpPr>
        <p:spPr>
          <a:xfrm>
            <a:off x="6507328"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أظهرت الدراسة وجود فرص واعدة لتقديم خدمات مراكز البيانات للقطاع الحكومي، مع استهداف نحو 412 جهة خلال عشر سنوات.</a:t>
            </a:r>
            <a:endParaRPr lang="ar-SA" sz="1350" dirty="0"/>
          </a:p>
        </p:txBody>
      </p:sp>
      <p:sp>
        <p:nvSpPr>
          <p:cNvPr id="22" name="!!card3"/>
          <p:cNvSpPr/>
          <p:nvPr/>
        </p:nvSpPr>
        <p:spPr>
          <a:xfrm>
            <a:off x="548640" y="3977640"/>
            <a:ext cx="5410048" cy="2148840"/>
          </a:xfrm>
          <a:prstGeom prst="roundRect">
            <a:avLst>
              <a:gd name="adj" fmla="val 4255"/>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23" name="!!dot3"/>
          <p:cNvSpPr/>
          <p:nvPr/>
        </p:nvSpPr>
        <p:spPr>
          <a:xfrm>
            <a:off x="5090008" y="4251960"/>
            <a:ext cx="640080" cy="640080"/>
          </a:xfrm>
          <a:prstGeom prst="ellipse">
            <a:avLst/>
          </a:prstGeom>
          <a:solidFill>
            <a:srgbClr val="F15524"/>
          </a:solidFill>
          <a:ln w="12700">
            <a:solidFill>
              <a:srgbClr val="F15524"/>
            </a:solidFill>
            <a:prstDash val="solid"/>
          </a:ln>
        </p:spPr>
      </p:sp>
      <p:pic>
        <p:nvPicPr>
          <p:cNvPr id="24" name="!!ico3" descr="preencoded.png">    </p:cNvPr>
          <p:cNvPicPr>
            <a:picLocks noChangeAspect="1"/>
          </p:cNvPicPr>
          <p:nvPr/>
        </p:nvPicPr>
        <p:blipFill>
          <a:blip r:embed="rId4"/>
          <a:stretch>
            <a:fillRect/>
          </a:stretch>
        </p:blipFill>
        <p:spPr>
          <a:xfrm>
            <a:off x="5262829" y="4424782"/>
            <a:ext cx="294437" cy="294437"/>
          </a:xfrm>
          <a:prstGeom prst="rect">
            <a:avLst/>
          </a:prstGeom>
        </p:spPr>
      </p:pic>
      <p:sp>
        <p:nvSpPr>
          <p:cNvPr id="25" name="Text 19"/>
          <p:cNvSpPr txBox="1"/>
          <p:nvPr/>
        </p:nvSpPr>
        <p:spPr>
          <a:xfrm>
            <a:off x="777240"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3A5F88"/>
                </a:solidFill>
                <a:latin typeface="JF Flat" pitchFamily="34" charset="0"/>
                <a:ea typeface="JF Flat" pitchFamily="34" charset="-122"/>
                <a:cs typeface="JF Flat" pitchFamily="34" charset="-120"/>
              </a:rPr>
              <a:t>04</a:t>
            </a:r>
            <a:endParaRPr lang="ar-SA" sz="2600" dirty="0"/>
          </a:p>
        </p:txBody>
      </p:sp>
      <p:sp>
        <p:nvSpPr>
          <p:cNvPr id="26" name="Text 20"/>
          <p:cNvSpPr txBox="1"/>
          <p:nvPr/>
        </p:nvSpPr>
        <p:spPr>
          <a:xfrm>
            <a:off x="1645920"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FFFFFF"/>
                </a:solidFill>
                <a:latin typeface="JF Flat" pitchFamily="34" charset="0"/>
                <a:ea typeface="JF Flat" pitchFamily="34" charset="-122"/>
                <a:cs typeface="JF Flat" pitchFamily="34" charset="-120"/>
              </a:rPr>
              <a:t>التكلفة الاستثمارية</a:t>
            </a:r>
            <a:endParaRPr lang="ar-SA" sz="1800" dirty="0"/>
          </a:p>
        </p:txBody>
      </p:sp>
      <p:sp>
        <p:nvSpPr>
          <p:cNvPr id="27" name="Text 21"/>
          <p:cNvSpPr txBox="1"/>
          <p:nvPr/>
        </p:nvSpPr>
        <p:spPr>
          <a:xfrm>
            <a:off x="822960"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D5E2F0"/>
                </a:solidFill>
                <a:latin typeface="JF Flat" pitchFamily="34" charset="0"/>
                <a:ea typeface="JF Flat" pitchFamily="34" charset="-122"/>
                <a:cs typeface="JF Flat" pitchFamily="34" charset="-120"/>
              </a:rPr>
              <a:t>قدرت التكلفة الرأسمالية للمشروع بقدرة 5.1 ميجاوات بنحو 57.9 مليون دولار أمريكي، أي ما يعادل 371.8 مليون دينار ليبي.</a:t>
            </a:r>
            <a:endParaRPr lang="ar-SA" sz="135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09  |  النتائج الرئيسية للمشروع (2/2)</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النتائج الرئيسية للمشروع</a:t>
            </a:r>
            <a:endParaRPr lang="en-US" sz="3000" dirty="0"/>
          </a:p>
        </p:txBody>
      </p:sp>
      <p:sp>
        <p:nvSpPr>
          <p:cNvPr id="4" name="!!card0"/>
          <p:cNvSpPr/>
          <p:nvPr/>
        </p:nvSpPr>
        <p:spPr>
          <a:xfrm>
            <a:off x="6233008" y="1600200"/>
            <a:ext cx="5410048" cy="2148840"/>
          </a:xfrm>
          <a:prstGeom prst="roundRect">
            <a:avLst>
              <a:gd name="adj" fmla="val 4255"/>
            </a:avLst>
          </a:prstGeom>
          <a:solidFill>
            <a:srgbClr val="06305C"/>
          </a:solidFill>
          <a:ln w="9525">
            <a:solidFill>
              <a:srgbClr val="06305C"/>
            </a:solidFill>
            <a:prstDash val="solid"/>
          </a:ln>
          <a:effectLst>
            <a:outerShdw sx="100000" sy="100000" kx="0" ky="0" algn="bl" rotWithShape="0" blurRad="127000" dist="38100" dir="5400000">
              <a:srgbClr val="1F3A5F">
                <a:alpha val="13000"/>
              </a:srgbClr>
            </a:outerShdw>
          </a:effectLst>
        </p:spPr>
      </p:sp>
      <p:sp>
        <p:nvSpPr>
          <p:cNvPr id="5" name="!!dot0"/>
          <p:cNvSpPr/>
          <p:nvPr/>
        </p:nvSpPr>
        <p:spPr>
          <a:xfrm>
            <a:off x="10774375" y="1874520"/>
            <a:ext cx="640080" cy="640080"/>
          </a:xfrm>
          <a:prstGeom prst="ellipse">
            <a:avLst/>
          </a:prstGeom>
          <a:solidFill>
            <a:srgbClr val="F15524"/>
          </a:solidFill>
          <a:ln w="12700">
            <a:solidFill>
              <a:srgbClr val="F15524"/>
            </a:solidFill>
            <a:prstDash val="solid"/>
          </a:ln>
        </p:spPr>
      </p:sp>
      <p:pic>
        <p:nvPicPr>
          <p:cNvPr id="6" name="!!ico0" descr="preencoded.png">    </p:cNvPr>
          <p:cNvPicPr>
            <a:picLocks noChangeAspect="1"/>
          </p:cNvPicPr>
          <p:nvPr/>
        </p:nvPicPr>
        <p:blipFill>
          <a:blip r:embed="rId1"/>
          <a:stretch>
            <a:fillRect/>
          </a:stretch>
        </p:blipFill>
        <p:spPr>
          <a:xfrm>
            <a:off x="10947197" y="2047342"/>
            <a:ext cx="294437" cy="294437"/>
          </a:xfrm>
          <a:prstGeom prst="rect">
            <a:avLst/>
          </a:prstGeom>
        </p:spPr>
      </p:pic>
      <p:sp>
        <p:nvSpPr>
          <p:cNvPr id="7" name="Text 4"/>
          <p:cNvSpPr txBox="1"/>
          <p:nvPr/>
        </p:nvSpPr>
        <p:spPr>
          <a:xfrm>
            <a:off x="6461608"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3A5F88"/>
                </a:solidFill>
                <a:latin typeface="JF Flat" pitchFamily="34" charset="0"/>
                <a:ea typeface="JF Flat" pitchFamily="34" charset="-122"/>
                <a:cs typeface="JF Flat" pitchFamily="34" charset="-120"/>
              </a:rPr>
              <a:t>05</a:t>
            </a:r>
            <a:endParaRPr lang="ar-SA" sz="2600" dirty="0"/>
          </a:p>
        </p:txBody>
      </p:sp>
      <p:sp>
        <p:nvSpPr>
          <p:cNvPr id="8" name="Text 5"/>
          <p:cNvSpPr txBox="1"/>
          <p:nvPr/>
        </p:nvSpPr>
        <p:spPr>
          <a:xfrm>
            <a:off x="7330288"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FFFFFF"/>
                </a:solidFill>
                <a:latin typeface="JF Flat" pitchFamily="34" charset="0"/>
                <a:ea typeface="JF Flat" pitchFamily="34" charset="-122"/>
                <a:cs typeface="JF Flat" pitchFamily="34" charset="-120"/>
              </a:rPr>
              <a:t>الجدوى المالية</a:t>
            </a:r>
            <a:endParaRPr lang="ar-SA" sz="1800" dirty="0"/>
          </a:p>
        </p:txBody>
      </p:sp>
      <p:sp>
        <p:nvSpPr>
          <p:cNvPr id="9" name="Text 6"/>
          <p:cNvSpPr txBox="1"/>
          <p:nvPr/>
        </p:nvSpPr>
        <p:spPr>
          <a:xfrm>
            <a:off x="6507328"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D5E2F0"/>
                </a:solidFill>
                <a:latin typeface="JF Flat" pitchFamily="34" charset="0"/>
                <a:ea typeface="JF Flat" pitchFamily="34" charset="-122"/>
                <a:cs typeface="JF Flat" pitchFamily="34" charset="-120"/>
              </a:rPr>
              <a:t>تشير التقديرات إلى إيرادات تراكمية تبلغ نحو 665.9 مليون دينار خلال عشر سنوات، مع بدء تحقيق الأرباح المحاسبية السنوية من السنة السادسة، وفترة استرداد مقدرة بنحو 11 سنة وفق منهجية الدراسة.</a:t>
            </a:r>
            <a:endParaRPr lang="ar-SA" sz="1350" dirty="0"/>
          </a:p>
        </p:txBody>
      </p:sp>
      <p:sp>
        <p:nvSpPr>
          <p:cNvPr id="10" name="!!card1"/>
          <p:cNvSpPr/>
          <p:nvPr/>
        </p:nvSpPr>
        <p:spPr>
          <a:xfrm>
            <a:off x="548640" y="160020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1" name="!!dot1"/>
          <p:cNvSpPr/>
          <p:nvPr/>
        </p:nvSpPr>
        <p:spPr>
          <a:xfrm>
            <a:off x="5090008" y="1874520"/>
            <a:ext cx="640080" cy="640080"/>
          </a:xfrm>
          <a:prstGeom prst="ellipse">
            <a:avLst/>
          </a:prstGeom>
          <a:solidFill>
            <a:srgbClr val="F15524"/>
          </a:solidFill>
          <a:ln w="12700">
            <a:solidFill>
              <a:srgbClr val="F15524"/>
            </a:solidFill>
            <a:prstDash val="solid"/>
          </a:ln>
        </p:spPr>
      </p:sp>
      <p:pic>
        <p:nvPicPr>
          <p:cNvPr id="12" name="!!ico1" descr="preencoded.png">    </p:cNvPr>
          <p:cNvPicPr>
            <a:picLocks noChangeAspect="1"/>
          </p:cNvPicPr>
          <p:nvPr/>
        </p:nvPicPr>
        <p:blipFill>
          <a:blip r:embed="rId2"/>
          <a:stretch>
            <a:fillRect/>
          </a:stretch>
        </p:blipFill>
        <p:spPr>
          <a:xfrm>
            <a:off x="5262829" y="2047342"/>
            <a:ext cx="294437" cy="294437"/>
          </a:xfrm>
          <a:prstGeom prst="rect">
            <a:avLst/>
          </a:prstGeom>
        </p:spPr>
      </p:pic>
      <p:sp>
        <p:nvSpPr>
          <p:cNvPr id="13" name="Text 9"/>
          <p:cNvSpPr txBox="1"/>
          <p:nvPr/>
        </p:nvSpPr>
        <p:spPr>
          <a:xfrm>
            <a:off x="777240" y="180136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06</a:t>
            </a:r>
            <a:endParaRPr lang="ar-SA" sz="2600" dirty="0"/>
          </a:p>
        </p:txBody>
      </p:sp>
      <p:sp>
        <p:nvSpPr>
          <p:cNvPr id="14" name="Text 10"/>
          <p:cNvSpPr txBox="1"/>
          <p:nvPr/>
        </p:nvSpPr>
        <p:spPr>
          <a:xfrm>
            <a:off x="1645920" y="189280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المخاطر والتحديات</a:t>
            </a:r>
            <a:endParaRPr lang="ar-SA" sz="1800" dirty="0"/>
          </a:p>
        </p:txBody>
      </p:sp>
      <p:sp>
        <p:nvSpPr>
          <p:cNvPr id="15" name="Text 11"/>
          <p:cNvSpPr txBox="1"/>
          <p:nvPr/>
        </p:nvSpPr>
        <p:spPr>
          <a:xfrm>
            <a:off x="822960" y="260604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تتمثل أبرز التحديات في ارتفاع التكاليف الاستثمارية والتشغيلية، واستقرار الطاقة الكهربائية، والتهديدات السيبرانية، ومتطلبات التمويل والتراخيص والتحصيل.</a:t>
            </a:r>
            <a:endParaRPr lang="ar-SA" sz="1350" dirty="0"/>
          </a:p>
        </p:txBody>
      </p:sp>
      <p:sp>
        <p:nvSpPr>
          <p:cNvPr id="16" name="!!card2"/>
          <p:cNvSpPr/>
          <p:nvPr/>
        </p:nvSpPr>
        <p:spPr>
          <a:xfrm>
            <a:off x="6233008"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17" name="!!dot2"/>
          <p:cNvSpPr/>
          <p:nvPr/>
        </p:nvSpPr>
        <p:spPr>
          <a:xfrm>
            <a:off x="10774375" y="4251960"/>
            <a:ext cx="640080" cy="640080"/>
          </a:xfrm>
          <a:prstGeom prst="ellipse">
            <a:avLst/>
          </a:prstGeom>
          <a:solidFill>
            <a:srgbClr val="00539B"/>
          </a:solidFill>
          <a:ln w="12700">
            <a:solidFill>
              <a:srgbClr val="00539B"/>
            </a:solidFill>
            <a:prstDash val="solid"/>
          </a:ln>
        </p:spPr>
      </p:sp>
      <p:pic>
        <p:nvPicPr>
          <p:cNvPr id="18" name="!!ico2" descr="preencoded.png">    </p:cNvPr>
          <p:cNvPicPr>
            <a:picLocks noChangeAspect="1"/>
          </p:cNvPicPr>
          <p:nvPr/>
        </p:nvPicPr>
        <p:blipFill>
          <a:blip r:embed="rId3"/>
          <a:stretch>
            <a:fillRect/>
          </a:stretch>
        </p:blipFill>
        <p:spPr>
          <a:xfrm>
            <a:off x="10947197" y="4424782"/>
            <a:ext cx="294437" cy="294437"/>
          </a:xfrm>
          <a:prstGeom prst="rect">
            <a:avLst/>
          </a:prstGeom>
        </p:spPr>
      </p:pic>
      <p:sp>
        <p:nvSpPr>
          <p:cNvPr id="19" name="Text 14"/>
          <p:cNvSpPr txBox="1"/>
          <p:nvPr/>
        </p:nvSpPr>
        <p:spPr>
          <a:xfrm>
            <a:off x="6461608"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07</a:t>
            </a:r>
            <a:endParaRPr lang="ar-SA" sz="2600" dirty="0"/>
          </a:p>
        </p:txBody>
      </p:sp>
      <p:sp>
        <p:nvSpPr>
          <p:cNvPr id="20" name="Text 15"/>
          <p:cNvSpPr txBox="1"/>
          <p:nvPr/>
        </p:nvSpPr>
        <p:spPr>
          <a:xfrm>
            <a:off x="7330288"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البدائل التمويلية</a:t>
            </a:r>
            <a:endParaRPr lang="ar-SA" sz="1800" dirty="0"/>
          </a:p>
        </p:txBody>
      </p:sp>
      <p:sp>
        <p:nvSpPr>
          <p:cNvPr id="21" name="Text 16"/>
          <p:cNvSpPr txBox="1"/>
          <p:nvPr/>
        </p:nvSpPr>
        <p:spPr>
          <a:xfrm>
            <a:off x="6507328"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أظهرت الدراسة إمكانية الاستفادة من نماذج الشراكة الاستثمارية (PPP)، والبناء والتشغيل ونقل الملكية (BOT)، وتقاسم الإيرادات، لتخفيف الأعباء المالية المباشرة على الشركة.</a:t>
            </a:r>
            <a:endParaRPr lang="ar-SA" sz="1350" dirty="0"/>
          </a:p>
        </p:txBody>
      </p:sp>
      <p:sp>
        <p:nvSpPr>
          <p:cNvPr id="22" name="!!card3"/>
          <p:cNvSpPr/>
          <p:nvPr/>
        </p:nvSpPr>
        <p:spPr>
          <a:xfrm>
            <a:off x="548640" y="3977640"/>
            <a:ext cx="5410048" cy="2148840"/>
          </a:xfrm>
          <a:prstGeom prst="roundRect">
            <a:avLst>
              <a:gd name="adj" fmla="val 4255"/>
            </a:avLst>
          </a:prstGeom>
          <a:solidFill>
            <a:srgbClr val="FFFFFF"/>
          </a:solidFill>
          <a:ln w="9525">
            <a:solidFill>
              <a:srgbClr val="D6DFEA"/>
            </a:solidFill>
            <a:prstDash val="solid"/>
          </a:ln>
          <a:effectLst>
            <a:outerShdw sx="100000" sy="100000" kx="0" ky="0" algn="bl" rotWithShape="0" blurRad="127000" dist="38100" dir="5400000">
              <a:srgbClr val="1F3A5F">
                <a:alpha val="13000"/>
              </a:srgbClr>
            </a:outerShdw>
          </a:effectLst>
        </p:spPr>
      </p:sp>
      <p:sp>
        <p:nvSpPr>
          <p:cNvPr id="23" name="!!dot3"/>
          <p:cNvSpPr/>
          <p:nvPr/>
        </p:nvSpPr>
        <p:spPr>
          <a:xfrm>
            <a:off x="5090008" y="4251960"/>
            <a:ext cx="640080" cy="640080"/>
          </a:xfrm>
          <a:prstGeom prst="ellipse">
            <a:avLst/>
          </a:prstGeom>
          <a:solidFill>
            <a:srgbClr val="F15524"/>
          </a:solidFill>
          <a:ln w="12700">
            <a:solidFill>
              <a:srgbClr val="F15524"/>
            </a:solidFill>
            <a:prstDash val="solid"/>
          </a:ln>
        </p:spPr>
      </p:sp>
      <p:pic>
        <p:nvPicPr>
          <p:cNvPr id="24" name="!!ico3" descr="preencoded.png">    </p:cNvPr>
          <p:cNvPicPr>
            <a:picLocks noChangeAspect="1"/>
          </p:cNvPicPr>
          <p:nvPr/>
        </p:nvPicPr>
        <p:blipFill>
          <a:blip r:embed="rId4"/>
          <a:stretch>
            <a:fillRect/>
          </a:stretch>
        </p:blipFill>
        <p:spPr>
          <a:xfrm>
            <a:off x="5262829" y="4424782"/>
            <a:ext cx="294437" cy="294437"/>
          </a:xfrm>
          <a:prstGeom prst="rect">
            <a:avLst/>
          </a:prstGeom>
        </p:spPr>
      </p:pic>
      <p:sp>
        <p:nvSpPr>
          <p:cNvPr id="25" name="Text 19"/>
          <p:cNvSpPr txBox="1"/>
          <p:nvPr/>
        </p:nvSpPr>
        <p:spPr>
          <a:xfrm>
            <a:off x="777240" y="4178808"/>
            <a:ext cx="914400" cy="457200"/>
          </a:xfrm>
          <a:prstGeom prst="rect">
            <a:avLst/>
          </a:prstGeom>
          <a:noFill/>
          <a:ln/>
        </p:spPr>
        <p:txBody>
          <a:bodyPr wrap="square" lIns="0" tIns="0" rIns="0" bIns="0" rtlCol="0" anchor="t"/>
          <a:lstStyle/>
          <a:p>
            <a:pPr algn="l" indent="0" marL="0">
              <a:buNone/>
            </a:pPr>
            <a:r>
              <a:rPr lang="ar-SA" altLang="en-US" sz="2600" b="1" dirty="0">
                <a:solidFill>
                  <a:srgbClr val="D9E3EF"/>
                </a:solidFill>
                <a:latin typeface="JF Flat" pitchFamily="34" charset="0"/>
                <a:ea typeface="JF Flat" pitchFamily="34" charset="-122"/>
                <a:cs typeface="JF Flat" pitchFamily="34" charset="-120"/>
              </a:rPr>
              <a:t>08</a:t>
            </a:r>
            <a:endParaRPr lang="ar-SA" sz="2600" dirty="0"/>
          </a:p>
        </p:txBody>
      </p:sp>
      <p:sp>
        <p:nvSpPr>
          <p:cNvPr id="26" name="Text 20"/>
          <p:cNvSpPr txBox="1"/>
          <p:nvPr/>
        </p:nvSpPr>
        <p:spPr>
          <a:xfrm>
            <a:off x="1645920" y="4270248"/>
            <a:ext cx="3306928" cy="594360"/>
          </a:xfrm>
          <a:prstGeom prst="rect">
            <a:avLst/>
          </a:prstGeom>
          <a:noFill/>
          <a:ln/>
        </p:spPr>
        <p:txBody>
          <a:bodyPr wrap="square" lIns="0" tIns="0" rIns="0" bIns="0" rtlCol="0" anchor="ctr"/>
          <a:lstStyle/>
          <a:p>
            <a:pPr rtl="1" algn="r" indent="0" marL="0">
              <a:buNone/>
            </a:pPr>
            <a:r>
              <a:rPr lang="ar-SA" altLang="en-US" sz="1800" b="1" dirty="0">
                <a:solidFill>
                  <a:srgbClr val="06305C"/>
                </a:solidFill>
                <a:latin typeface="JF Flat" pitchFamily="34" charset="0"/>
                <a:ea typeface="JF Flat" pitchFamily="34" charset="-122"/>
                <a:cs typeface="JF Flat" pitchFamily="34" charset="-120"/>
              </a:rPr>
              <a:t>البنية التحتية الكهربائية</a:t>
            </a:r>
            <a:endParaRPr lang="ar-SA" sz="1800" dirty="0"/>
          </a:p>
        </p:txBody>
      </p:sp>
      <p:sp>
        <p:nvSpPr>
          <p:cNvPr id="27" name="Text 21"/>
          <p:cNvSpPr txBox="1"/>
          <p:nvPr/>
        </p:nvSpPr>
        <p:spPr>
          <a:xfrm>
            <a:off x="822960" y="4983480"/>
            <a:ext cx="4861408" cy="1005840"/>
          </a:xfrm>
          <a:prstGeom prst="rect">
            <a:avLst/>
          </a:prstGeom>
          <a:noFill/>
          <a:ln/>
        </p:spPr>
        <p:txBody>
          <a:bodyPr wrap="square" lIns="0" tIns="0" rIns="0" bIns="0" rtlCol="0" anchor="t"/>
          <a:lstStyle/>
          <a:p>
            <a:pPr rtl="1" algn="r" indent="0" marL="0">
              <a:lnSpc>
                <a:spcPct val="115000"/>
              </a:lnSpc>
              <a:buNone/>
            </a:pPr>
            <a:r>
              <a:rPr lang="ar-SA" altLang="en-US" sz="1350" dirty="0">
                <a:solidFill>
                  <a:srgbClr val="5B6B7F"/>
                </a:solidFill>
                <a:latin typeface="JF Flat" pitchFamily="34" charset="0"/>
                <a:ea typeface="JF Flat" pitchFamily="34" charset="-122"/>
                <a:cs typeface="JF Flat" pitchFamily="34" charset="-120"/>
              </a:rPr>
              <a:t>يتمتع موقع الشركة بقربه من محطة الهضبة للتحويل ومحطة توليد جنوب طرابلس بجهد 220 ك.ف، مما يعزز فرص توفير تغذية كهربائية موثوقة لأحمال مركز البيانات الوطني ودعم استمرارية تشغيله.</a:t>
            </a:r>
            <a:endParaRPr lang="ar-SA" sz="135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15524"/>
                </a:solidFill>
                <a:latin typeface="JF Flat" pitchFamily="34" charset="0"/>
                <a:ea typeface="JF Flat" pitchFamily="34" charset="-122"/>
                <a:cs typeface="JF Flat" pitchFamily="34" charset="-120"/>
              </a:rPr>
              <a:t>10  |  التوصيات</a:t>
            </a:r>
            <a:endParaRPr lang="en-US" sz="1300" dirty="0"/>
          </a:p>
        </p:txBody>
      </p:sp>
      <p:sp>
        <p:nvSpPr>
          <p:cNvPr id="3" name="Text 1"/>
          <p:cNvSpPr/>
          <p:nvPr>
            <p:ph idx="103"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06305C"/>
                </a:solidFill>
                <a:latin typeface="JF Flat" pitchFamily="34" charset="0"/>
                <a:ea typeface="JF Flat" pitchFamily="34" charset="-122"/>
                <a:cs typeface="JF Flat" pitchFamily="34" charset="-120"/>
              </a:rPr>
              <a:t>التوصيات</a:t>
            </a:r>
            <a:endParaRPr lang="en-US" sz="3000" dirty="0"/>
          </a:p>
        </p:txBody>
      </p:sp>
      <p:sp>
        <p:nvSpPr>
          <p:cNvPr id="4" name="Shape 2"/>
          <p:cNvSpPr/>
          <p:nvPr/>
        </p:nvSpPr>
        <p:spPr>
          <a:xfrm>
            <a:off x="11368735" y="1810512"/>
            <a:ext cx="0" cy="4032504"/>
          </a:xfrm>
          <a:prstGeom prst="line">
            <a:avLst/>
          </a:prstGeom>
          <a:noFill/>
          <a:ln w="25400">
            <a:solidFill>
              <a:srgbClr val="F8C9B5"/>
            </a:solidFill>
            <a:prstDash val="dash"/>
          </a:ln>
        </p:spPr>
      </p:sp>
      <p:sp>
        <p:nvSpPr>
          <p:cNvPr id="5" name="!!dot0"/>
          <p:cNvSpPr/>
          <p:nvPr/>
        </p:nvSpPr>
        <p:spPr>
          <a:xfrm>
            <a:off x="11094415" y="1554480"/>
            <a:ext cx="548640" cy="548640"/>
          </a:xfrm>
          <a:prstGeom prst="ellipse">
            <a:avLst/>
          </a:prstGeom>
          <a:solidFill>
            <a:srgbClr val="F15524"/>
          </a:solidFill>
          <a:ln w="12700">
            <a:solidFill>
              <a:srgbClr val="F15524"/>
            </a:solidFill>
            <a:prstDash val="solid"/>
          </a:ln>
        </p:spPr>
      </p:sp>
      <p:sp>
        <p:nvSpPr>
          <p:cNvPr id="6" name="Text 4"/>
          <p:cNvSpPr txBox="1"/>
          <p:nvPr/>
        </p:nvSpPr>
        <p:spPr>
          <a:xfrm>
            <a:off x="11094415" y="155448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01</a:t>
            </a:r>
            <a:endParaRPr lang="en-US" sz="1400" dirty="0"/>
          </a:p>
        </p:txBody>
      </p:sp>
      <p:sp>
        <p:nvSpPr>
          <p:cNvPr id="7" name="Text 5"/>
          <p:cNvSpPr txBox="1"/>
          <p:nvPr/>
        </p:nvSpPr>
        <p:spPr>
          <a:xfrm>
            <a:off x="8259775" y="1536192"/>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اعتماد المشروع استراتيجياً</a:t>
            </a:r>
            <a:endParaRPr lang="ar-SA" sz="1500" dirty="0"/>
          </a:p>
        </p:txBody>
      </p:sp>
      <p:sp>
        <p:nvSpPr>
          <p:cNvPr id="8" name="!!card0"/>
          <p:cNvSpPr/>
          <p:nvPr/>
        </p:nvSpPr>
        <p:spPr>
          <a:xfrm>
            <a:off x="548640" y="1554480"/>
            <a:ext cx="7573975" cy="566928"/>
          </a:xfrm>
          <a:prstGeom prst="roundRect">
            <a:avLst>
              <a:gd name="adj" fmla="val 16129"/>
            </a:avLst>
          </a:prstGeom>
          <a:solidFill>
            <a:srgbClr val="FFFFFF"/>
          </a:solidFill>
          <a:ln w="9525">
            <a:solidFill>
              <a:srgbClr val="D6DFEA"/>
            </a:solidFill>
            <a:prstDash val="solid"/>
          </a:ln>
        </p:spPr>
      </p:sp>
      <p:sp>
        <p:nvSpPr>
          <p:cNvPr id="9" name="Text 7"/>
          <p:cNvSpPr txBox="1"/>
          <p:nvPr/>
        </p:nvSpPr>
        <p:spPr>
          <a:xfrm>
            <a:off x="685800" y="1554480"/>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الموافقة المبدئية على مشروع إنشاء مركز البيانات الوطني باعتباره أحد المشروعات الداعمة للتحول الرقمي والبنية التحتية الرقمية للدولة الليبية.</a:t>
            </a:r>
            <a:endParaRPr lang="ar-SA" sz="1200" dirty="0"/>
          </a:p>
        </p:txBody>
      </p:sp>
      <p:sp>
        <p:nvSpPr>
          <p:cNvPr id="10" name="!!dot1"/>
          <p:cNvSpPr/>
          <p:nvPr/>
        </p:nvSpPr>
        <p:spPr>
          <a:xfrm>
            <a:off x="11094415" y="2226564"/>
            <a:ext cx="548640" cy="548640"/>
          </a:xfrm>
          <a:prstGeom prst="ellipse">
            <a:avLst/>
          </a:prstGeom>
          <a:solidFill>
            <a:srgbClr val="00539B"/>
          </a:solidFill>
          <a:ln w="12700">
            <a:solidFill>
              <a:srgbClr val="00539B"/>
            </a:solidFill>
            <a:prstDash val="solid"/>
          </a:ln>
        </p:spPr>
      </p:sp>
      <p:sp>
        <p:nvSpPr>
          <p:cNvPr id="11" name="Text 9"/>
          <p:cNvSpPr txBox="1"/>
          <p:nvPr/>
        </p:nvSpPr>
        <p:spPr>
          <a:xfrm>
            <a:off x="11094415" y="2226564"/>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02</a:t>
            </a:r>
            <a:endParaRPr lang="en-US" sz="1400" dirty="0"/>
          </a:p>
        </p:txBody>
      </p:sp>
      <p:sp>
        <p:nvSpPr>
          <p:cNvPr id="12" name="Text 10"/>
          <p:cNvSpPr txBox="1"/>
          <p:nvPr/>
        </p:nvSpPr>
        <p:spPr>
          <a:xfrm>
            <a:off x="8259775" y="2208276"/>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دراسة خيارات التمويل</a:t>
            </a:r>
            <a:endParaRPr lang="ar-SA" sz="1500" dirty="0"/>
          </a:p>
        </p:txBody>
      </p:sp>
      <p:sp>
        <p:nvSpPr>
          <p:cNvPr id="13" name="!!card1"/>
          <p:cNvSpPr/>
          <p:nvPr/>
        </p:nvSpPr>
        <p:spPr>
          <a:xfrm>
            <a:off x="548640" y="2226564"/>
            <a:ext cx="7573975" cy="566928"/>
          </a:xfrm>
          <a:prstGeom prst="roundRect">
            <a:avLst>
              <a:gd name="adj" fmla="val 16129"/>
            </a:avLst>
          </a:prstGeom>
          <a:solidFill>
            <a:srgbClr val="F4F7FB"/>
          </a:solidFill>
          <a:ln w="9525">
            <a:solidFill>
              <a:srgbClr val="D6DFEA"/>
            </a:solidFill>
            <a:prstDash val="solid"/>
          </a:ln>
        </p:spPr>
      </p:sp>
      <p:sp>
        <p:nvSpPr>
          <p:cNvPr id="14" name="Text 12"/>
          <p:cNvSpPr txBox="1"/>
          <p:nvPr/>
        </p:nvSpPr>
        <p:spPr>
          <a:xfrm>
            <a:off x="685800" y="2226564"/>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تقييم نماذج التمويل المباشر والشراكات الاستثمارية (PPP وBOT وتقاسم الإيرادات)، واختيار النموذج الذي يحقق التوازن بين العائد الاستثماري والمخاطر والمحافظة على السيادة على البيانات.</a:t>
            </a:r>
            <a:endParaRPr lang="ar-SA" sz="1200" dirty="0"/>
          </a:p>
        </p:txBody>
      </p:sp>
      <p:sp>
        <p:nvSpPr>
          <p:cNvPr id="15" name="!!dot2"/>
          <p:cNvSpPr/>
          <p:nvPr/>
        </p:nvSpPr>
        <p:spPr>
          <a:xfrm>
            <a:off x="11094415" y="2898648"/>
            <a:ext cx="548640" cy="548640"/>
          </a:xfrm>
          <a:prstGeom prst="ellipse">
            <a:avLst/>
          </a:prstGeom>
          <a:solidFill>
            <a:srgbClr val="00539B"/>
          </a:solidFill>
          <a:ln w="12700">
            <a:solidFill>
              <a:srgbClr val="00539B"/>
            </a:solidFill>
            <a:prstDash val="solid"/>
          </a:ln>
        </p:spPr>
      </p:sp>
      <p:sp>
        <p:nvSpPr>
          <p:cNvPr id="16" name="Text 14"/>
          <p:cNvSpPr txBox="1"/>
          <p:nvPr/>
        </p:nvSpPr>
        <p:spPr>
          <a:xfrm>
            <a:off x="11094415" y="2898648"/>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03</a:t>
            </a:r>
            <a:endParaRPr lang="en-US" sz="1400" dirty="0"/>
          </a:p>
        </p:txBody>
      </p:sp>
      <p:sp>
        <p:nvSpPr>
          <p:cNvPr id="17" name="Text 15"/>
          <p:cNvSpPr txBox="1"/>
          <p:nvPr/>
        </p:nvSpPr>
        <p:spPr>
          <a:xfrm>
            <a:off x="8259775" y="2880360"/>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الاستفادة من أصول الشركة</a:t>
            </a:r>
            <a:endParaRPr lang="ar-SA" sz="1500" dirty="0"/>
          </a:p>
        </p:txBody>
      </p:sp>
      <p:sp>
        <p:nvSpPr>
          <p:cNvPr id="18" name="!!card2"/>
          <p:cNvSpPr/>
          <p:nvPr/>
        </p:nvSpPr>
        <p:spPr>
          <a:xfrm>
            <a:off x="548640" y="2898648"/>
            <a:ext cx="7573975" cy="566928"/>
          </a:xfrm>
          <a:prstGeom prst="roundRect">
            <a:avLst>
              <a:gd name="adj" fmla="val 16129"/>
            </a:avLst>
          </a:prstGeom>
          <a:solidFill>
            <a:srgbClr val="FFFFFF"/>
          </a:solidFill>
          <a:ln w="9525">
            <a:solidFill>
              <a:srgbClr val="D6DFEA"/>
            </a:solidFill>
            <a:prstDash val="solid"/>
          </a:ln>
        </p:spPr>
      </p:sp>
      <p:sp>
        <p:nvSpPr>
          <p:cNvPr id="19" name="Text 17"/>
          <p:cNvSpPr txBox="1"/>
          <p:nvPr/>
        </p:nvSpPr>
        <p:spPr>
          <a:xfrm>
            <a:off x="685800" y="2898648"/>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توظيف البنية التحتية والشبكة الحكومية الآمنة والأراضي والكوادر المتاحة لخفض التكاليف وتعزيز التكامل بين الخدمات.</a:t>
            </a:r>
            <a:endParaRPr lang="ar-SA" sz="1200" dirty="0"/>
          </a:p>
        </p:txBody>
      </p:sp>
      <p:sp>
        <p:nvSpPr>
          <p:cNvPr id="20" name="!!dot3"/>
          <p:cNvSpPr/>
          <p:nvPr/>
        </p:nvSpPr>
        <p:spPr>
          <a:xfrm>
            <a:off x="11094415" y="3570732"/>
            <a:ext cx="548640" cy="548640"/>
          </a:xfrm>
          <a:prstGeom prst="ellipse">
            <a:avLst/>
          </a:prstGeom>
          <a:solidFill>
            <a:srgbClr val="00539B"/>
          </a:solidFill>
          <a:ln w="12700">
            <a:solidFill>
              <a:srgbClr val="00539B"/>
            </a:solidFill>
            <a:prstDash val="solid"/>
          </a:ln>
        </p:spPr>
      </p:sp>
      <p:sp>
        <p:nvSpPr>
          <p:cNvPr id="21" name="Text 19"/>
          <p:cNvSpPr txBox="1"/>
          <p:nvPr/>
        </p:nvSpPr>
        <p:spPr>
          <a:xfrm>
            <a:off x="11094415" y="3570732"/>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04</a:t>
            </a:r>
            <a:endParaRPr lang="en-US" sz="1400" dirty="0"/>
          </a:p>
        </p:txBody>
      </p:sp>
      <p:sp>
        <p:nvSpPr>
          <p:cNvPr id="22" name="Text 20"/>
          <p:cNvSpPr txBox="1"/>
          <p:nvPr/>
        </p:nvSpPr>
        <p:spPr>
          <a:xfrm>
            <a:off x="8259775" y="3552444"/>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ضمان الاعتمادية والأمن</a:t>
            </a:r>
            <a:endParaRPr lang="ar-SA" sz="1500" dirty="0"/>
          </a:p>
        </p:txBody>
      </p:sp>
      <p:sp>
        <p:nvSpPr>
          <p:cNvPr id="23" name="!!card3"/>
          <p:cNvSpPr/>
          <p:nvPr/>
        </p:nvSpPr>
        <p:spPr>
          <a:xfrm>
            <a:off x="548640" y="3570732"/>
            <a:ext cx="7573975" cy="566928"/>
          </a:xfrm>
          <a:prstGeom prst="roundRect">
            <a:avLst>
              <a:gd name="adj" fmla="val 16129"/>
            </a:avLst>
          </a:prstGeom>
          <a:solidFill>
            <a:srgbClr val="F4F7FB"/>
          </a:solidFill>
          <a:ln w="9525">
            <a:solidFill>
              <a:srgbClr val="D6DFEA"/>
            </a:solidFill>
            <a:prstDash val="solid"/>
          </a:ln>
        </p:spPr>
      </p:sp>
      <p:sp>
        <p:nvSpPr>
          <p:cNvPr id="24" name="Text 22"/>
          <p:cNvSpPr txBox="1"/>
          <p:nvPr/>
        </p:nvSpPr>
        <p:spPr>
          <a:xfrm>
            <a:off x="685800" y="3570732"/>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اعتماد المعايير الدولية المستهدفة، ولا سيما Uptime Tier III وISO/IEC 27001، مع توفير متطلبات الأمن السيبراني واستمرارية الأعمال والتعافي من الكوارث.</a:t>
            </a:r>
            <a:endParaRPr lang="ar-SA" sz="1200" dirty="0"/>
          </a:p>
        </p:txBody>
      </p:sp>
      <p:sp>
        <p:nvSpPr>
          <p:cNvPr id="25" name="!!dot4"/>
          <p:cNvSpPr/>
          <p:nvPr/>
        </p:nvSpPr>
        <p:spPr>
          <a:xfrm>
            <a:off x="11094415" y="4242816"/>
            <a:ext cx="548640" cy="548640"/>
          </a:xfrm>
          <a:prstGeom prst="ellipse">
            <a:avLst/>
          </a:prstGeom>
          <a:solidFill>
            <a:srgbClr val="00539B"/>
          </a:solidFill>
          <a:ln w="12700">
            <a:solidFill>
              <a:srgbClr val="00539B"/>
            </a:solidFill>
            <a:prstDash val="solid"/>
          </a:ln>
        </p:spPr>
      </p:sp>
      <p:sp>
        <p:nvSpPr>
          <p:cNvPr id="26" name="Text 24"/>
          <p:cNvSpPr txBox="1"/>
          <p:nvPr/>
        </p:nvSpPr>
        <p:spPr>
          <a:xfrm>
            <a:off x="11094415" y="4242816"/>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05</a:t>
            </a:r>
            <a:endParaRPr lang="en-US" sz="1400" dirty="0"/>
          </a:p>
        </p:txBody>
      </p:sp>
      <p:sp>
        <p:nvSpPr>
          <p:cNvPr id="27" name="Text 25"/>
          <p:cNvSpPr txBox="1"/>
          <p:nvPr/>
        </p:nvSpPr>
        <p:spPr>
          <a:xfrm>
            <a:off x="8259775" y="4224528"/>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الجاهزية التشغيلية والتجارية</a:t>
            </a:r>
            <a:endParaRPr lang="ar-SA" sz="1500" dirty="0"/>
          </a:p>
        </p:txBody>
      </p:sp>
      <p:sp>
        <p:nvSpPr>
          <p:cNvPr id="28" name="!!card4"/>
          <p:cNvSpPr/>
          <p:nvPr/>
        </p:nvSpPr>
        <p:spPr>
          <a:xfrm>
            <a:off x="548640" y="4242816"/>
            <a:ext cx="7573975" cy="566928"/>
          </a:xfrm>
          <a:prstGeom prst="roundRect">
            <a:avLst>
              <a:gd name="adj" fmla="val 16129"/>
            </a:avLst>
          </a:prstGeom>
          <a:solidFill>
            <a:srgbClr val="FFFFFF"/>
          </a:solidFill>
          <a:ln w="9525">
            <a:solidFill>
              <a:srgbClr val="D6DFEA"/>
            </a:solidFill>
            <a:prstDash val="solid"/>
          </a:ln>
        </p:spPr>
      </p:sp>
      <p:sp>
        <p:nvSpPr>
          <p:cNvPr id="29" name="Text 27"/>
          <p:cNvSpPr txBox="1"/>
          <p:nvPr/>
        </p:nvSpPr>
        <p:spPr>
          <a:xfrm>
            <a:off x="685800" y="4242816"/>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إعداد الهيكل التنظيمي وخطة تأهيل الكوادر، واعتماد استراتيجية تسعير وتسويق وآليات تعاقد وتحصيل واضحة، وبناء شراكات مع مزودي التقنية والخدمات السحابية.</a:t>
            </a:r>
            <a:endParaRPr lang="ar-SA" sz="1200" dirty="0"/>
          </a:p>
        </p:txBody>
      </p:sp>
      <p:sp>
        <p:nvSpPr>
          <p:cNvPr id="30" name="!!dot5"/>
          <p:cNvSpPr/>
          <p:nvPr/>
        </p:nvSpPr>
        <p:spPr>
          <a:xfrm>
            <a:off x="11094415" y="4914900"/>
            <a:ext cx="548640" cy="548640"/>
          </a:xfrm>
          <a:prstGeom prst="ellipse">
            <a:avLst/>
          </a:prstGeom>
          <a:solidFill>
            <a:srgbClr val="00539B"/>
          </a:solidFill>
          <a:ln w="12700">
            <a:solidFill>
              <a:srgbClr val="00539B"/>
            </a:solidFill>
            <a:prstDash val="solid"/>
          </a:ln>
        </p:spPr>
      </p:sp>
      <p:sp>
        <p:nvSpPr>
          <p:cNvPr id="31" name="Text 29"/>
          <p:cNvSpPr txBox="1"/>
          <p:nvPr/>
        </p:nvSpPr>
        <p:spPr>
          <a:xfrm>
            <a:off x="11094415" y="4914900"/>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06</a:t>
            </a:r>
            <a:endParaRPr lang="en-US" sz="1400" dirty="0"/>
          </a:p>
        </p:txBody>
      </p:sp>
      <p:sp>
        <p:nvSpPr>
          <p:cNvPr id="32" name="Text 30"/>
          <p:cNvSpPr txBox="1"/>
          <p:nvPr/>
        </p:nvSpPr>
        <p:spPr>
          <a:xfrm>
            <a:off x="8259775" y="4896612"/>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استكمال المتطلبات التنظيمية</a:t>
            </a:r>
            <a:endParaRPr lang="ar-SA" sz="1500" dirty="0"/>
          </a:p>
        </p:txBody>
      </p:sp>
      <p:sp>
        <p:nvSpPr>
          <p:cNvPr id="33" name="!!card5"/>
          <p:cNvSpPr/>
          <p:nvPr/>
        </p:nvSpPr>
        <p:spPr>
          <a:xfrm>
            <a:off x="548640" y="4914900"/>
            <a:ext cx="7573975" cy="566928"/>
          </a:xfrm>
          <a:prstGeom prst="roundRect">
            <a:avLst>
              <a:gd name="adj" fmla="val 16129"/>
            </a:avLst>
          </a:prstGeom>
          <a:solidFill>
            <a:srgbClr val="F4F7FB"/>
          </a:solidFill>
          <a:ln w="9525">
            <a:solidFill>
              <a:srgbClr val="D6DFEA"/>
            </a:solidFill>
            <a:prstDash val="solid"/>
          </a:ln>
        </p:spPr>
      </p:sp>
      <p:sp>
        <p:nvSpPr>
          <p:cNvPr id="34" name="Text 32"/>
          <p:cNvSpPr txBox="1"/>
          <p:nvPr/>
        </p:nvSpPr>
        <p:spPr>
          <a:xfrm>
            <a:off x="685800" y="4914900"/>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التنسيق مع الجهات المختصة للتحقق من التراخيص والاشتراطات القانونية ورسوم الخدمات والالتزامات المرتبطة باستضافة البيانات الحكومية.</a:t>
            </a:r>
            <a:endParaRPr lang="ar-SA" sz="1200" dirty="0"/>
          </a:p>
        </p:txBody>
      </p:sp>
      <p:sp>
        <p:nvSpPr>
          <p:cNvPr id="35" name="!!dot6"/>
          <p:cNvSpPr/>
          <p:nvPr/>
        </p:nvSpPr>
        <p:spPr>
          <a:xfrm>
            <a:off x="11094415" y="5586984"/>
            <a:ext cx="548640" cy="548640"/>
          </a:xfrm>
          <a:prstGeom prst="ellipse">
            <a:avLst/>
          </a:prstGeom>
          <a:solidFill>
            <a:srgbClr val="00539B"/>
          </a:solidFill>
          <a:ln w="12700">
            <a:solidFill>
              <a:srgbClr val="00539B"/>
            </a:solidFill>
            <a:prstDash val="solid"/>
          </a:ln>
        </p:spPr>
      </p:sp>
      <p:sp>
        <p:nvSpPr>
          <p:cNvPr id="36" name="Text 34"/>
          <p:cNvSpPr txBox="1"/>
          <p:nvPr/>
        </p:nvSpPr>
        <p:spPr>
          <a:xfrm>
            <a:off x="11094415" y="5586984"/>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JF Flat" pitchFamily="34" charset="0"/>
                <a:ea typeface="JF Flat" pitchFamily="34" charset="-122"/>
                <a:cs typeface="JF Flat" pitchFamily="34" charset="-120"/>
              </a:rPr>
              <a:t>07</a:t>
            </a:r>
            <a:endParaRPr lang="en-US" sz="1400" dirty="0"/>
          </a:p>
        </p:txBody>
      </p:sp>
      <p:sp>
        <p:nvSpPr>
          <p:cNvPr id="37" name="Text 35"/>
          <p:cNvSpPr txBox="1"/>
          <p:nvPr/>
        </p:nvSpPr>
        <p:spPr>
          <a:xfrm>
            <a:off x="8259775" y="5568696"/>
            <a:ext cx="2697480" cy="585216"/>
          </a:xfrm>
          <a:prstGeom prst="rect">
            <a:avLst/>
          </a:prstGeom>
          <a:noFill/>
          <a:ln/>
        </p:spPr>
        <p:txBody>
          <a:bodyPr wrap="square" lIns="0" tIns="0" rIns="0" bIns="0" rtlCol="0" anchor="ctr"/>
          <a:lstStyle/>
          <a:p>
            <a:pPr rtl="1" algn="r" indent="0" marL="0">
              <a:buNone/>
            </a:pPr>
            <a:r>
              <a:rPr lang="ar-SA" altLang="en-US" sz="1500" b="1" dirty="0">
                <a:solidFill>
                  <a:srgbClr val="06305C"/>
                </a:solidFill>
                <a:latin typeface="JF Flat" pitchFamily="34" charset="0"/>
                <a:ea typeface="JF Flat" pitchFamily="34" charset="-122"/>
                <a:cs typeface="JF Flat" pitchFamily="34" charset="-120"/>
              </a:rPr>
              <a:t>استكمال الدراسات التفصيلية</a:t>
            </a:r>
            <a:endParaRPr lang="ar-SA" sz="1500" dirty="0"/>
          </a:p>
        </p:txBody>
      </p:sp>
      <p:sp>
        <p:nvSpPr>
          <p:cNvPr id="38" name="!!card6"/>
          <p:cNvSpPr/>
          <p:nvPr/>
        </p:nvSpPr>
        <p:spPr>
          <a:xfrm>
            <a:off x="548640" y="5586984"/>
            <a:ext cx="7573975" cy="566928"/>
          </a:xfrm>
          <a:prstGeom prst="roundRect">
            <a:avLst>
              <a:gd name="adj" fmla="val 16129"/>
            </a:avLst>
          </a:prstGeom>
          <a:solidFill>
            <a:srgbClr val="FFFFFF"/>
          </a:solidFill>
          <a:ln w="9525">
            <a:solidFill>
              <a:srgbClr val="D6DFEA"/>
            </a:solidFill>
            <a:prstDash val="solid"/>
          </a:ln>
        </p:spPr>
      </p:sp>
      <p:sp>
        <p:nvSpPr>
          <p:cNvPr id="39" name="Text 37"/>
          <p:cNvSpPr txBox="1"/>
          <p:nvPr/>
        </p:nvSpPr>
        <p:spPr>
          <a:xfrm>
            <a:off x="685800" y="5586984"/>
            <a:ext cx="7299655" cy="566928"/>
          </a:xfrm>
          <a:prstGeom prst="rect">
            <a:avLst/>
          </a:prstGeom>
          <a:noFill/>
          <a:ln/>
        </p:spPr>
        <p:txBody>
          <a:bodyPr wrap="square" lIns="0" tIns="0" rIns="0" bIns="0" rtlCol="0" anchor="ctr"/>
          <a:lstStyle/>
          <a:p>
            <a:pPr rtl="1" algn="r" indent="0" marL="0">
              <a:buNone/>
            </a:pPr>
            <a:r>
              <a:rPr lang="ar-SA" altLang="en-US" sz="1200" dirty="0">
                <a:solidFill>
                  <a:srgbClr val="1F2937"/>
                </a:solidFill>
                <a:latin typeface="JF Flat" pitchFamily="34" charset="0"/>
                <a:ea typeface="JF Flat" pitchFamily="34" charset="-122"/>
                <a:cs typeface="JF Flat" pitchFamily="34" charset="-120"/>
              </a:rPr>
              <a:t>استمرار عمل الفريق المختص لاستكمال الدراسات الهندسية والتقنية والمالية والتجارية، وإعداد خطة تنفيذ متكاملة تُعرض على الإدارة العليا لاعتماد الاستثمار النهائي.</a:t>
            </a:r>
            <a:endParaRPr lang="ar-SA" sz="12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15524"/>
                </a:solidFill>
                <a:latin typeface="JF Flat"/>
                <a:ea typeface="JF Flat"/>
                <a:cs typeface="JF Flat"/>
              </a:defRPr>
            </a:lvl1pPr>
          </a:lstStyle>
          <a:p>
            <a:pPr algn="l"/>
            <a:fld id="{F7021451-1387-4CA6-816F-3879F97B5CBC}" type="slidenum">
              <a:rPr b="1"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body" hasCustomPrompt="1"/>
          </p:nvPr>
        </p:nvSpPr>
        <p:spPr>
          <a:xfrm>
            <a:off x="2103120" y="384048"/>
            <a:ext cx="9539935" cy="292608"/>
          </a:xfrm>
          <a:prstGeom prst="rect">
            <a:avLst/>
          </a:prstGeom>
          <a:noFill/>
          <a:ln/>
        </p:spPr>
        <p:txBody>
          <a:bodyPr wrap="square" lIns="0" tIns="0" rIns="0" bIns="0" rtlCol="0" anchor="ctr"/>
          <a:lstStyle/>
          <a:p>
            <a:pPr rtl="1" algn="r" indent="0" marL="0">
              <a:buNone/>
            </a:pPr>
            <a:r>
              <a:rPr lang="en-US" sz="1300" b="1" dirty="0">
                <a:solidFill>
                  <a:srgbClr val="F7941D"/>
                </a:solidFill>
                <a:latin typeface="JF Flat" pitchFamily="34" charset="0"/>
                <a:ea typeface="JF Flat" pitchFamily="34" charset="-122"/>
                <a:cs typeface="JF Flat" pitchFamily="34" charset="-120"/>
              </a:rPr>
              <a:t>10  |  الفوائد الاستراتيجية</a:t>
            </a:r>
            <a:endParaRPr lang="en-US" sz="1300" dirty="0"/>
          </a:p>
        </p:txBody>
      </p:sp>
      <p:sp>
        <p:nvSpPr>
          <p:cNvPr id="3" name="Text 0"/>
          <p:cNvSpPr/>
          <p:nvPr>
            <p:ph idx="102" type="title" hasCustomPrompt="1"/>
          </p:nvPr>
        </p:nvSpPr>
        <p:spPr>
          <a:xfrm>
            <a:off x="2103120" y="676656"/>
            <a:ext cx="9539935" cy="603504"/>
          </a:xfrm>
          <a:prstGeom prst="rect">
            <a:avLst/>
          </a:prstGeom>
          <a:noFill/>
          <a:ln/>
        </p:spPr>
        <p:txBody>
          <a:bodyPr wrap="square" lIns="0" tIns="0" rIns="0" bIns="0" rtlCol="0" anchor="ctr"/>
          <a:lstStyle/>
          <a:p>
            <a:pPr rtl="1" algn="r" indent="0" marL="0">
              <a:buNone/>
            </a:pPr>
            <a:r>
              <a:rPr lang="en-US" sz="3000" b="1" dirty="0">
                <a:solidFill>
                  <a:srgbClr val="FFFFFF"/>
                </a:solidFill>
                <a:latin typeface="JF Flat" pitchFamily="34" charset="0"/>
                <a:ea typeface="JF Flat" pitchFamily="34" charset="-122"/>
                <a:cs typeface="JF Flat" pitchFamily="34" charset="-120"/>
              </a:rPr>
              <a:t>الفوائد الاستراتيجية للمشروع</a:t>
            </a:r>
            <a:endParaRPr lang="en-US" sz="3000" dirty="0"/>
          </a:p>
        </p:txBody>
      </p:sp>
      <p:sp>
        <p:nvSpPr>
          <p:cNvPr id="4" name="Shape 2"/>
          <p:cNvSpPr/>
          <p:nvPr/>
        </p:nvSpPr>
        <p:spPr>
          <a:xfrm>
            <a:off x="9607052"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5" name="Shape 3"/>
          <p:cNvSpPr/>
          <p:nvPr/>
        </p:nvSpPr>
        <p:spPr>
          <a:xfrm>
            <a:off x="10076414" y="2194560"/>
            <a:ext cx="1097280" cy="1097280"/>
          </a:xfrm>
          <a:prstGeom prst="ellipse">
            <a:avLst/>
          </a:prstGeom>
          <a:solidFill>
            <a:srgbClr val="F15524"/>
          </a:solidFill>
          <a:ln w="38100">
            <a:solidFill>
              <a:srgbClr val="F7941D"/>
            </a:solidFill>
            <a:prstDash val="solid"/>
          </a:ln>
        </p:spPr>
      </p:sp>
      <p:pic>
        <p:nvPicPr>
          <p:cNvPr id="6" name="Image 0" descr="preencoded.png">    </p:cNvPr>
          <p:cNvPicPr>
            <a:picLocks noChangeAspect="1"/>
          </p:cNvPicPr>
          <p:nvPr/>
        </p:nvPicPr>
        <p:blipFill>
          <a:blip r:embed="rId1"/>
          <a:stretch>
            <a:fillRect/>
          </a:stretch>
        </p:blipFill>
        <p:spPr>
          <a:xfrm>
            <a:off x="10350734" y="2468880"/>
            <a:ext cx="548640" cy="548640"/>
          </a:xfrm>
          <a:prstGeom prst="rect">
            <a:avLst/>
          </a:prstGeom>
        </p:spPr>
      </p:pic>
      <p:sp>
        <p:nvSpPr>
          <p:cNvPr id="7" name="Text 4"/>
          <p:cNvSpPr txBox="1"/>
          <p:nvPr/>
        </p:nvSpPr>
        <p:spPr>
          <a:xfrm>
            <a:off x="9789932"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توطين استضافة البيانات والخدمات الحكومية</a:t>
            </a:r>
            <a:endParaRPr lang="ar-SA" sz="1500" dirty="0"/>
          </a:p>
        </p:txBody>
      </p:sp>
      <p:sp>
        <p:nvSpPr>
          <p:cNvPr id="8" name="Shape 5"/>
          <p:cNvSpPr/>
          <p:nvPr/>
        </p:nvSpPr>
        <p:spPr>
          <a:xfrm>
            <a:off x="7342449"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9" name="Shape 6"/>
          <p:cNvSpPr/>
          <p:nvPr/>
        </p:nvSpPr>
        <p:spPr>
          <a:xfrm>
            <a:off x="7811811" y="2194560"/>
            <a:ext cx="1097280" cy="1097280"/>
          </a:xfrm>
          <a:prstGeom prst="ellipse">
            <a:avLst/>
          </a:prstGeom>
          <a:solidFill>
            <a:srgbClr val="F15524"/>
          </a:solidFill>
          <a:ln w="38100">
            <a:solidFill>
              <a:srgbClr val="F7941D"/>
            </a:solidFill>
            <a:prstDash val="solid"/>
          </a:ln>
        </p:spPr>
      </p:sp>
      <p:pic>
        <p:nvPicPr>
          <p:cNvPr id="10" name="Image 1" descr="preencoded.png">    </p:cNvPr>
          <p:cNvPicPr>
            <a:picLocks noChangeAspect="1"/>
          </p:cNvPicPr>
          <p:nvPr/>
        </p:nvPicPr>
        <p:blipFill>
          <a:blip r:embed="rId2"/>
          <a:stretch>
            <a:fillRect/>
          </a:stretch>
        </p:blipFill>
        <p:spPr>
          <a:xfrm>
            <a:off x="8086131" y="2468880"/>
            <a:ext cx="548640" cy="548640"/>
          </a:xfrm>
          <a:prstGeom prst="rect">
            <a:avLst/>
          </a:prstGeom>
        </p:spPr>
      </p:pic>
      <p:sp>
        <p:nvSpPr>
          <p:cNvPr id="11" name="Text 7"/>
          <p:cNvSpPr txBox="1"/>
          <p:nvPr/>
        </p:nvSpPr>
        <p:spPr>
          <a:xfrm>
            <a:off x="7525329"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تعزيز أمن المعلومات واستمرارية الأعمال</a:t>
            </a:r>
            <a:endParaRPr lang="ar-SA" sz="1500" dirty="0"/>
          </a:p>
        </p:txBody>
      </p:sp>
      <p:sp>
        <p:nvSpPr>
          <p:cNvPr id="12" name="Shape 8"/>
          <p:cNvSpPr/>
          <p:nvPr/>
        </p:nvSpPr>
        <p:spPr>
          <a:xfrm>
            <a:off x="5077846"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13" name="Shape 9"/>
          <p:cNvSpPr/>
          <p:nvPr/>
        </p:nvSpPr>
        <p:spPr>
          <a:xfrm>
            <a:off x="5547208" y="2194560"/>
            <a:ext cx="1097280" cy="1097280"/>
          </a:xfrm>
          <a:prstGeom prst="ellipse">
            <a:avLst/>
          </a:prstGeom>
          <a:solidFill>
            <a:srgbClr val="F15524"/>
          </a:solidFill>
          <a:ln w="38100">
            <a:solidFill>
              <a:srgbClr val="F7941D"/>
            </a:solidFill>
            <a:prstDash val="solid"/>
          </a:ln>
        </p:spPr>
      </p:sp>
      <p:pic>
        <p:nvPicPr>
          <p:cNvPr id="14" name="Image 2" descr="preencoded.png">    </p:cNvPr>
          <p:cNvPicPr>
            <a:picLocks noChangeAspect="1"/>
          </p:cNvPicPr>
          <p:nvPr/>
        </p:nvPicPr>
        <p:blipFill>
          <a:blip r:embed="rId3"/>
          <a:stretch>
            <a:fillRect/>
          </a:stretch>
        </p:blipFill>
        <p:spPr>
          <a:xfrm>
            <a:off x="5821528" y="2468880"/>
            <a:ext cx="548640" cy="548640"/>
          </a:xfrm>
          <a:prstGeom prst="rect">
            <a:avLst/>
          </a:prstGeom>
        </p:spPr>
      </p:pic>
      <p:sp>
        <p:nvSpPr>
          <p:cNvPr id="15" name="Text 10"/>
          <p:cNvSpPr txBox="1"/>
          <p:nvPr/>
        </p:nvSpPr>
        <p:spPr>
          <a:xfrm>
            <a:off x="5260726"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رفع كفاءة الاستفادة من البنية التحتية الشبكية للشركة</a:t>
            </a:r>
            <a:endParaRPr lang="ar-SA" sz="1500" dirty="0"/>
          </a:p>
        </p:txBody>
      </p:sp>
      <p:sp>
        <p:nvSpPr>
          <p:cNvPr id="16" name="Shape 11"/>
          <p:cNvSpPr/>
          <p:nvPr/>
        </p:nvSpPr>
        <p:spPr>
          <a:xfrm>
            <a:off x="2813243"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17" name="Shape 12"/>
          <p:cNvSpPr/>
          <p:nvPr/>
        </p:nvSpPr>
        <p:spPr>
          <a:xfrm>
            <a:off x="3282605" y="2194560"/>
            <a:ext cx="1097280" cy="1097280"/>
          </a:xfrm>
          <a:prstGeom prst="ellipse">
            <a:avLst/>
          </a:prstGeom>
          <a:solidFill>
            <a:srgbClr val="F15524"/>
          </a:solidFill>
          <a:ln w="38100">
            <a:solidFill>
              <a:srgbClr val="F7941D"/>
            </a:solidFill>
            <a:prstDash val="solid"/>
          </a:ln>
        </p:spPr>
      </p:sp>
      <p:pic>
        <p:nvPicPr>
          <p:cNvPr id="18" name="Image 3" descr="preencoded.png">    </p:cNvPr>
          <p:cNvPicPr>
            <a:picLocks noChangeAspect="1"/>
          </p:cNvPicPr>
          <p:nvPr/>
        </p:nvPicPr>
        <p:blipFill>
          <a:blip r:embed="rId4"/>
          <a:stretch>
            <a:fillRect/>
          </a:stretch>
        </p:blipFill>
        <p:spPr>
          <a:xfrm>
            <a:off x="3556925" y="2468880"/>
            <a:ext cx="548640" cy="548640"/>
          </a:xfrm>
          <a:prstGeom prst="rect">
            <a:avLst/>
          </a:prstGeom>
        </p:spPr>
      </p:pic>
      <p:sp>
        <p:nvSpPr>
          <p:cNvPr id="19" name="Text 13"/>
          <p:cNvSpPr txBox="1"/>
          <p:nvPr/>
        </p:nvSpPr>
        <p:spPr>
          <a:xfrm>
            <a:off x="2996123"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الحد من ازدواجية الاستثمارات الحكومية</a:t>
            </a:r>
            <a:endParaRPr lang="ar-SA" sz="1500" dirty="0"/>
          </a:p>
        </p:txBody>
      </p:sp>
      <p:sp>
        <p:nvSpPr>
          <p:cNvPr id="20" name="Shape 14"/>
          <p:cNvSpPr/>
          <p:nvPr/>
        </p:nvSpPr>
        <p:spPr>
          <a:xfrm>
            <a:off x="548640" y="1828800"/>
            <a:ext cx="2036003" cy="3200400"/>
          </a:xfrm>
          <a:prstGeom prst="roundRect">
            <a:avLst>
              <a:gd name="adj" fmla="val 5389"/>
            </a:avLst>
          </a:prstGeom>
          <a:solidFill>
            <a:srgbClr val="FFFFFF">
              <a:alpha val="10000"/>
            </a:srgbClr>
          </a:solidFill>
          <a:ln w="9525">
            <a:solidFill>
              <a:srgbClr val="FFFFFF">
                <a:alpha val="25000"/>
              </a:srgbClr>
            </a:solidFill>
            <a:prstDash val="solid"/>
          </a:ln>
        </p:spPr>
      </p:sp>
      <p:sp>
        <p:nvSpPr>
          <p:cNvPr id="21" name="Shape 15"/>
          <p:cNvSpPr/>
          <p:nvPr/>
        </p:nvSpPr>
        <p:spPr>
          <a:xfrm>
            <a:off x="1018002" y="2194560"/>
            <a:ext cx="1097280" cy="1097280"/>
          </a:xfrm>
          <a:prstGeom prst="ellipse">
            <a:avLst/>
          </a:prstGeom>
          <a:solidFill>
            <a:srgbClr val="F15524"/>
          </a:solidFill>
          <a:ln w="38100">
            <a:solidFill>
              <a:srgbClr val="F7941D"/>
            </a:solidFill>
            <a:prstDash val="solid"/>
          </a:ln>
        </p:spPr>
      </p:sp>
      <p:pic>
        <p:nvPicPr>
          <p:cNvPr id="22" name="Image 4" descr="preencoded.png">    </p:cNvPr>
          <p:cNvPicPr>
            <a:picLocks noChangeAspect="1"/>
          </p:cNvPicPr>
          <p:nvPr/>
        </p:nvPicPr>
        <p:blipFill>
          <a:blip r:embed="rId5"/>
          <a:stretch>
            <a:fillRect/>
          </a:stretch>
        </p:blipFill>
        <p:spPr>
          <a:xfrm>
            <a:off x="1292322" y="2468880"/>
            <a:ext cx="548640" cy="548640"/>
          </a:xfrm>
          <a:prstGeom prst="rect">
            <a:avLst/>
          </a:prstGeom>
        </p:spPr>
      </p:pic>
      <p:sp>
        <p:nvSpPr>
          <p:cNvPr id="23" name="Text 16"/>
          <p:cNvSpPr txBox="1"/>
          <p:nvPr/>
        </p:nvSpPr>
        <p:spPr>
          <a:xfrm>
            <a:off x="731520" y="3520440"/>
            <a:ext cx="1670243" cy="1325880"/>
          </a:xfrm>
          <a:prstGeom prst="rect">
            <a:avLst/>
          </a:prstGeom>
          <a:noFill/>
          <a:ln/>
        </p:spPr>
        <p:txBody>
          <a:bodyPr wrap="square" lIns="0" tIns="0" rIns="0" bIns="0" rtlCol="0" anchor="t"/>
          <a:lstStyle/>
          <a:p>
            <a:pPr rtl="1" algn="ctr" indent="0" marL="0">
              <a:lnSpc>
                <a:spcPct val="110000"/>
              </a:lnSpc>
              <a:buNone/>
            </a:pPr>
            <a:r>
              <a:rPr lang="ar-SA" altLang="en-US" sz="1500" b="1" dirty="0">
                <a:solidFill>
                  <a:srgbClr val="FFFFFF"/>
                </a:solidFill>
                <a:latin typeface="JF Flat" pitchFamily="34" charset="0"/>
                <a:ea typeface="JF Flat" pitchFamily="34" charset="-122"/>
                <a:cs typeface="JF Flat" pitchFamily="34" charset="-120"/>
              </a:rPr>
              <a:t>تطوير الخبرات المحلية، وتوفير منصة قابلة للتوسع للخدمات الرقمية</a:t>
            </a:r>
            <a:endParaRPr lang="ar-SA" sz="1500" dirty="0"/>
          </a:p>
        </p:txBody>
      </p:sp>
      <p:sp>
        <p:nvSpPr>
          <p:cNvPr id="24" name="Text 17"/>
          <p:cNvSpPr txBox="1"/>
          <p:nvPr/>
        </p:nvSpPr>
        <p:spPr>
          <a:xfrm>
            <a:off x="548640" y="5440680"/>
            <a:ext cx="11094415" cy="457200"/>
          </a:xfrm>
          <a:prstGeom prst="rect">
            <a:avLst/>
          </a:prstGeom>
          <a:noFill/>
          <a:ln/>
        </p:spPr>
        <p:txBody>
          <a:bodyPr wrap="square" lIns="0" tIns="0" rIns="0" bIns="0" rtlCol="0" anchor="t"/>
          <a:lstStyle/>
          <a:p>
            <a:pPr rtl="1" algn="ctr" indent="0" marL="0">
              <a:buNone/>
            </a:pPr>
            <a:r>
              <a:rPr lang="ar-SA" altLang="en-US" sz="2000" b="1" dirty="0">
                <a:solidFill>
                  <a:srgbClr val="F7941D"/>
                </a:solidFill>
                <a:latin typeface="JF Flat" pitchFamily="34" charset="0"/>
                <a:ea typeface="JF Flat" pitchFamily="34" charset="-122"/>
                <a:cs typeface="JF Flat" pitchFamily="34" charset="-120"/>
              </a:rPr>
              <a:t>منصة وطنية قابلة للتوسع لدعم التحول الرقمي في ليبيا</a:t>
            </a:r>
            <a:endParaRPr lang="ar-SA" sz="2000" dirty="0"/>
          </a:p>
        </p:txBody>
      </p:sp>
      <p:sp>
        <p:nvSpPr>
          <p:cNvPr id="25" name="Slide Number Placeholder 0"/>
          <p:cNvSpPr>
            <a:spLocks noGrp="1"/>
          </p:cNvSpPr>
          <p:nvPr>
            <p:ph type="sldNum" sz="quarter" idx="4294967295"/>
          </p:nvPr>
        </p:nvSpPr>
        <p:spPr>
          <a:xfrm>
            <a:off x="548640" y="6391656"/>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941D"/>
                </a:solidFill>
                <a:latin typeface="JF Flat"/>
                <a:ea typeface="JF Flat"/>
                <a:cs typeface="JF Flat"/>
              </a:defRPr>
            </a:lvl1pPr>
          </a:lstStyle>
          <a:p>
            <a:pPr algn="l"/>
            <a:fld id="{F7021451-1387-4CA6-816F-3879F97B5CBC}" type="slidenum">
              <a:rPr b="1" lang="en-US"/>
              <a:t>22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heroLogo" descr="assets/logo_white.png">    </p:cNvPr>
          <p:cNvPicPr>
            <a:picLocks noChangeAspect="1"/>
          </p:cNvPicPr>
          <p:nvPr/>
        </p:nvPicPr>
        <p:blipFill>
          <a:blip r:embed="rId1"/>
          <a:stretch>
            <a:fillRect/>
          </a:stretch>
        </p:blipFill>
        <p:spPr>
          <a:xfrm>
            <a:off x="9265615" y="640080"/>
            <a:ext cx="2377440" cy="1366114"/>
          </a:xfrm>
          <a:prstGeom prst="rect">
            <a:avLst/>
          </a:prstGeom>
        </p:spPr>
      </p:pic>
      <p:sp>
        <p:nvSpPr>
          <p:cNvPr id="3" name="Text 0"/>
          <p:cNvSpPr txBox="1"/>
          <p:nvPr/>
        </p:nvSpPr>
        <p:spPr>
          <a:xfrm>
            <a:off x="5120640" y="2468880"/>
            <a:ext cx="6522415" cy="1097280"/>
          </a:xfrm>
          <a:prstGeom prst="rect">
            <a:avLst/>
          </a:prstGeom>
          <a:noFill/>
          <a:ln/>
        </p:spPr>
        <p:txBody>
          <a:bodyPr wrap="square" lIns="0" tIns="0" rIns="0" bIns="0" rtlCol="0" anchor="ctr"/>
          <a:lstStyle/>
          <a:p>
            <a:pPr rtl="1" algn="r" indent="0" marL="0">
              <a:buNone/>
            </a:pPr>
            <a:r>
              <a:rPr lang="ar-SA" altLang="en-US" sz="6000" b="1" dirty="0">
                <a:solidFill>
                  <a:srgbClr val="FFFFFF"/>
                </a:solidFill>
                <a:latin typeface="JF Flat" pitchFamily="34" charset="0"/>
                <a:ea typeface="JF Flat" pitchFamily="34" charset="-122"/>
                <a:cs typeface="JF Flat" pitchFamily="34" charset="-120"/>
              </a:rPr>
              <a:t>شكراً لكم</a:t>
            </a:r>
            <a:endParaRPr lang="ar-SA" sz="6000" dirty="0"/>
          </a:p>
        </p:txBody>
      </p:sp>
      <p:sp>
        <p:nvSpPr>
          <p:cNvPr id="4" name="Text 1"/>
          <p:cNvSpPr txBox="1"/>
          <p:nvPr/>
        </p:nvSpPr>
        <p:spPr>
          <a:xfrm>
            <a:off x="5120640" y="3611880"/>
            <a:ext cx="6522415" cy="457200"/>
          </a:xfrm>
          <a:prstGeom prst="rect">
            <a:avLst/>
          </a:prstGeom>
          <a:noFill/>
          <a:ln/>
        </p:spPr>
        <p:txBody>
          <a:bodyPr wrap="square" lIns="0" tIns="0" rIns="0" bIns="0" rtlCol="0" anchor="t"/>
          <a:lstStyle/>
          <a:p>
            <a:pPr rtl="1" algn="r" indent="0" marL="0">
              <a:buNone/>
            </a:pPr>
            <a:r>
              <a:rPr lang="ar-SA" altLang="en-US" sz="2000" b="1" dirty="0">
                <a:solidFill>
                  <a:srgbClr val="F7941D"/>
                </a:solidFill>
                <a:latin typeface="JF Flat" pitchFamily="34" charset="0"/>
                <a:ea typeface="JF Flat" pitchFamily="34" charset="-122"/>
                <a:cs typeface="JF Flat" pitchFamily="34" charset="-120"/>
              </a:rPr>
              <a:t>نحو بنية تحتية رقمية وطنية آمنة وموثوقة</a:t>
            </a:r>
            <a:endParaRPr lang="ar-SA" sz="2000" dirty="0"/>
          </a:p>
        </p:txBody>
      </p:sp>
      <p:sp>
        <p:nvSpPr>
          <p:cNvPr id="5" name="Text 2"/>
          <p:cNvSpPr txBox="1"/>
          <p:nvPr/>
        </p:nvSpPr>
        <p:spPr>
          <a:xfrm>
            <a:off x="5486400" y="5989320"/>
            <a:ext cx="6156655" cy="320040"/>
          </a:xfrm>
          <a:prstGeom prst="rect">
            <a:avLst/>
          </a:prstGeom>
          <a:noFill/>
          <a:ln/>
        </p:spPr>
        <p:txBody>
          <a:bodyPr wrap="square" lIns="0" tIns="0" rIns="0" bIns="0" rtlCol="0" anchor="t"/>
          <a:lstStyle/>
          <a:p>
            <a:pPr rtl="1" algn="r" indent="0" marL="0">
              <a:buNone/>
            </a:pPr>
            <a:r>
              <a:rPr lang="ar-SA" altLang="en-US" sz="1400" b="1" dirty="0">
                <a:solidFill>
                  <a:srgbClr val="FFFFFF"/>
                </a:solidFill>
                <a:latin typeface="JF Flat" pitchFamily="34" charset="0"/>
                <a:ea typeface="JF Flat" pitchFamily="34" charset="-122"/>
                <a:cs typeface="JF Flat" pitchFamily="34" charset="-120"/>
              </a:rPr>
              <a:t>شركة الجيل الجديد للتقنية</a:t>
            </a:r>
            <a:endParaRPr lang="ar-SA" sz="1400" dirty="0"/>
          </a:p>
        </p:txBody>
      </p:sp>
      <p:sp>
        <p:nvSpPr>
          <p:cNvPr id="6" name="Text 3"/>
          <p:cNvSpPr txBox="1"/>
          <p:nvPr/>
        </p:nvSpPr>
        <p:spPr>
          <a:xfrm>
            <a:off x="5486400" y="6291072"/>
            <a:ext cx="6156655" cy="256032"/>
          </a:xfrm>
          <a:prstGeom prst="rect">
            <a:avLst/>
          </a:prstGeom>
          <a:noFill/>
          <a:ln/>
        </p:spPr>
        <p:txBody>
          <a:bodyPr wrap="square" lIns="0" tIns="0" rIns="0" bIns="0" rtlCol="0" anchor="t"/>
          <a:lstStyle/>
          <a:p>
            <a:pPr algn="r" indent="0" marL="0">
              <a:buNone/>
            </a:pPr>
            <a:r>
              <a:rPr lang="ar-SA" altLang="en-US" sz="1000" spc="200" kern="0" dirty="0">
                <a:solidFill>
                  <a:srgbClr val="8FB0D6"/>
                </a:solidFill>
                <a:latin typeface="JF Flat" pitchFamily="34" charset="0"/>
                <a:ea typeface="JF Flat" pitchFamily="34" charset="-122"/>
                <a:cs typeface="JF Flat" pitchFamily="34" charset="-120"/>
              </a:rPr>
              <a:t>ALJEEL ALJADEED FOR TECHNOLOGY</a:t>
            </a:r>
            <a:endParaRPr lang="ar-SA" sz="1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sld>
</file>

<file path=ppt/theme/theme1.xml><?xml version="1.0" encoding="utf-8"?>
<a:theme xmlns:a="http://schemas.openxmlformats.org/drawingml/2006/main" name="Aljeel Aljadeed">
  <a:themeElements>
    <a:clrScheme name="Aljeel Aljadeed">
      <a:dk1>
        <a:srgbClr val="1F2937"/>
      </a:dk1>
      <a:lt1>
        <a:srgbClr val="FFFFFF"/>
      </a:lt1>
      <a:dk2>
        <a:srgbClr val="06305C"/>
      </a:dk2>
      <a:lt2>
        <a:srgbClr val="F4F7FB"/>
      </a:lt2>
      <a:accent1>
        <a:srgbClr val="F15524"/>
      </a:accent1>
      <a:accent2>
        <a:srgbClr val="00539B"/>
      </a:accent2>
      <a:accent3>
        <a:srgbClr val="F7941D"/>
      </a:accent3>
      <a:accent4>
        <a:srgbClr val="4A90D9"/>
      </a:accent4>
      <a:accent5>
        <a:srgbClr val="8A9BB0"/>
      </a:accent5>
      <a:accent6>
        <a:srgbClr val="06305C"/>
      </a:accent6>
      <a:hlink>
        <a:srgbClr val="00539B"/>
      </a:hlink>
      <a:folHlink>
        <a:srgbClr val="6B4FA0"/>
      </a:folHlink>
    </a:clrScheme>
    <a:fontScheme name="Aljeel Aljadeed">
      <a:majorFont>
        <a:latin typeface="JF Flat"/>
        <a:ea typeface=""/>
        <a:cs typeface="JF Flat"/>
        <a:font script="Jpan" typeface="游ゴシック Light"/>
        <a:font script="Hang" typeface="맑은 고딕"/>
        <a:font script="Hans" typeface="等线 Light"/>
        <a:font script="Hant" typeface="新細明體"/>
        <a:font script="Arab" typeface="JF Flat"/>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F Flat"/>
        <a:ea typeface=""/>
        <a:cs typeface="JF Flat"/>
        <a:font script="Jpan" typeface="游ゴシック"/>
        <a:font script="Hang" typeface="맑은 고딕"/>
        <a:font script="Hans" typeface="等线"/>
        <a:font script="Hant" typeface="新細明體"/>
        <a:font script="Arab" typeface="JF Flat"/>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شركة الجيل الجديد للتقنية</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مشروع إنشاء مركز البيانات الوطني</dc:title>
  <dc:subject>PptxGenJS Presentation</dc:subject>
  <dc:creator>شركة الجيل الجديد للتقنية</dc:creator>
  <cp:lastModifiedBy>شركة الجيل الجديد للتقنية</cp:lastModifiedBy>
  <cp:revision>1</cp:revision>
  <dcterms:created xsi:type="dcterms:W3CDTF">2026-10-21T18:57:08Z</dcterms:created>
  <dcterms:modified xsi:type="dcterms:W3CDTF">2026-10-21T18:57:08Z</dcterms:modified>
</cp:coreProperties>
</file>