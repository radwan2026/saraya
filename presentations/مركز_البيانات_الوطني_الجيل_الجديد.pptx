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غلاف" id="{e4d1793c-f614-b79c-3292-aabdb7e4f4fd}">
          <p14:sldIdLst>
            <p14:sldId id="256"/>
          </p14:sldIdLst>
        </p14:section>
        <p14:section name="المحتويات" id="{22b9a04d-7309-a7b0-7fdb-944e4258a791}">
          <p14:sldIdLst>
            <p14:sldId id="257"/>
          </p14:sldIdLst>
        </p14:section>
        <p14:section name="01 التعريف بالمشروع" id="{2433dff1-c150-268b-e216-223bc922d9a7}">
          <p14:sldIdLst>
            <p14:sldId id="258"/>
            <p14:sldId id="259"/>
            <p14:sldId id="260"/>
            <p14:sldId id="261"/>
          </p14:sldIdLst>
        </p14:section>
        <p14:section name="02 نقاط القوة" id="{89a54750-4584-0f93-c98e-445aac20d5cb}">
          <p14:sldIdLst>
            <p14:sldId id="262"/>
            <p14:sldId id="263"/>
          </p14:sldIdLst>
        </p14:section>
        <p14:section name="03 تحليل SWOT" id="{4ceb7b75-f037-da2f-b864-9577de143a56}">
          <p14:sldIdLst>
            <p14:sldId id="264"/>
          </p14:sldIdLst>
        </p14:section>
        <p14:section name="04 التكاليف الرأسمالية" id="{b8046460-b82c-6fd3-2685-d6568de12b2a}">
          <p14:sldIdLst>
            <p14:sldId id="265"/>
            <p14:sldId id="266"/>
          </p14:sldIdLst>
        </p14:section>
        <p14:section name="05 التكاليف التشغيلية" id="{3c203241-a572-3129-6b22-f44e1274ac71}">
          <p14:sldIdLst>
            <p14:sldId id="267"/>
            <p14:sldId id="268"/>
          </p14:sldIdLst>
        </p14:section>
        <p14:section name="06 الإيرادات المتوقعة" id="{07fcc6dc-416d-e965-27ac-0eacf6427a59}">
          <p14:sldIdLst>
            <p14:sldId id="269"/>
            <p14:sldId id="270"/>
          </p14:sldIdLst>
        </p14:section>
        <p14:section name="07 المؤشرات المالية" id="{b35996e8-f541-54f3-f7fc-4a8e822084e4}">
          <p14:sldIdLst>
            <p14:sldId id="271"/>
            <p14:sldId id="272"/>
          </p14:sldIdLst>
        </p14:section>
        <p14:section name="08 نماذج التمويل" id="{e6bf2499-1d74-cfd8-ded9-8099967eaccb}">
          <p14:sldIdLst>
            <p14:sldId id="273"/>
          </p14:sldIdLst>
        </p14:section>
        <p14:section name="09 النتائج الرئيسية" id="{55334ffa-d670-f988-09bb-17e971915070}">
          <p14:sldIdLst>
            <p14:sldId id="274"/>
            <p14:sldId id="275"/>
          </p14:sldIdLst>
        </p14:section>
        <p14:section name="10 التوصيات والفوائد" id="{6b96379f-b3df-1e1c-83d5-4d2e6f14b309}">
          <p14:sldIdLst>
            <p14:sldId id="276"/>
            <p14:sldId id="277"/>
          </p14:sldIdLst>
        </p14:section>
        <p14:section name="الختام" id="{2dba3066-66f2-f19e-13f9-24514784fcdf}">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CAPEX</c:v>
                </c:pt>
              </c:strCache>
            </c:strRef>
          </c:tx>
          <c:spPr>
            <a:solidFill>
              <a:schemeClr val="accent1"/>
            </a:solidFill>
            <a:ln w="9525" cap="flat">
              <a:solidFill>
                <a:srgbClr val="F9F9F9"/>
              </a:solidFill>
              <a:prstDash val="solid"/>
              <a:round/>
            </a:ln>
            <a:effectLst/>
          </c:spPr>
          <c:dPt>
            <c:idx val="0"/>
            <c:bubble3D val="0"/>
            <c:spPr>
              <a:solidFill>
                <a:srgbClr val="F15524"/>
              </a:solidFill>
              <a:ln w="25400" cap="flat">
                <a:solidFill>
                  <a:srgbClr val="FFFFFF"/>
                </a:solidFill>
                <a:prstDash val="solid"/>
                <a:round/>
              </a:ln>
              <a:effectLst/>
            </c:spPr>
          </c:dPt>
          <c:dPt>
            <c:idx val="1"/>
            <c:bubble3D val="0"/>
            <c:spPr>
              <a:solidFill>
                <a:srgbClr val="00539B"/>
              </a:solidFill>
              <a:ln w="25400" cap="flat">
                <a:solidFill>
                  <a:srgbClr val="FFFFFF"/>
                </a:solidFill>
                <a:prstDash val="solid"/>
                <a:round/>
              </a:ln>
              <a:effectLst/>
            </c:spPr>
          </c:dPt>
          <c:dLbls>
            <c:dLbl>
              <c:idx val="0"/>
              <c:numFmt formatCode="0%" sourceLinked="0"/>
              <c:spPr/>
              <c:txPr>
                <a:bodyPr/>
                <a:lstStyle/>
                <a:p>
                  <a:pPr>
                    <a:defRPr sz="1200" b="1" i="0" u="none" strike="noStrike">
                      <a:solidFill>
                        <a:srgbClr val="FFFFFF"/>
                      </a:solidFill>
                      <a:latin typeface="JF Flat"/>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JF Fla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المرحلة الأولى</c:v>
                </c:pt>
                <c:pt idx="1">
                  <c:v>المرحلة الثانية</c:v>
                </c:pt>
              </c:strCache>
            </c:strRef>
          </c:cat>
          <c:val>
            <c:numRef>
              <c:f>Sheet1!$B$2:$B$3</c:f>
              <c:numCache>
                <c:ptCount val="2"/>
                <c:pt idx="0">
                  <c:v>43890874</c:v>
                </c:pt>
                <c:pt idx="1">
                  <c:v>14022000</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الإيرادات</c:v>
                </c:pt>
              </c:strCache>
            </c:strRef>
          </c:tx>
          <c:spPr>
            <a:solidFill>
              <a:srgbClr val="00539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س1</c:v>
                  </c:pt>
                  <c:pt idx="1">
                    <c:v>س2</c:v>
                  </c:pt>
                  <c:pt idx="2">
                    <c:v>س3</c:v>
                  </c:pt>
                  <c:pt idx="3">
                    <c:v>س4</c:v>
                  </c:pt>
                  <c:pt idx="4">
                    <c:v>س5</c:v>
                  </c:pt>
                  <c:pt idx="5">
                    <c:v>س6</c:v>
                  </c:pt>
                  <c:pt idx="6">
                    <c:v>س7</c:v>
                  </c:pt>
                  <c:pt idx="7">
                    <c:v>س8</c:v>
                  </c:pt>
                  <c:pt idx="8">
                    <c:v>س9</c:v>
                  </c:pt>
                  <c:pt idx="9">
                    <c:v>س10</c:v>
                  </c:pt>
                  <c:pt idx="10">
                    <c:v>س11</c:v>
                  </c:pt>
                  <c:pt idx="11">
                    <c:v>س12</c:v>
                  </c:pt>
                </c:lvl>
              </c:multiLvlStrCache>
            </c:multiLvlStrRef>
          </c:cat>
          <c:val>
            <c:numRef>
              <c:f>Sheet1!$B$2:$B$13</c:f>
              <c:numCache>
                <c:formatCode>General</c:formatCode>
                <c:ptCount val="12"/>
                <c:pt idx="0">
                  <c:v>3.8</c:v>
                </c:pt>
                <c:pt idx="1">
                  <c:v>9.9</c:v>
                </c:pt>
                <c:pt idx="2">
                  <c:v>18</c:v>
                </c:pt>
                <c:pt idx="3">
                  <c:v>32.3</c:v>
                </c:pt>
                <c:pt idx="4">
                  <c:v>47.5</c:v>
                </c:pt>
                <c:pt idx="5">
                  <c:v>64.4</c:v>
                </c:pt>
                <c:pt idx="6">
                  <c:v>89.6</c:v>
                </c:pt>
                <c:pt idx="7">
                  <c:v>107.8</c:v>
                </c:pt>
                <c:pt idx="8">
                  <c:v>124.4</c:v>
                </c:pt>
                <c:pt idx="9">
                  <c:v>168.1</c:v>
                </c:pt>
                <c:pt idx="10">
                  <c:v>168.1</c:v>
                </c:pt>
                <c:pt idx="11">
                  <c:v>168.1</c:v>
                </c:pt>
              </c:numCache>
            </c:numRef>
          </c:val>
        </c:ser>
        <c:ser>
          <c:idx val="1"/>
          <c:order val="1"/>
          <c:tx>
            <c:strRef>
              <c:f>Sheet1!$C$1</c:f>
              <c:strCache>
                <c:ptCount val="1"/>
                <c:pt idx="0">
                  <c:v>المصروفات</c:v>
                </c:pt>
              </c:strCache>
            </c:strRef>
          </c:tx>
          <c:spPr>
            <a:solidFill>
              <a:srgbClr val="F1552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س1</c:v>
                  </c:pt>
                  <c:pt idx="1">
                    <c:v>س2</c:v>
                  </c:pt>
                  <c:pt idx="2">
                    <c:v>س3</c:v>
                  </c:pt>
                  <c:pt idx="3">
                    <c:v>س4</c:v>
                  </c:pt>
                  <c:pt idx="4">
                    <c:v>س5</c:v>
                  </c:pt>
                  <c:pt idx="5">
                    <c:v>س6</c:v>
                  </c:pt>
                  <c:pt idx="6">
                    <c:v>س7</c:v>
                  </c:pt>
                  <c:pt idx="7">
                    <c:v>س8</c:v>
                  </c:pt>
                  <c:pt idx="8">
                    <c:v>س9</c:v>
                  </c:pt>
                  <c:pt idx="9">
                    <c:v>س10</c:v>
                  </c:pt>
                  <c:pt idx="10">
                    <c:v>س11</c:v>
                  </c:pt>
                  <c:pt idx="11">
                    <c:v>س12</c:v>
                  </c:pt>
                </c:lvl>
              </c:multiLvlStrCache>
            </c:multiLvlStrRef>
          </c:cat>
          <c:val>
            <c:numRef>
              <c:f>Sheet1!$C$2:$C$13</c:f>
              <c:numCache>
                <c:formatCode>General</c:formatCode>
                <c:ptCount val="12"/>
                <c:pt idx="0">
                  <c:v>45.1</c:v>
                </c:pt>
                <c:pt idx="1">
                  <c:v>45.4</c:v>
                </c:pt>
                <c:pt idx="2">
                  <c:v>46.3</c:v>
                </c:pt>
                <c:pt idx="3">
                  <c:v>46.9</c:v>
                </c:pt>
                <c:pt idx="4">
                  <c:v>41.3</c:v>
                </c:pt>
                <c:pt idx="5">
                  <c:v>28.7</c:v>
                </c:pt>
                <c:pt idx="6">
                  <c:v>30.8</c:v>
                </c:pt>
                <c:pt idx="7">
                  <c:v>31.7</c:v>
                </c:pt>
                <c:pt idx="8">
                  <c:v>32.6</c:v>
                </c:pt>
                <c:pt idx="9">
                  <c:v>30</c:v>
                </c:pt>
                <c:pt idx="10">
                  <c:v>30</c:v>
                </c:pt>
                <c:pt idx="11">
                  <c:v>30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B6B7F"/>
                </a:solidFill>
                <a:latin typeface="JF Fla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9F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F"/>
                </a:solidFill>
                <a:latin typeface="JF Fla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7"/>
              </a:solidFill>
              <a:latin typeface="JF Flat"/>
              <a:cs typeface="JF Fla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عرض تعريفي بمشروع إنشاء مركز البيانات الوطني لشركة الجيل الجديد للتقنية: مركز بقدرة 5.1 ميجاوات في طرابلس، وبتكلفة رأسمالية إجمالية تقارب 57.9 مليون دولار.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يستعرض العرض عشرة محاور تبدأ بالتعريف بالمشروع وتنتهي بالتوصيات والفوائد الاستراتيجية.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مركز البيانات منشأة تقنية متخصصة لاستضافة الخوادم والأنظمة وقواعد البيانات. حجم المشروع المخطط نحو 5.1 ميجاوات، والموقع المقترح مقر الشركة في طرابلس.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شكل (2): موقع مركز البيانات داخل مقر شركة الجيل الجديد للتقنية. أبعاد الموقع 50 × 70 متر، ويضم المبنى الجديد، وأربعة مولدات، ومنطقة للتبريد، ومدخلاً لوجستياً، ومدخلاً للأفراد، وسلّماً خارجياً للوصول إلى الطابق الأول.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شكل (3): أبعاد مركز البيانات. ارتفاع المبنى 14/16 متر، مساحة كل من الطابقين 0 و1 هي 30×55 = 3,300 م²، والطابق -1 هو 15×55 = 825 م²، بإجمالي 4,125 م². الطابق -1 لأنظمة الإطفاء والمستودع، الطابق 0 لمركز البيانات، الطابق 1 لمركز البيانات والخدمات اللوجستية والمكاتب، والسطح للتبريد الإضافي والألواح الشمسية، بارتفاع يصل إلى 6 أمتار للطابق.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خمسة محاور توضح أهمية المشروع: السيادة الرقمية، أمن المعلومات، الخدمات السحابية، كفاءة الإنفاق، والتكامل مع الشبكة الحكومية الآمنة ونقطة تبادل الإنترنت الوطنية.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نقاط القوة الاستراتيجية للشركة – القدرات والأصول المؤسسية: البنية التحتية للشبكات، التخصص التقني، الكوادر الفنية والتشغيلية، توفر الأرض والمساحات، السمعة المؤسسية، الخبرة في تنفيذ المشروعات، الدعم الفني والتشغيلي.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نقاط القوة الاستراتيجية للشركة – التكامل والخدمات الوطنية: توطين البيانات، إدارة حركة البيانات، مسارات الحماية، الشبكة الحكومية الآمنة، التكامل الحكومي، التكامل مع المشروعات القائمة، تحسين خدمات الإنترنت.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تحليل SWOT: نقاط القوة والضعف والفرص والتهديدات، مع الخلاصة الاستراتيجية بأن النجاح يتطلب ضمان الطلب وتأمين التمويل ورفع الاعتمادية.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إجمالي التكلفة الرأسمالية 57,912,874 دولار (371,800,651 دينار ليبي) بسعر صرف 6.42 دينار للدولار؛ المرحلة الأولى 43,890,874 دولار والمرحلة الثانية 14,022,000 دولار.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مكونات الاستثمار الرأسمالي تشمل الدراسات والمبنى والطاقة والتبريد وأنظمة الإدارة والشبكات والأمن السيبراني والتراخيص وإدارة المشروع. يستهدف تشغيل المرحلة الأولى خلال 18–24 شهراً.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بنود المصروفات التشغيلية العشرة وطبيعة كل منها. الكهرباء والتراخيص والبرمجيات والاستهلاك المحاسبي تمثل العناصر الرئيسية في التكلفة.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جدول المصروفات التشغيلية التقديرية لعشر سنوات وفق الجدول المالي بالدراسة. الصفوف المظللة: الكهرباء، التراخيص والبرمجيات، الاستهلاك.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جدول الإيرادات والمصروفات وصافي الربح والعائد من الاستثمار لمدة 12 سنة وفق دراسة الجدوى. الأرقام السالبة باللون الأحمر.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الرسم البياني يقارن الإيرادات بالمصروفات (بالمليون دينار) لمدة 12 سنة. تتجاوز الإيرادات المصروفات ابتداءً من السنة الخامسة. سبعة مصادر رئيسية للإيرادات، مع استهداف 412 جهة خلال عشر سنوات.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المؤشرات الرئيسية على أساس نقدي: فترة استرداد 11 سنة على أساس صافي الربح و9 سنوات على أساس التدفق النقدي، صافي القيمة الحالية 179,889,274 د.ل، ومتوسط عائد سنوي 18% نقدي و12% على صافي الربح.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نتائج النموذج المالي وملاحظة مهمة حول ضرورة مراجعة حسابات التدفقات والخصم قبل اعتماد المؤشرات نهائياً.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أربعة بدائل تمويلية: التمويل المباشر، الشراكة PPP، BOT، وتقاسم الإيرادات. التوجه المقترح إجراء مقارنة مالية وقانونية قبل الالتزام بنموذج واحد.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النتائج الرئيسية للمشروع: الأهمية الاستراتيجية، جاهزية الشركة، الفرص السوقية، التكلفة الاستثمارية.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النتائج الرئيسية للمشروع: الجدوى المالية، المخاطر والتحديات، البدائل التمويلية، البنية التحتية الكهربائية.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سبع توصيات تبدأ بالاعتماد الاستراتيجي للمشروع وتنتهي باستكمال الدراسات التفصيلية لاعتماد الاستثمار النهائي من الإدارة العليا.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الفوائد الاستراتيجية الخمس للمشروع.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لكم – نرحب بالأسئلة والنقاش.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sets/logo.png">    </p:cNvPr>
          <p:cNvPicPr>
            <a:picLocks noChangeAspect="1"/>
          </p:cNvPicPr>
          <p:nvPr/>
        </p:nvPicPr>
        <p:blipFill>
          <a:blip r:embed="rId1"/>
          <a:stretch>
            <a:fillRect/>
          </a:stretch>
        </p:blipFill>
        <p:spPr>
          <a:xfrm>
            <a:off x="548640" y="365760"/>
            <a:ext cx="1188720" cy="683057"/>
          </a:xfrm>
          <a:prstGeom prst="rect">
            <a:avLst/>
          </a:prstGeom>
        </p:spPr>
      </p:pic>
      <p:sp>
        <p:nvSpPr>
          <p:cNvPr id="3" name="Text 0"/>
          <p:cNvSpPr/>
          <p:nvPr/>
        </p:nvSpPr>
        <p:spPr>
          <a:xfrm>
            <a:off x="4754880" y="6400800"/>
            <a:ext cx="6888175" cy="256032"/>
          </a:xfrm>
          <a:prstGeom prst="rect">
            <a:avLst/>
          </a:prstGeom>
          <a:noFill/>
          <a:ln/>
        </p:spPr>
        <p:txBody>
          <a:bodyPr wrap="square" lIns="0" tIns="0" rIns="0" bIns="0" rtlCol="0" anchor="ctr"/>
          <a:lstStyle/>
          <a:p>
            <a:pPr algn="r" indent="0" marL="0">
              <a:buNone/>
            </a:pPr>
            <a:r>
              <a:rPr lang="en-US" sz="1000" dirty="0">
                <a:solidFill>
                  <a:srgbClr val="8A9BB0"/>
                </a:solidFill>
                <a:latin typeface="JF Flat" pitchFamily="34" charset="0"/>
                <a:ea typeface="JF Flat" pitchFamily="34" charset="-122"/>
                <a:cs typeface="JF Flat" pitchFamily="34" charset="-120"/>
              </a:rPr>
              <a:t>مشروع إنشاء مركز البيانات الوطني  |  شركة الجيل الجديد للتقنية</a:t>
            </a:r>
            <a:endParaRPr lang="en-US" sz="1000" dirty="0"/>
          </a:p>
        </p:txBody>
      </p:sp>
      <p:sp>
        <p:nvSpPr>
          <p:cNvPr id="4" name="Text 1"/>
          <p:cNvSpPr/>
          <p:nvPr>
            <p:ph idx="102" type="body" hasCustomPrompt="1"/>
          </p:nvPr>
        </p:nvSpPr>
        <p:spPr>
          <a:xfrm>
            <a:off x="2103120" y="384048"/>
            <a:ext cx="9539935" cy="292608"/>
          </a:xfrm>
          <a:prstGeom prst="rect">
            <a:avLst/>
          </a:prstGeom>
          <a:noFill/>
          <a:ln/>
        </p:spPr>
        <p:txBody>
          <a:bodyPr wrap="square" rtlCol="0"/>
          <a:lstStyle>
            <a:lvl1pPr rtl="1" algn="r" indent="0" marL="0">
              <a:buNone/>
              <a:defRPr lang="en-US" sz="1300" b="1" dirty="0">
                <a:solidFill>
                  <a:srgbClr val="F15524"/>
                </a:solidFill>
                <a:latin typeface="JF Flat" pitchFamily="34" charset="0"/>
                <a:ea typeface="JF Flat" pitchFamily="34" charset="-122"/>
                <a:cs typeface="JF Flat" pitchFamily="34" charset="-120"/>
              </a:defRPr>
            </a:lvl1pPr>
          </a:lstStyle>
          <a:p>
            <a:pPr algn="r" indent="0" marL="0">
              <a:buNone/>
            </a:pPr>
            <a:endParaRPr lang="en-US" sz="1300" dirty="0"/>
          </a:p>
        </p:txBody>
      </p:sp>
      <p:sp>
        <p:nvSpPr>
          <p:cNvPr id="5" name="Text 1"/>
          <p:cNvSpPr/>
          <p:nvPr>
            <p:ph idx="103" type="title" hasCustomPrompt="1"/>
          </p:nvPr>
        </p:nvSpPr>
        <p:spPr>
          <a:xfrm>
            <a:off x="2103120" y="676656"/>
            <a:ext cx="9539935" cy="603504"/>
          </a:xfrm>
          <a:prstGeom prst="rect">
            <a:avLst/>
          </a:prstGeom>
          <a:noFill/>
          <a:ln/>
        </p:spPr>
        <p:txBody>
          <a:bodyPr wrap="square" rtlCol="0"/>
          <a:lstStyle>
            <a:lvl1pPr rtl="1" algn="r" indent="0" marL="0">
              <a:buNone/>
              <a:defRPr lang="en-US" sz="3000" b="1" dirty="0">
                <a:solidFill>
                  <a:srgbClr val="06305C"/>
                </a:solidFill>
                <a:latin typeface="JF Flat" pitchFamily="34" charset="0"/>
                <a:ea typeface="JF Flat" pitchFamily="34" charset="-122"/>
                <a:cs typeface="JF Flat" pitchFamily="34" charset="-120"/>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sets/logo_white.png">    </p:cNvPr>
          <p:cNvPicPr>
            <a:picLocks noChangeAspect="1"/>
          </p:cNvPicPr>
          <p:nvPr/>
        </p:nvPicPr>
        <p:blipFill>
          <a:blip r:embed="rId1"/>
          <a:stretch>
            <a:fillRect/>
          </a:stretch>
        </p:blipFill>
        <p:spPr>
          <a:xfrm>
            <a:off x="548640" y="365760"/>
            <a:ext cx="1188720" cy="683057"/>
          </a:xfrm>
          <a:prstGeom prst="rect">
            <a:avLst/>
          </a:prstGeom>
        </p:spPr>
      </p:pic>
      <p:sp>
        <p:nvSpPr>
          <p:cNvPr id="3" name="Text 0"/>
          <p:cNvSpPr/>
          <p:nvPr>
            <p:ph idx="101" type="body" hasCustomPrompt="1"/>
          </p:nvPr>
        </p:nvSpPr>
        <p:spPr>
          <a:xfrm>
            <a:off x="2103120" y="384048"/>
            <a:ext cx="9539935" cy="292608"/>
          </a:xfrm>
          <a:prstGeom prst="rect">
            <a:avLst/>
          </a:prstGeom>
          <a:noFill/>
          <a:ln/>
        </p:spPr>
        <p:txBody>
          <a:bodyPr wrap="square" rtlCol="0"/>
          <a:lstStyle>
            <a:lvl1pPr rtl="1" algn="r" indent="0" marL="0">
              <a:buNone/>
              <a:defRPr lang="en-US" sz="1300" b="1" dirty="0">
                <a:solidFill>
                  <a:srgbClr val="F7941D"/>
                </a:solidFill>
                <a:latin typeface="JF Flat" pitchFamily="34" charset="0"/>
                <a:ea typeface="JF Flat" pitchFamily="34" charset="-122"/>
                <a:cs typeface="JF Flat" pitchFamily="34" charset="-120"/>
              </a:defRPr>
            </a:lvl1pPr>
          </a:lstStyle>
          <a:p>
            <a:pPr algn="r" indent="0" marL="0">
              <a:buNone/>
            </a:pPr>
            <a:endParaRPr lang="en-US" sz="1300" dirty="0"/>
          </a:p>
        </p:txBody>
      </p:sp>
      <p:sp>
        <p:nvSpPr>
          <p:cNvPr id="4" name="Text 0"/>
          <p:cNvSpPr/>
          <p:nvPr>
            <p:ph idx="102" type="title" hasCustomPrompt="1"/>
          </p:nvPr>
        </p:nvSpPr>
        <p:spPr>
          <a:xfrm>
            <a:off x="2103120" y="676656"/>
            <a:ext cx="9539935" cy="603504"/>
          </a:xfrm>
          <a:prstGeom prst="rect">
            <a:avLst/>
          </a:prstGeom>
          <a:noFill/>
          <a:ln/>
        </p:spPr>
        <p:txBody>
          <a:bodyPr wrap="square" rtlCol="0"/>
          <a:lstStyle>
            <a:lvl1pPr rtl="1" algn="r" indent="0" marL="0">
              <a:buNone/>
              <a:defRPr lang="en-US" sz="3000" b="1" dirty="0">
                <a:solidFill>
                  <a:srgbClr val="FFFFFF"/>
                </a:solidFill>
                <a:latin typeface="JF Flat" pitchFamily="34" charset="0"/>
                <a:ea typeface="JF Flat" pitchFamily="34" charset="-122"/>
                <a:cs typeface="JF Flat" pitchFamily="34" charset="-120"/>
              </a:defRPr>
            </a:lvl1pPr>
          </a:lstStyle>
          <a:p>
            <a:pPr algn="r" indent="0" marL="0">
              <a:buNone/>
            </a:pPr>
            <a:endParaRPr lang="en-US" sz="3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941D"/>
                </a:solidFill>
                <a:latin typeface="JF Flat"/>
                <a:ea typeface="JF Flat"/>
                <a:cs typeface="JF Flat"/>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image" Target="../media/image-15-7.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2.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3.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nim1_0" descr="assets/logo_white.png">    </p:cNvPr>
          <p:cNvPicPr>
            <a:picLocks noChangeAspect="1"/>
          </p:cNvPicPr>
          <p:nvPr/>
        </p:nvPicPr>
        <p:blipFill>
          <a:blip r:embed="rId1"/>
          <a:stretch>
            <a:fillRect/>
          </a:stretch>
        </p:blipFill>
        <p:spPr>
          <a:xfrm>
            <a:off x="9814255" y="457200"/>
            <a:ext cx="1828800" cy="1050646"/>
          </a:xfrm>
          <a:prstGeom prst="rect">
            <a:avLst/>
          </a:prstGeom>
        </p:spPr>
      </p:pic>
      <p:sp>
        <p:nvSpPr>
          <p:cNvPr id="3" name="anim1_1"/>
          <p:cNvSpPr/>
          <p:nvPr/>
        </p:nvSpPr>
        <p:spPr>
          <a:xfrm>
            <a:off x="493776" y="1455939"/>
            <a:ext cx="5870448" cy="3946122"/>
          </a:xfrm>
          <a:prstGeom prst="roundRect">
            <a:avLst>
              <a:gd name="adj" fmla="val 4634"/>
            </a:avLst>
          </a:prstGeom>
          <a:solidFill>
            <a:srgbClr val="FFFFFF">
              <a:alpha val="20000"/>
            </a:srgbClr>
          </a:solidFill>
          <a:ln w="12700">
            <a:solidFill>
              <a:srgbClr val="FFFFFF">
                <a:alpha val="40000"/>
              </a:srgbClr>
            </a:solidFill>
            <a:prstDash val="solid"/>
          </a:ln>
          <a:effectLst>
            <a:outerShdw sx="100000" sy="100000" kx="0" ky="0" algn="bl" rotWithShape="0" blurRad="228600" dist="76200" dir="5400000">
              <a:srgbClr val="000000">
                <a:alpha val="40000"/>
              </a:srgbClr>
            </a:outerShdw>
          </a:effectLst>
        </p:spPr>
      </p:sp>
      <p:pic>
        <p:nvPicPr>
          <p:cNvPr id="4" name="anim1_2" descr="مبنى مركز البيانات الوطني">    </p:cNvPr>
          <p:cNvPicPr>
            <a:picLocks noChangeAspect="1"/>
          </p:cNvPicPr>
          <p:nvPr/>
        </p:nvPicPr>
        <p:blipFill>
          <a:blip r:embed="rId2"/>
          <a:stretch>
            <a:fillRect/>
          </a:stretch>
        </p:blipFill>
        <p:spPr>
          <a:xfrm>
            <a:off x="548640" y="1510803"/>
            <a:ext cx="5760720" cy="3836394"/>
          </a:xfrm>
          <a:prstGeom prst="rect">
            <a:avLst/>
          </a:prstGeom>
        </p:spPr>
      </p:pic>
      <p:sp>
        <p:nvSpPr>
          <p:cNvPr id="5" name="anim1_3"/>
          <p:cNvSpPr txBox="1"/>
          <p:nvPr/>
        </p:nvSpPr>
        <p:spPr>
          <a:xfrm>
            <a:off x="6720840" y="1828800"/>
            <a:ext cx="4922215" cy="365760"/>
          </a:xfrm>
          <a:prstGeom prst="rect">
            <a:avLst/>
          </a:prstGeom>
          <a:noFill/>
          <a:ln/>
        </p:spPr>
        <p:txBody>
          <a:bodyPr wrap="square" lIns="0" tIns="0" rIns="0" bIns="0" rtlCol="0" anchor="t"/>
          <a:lstStyle/>
          <a:p>
            <a:pPr rtl="1" algn="r" indent="0" marL="0">
              <a:buNone/>
            </a:pPr>
            <a:r>
              <a:rPr lang="ar-SA" altLang="en-US" sz="1600" b="1" dirty="0">
                <a:solidFill>
                  <a:srgbClr val="F7941D"/>
                </a:solidFill>
                <a:latin typeface="JF Flat" pitchFamily="34" charset="0"/>
                <a:ea typeface="JF Flat" pitchFamily="34" charset="-122"/>
                <a:cs typeface="JF Flat" pitchFamily="34" charset="-120"/>
              </a:rPr>
              <a:t>عرض تعريفي  |  دراسة الجدوى</a:t>
            </a:r>
            <a:endParaRPr lang="ar-SA" sz="1600" dirty="0"/>
          </a:p>
        </p:txBody>
      </p:sp>
      <p:sp>
        <p:nvSpPr>
          <p:cNvPr id="6" name="anim1_4"/>
          <p:cNvSpPr txBox="1"/>
          <p:nvPr/>
        </p:nvSpPr>
        <p:spPr>
          <a:xfrm>
            <a:off x="6720840" y="2240280"/>
            <a:ext cx="4922215" cy="1463040"/>
          </a:xfrm>
          <a:prstGeom prst="rect">
            <a:avLst/>
          </a:prstGeom>
          <a:noFill/>
          <a:ln/>
        </p:spPr>
        <p:txBody>
          <a:bodyPr wrap="square" lIns="0" tIns="0" rIns="0" bIns="0" rtlCol="0" anchor="ctr"/>
          <a:lstStyle/>
          <a:p>
            <a:pPr rtl="1" algn="r" indent="0" marL="0">
              <a:lnSpc>
                <a:spcPct val="95000"/>
              </a:lnSpc>
              <a:buNone/>
            </a:pPr>
            <a:r>
              <a:rPr lang="ar-SA" altLang="en-US" sz="3800" b="1" dirty="0">
                <a:solidFill>
                  <a:srgbClr val="FFFFFF"/>
                </a:solidFill>
                <a:latin typeface="JF Flat" pitchFamily="34" charset="0"/>
                <a:ea typeface="JF Flat" pitchFamily="34" charset="-122"/>
                <a:cs typeface="JF Flat" pitchFamily="34" charset="-120"/>
              </a:rPr>
              <a:t>مشروع إنشاء مركز</a:t>
            </a:r>
            <a:endParaRPr lang="ar-SA" sz="3800" dirty="0"/>
          </a:p>
          <a:p>
            <a:pPr rtl="1" algn="r" indent="0" marL="0">
              <a:lnSpc>
                <a:spcPct val="95000"/>
              </a:lnSpc>
              <a:buNone/>
            </a:pPr>
            <a:r>
              <a:rPr lang="ar-SA" altLang="en-US" sz="3800" b="1" dirty="0">
                <a:solidFill>
                  <a:srgbClr val="FFFFFF"/>
                </a:solidFill>
                <a:latin typeface="JF Flat" pitchFamily="34" charset="0"/>
                <a:ea typeface="JF Flat" pitchFamily="34" charset="-122"/>
                <a:cs typeface="JF Flat" pitchFamily="34" charset="-120"/>
              </a:rPr>
              <a:t>البيانات الوطني</a:t>
            </a:r>
            <a:endParaRPr lang="ar-SA" sz="3800" dirty="0"/>
          </a:p>
        </p:txBody>
      </p:sp>
      <p:sp>
        <p:nvSpPr>
          <p:cNvPr id="7" name="anim1_5"/>
          <p:cNvSpPr txBox="1"/>
          <p:nvPr/>
        </p:nvSpPr>
        <p:spPr>
          <a:xfrm>
            <a:off x="6720840" y="3794760"/>
            <a:ext cx="4922215" cy="77724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C9DAEE"/>
                </a:solidFill>
                <a:latin typeface="JF Flat" pitchFamily="34" charset="0"/>
                <a:ea typeface="JF Flat" pitchFamily="34" charset="-122"/>
                <a:cs typeface="JF Flat" pitchFamily="34" charset="-120"/>
              </a:rPr>
              <a:t>بنية تحتية وطنية آمنة وموثوقة لاستضافة البيانات والأنظمة الحكومية، ودعم التحول الرقمي في ليبيا</a:t>
            </a:r>
            <a:endParaRPr lang="ar-SA" sz="1500" dirty="0"/>
          </a:p>
        </p:txBody>
      </p:sp>
      <p:sp>
        <p:nvSpPr>
          <p:cNvPr id="8" name="anim1_6"/>
          <p:cNvSpPr/>
          <p:nvPr/>
        </p:nvSpPr>
        <p:spPr>
          <a:xfrm>
            <a:off x="10180015" y="4754880"/>
            <a:ext cx="146304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9" name="anim1_7" descr="preencoded.png">    </p:cNvPr>
          <p:cNvPicPr>
            <a:picLocks noChangeAspect="1"/>
          </p:cNvPicPr>
          <p:nvPr/>
        </p:nvPicPr>
        <p:blipFill>
          <a:blip r:embed="rId3"/>
          <a:stretch>
            <a:fillRect/>
          </a:stretch>
        </p:blipFill>
        <p:spPr>
          <a:xfrm>
            <a:off x="11277295" y="4864608"/>
            <a:ext cx="237744" cy="237744"/>
          </a:xfrm>
          <a:prstGeom prst="rect">
            <a:avLst/>
          </a:prstGeom>
        </p:spPr>
      </p:pic>
      <p:sp>
        <p:nvSpPr>
          <p:cNvPr id="10" name="anim1_8"/>
          <p:cNvSpPr txBox="1"/>
          <p:nvPr/>
        </p:nvSpPr>
        <p:spPr>
          <a:xfrm>
            <a:off x="10253167" y="4754880"/>
            <a:ext cx="987552" cy="457200"/>
          </a:xfrm>
          <a:prstGeom prst="rect">
            <a:avLst/>
          </a:prstGeom>
          <a:noFill/>
          <a:ln/>
        </p:spPr>
        <p:txBody>
          <a:bodyPr wrap="square" lIns="0" tIns="0" rIns="0" bIns="0" rtlCol="0" anchor="ctr"/>
          <a:lstStyle/>
          <a:p>
            <a:pPr rtl="1" algn="ctr" indent="0" marL="0">
              <a:buNone/>
            </a:pPr>
            <a:r>
              <a:rPr lang="ar-SA" altLang="en-US" sz="1200" b="1" dirty="0">
                <a:solidFill>
                  <a:srgbClr val="FFFFFF"/>
                </a:solidFill>
                <a:latin typeface="JF Flat" pitchFamily="34" charset="0"/>
                <a:ea typeface="JF Flat" pitchFamily="34" charset="-122"/>
                <a:cs typeface="JF Flat" pitchFamily="34" charset="-120"/>
              </a:rPr>
              <a:t>5.1 ميجاوات</a:t>
            </a:r>
            <a:endParaRPr lang="ar-SA" sz="1200" dirty="0"/>
          </a:p>
        </p:txBody>
      </p:sp>
      <p:sp>
        <p:nvSpPr>
          <p:cNvPr id="11" name="anim1_9"/>
          <p:cNvSpPr/>
          <p:nvPr/>
        </p:nvSpPr>
        <p:spPr>
          <a:xfrm>
            <a:off x="8470087" y="4754880"/>
            <a:ext cx="160020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12" name="anim1_10" descr="preencoded.png">    </p:cNvPr>
          <p:cNvPicPr>
            <a:picLocks noChangeAspect="1"/>
          </p:cNvPicPr>
          <p:nvPr/>
        </p:nvPicPr>
        <p:blipFill>
          <a:blip r:embed="rId4"/>
          <a:stretch>
            <a:fillRect/>
          </a:stretch>
        </p:blipFill>
        <p:spPr>
          <a:xfrm>
            <a:off x="9704527" y="4864608"/>
            <a:ext cx="237744" cy="237744"/>
          </a:xfrm>
          <a:prstGeom prst="rect">
            <a:avLst/>
          </a:prstGeom>
        </p:spPr>
      </p:pic>
      <p:sp>
        <p:nvSpPr>
          <p:cNvPr id="13" name="anim1_11"/>
          <p:cNvSpPr txBox="1"/>
          <p:nvPr/>
        </p:nvSpPr>
        <p:spPr>
          <a:xfrm>
            <a:off x="8543239" y="4754880"/>
            <a:ext cx="1124712" cy="457200"/>
          </a:xfrm>
          <a:prstGeom prst="rect">
            <a:avLst/>
          </a:prstGeom>
          <a:noFill/>
          <a:ln/>
        </p:spPr>
        <p:txBody>
          <a:bodyPr wrap="square" lIns="0" tIns="0" rIns="0" bIns="0" rtlCol="0" anchor="ctr"/>
          <a:lstStyle/>
          <a:p>
            <a:pPr rtl="1" algn="ctr" indent="0" marL="0">
              <a:buNone/>
            </a:pPr>
            <a:r>
              <a:rPr lang="ar-SA" altLang="en-US" sz="1200" b="1" dirty="0">
                <a:solidFill>
                  <a:srgbClr val="FFFFFF"/>
                </a:solidFill>
                <a:latin typeface="JF Flat" pitchFamily="34" charset="0"/>
                <a:ea typeface="JF Flat" pitchFamily="34" charset="-122"/>
                <a:cs typeface="JF Flat" pitchFamily="34" charset="-120"/>
              </a:rPr>
              <a:t>طرابلس – ليبيا</a:t>
            </a:r>
            <a:endParaRPr lang="ar-SA" sz="1200" dirty="0"/>
          </a:p>
        </p:txBody>
      </p:sp>
      <p:sp>
        <p:nvSpPr>
          <p:cNvPr id="14" name="anim1_12"/>
          <p:cNvSpPr/>
          <p:nvPr/>
        </p:nvSpPr>
        <p:spPr>
          <a:xfrm>
            <a:off x="6531559" y="4754880"/>
            <a:ext cx="182880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15" name="anim1_13" descr="preencoded.png">    </p:cNvPr>
          <p:cNvPicPr>
            <a:picLocks noChangeAspect="1"/>
          </p:cNvPicPr>
          <p:nvPr/>
        </p:nvPicPr>
        <p:blipFill>
          <a:blip r:embed="rId5"/>
          <a:stretch>
            <a:fillRect/>
          </a:stretch>
        </p:blipFill>
        <p:spPr>
          <a:xfrm>
            <a:off x="7994599" y="4864608"/>
            <a:ext cx="237744" cy="237744"/>
          </a:xfrm>
          <a:prstGeom prst="rect">
            <a:avLst/>
          </a:prstGeom>
        </p:spPr>
      </p:pic>
      <p:sp>
        <p:nvSpPr>
          <p:cNvPr id="16" name="anim1_14"/>
          <p:cNvSpPr txBox="1"/>
          <p:nvPr/>
        </p:nvSpPr>
        <p:spPr>
          <a:xfrm>
            <a:off x="6604711" y="4754880"/>
            <a:ext cx="1353312" cy="457200"/>
          </a:xfrm>
          <a:prstGeom prst="rect">
            <a:avLst/>
          </a:prstGeom>
          <a:noFill/>
          <a:ln/>
        </p:spPr>
        <p:txBody>
          <a:bodyPr wrap="square" lIns="0" tIns="0" rIns="0" bIns="0" rtlCol="0" anchor="ctr"/>
          <a:lstStyle/>
          <a:p>
            <a:pPr rtl="1" algn="ctr" indent="0" marL="0">
              <a:buNone/>
            </a:pPr>
            <a:r>
              <a:rPr lang="ar-SA" altLang="en-US" sz="1200" b="1" dirty="0">
                <a:solidFill>
                  <a:srgbClr val="FFFFFF"/>
                </a:solidFill>
                <a:latin typeface="JF Flat" pitchFamily="34" charset="0"/>
                <a:ea typeface="JF Flat" pitchFamily="34" charset="-122"/>
                <a:cs typeface="JF Flat" pitchFamily="34" charset="-120"/>
              </a:rPr>
              <a:t>57.9 مليون دولار</a:t>
            </a:r>
            <a:endParaRPr lang="ar-SA" sz="1200" dirty="0"/>
          </a:p>
        </p:txBody>
      </p:sp>
      <p:sp>
        <p:nvSpPr>
          <p:cNvPr id="17" name="anim1_15"/>
          <p:cNvSpPr txBox="1"/>
          <p:nvPr/>
        </p:nvSpPr>
        <p:spPr>
          <a:xfrm>
            <a:off x="6720840" y="5852160"/>
            <a:ext cx="4922215" cy="320040"/>
          </a:xfrm>
          <a:prstGeom prst="rect">
            <a:avLst/>
          </a:prstGeom>
          <a:noFill/>
          <a:ln/>
        </p:spPr>
        <p:txBody>
          <a:bodyPr wrap="square" lIns="0" tIns="0" rIns="0" bIns="0" rtlCol="0" anchor="t"/>
          <a:lstStyle/>
          <a:p>
            <a:pPr rtl="1" algn="r" indent="0" marL="0">
              <a:buNone/>
            </a:pPr>
            <a:r>
              <a:rPr lang="ar-SA" altLang="en-US" sz="1400" b="1" dirty="0">
                <a:solidFill>
                  <a:srgbClr val="FFFFFF"/>
                </a:solidFill>
                <a:latin typeface="JF Flat" pitchFamily="34" charset="0"/>
                <a:ea typeface="JF Flat" pitchFamily="34" charset="-122"/>
                <a:cs typeface="JF Flat" pitchFamily="34" charset="-120"/>
              </a:rPr>
              <a:t>شركة الجيل الجديد للتقنية</a:t>
            </a:r>
            <a:endParaRPr lang="ar-SA" sz="1400" dirty="0"/>
          </a:p>
        </p:txBody>
      </p:sp>
      <p:sp>
        <p:nvSpPr>
          <p:cNvPr id="18" name="anim1_16"/>
          <p:cNvSpPr txBox="1"/>
          <p:nvPr/>
        </p:nvSpPr>
        <p:spPr>
          <a:xfrm>
            <a:off x="6720840" y="6172200"/>
            <a:ext cx="4922215" cy="256032"/>
          </a:xfrm>
          <a:prstGeom prst="rect">
            <a:avLst/>
          </a:prstGeom>
          <a:noFill/>
          <a:ln/>
        </p:spPr>
        <p:txBody>
          <a:bodyPr wrap="square" lIns="0" tIns="0" rIns="0" bIns="0" rtlCol="0" anchor="t"/>
          <a:lstStyle/>
          <a:p>
            <a:pPr algn="r" indent="0" marL="0">
              <a:buNone/>
            </a:pPr>
            <a:r>
              <a:rPr lang="ar-SA" altLang="en-US" sz="1000" spc="200" kern="0" dirty="0">
                <a:solidFill>
                  <a:srgbClr val="8FB0D6"/>
                </a:solidFill>
                <a:latin typeface="JF Flat" pitchFamily="34" charset="0"/>
                <a:ea typeface="JF Flat" pitchFamily="34" charset="-122"/>
                <a:cs typeface="JF Flat" pitchFamily="34" charset="-120"/>
              </a:rPr>
              <a:t>ALJEEL ALJADEED FOR TECHNOLOGY</a:t>
            </a:r>
            <a:endParaRPr lang="ar-SA"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anim calcmode="lin" valueType="num">
                                      <p:cBhvr additive="base">
                                        <p:cTn id="11" dur="600" decel="100000" fill="hold"/>
                                        <p:tgtEl>
                                          <p:spTgt spid="3"/>
                                        </p:tgtEl>
                                        <p:attrNameLst>
                                          <p:attrName>ppt_x</p:attrName>
                                        </p:attrNameLst>
                                      </p:cBhvr>
                                      <p:tavLst>
                                        <p:tav tm="0">
                                          <p:val>
                                            <p:strVal val="#ppt_x"/>
                                          </p:val>
                                        </p:tav>
                                        <p:tav tm="100000">
                                          <p:val>
                                            <p:strVal val="#ppt_x"/>
                                          </p:val>
                                        </p:tav>
                                      </p:tavLst>
                                    </p:anim>
                                    <p:anim calcmode="lin" valueType="num">
                                      <p:cBhvr additive="base">
                                        <p:cTn id="12" dur="600" decel="100000" fill="hold"/>
                                        <p:tgtEl>
                                          <p:spTgt spid="3"/>
                                        </p:tgtEl>
                                        <p:attrNameLst>
                                          <p:attrName>ppt_y</p:attrName>
                                        </p:attrNameLst>
                                      </p:cBhvr>
                                      <p:tavLst>
                                        <p:tav tm="0">
                                          <p:val>
                                            <p:strVal val="#ppt_y+.03"/>
                                          </p:val>
                                        </p:tav>
                                        <p:tav tm="100000">
                                          <p:val>
                                            <p:strVal val="#ppt_y"/>
                                          </p:val>
                                        </p:tav>
                                      </p:tavLst>
                                    </p:anim>
                                  </p:childTnLst>
                                </p:cTn>
                              </p:par>
                              <p:par>
                                <p:cTn id="13" presetID="53" presetClass="entr" presetSubtype="16"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800" decel="100000" fill="hold"/>
                                        <p:tgtEl>
                                          <p:spTgt spid="4"/>
                                        </p:tgtEl>
                                        <p:attrNameLst>
                                          <p:attrName>ppt_w</p:attrName>
                                        </p:attrNameLst>
                                      </p:cBhvr>
                                      <p:tavLst>
                                        <p:tav tm="0">
                                          <p:val>
                                            <p:strVal val="#ppt_w*0.85"/>
                                          </p:val>
                                        </p:tav>
                                        <p:tav tm="100000">
                                          <p:val>
                                            <p:strVal val="#ppt_w"/>
                                          </p:val>
                                        </p:tav>
                                      </p:tavLst>
                                    </p:anim>
                                    <p:anim calcmode="lin" valueType="num">
                                      <p:cBhvr additive="base">
                                        <p:cTn id="16" dur="800" decel="100000" fill="hold"/>
                                        <p:tgtEl>
                                          <p:spTgt spid="4"/>
                                        </p:tgtEl>
                                        <p:attrNameLst>
                                          <p:attrName>ppt_h</p:attrName>
                                        </p:attrNameLst>
                                      </p:cBhvr>
                                      <p:tavLst>
                                        <p:tav tm="0">
                                          <p:val>
                                            <p:strVal val="#ppt_h*0.85"/>
                                          </p:val>
                                        </p:tav>
                                        <p:tav tm="100000">
                                          <p:val>
                                            <p:strVal val="#ppt_h"/>
                                          </p:val>
                                        </p:tav>
                                      </p:tavLst>
                                    </p:anim>
                                    <p:animEffect transition="in" filter="fade">
                                      <p:cBhvr>
                                        <p:cTn id="17" dur="800"/>
                                        <p:tgtEl>
                                          <p:spTgt spid="4"/>
                                        </p:tgtEl>
                                      </p:cBhvr>
                                    </p:animEffect>
                                  </p:childTnLst>
                                </p:cTn>
                              </p:par>
                              <p:par>
                                <p:cTn id="18" presetID="42" presetClass="entr" presetSubtype="0" fill="hold" grpId="0" nodeType="withEffect">
                                  <p:stCondLst>
                                    <p:cond delay="13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00"/>
                                        <p:tgtEl>
                                          <p:spTgt spid="5"/>
                                        </p:tgtEl>
                                      </p:cBhvr>
                                    </p:animEffect>
                                    <p:anim calcmode="lin" valueType="num">
                                      <p:cBhvr additive="base">
                                        <p:cTn id="21"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22" dur="600" decel="100000" fill="hold"/>
                                        <p:tgtEl>
                                          <p:spTgt spid="5"/>
                                        </p:tgtEl>
                                        <p:attrNameLst>
                                          <p:attrName>ppt_y</p:attrName>
                                        </p:attrNameLst>
                                      </p:cBhvr>
                                      <p:tavLst>
                                        <p:tav tm="0">
                                          <p:val>
                                            <p:strVal val="#ppt_y+.03"/>
                                          </p:val>
                                        </p:tav>
                                        <p:tav tm="100000">
                                          <p:val>
                                            <p:strVal val="#ppt_y"/>
                                          </p:val>
                                        </p:tav>
                                      </p:tavLst>
                                    </p:anim>
                                  </p:childTnLst>
                                </p:cTn>
                              </p:par>
                              <p:par>
                                <p:cTn id="23" presetID="42" presetClass="entr" presetSubtype="0" fill="hold" grpId="0" nodeType="withEffect">
                                  <p:stCondLst>
                                    <p:cond delay="26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p:tgtEl>
                                          <p:spTgt spid="6"/>
                                        </p:tgtEl>
                                      </p:cBhvr>
                                    </p:animEffect>
                                    <p:anim calcmode="lin" valueType="num">
                                      <p:cBhvr additive="base">
                                        <p:cTn id="26"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27" dur="600" decel="100000" fill="hold"/>
                                        <p:tgtEl>
                                          <p:spTgt spid="6"/>
                                        </p:tgtEl>
                                        <p:attrNameLst>
                                          <p:attrName>ppt_y</p:attrName>
                                        </p:attrNameLst>
                                      </p:cBhvr>
                                      <p:tavLst>
                                        <p:tav tm="0">
                                          <p:val>
                                            <p:strVal val="#ppt_y+.03"/>
                                          </p:val>
                                        </p:tav>
                                        <p:tav tm="100000">
                                          <p:val>
                                            <p:strVal val="#ppt_y"/>
                                          </p:val>
                                        </p:tav>
                                      </p:tavLst>
                                    </p:anim>
                                  </p:childTnLst>
                                </p:cTn>
                              </p:par>
                              <p:par>
                                <p:cTn id="28" presetID="42" presetClass="entr" presetSubtype="0" fill="hold" grpId="0" nodeType="withEffect">
                                  <p:stCondLst>
                                    <p:cond delay="39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600"/>
                                        <p:tgtEl>
                                          <p:spTgt spid="7"/>
                                        </p:tgtEl>
                                      </p:cBhvr>
                                    </p:animEffect>
                                    <p:anim calcmode="lin" valueType="num">
                                      <p:cBhvr additive="base">
                                        <p:cTn id="31"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32" dur="600" decel="100000" fill="hold"/>
                                        <p:tgtEl>
                                          <p:spTgt spid="7"/>
                                        </p:tgtEl>
                                        <p:attrNameLst>
                                          <p:attrName>ppt_y</p:attrName>
                                        </p:attrNameLst>
                                      </p:cBhvr>
                                      <p:tavLst>
                                        <p:tav tm="0">
                                          <p:val>
                                            <p:strVal val="#ppt_y+.03"/>
                                          </p:val>
                                        </p:tav>
                                        <p:tav tm="100000">
                                          <p:val>
                                            <p:strVal val="#ppt_y"/>
                                          </p:val>
                                        </p:tav>
                                      </p:tavLst>
                                    </p:anim>
                                  </p:childTnLst>
                                </p:cTn>
                              </p:par>
                              <p:par>
                                <p:cTn id="33" presetID="42" presetClass="entr" presetSubtype="0" fill="hold" grpId="0" nodeType="withEffect">
                                  <p:stCondLst>
                                    <p:cond delay="52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00"/>
                                        <p:tgtEl>
                                          <p:spTgt spid="8"/>
                                        </p:tgtEl>
                                      </p:cBhvr>
                                    </p:animEffect>
                                    <p:anim calcmode="lin" valueType="num">
                                      <p:cBhvr additive="base">
                                        <p:cTn id="36"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37" dur="600" decel="100000" fill="hold"/>
                                        <p:tgtEl>
                                          <p:spTgt spid="8"/>
                                        </p:tgtEl>
                                        <p:attrNameLst>
                                          <p:attrName>ppt_y</p:attrName>
                                        </p:attrNameLst>
                                      </p:cBhvr>
                                      <p:tavLst>
                                        <p:tav tm="0">
                                          <p:val>
                                            <p:strVal val="#ppt_y+.03"/>
                                          </p:val>
                                        </p:tav>
                                        <p:tav tm="100000">
                                          <p:val>
                                            <p:strVal val="#ppt_y"/>
                                          </p:val>
                                        </p:tav>
                                      </p:tavLst>
                                    </p:anim>
                                  </p:childTnLst>
                                </p:cTn>
                              </p:par>
                              <p:par>
                                <p:cTn id="38" presetID="42" presetClass="entr" presetSubtype="0" fill="hold" grpId="0" nodeType="withEffect">
                                  <p:stCondLst>
                                    <p:cond delay="52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600"/>
                                        <p:tgtEl>
                                          <p:spTgt spid="9"/>
                                        </p:tgtEl>
                                      </p:cBhvr>
                                    </p:animEffect>
                                    <p:anim calcmode="lin" valueType="num">
                                      <p:cBhvr additive="base">
                                        <p:cTn id="41"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42" dur="600" decel="100000" fill="hold"/>
                                        <p:tgtEl>
                                          <p:spTgt spid="9"/>
                                        </p:tgtEl>
                                        <p:attrNameLst>
                                          <p:attrName>ppt_y</p:attrName>
                                        </p:attrNameLst>
                                      </p:cBhvr>
                                      <p:tavLst>
                                        <p:tav tm="0">
                                          <p:val>
                                            <p:strVal val="#ppt_y+.03"/>
                                          </p:val>
                                        </p:tav>
                                        <p:tav tm="100000">
                                          <p:val>
                                            <p:strVal val="#ppt_y"/>
                                          </p:val>
                                        </p:tav>
                                      </p:tavLst>
                                    </p:anim>
                                  </p:childTnLst>
                                </p:cTn>
                              </p:par>
                              <p:par>
                                <p:cTn id="43" presetID="42" presetClass="entr" presetSubtype="0" fill="hold" grpId="0" nodeType="withEffect">
                                  <p:stCondLst>
                                    <p:cond delay="52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600"/>
                                        <p:tgtEl>
                                          <p:spTgt spid="10"/>
                                        </p:tgtEl>
                                      </p:cBhvr>
                                    </p:animEffect>
                                    <p:anim calcmode="lin" valueType="num">
                                      <p:cBhvr additive="base">
                                        <p:cTn id="46"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47" dur="600" decel="100000" fill="hold"/>
                                        <p:tgtEl>
                                          <p:spTgt spid="10"/>
                                        </p:tgtEl>
                                        <p:attrNameLst>
                                          <p:attrName>ppt_y</p:attrName>
                                        </p:attrNameLst>
                                      </p:cBhvr>
                                      <p:tavLst>
                                        <p:tav tm="0">
                                          <p:val>
                                            <p:strVal val="#ppt_y+.03"/>
                                          </p:val>
                                        </p:tav>
                                        <p:tav tm="100000">
                                          <p:val>
                                            <p:strVal val="#ppt_y"/>
                                          </p:val>
                                        </p:tav>
                                      </p:tavLst>
                                    </p:anim>
                                  </p:childTnLst>
                                </p:cTn>
                              </p:par>
                              <p:par>
                                <p:cTn id="48" presetID="42" presetClass="entr" presetSubtype="0" fill="hold" grpId="0" nodeType="withEffect">
                                  <p:stCondLst>
                                    <p:cond delay="6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600"/>
                                        <p:tgtEl>
                                          <p:spTgt spid="11"/>
                                        </p:tgtEl>
                                      </p:cBhvr>
                                    </p:animEffect>
                                    <p:anim calcmode="lin" valueType="num">
                                      <p:cBhvr additive="base">
                                        <p:cTn id="51"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52" dur="600" decel="100000" fill="hold"/>
                                        <p:tgtEl>
                                          <p:spTgt spid="11"/>
                                        </p:tgtEl>
                                        <p:attrNameLst>
                                          <p:attrName>ppt_y</p:attrName>
                                        </p:attrNameLst>
                                      </p:cBhvr>
                                      <p:tavLst>
                                        <p:tav tm="0">
                                          <p:val>
                                            <p:strVal val="#ppt_y+.03"/>
                                          </p:val>
                                        </p:tav>
                                        <p:tav tm="100000">
                                          <p:val>
                                            <p:strVal val="#ppt_y"/>
                                          </p:val>
                                        </p:tav>
                                      </p:tavLst>
                                    </p:anim>
                                  </p:childTnLst>
                                </p:cTn>
                              </p:par>
                              <p:par>
                                <p:cTn id="53" presetID="42" presetClass="entr" presetSubtype="0" fill="hold" grpId="0" nodeType="withEffect">
                                  <p:stCondLst>
                                    <p:cond delay="65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600"/>
                                        <p:tgtEl>
                                          <p:spTgt spid="12"/>
                                        </p:tgtEl>
                                      </p:cBhvr>
                                    </p:animEffect>
                                    <p:anim calcmode="lin" valueType="num">
                                      <p:cBhvr additive="base">
                                        <p:cTn id="56"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57" dur="600" decel="100000" fill="hold"/>
                                        <p:tgtEl>
                                          <p:spTgt spid="12"/>
                                        </p:tgtEl>
                                        <p:attrNameLst>
                                          <p:attrName>ppt_y</p:attrName>
                                        </p:attrNameLst>
                                      </p:cBhvr>
                                      <p:tavLst>
                                        <p:tav tm="0">
                                          <p:val>
                                            <p:strVal val="#ppt_y+.03"/>
                                          </p:val>
                                        </p:tav>
                                        <p:tav tm="100000">
                                          <p:val>
                                            <p:strVal val="#ppt_y"/>
                                          </p:val>
                                        </p:tav>
                                      </p:tavLst>
                                    </p:anim>
                                  </p:childTnLst>
                                </p:cTn>
                              </p:par>
                              <p:par>
                                <p:cTn id="58" presetID="42" presetClass="entr" presetSubtype="0" fill="hold" grpId="0" nodeType="withEffect">
                                  <p:stCondLst>
                                    <p:cond delay="65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600"/>
                                        <p:tgtEl>
                                          <p:spTgt spid="13"/>
                                        </p:tgtEl>
                                      </p:cBhvr>
                                    </p:animEffect>
                                    <p:anim calcmode="lin" valueType="num">
                                      <p:cBhvr additive="base">
                                        <p:cTn id="61"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62" dur="600" decel="100000" fill="hold"/>
                                        <p:tgtEl>
                                          <p:spTgt spid="13"/>
                                        </p:tgtEl>
                                        <p:attrNameLst>
                                          <p:attrName>ppt_y</p:attrName>
                                        </p:attrNameLst>
                                      </p:cBhvr>
                                      <p:tavLst>
                                        <p:tav tm="0">
                                          <p:val>
                                            <p:strVal val="#ppt_y+.03"/>
                                          </p:val>
                                        </p:tav>
                                        <p:tav tm="100000">
                                          <p:val>
                                            <p:strVal val="#ppt_y"/>
                                          </p:val>
                                        </p:tav>
                                      </p:tavLst>
                                    </p:anim>
                                  </p:childTnLst>
                                </p:cTn>
                              </p:par>
                              <p:par>
                                <p:cTn id="63" presetID="42" presetClass="entr" presetSubtype="0" fill="hold" grpId="0" nodeType="withEffect">
                                  <p:stCondLst>
                                    <p:cond delay="78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600"/>
                                        <p:tgtEl>
                                          <p:spTgt spid="14"/>
                                        </p:tgtEl>
                                      </p:cBhvr>
                                    </p:animEffect>
                                    <p:anim calcmode="lin" valueType="num">
                                      <p:cBhvr additive="base">
                                        <p:cTn id="66"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67" dur="600" decel="100000" fill="hold"/>
                                        <p:tgtEl>
                                          <p:spTgt spid="14"/>
                                        </p:tgtEl>
                                        <p:attrNameLst>
                                          <p:attrName>ppt_y</p:attrName>
                                        </p:attrNameLst>
                                      </p:cBhvr>
                                      <p:tavLst>
                                        <p:tav tm="0">
                                          <p:val>
                                            <p:strVal val="#ppt_y+.03"/>
                                          </p:val>
                                        </p:tav>
                                        <p:tav tm="100000">
                                          <p:val>
                                            <p:strVal val="#ppt_y"/>
                                          </p:val>
                                        </p:tav>
                                      </p:tavLst>
                                    </p:anim>
                                  </p:childTnLst>
                                </p:cTn>
                              </p:par>
                              <p:par>
                                <p:cTn id="68" presetID="42" presetClass="entr" presetSubtype="0" fill="hold" grpId="0" nodeType="withEffect">
                                  <p:stCondLst>
                                    <p:cond delay="78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600"/>
                                        <p:tgtEl>
                                          <p:spTgt spid="15"/>
                                        </p:tgtEl>
                                      </p:cBhvr>
                                    </p:animEffect>
                                    <p:anim calcmode="lin" valueType="num">
                                      <p:cBhvr additive="base">
                                        <p:cTn id="71"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72" dur="600" decel="100000" fill="hold"/>
                                        <p:tgtEl>
                                          <p:spTgt spid="15"/>
                                        </p:tgtEl>
                                        <p:attrNameLst>
                                          <p:attrName>ppt_y</p:attrName>
                                        </p:attrNameLst>
                                      </p:cBhvr>
                                      <p:tavLst>
                                        <p:tav tm="0">
                                          <p:val>
                                            <p:strVal val="#ppt_y+.03"/>
                                          </p:val>
                                        </p:tav>
                                        <p:tav tm="100000">
                                          <p:val>
                                            <p:strVal val="#ppt_y"/>
                                          </p:val>
                                        </p:tav>
                                      </p:tavLst>
                                    </p:anim>
                                  </p:childTnLst>
                                </p:cTn>
                              </p:par>
                              <p:par>
                                <p:cTn id="73" presetID="42" presetClass="entr" presetSubtype="0" fill="hold" grpId="0" nodeType="withEffect">
                                  <p:stCondLst>
                                    <p:cond delay="78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600"/>
                                        <p:tgtEl>
                                          <p:spTgt spid="16"/>
                                        </p:tgtEl>
                                      </p:cBhvr>
                                    </p:animEffect>
                                    <p:anim calcmode="lin" valueType="num">
                                      <p:cBhvr additive="base">
                                        <p:cTn id="76"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77" dur="600" decel="100000" fill="hold"/>
                                        <p:tgtEl>
                                          <p:spTgt spid="16"/>
                                        </p:tgtEl>
                                        <p:attrNameLst>
                                          <p:attrName>ppt_y</p:attrName>
                                        </p:attrNameLst>
                                      </p:cBhvr>
                                      <p:tavLst>
                                        <p:tav tm="0">
                                          <p:val>
                                            <p:strVal val="#ppt_y+.03"/>
                                          </p:val>
                                        </p:tav>
                                        <p:tav tm="100000">
                                          <p:val>
                                            <p:strVal val="#ppt_y"/>
                                          </p:val>
                                        </p:tav>
                                      </p:tavLst>
                                    </p:anim>
                                  </p:childTnLst>
                                </p:cTn>
                              </p:par>
                              <p:par>
                                <p:cTn id="78" presetID="42" presetClass="entr" presetSubtype="0" fill="hold" grpId="0" nodeType="withEffect">
                                  <p:stCondLst>
                                    <p:cond delay="91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600"/>
                                        <p:tgtEl>
                                          <p:spTgt spid="17"/>
                                        </p:tgtEl>
                                      </p:cBhvr>
                                    </p:animEffect>
                                    <p:anim calcmode="lin" valueType="num">
                                      <p:cBhvr additive="base">
                                        <p:cTn id="81"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82" dur="600" decel="100000" fill="hold"/>
                                        <p:tgtEl>
                                          <p:spTgt spid="17"/>
                                        </p:tgtEl>
                                        <p:attrNameLst>
                                          <p:attrName>ppt_y</p:attrName>
                                        </p:attrNameLst>
                                      </p:cBhvr>
                                      <p:tavLst>
                                        <p:tav tm="0">
                                          <p:val>
                                            <p:strVal val="#ppt_y+.03"/>
                                          </p:val>
                                        </p:tav>
                                        <p:tav tm="100000">
                                          <p:val>
                                            <p:strVal val="#ppt_y"/>
                                          </p:val>
                                        </p:tav>
                                      </p:tavLst>
                                    </p:anim>
                                  </p:childTnLst>
                                </p:cTn>
                              </p:par>
                              <p:par>
                                <p:cTn id="83" presetID="42" presetClass="entr" presetSubtype="0" fill="hold" grpId="0" nodeType="withEffect">
                                  <p:stCondLst>
                                    <p:cond delay="91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anim calcmode="lin" valueType="num">
                                      <p:cBhvr additive="base">
                                        <p:cTn id="86"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87" dur="600" decel="100000" fill="hold"/>
                                        <p:tgtEl>
                                          <p:spTgt spid="1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10" grpId="0" animBg="1"/>
      <p:bldP spid="11" grpId="0" animBg="1"/>
      <p:bldP spid="13" grpId="0" animBg="1"/>
      <p:bldP spid="14" grpId="0" animBg="1"/>
      <p:bldP spid="16" grpId="0" animBg="1"/>
      <p:bldP spid="17" grpId="0" animBg="1"/>
      <p:bldP spid="1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محاور العرض</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المحتويات</a:t>
            </a:r>
            <a:endParaRPr lang="en-US" sz="3000" dirty="0"/>
          </a:p>
        </p:txBody>
      </p:sp>
      <p:sp>
        <p:nvSpPr>
          <p:cNvPr id="4" name="anim2_0"/>
          <p:cNvSpPr/>
          <p:nvPr/>
        </p:nvSpPr>
        <p:spPr>
          <a:xfrm>
            <a:off x="548640" y="1600200"/>
            <a:ext cx="3291840" cy="4526280"/>
          </a:xfrm>
          <a:prstGeom prst="roundRect">
            <a:avLst>
              <a:gd name="adj" fmla="val 2778"/>
            </a:avLst>
          </a:prstGeom>
          <a:solidFill>
            <a:srgbClr val="06305C"/>
          </a:solidFill>
          <a:ln w="12700">
            <a:solidFill>
              <a:srgbClr val="06305C"/>
            </a:solidFill>
            <a:prstDash val="solid"/>
          </a:ln>
        </p:spPr>
      </p:sp>
      <p:pic>
        <p:nvPicPr>
          <p:cNvPr id="5" name="anim2_1" descr="preencoded.png">    </p:cNvPr>
          <p:cNvPicPr>
            <a:picLocks noChangeAspect="1"/>
          </p:cNvPicPr>
          <p:nvPr/>
        </p:nvPicPr>
        <p:blipFill>
          <a:blip r:embed="rId1"/>
          <a:stretch>
            <a:fillRect/>
          </a:stretch>
        </p:blipFill>
        <p:spPr>
          <a:xfrm>
            <a:off x="1691640" y="2148840"/>
            <a:ext cx="1005840" cy="1005840"/>
          </a:xfrm>
          <a:prstGeom prst="rect">
            <a:avLst/>
          </a:prstGeom>
        </p:spPr>
      </p:pic>
      <p:sp>
        <p:nvSpPr>
          <p:cNvPr id="6" name="anim2_2"/>
          <p:cNvSpPr txBox="1"/>
          <p:nvPr/>
        </p:nvSpPr>
        <p:spPr>
          <a:xfrm>
            <a:off x="822960" y="3429000"/>
            <a:ext cx="2743200" cy="914400"/>
          </a:xfrm>
          <a:prstGeom prst="rect">
            <a:avLst/>
          </a:prstGeom>
          <a:noFill/>
          <a:ln/>
        </p:spPr>
        <p:txBody>
          <a:bodyPr wrap="square" lIns="0" tIns="0" rIns="0" bIns="0" rtlCol="0" anchor="t"/>
          <a:lstStyle/>
          <a:p>
            <a:pPr algn="ctr" indent="0" marL="0">
              <a:buNone/>
            </a:pPr>
            <a:r>
              <a:rPr lang="ar-SA" altLang="en-US" sz="6000" b="1" dirty="0">
                <a:solidFill>
                  <a:srgbClr val="FFFFFF"/>
                </a:solidFill>
                <a:latin typeface="JF Flat" pitchFamily="34" charset="0"/>
                <a:ea typeface="JF Flat" pitchFamily="34" charset="-122"/>
                <a:cs typeface="JF Flat" pitchFamily="34" charset="-120"/>
              </a:rPr>
              <a:t>10</a:t>
            </a:r>
            <a:endParaRPr lang="ar-SA" sz="6000" dirty="0"/>
          </a:p>
        </p:txBody>
      </p:sp>
      <p:sp>
        <p:nvSpPr>
          <p:cNvPr id="7" name="anim2_3"/>
          <p:cNvSpPr txBox="1"/>
          <p:nvPr/>
        </p:nvSpPr>
        <p:spPr>
          <a:xfrm>
            <a:off x="868680" y="4434840"/>
            <a:ext cx="2651760" cy="822960"/>
          </a:xfrm>
          <a:prstGeom prst="rect">
            <a:avLst/>
          </a:prstGeom>
          <a:noFill/>
          <a:ln/>
        </p:spPr>
        <p:txBody>
          <a:bodyPr wrap="square" lIns="0" tIns="0" rIns="0" bIns="0" rtlCol="0" anchor="t"/>
          <a:lstStyle/>
          <a:p>
            <a:pPr rtl="1" algn="ctr" indent="0" marL="0">
              <a:buNone/>
            </a:pPr>
            <a:r>
              <a:rPr lang="ar-SA" altLang="en-US" sz="1400" dirty="0">
                <a:solidFill>
                  <a:srgbClr val="C9DAEE"/>
                </a:solidFill>
                <a:latin typeface="JF Flat" pitchFamily="34" charset="0"/>
                <a:ea typeface="JF Flat" pitchFamily="34" charset="-122"/>
                <a:cs typeface="JF Flat" pitchFamily="34" charset="-120"/>
              </a:rPr>
              <a:t>محاور تغطي الجوانب الاستراتيجية والفنية والمالية للمشروع</a:t>
            </a:r>
            <a:endParaRPr lang="ar-SA" sz="1400" dirty="0"/>
          </a:p>
        </p:txBody>
      </p:sp>
      <p:sp>
        <p:nvSpPr>
          <p:cNvPr id="8" name="anim2_4"/>
          <p:cNvSpPr/>
          <p:nvPr/>
        </p:nvSpPr>
        <p:spPr>
          <a:xfrm>
            <a:off x="7939735" y="1600200"/>
            <a:ext cx="3703320" cy="749808"/>
          </a:xfrm>
          <a:prstGeom prst="roundRect">
            <a:avLst>
              <a:gd name="adj" fmla="val 12195"/>
            </a:avLst>
          </a:prstGeom>
          <a:solidFill>
            <a:srgbClr val="F4F7FB"/>
          </a:solidFill>
          <a:ln w="9525">
            <a:solidFill>
              <a:srgbClr val="D6DFEA"/>
            </a:solidFill>
            <a:prstDash val="solid"/>
          </a:ln>
        </p:spPr>
      </p:sp>
      <p:sp>
        <p:nvSpPr>
          <p:cNvPr id="9" name="anim2_5"/>
          <p:cNvSpPr/>
          <p:nvPr/>
        </p:nvSpPr>
        <p:spPr>
          <a:xfrm>
            <a:off x="11048695" y="1719072"/>
            <a:ext cx="512064" cy="512064"/>
          </a:xfrm>
          <a:prstGeom prst="ellipse">
            <a:avLst/>
          </a:prstGeom>
          <a:solidFill>
            <a:srgbClr val="F15524"/>
          </a:solidFill>
          <a:ln w="12700">
            <a:solidFill>
              <a:srgbClr val="F15524"/>
            </a:solidFill>
            <a:prstDash val="solid"/>
          </a:ln>
        </p:spPr>
      </p:sp>
      <p:sp>
        <p:nvSpPr>
          <p:cNvPr id="10" name="anim2_6"/>
          <p:cNvSpPr txBox="1"/>
          <p:nvPr/>
        </p:nvSpPr>
        <p:spPr>
          <a:xfrm>
            <a:off x="11048695"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01</a:t>
            </a:r>
            <a:endParaRPr lang="en-US" sz="1500" dirty="0"/>
          </a:p>
        </p:txBody>
      </p:sp>
      <p:sp>
        <p:nvSpPr>
          <p:cNvPr id="11" name="anim2_7"/>
          <p:cNvSpPr txBox="1"/>
          <p:nvPr/>
        </p:nvSpPr>
        <p:spPr>
          <a:xfrm>
            <a:off x="8122615" y="1600200"/>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التعريف بمشروع مركز البيانات الوطني</a:t>
            </a:r>
            <a:endParaRPr lang="ar-SA" sz="1500" dirty="0"/>
          </a:p>
        </p:txBody>
      </p:sp>
      <p:sp>
        <p:nvSpPr>
          <p:cNvPr id="12" name="anim2_8"/>
          <p:cNvSpPr/>
          <p:nvPr/>
        </p:nvSpPr>
        <p:spPr>
          <a:xfrm>
            <a:off x="7939735" y="2505456"/>
            <a:ext cx="3703320" cy="749808"/>
          </a:xfrm>
          <a:prstGeom prst="roundRect">
            <a:avLst>
              <a:gd name="adj" fmla="val 12195"/>
            </a:avLst>
          </a:prstGeom>
          <a:solidFill>
            <a:srgbClr val="FFFFFF"/>
          </a:solidFill>
          <a:ln w="9525">
            <a:solidFill>
              <a:srgbClr val="D6DFEA"/>
            </a:solidFill>
            <a:prstDash val="solid"/>
          </a:ln>
        </p:spPr>
      </p:sp>
      <p:sp>
        <p:nvSpPr>
          <p:cNvPr id="13" name="anim2_9"/>
          <p:cNvSpPr/>
          <p:nvPr/>
        </p:nvSpPr>
        <p:spPr>
          <a:xfrm>
            <a:off x="11048695" y="2624328"/>
            <a:ext cx="512064" cy="512064"/>
          </a:xfrm>
          <a:prstGeom prst="ellipse">
            <a:avLst/>
          </a:prstGeom>
          <a:solidFill>
            <a:srgbClr val="F15524"/>
          </a:solidFill>
          <a:ln w="12700">
            <a:solidFill>
              <a:srgbClr val="F15524"/>
            </a:solidFill>
            <a:prstDash val="solid"/>
          </a:ln>
        </p:spPr>
      </p:sp>
      <p:sp>
        <p:nvSpPr>
          <p:cNvPr id="14" name="anim2_10"/>
          <p:cNvSpPr txBox="1"/>
          <p:nvPr/>
        </p:nvSpPr>
        <p:spPr>
          <a:xfrm>
            <a:off x="11048695" y="262432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02</a:t>
            </a:r>
            <a:endParaRPr lang="en-US" sz="1500" dirty="0"/>
          </a:p>
        </p:txBody>
      </p:sp>
      <p:sp>
        <p:nvSpPr>
          <p:cNvPr id="15" name="anim2_11"/>
          <p:cNvSpPr txBox="1"/>
          <p:nvPr/>
        </p:nvSpPr>
        <p:spPr>
          <a:xfrm>
            <a:off x="8122615" y="2505456"/>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نقاط القوة الاستراتيجية للشركة</a:t>
            </a:r>
            <a:endParaRPr lang="ar-SA" sz="1500" dirty="0"/>
          </a:p>
        </p:txBody>
      </p:sp>
      <p:sp>
        <p:nvSpPr>
          <p:cNvPr id="16" name="anim2_12"/>
          <p:cNvSpPr/>
          <p:nvPr/>
        </p:nvSpPr>
        <p:spPr>
          <a:xfrm>
            <a:off x="7939735" y="3410712"/>
            <a:ext cx="3703320" cy="749808"/>
          </a:xfrm>
          <a:prstGeom prst="roundRect">
            <a:avLst>
              <a:gd name="adj" fmla="val 12195"/>
            </a:avLst>
          </a:prstGeom>
          <a:solidFill>
            <a:srgbClr val="F4F7FB"/>
          </a:solidFill>
          <a:ln w="9525">
            <a:solidFill>
              <a:srgbClr val="D6DFEA"/>
            </a:solidFill>
            <a:prstDash val="solid"/>
          </a:ln>
        </p:spPr>
      </p:sp>
      <p:sp>
        <p:nvSpPr>
          <p:cNvPr id="17" name="anim2_13"/>
          <p:cNvSpPr/>
          <p:nvPr/>
        </p:nvSpPr>
        <p:spPr>
          <a:xfrm>
            <a:off x="11048695" y="3529584"/>
            <a:ext cx="512064" cy="512064"/>
          </a:xfrm>
          <a:prstGeom prst="ellipse">
            <a:avLst/>
          </a:prstGeom>
          <a:solidFill>
            <a:srgbClr val="F15524"/>
          </a:solidFill>
          <a:ln w="12700">
            <a:solidFill>
              <a:srgbClr val="F15524"/>
            </a:solidFill>
            <a:prstDash val="solid"/>
          </a:ln>
        </p:spPr>
      </p:sp>
      <p:sp>
        <p:nvSpPr>
          <p:cNvPr id="18" name="anim2_14"/>
          <p:cNvSpPr txBox="1"/>
          <p:nvPr/>
        </p:nvSpPr>
        <p:spPr>
          <a:xfrm>
            <a:off x="11048695" y="352958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03</a:t>
            </a:r>
            <a:endParaRPr lang="en-US" sz="1500" dirty="0"/>
          </a:p>
        </p:txBody>
      </p:sp>
      <p:sp>
        <p:nvSpPr>
          <p:cNvPr id="19" name="anim2_15"/>
          <p:cNvSpPr txBox="1"/>
          <p:nvPr/>
        </p:nvSpPr>
        <p:spPr>
          <a:xfrm>
            <a:off x="8122615" y="3410712"/>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تحليل SWOT للمشروع</a:t>
            </a:r>
            <a:endParaRPr lang="ar-SA" sz="1500" dirty="0"/>
          </a:p>
        </p:txBody>
      </p:sp>
      <p:sp>
        <p:nvSpPr>
          <p:cNvPr id="20" name="anim2_16"/>
          <p:cNvSpPr/>
          <p:nvPr/>
        </p:nvSpPr>
        <p:spPr>
          <a:xfrm>
            <a:off x="7939735" y="4315968"/>
            <a:ext cx="3703320" cy="749808"/>
          </a:xfrm>
          <a:prstGeom prst="roundRect">
            <a:avLst>
              <a:gd name="adj" fmla="val 12195"/>
            </a:avLst>
          </a:prstGeom>
          <a:solidFill>
            <a:srgbClr val="FFFFFF"/>
          </a:solidFill>
          <a:ln w="9525">
            <a:solidFill>
              <a:srgbClr val="D6DFEA"/>
            </a:solidFill>
            <a:prstDash val="solid"/>
          </a:ln>
        </p:spPr>
      </p:sp>
      <p:sp>
        <p:nvSpPr>
          <p:cNvPr id="21" name="anim2_17"/>
          <p:cNvSpPr/>
          <p:nvPr/>
        </p:nvSpPr>
        <p:spPr>
          <a:xfrm>
            <a:off x="11048695" y="4434840"/>
            <a:ext cx="512064" cy="512064"/>
          </a:xfrm>
          <a:prstGeom prst="ellipse">
            <a:avLst/>
          </a:prstGeom>
          <a:solidFill>
            <a:srgbClr val="00539B"/>
          </a:solidFill>
          <a:ln w="12700">
            <a:solidFill>
              <a:srgbClr val="00539B"/>
            </a:solidFill>
            <a:prstDash val="solid"/>
          </a:ln>
        </p:spPr>
      </p:sp>
      <p:sp>
        <p:nvSpPr>
          <p:cNvPr id="22" name="anim2_18"/>
          <p:cNvSpPr txBox="1"/>
          <p:nvPr/>
        </p:nvSpPr>
        <p:spPr>
          <a:xfrm>
            <a:off x="11048695" y="44348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04</a:t>
            </a:r>
            <a:endParaRPr lang="en-US" sz="1500" dirty="0"/>
          </a:p>
        </p:txBody>
      </p:sp>
      <p:sp>
        <p:nvSpPr>
          <p:cNvPr id="23" name="anim2_19"/>
          <p:cNvSpPr txBox="1"/>
          <p:nvPr/>
        </p:nvSpPr>
        <p:spPr>
          <a:xfrm>
            <a:off x="8122615" y="4315968"/>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التكاليف الرأسمالية (CAPEX)</a:t>
            </a:r>
            <a:endParaRPr lang="ar-SA" sz="1500" dirty="0"/>
          </a:p>
        </p:txBody>
      </p:sp>
      <p:sp>
        <p:nvSpPr>
          <p:cNvPr id="24" name="anim2_20"/>
          <p:cNvSpPr/>
          <p:nvPr/>
        </p:nvSpPr>
        <p:spPr>
          <a:xfrm>
            <a:off x="7939735" y="5221224"/>
            <a:ext cx="3703320" cy="749808"/>
          </a:xfrm>
          <a:prstGeom prst="roundRect">
            <a:avLst>
              <a:gd name="adj" fmla="val 12195"/>
            </a:avLst>
          </a:prstGeom>
          <a:solidFill>
            <a:srgbClr val="F4F7FB"/>
          </a:solidFill>
          <a:ln w="9525">
            <a:solidFill>
              <a:srgbClr val="D6DFEA"/>
            </a:solidFill>
            <a:prstDash val="solid"/>
          </a:ln>
        </p:spPr>
      </p:sp>
      <p:sp>
        <p:nvSpPr>
          <p:cNvPr id="25" name="anim2_21"/>
          <p:cNvSpPr/>
          <p:nvPr/>
        </p:nvSpPr>
        <p:spPr>
          <a:xfrm>
            <a:off x="11048695" y="5340096"/>
            <a:ext cx="512064" cy="512064"/>
          </a:xfrm>
          <a:prstGeom prst="ellipse">
            <a:avLst/>
          </a:prstGeom>
          <a:solidFill>
            <a:srgbClr val="00539B"/>
          </a:solidFill>
          <a:ln w="12700">
            <a:solidFill>
              <a:srgbClr val="00539B"/>
            </a:solidFill>
            <a:prstDash val="solid"/>
          </a:ln>
        </p:spPr>
      </p:sp>
      <p:sp>
        <p:nvSpPr>
          <p:cNvPr id="26" name="anim2_22"/>
          <p:cNvSpPr txBox="1"/>
          <p:nvPr/>
        </p:nvSpPr>
        <p:spPr>
          <a:xfrm>
            <a:off x="11048695" y="53400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05</a:t>
            </a:r>
            <a:endParaRPr lang="en-US" sz="1500" dirty="0"/>
          </a:p>
        </p:txBody>
      </p:sp>
      <p:sp>
        <p:nvSpPr>
          <p:cNvPr id="27" name="anim2_23"/>
          <p:cNvSpPr txBox="1"/>
          <p:nvPr/>
        </p:nvSpPr>
        <p:spPr>
          <a:xfrm>
            <a:off x="8122615" y="5221224"/>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التكاليف التشغيلية (OPEX)</a:t>
            </a:r>
            <a:endParaRPr lang="ar-SA" sz="1500" dirty="0"/>
          </a:p>
        </p:txBody>
      </p:sp>
      <p:sp>
        <p:nvSpPr>
          <p:cNvPr id="28" name="anim2_24"/>
          <p:cNvSpPr/>
          <p:nvPr/>
        </p:nvSpPr>
        <p:spPr>
          <a:xfrm>
            <a:off x="3962095" y="1600200"/>
            <a:ext cx="3703320" cy="749808"/>
          </a:xfrm>
          <a:prstGeom prst="roundRect">
            <a:avLst>
              <a:gd name="adj" fmla="val 12195"/>
            </a:avLst>
          </a:prstGeom>
          <a:solidFill>
            <a:srgbClr val="FFFFFF"/>
          </a:solidFill>
          <a:ln w="9525">
            <a:solidFill>
              <a:srgbClr val="D6DFEA"/>
            </a:solidFill>
            <a:prstDash val="solid"/>
          </a:ln>
        </p:spPr>
      </p:sp>
      <p:sp>
        <p:nvSpPr>
          <p:cNvPr id="29" name="anim2_25"/>
          <p:cNvSpPr/>
          <p:nvPr/>
        </p:nvSpPr>
        <p:spPr>
          <a:xfrm>
            <a:off x="7071055" y="1719072"/>
            <a:ext cx="512064" cy="512064"/>
          </a:xfrm>
          <a:prstGeom prst="ellipse">
            <a:avLst/>
          </a:prstGeom>
          <a:solidFill>
            <a:srgbClr val="00539B"/>
          </a:solidFill>
          <a:ln w="12700">
            <a:solidFill>
              <a:srgbClr val="00539B"/>
            </a:solidFill>
            <a:prstDash val="solid"/>
          </a:ln>
        </p:spPr>
      </p:sp>
      <p:sp>
        <p:nvSpPr>
          <p:cNvPr id="30" name="anim2_26"/>
          <p:cNvSpPr txBox="1"/>
          <p:nvPr/>
        </p:nvSpPr>
        <p:spPr>
          <a:xfrm>
            <a:off x="7071055"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06</a:t>
            </a:r>
            <a:endParaRPr lang="en-US" sz="1500" dirty="0"/>
          </a:p>
        </p:txBody>
      </p:sp>
      <p:sp>
        <p:nvSpPr>
          <p:cNvPr id="31" name="anim2_27"/>
          <p:cNvSpPr txBox="1"/>
          <p:nvPr/>
        </p:nvSpPr>
        <p:spPr>
          <a:xfrm>
            <a:off x="4144975" y="1600200"/>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الإيرادات المتوقعة</a:t>
            </a:r>
            <a:endParaRPr lang="ar-SA" sz="1500" dirty="0"/>
          </a:p>
        </p:txBody>
      </p:sp>
      <p:sp>
        <p:nvSpPr>
          <p:cNvPr id="32" name="anim2_28"/>
          <p:cNvSpPr/>
          <p:nvPr/>
        </p:nvSpPr>
        <p:spPr>
          <a:xfrm>
            <a:off x="3962095" y="2505456"/>
            <a:ext cx="3703320" cy="749808"/>
          </a:xfrm>
          <a:prstGeom prst="roundRect">
            <a:avLst>
              <a:gd name="adj" fmla="val 12195"/>
            </a:avLst>
          </a:prstGeom>
          <a:solidFill>
            <a:srgbClr val="F4F7FB"/>
          </a:solidFill>
          <a:ln w="9525">
            <a:solidFill>
              <a:srgbClr val="D6DFEA"/>
            </a:solidFill>
            <a:prstDash val="solid"/>
          </a:ln>
        </p:spPr>
      </p:sp>
      <p:sp>
        <p:nvSpPr>
          <p:cNvPr id="33" name="anim2_29"/>
          <p:cNvSpPr/>
          <p:nvPr/>
        </p:nvSpPr>
        <p:spPr>
          <a:xfrm>
            <a:off x="7071055" y="2624328"/>
            <a:ext cx="512064" cy="512064"/>
          </a:xfrm>
          <a:prstGeom prst="ellipse">
            <a:avLst/>
          </a:prstGeom>
          <a:solidFill>
            <a:srgbClr val="00539B"/>
          </a:solidFill>
          <a:ln w="12700">
            <a:solidFill>
              <a:srgbClr val="00539B"/>
            </a:solidFill>
            <a:prstDash val="solid"/>
          </a:ln>
        </p:spPr>
      </p:sp>
      <p:sp>
        <p:nvSpPr>
          <p:cNvPr id="34" name="anim2_30"/>
          <p:cNvSpPr txBox="1"/>
          <p:nvPr/>
        </p:nvSpPr>
        <p:spPr>
          <a:xfrm>
            <a:off x="7071055" y="262432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07</a:t>
            </a:r>
            <a:endParaRPr lang="en-US" sz="1500" dirty="0"/>
          </a:p>
        </p:txBody>
      </p:sp>
      <p:sp>
        <p:nvSpPr>
          <p:cNvPr id="35" name="anim2_31"/>
          <p:cNvSpPr txBox="1"/>
          <p:nvPr/>
        </p:nvSpPr>
        <p:spPr>
          <a:xfrm>
            <a:off x="4144975" y="2505456"/>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النماذج المالية ومؤشرات الاستثمار</a:t>
            </a:r>
            <a:endParaRPr lang="ar-SA" sz="1500" dirty="0"/>
          </a:p>
        </p:txBody>
      </p:sp>
      <p:sp>
        <p:nvSpPr>
          <p:cNvPr id="36" name="anim2_32"/>
          <p:cNvSpPr/>
          <p:nvPr/>
        </p:nvSpPr>
        <p:spPr>
          <a:xfrm>
            <a:off x="3962095" y="3410712"/>
            <a:ext cx="3703320" cy="749808"/>
          </a:xfrm>
          <a:prstGeom prst="roundRect">
            <a:avLst>
              <a:gd name="adj" fmla="val 12195"/>
            </a:avLst>
          </a:prstGeom>
          <a:solidFill>
            <a:srgbClr val="FFFFFF"/>
          </a:solidFill>
          <a:ln w="9525">
            <a:solidFill>
              <a:srgbClr val="D6DFEA"/>
            </a:solidFill>
            <a:prstDash val="solid"/>
          </a:ln>
        </p:spPr>
      </p:sp>
      <p:sp>
        <p:nvSpPr>
          <p:cNvPr id="37" name="anim2_33"/>
          <p:cNvSpPr/>
          <p:nvPr/>
        </p:nvSpPr>
        <p:spPr>
          <a:xfrm>
            <a:off x="7071055" y="3529584"/>
            <a:ext cx="512064" cy="512064"/>
          </a:xfrm>
          <a:prstGeom prst="ellipse">
            <a:avLst/>
          </a:prstGeom>
          <a:solidFill>
            <a:srgbClr val="00539B"/>
          </a:solidFill>
          <a:ln w="12700">
            <a:solidFill>
              <a:srgbClr val="00539B"/>
            </a:solidFill>
            <a:prstDash val="solid"/>
          </a:ln>
        </p:spPr>
      </p:sp>
      <p:sp>
        <p:nvSpPr>
          <p:cNvPr id="38" name="anim2_34"/>
          <p:cNvSpPr txBox="1"/>
          <p:nvPr/>
        </p:nvSpPr>
        <p:spPr>
          <a:xfrm>
            <a:off x="7071055" y="352958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08</a:t>
            </a:r>
            <a:endParaRPr lang="en-US" sz="1500" dirty="0"/>
          </a:p>
        </p:txBody>
      </p:sp>
      <p:sp>
        <p:nvSpPr>
          <p:cNvPr id="39" name="anim2_35"/>
          <p:cNvSpPr txBox="1"/>
          <p:nvPr/>
        </p:nvSpPr>
        <p:spPr>
          <a:xfrm>
            <a:off x="4144975" y="3410712"/>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النماذج المقترحة لتمويل المشروع</a:t>
            </a:r>
            <a:endParaRPr lang="ar-SA" sz="1500" dirty="0"/>
          </a:p>
        </p:txBody>
      </p:sp>
      <p:sp>
        <p:nvSpPr>
          <p:cNvPr id="40" name="anim2_36"/>
          <p:cNvSpPr/>
          <p:nvPr/>
        </p:nvSpPr>
        <p:spPr>
          <a:xfrm>
            <a:off x="3962095" y="4315968"/>
            <a:ext cx="3703320" cy="749808"/>
          </a:xfrm>
          <a:prstGeom prst="roundRect">
            <a:avLst>
              <a:gd name="adj" fmla="val 12195"/>
            </a:avLst>
          </a:prstGeom>
          <a:solidFill>
            <a:srgbClr val="F4F7FB"/>
          </a:solidFill>
          <a:ln w="9525">
            <a:solidFill>
              <a:srgbClr val="D6DFEA"/>
            </a:solidFill>
            <a:prstDash val="solid"/>
          </a:ln>
        </p:spPr>
      </p:sp>
      <p:sp>
        <p:nvSpPr>
          <p:cNvPr id="41" name="anim2_37"/>
          <p:cNvSpPr/>
          <p:nvPr/>
        </p:nvSpPr>
        <p:spPr>
          <a:xfrm>
            <a:off x="7071055" y="4434840"/>
            <a:ext cx="512064" cy="512064"/>
          </a:xfrm>
          <a:prstGeom prst="ellipse">
            <a:avLst/>
          </a:prstGeom>
          <a:solidFill>
            <a:srgbClr val="06305C"/>
          </a:solidFill>
          <a:ln w="12700">
            <a:solidFill>
              <a:srgbClr val="06305C"/>
            </a:solidFill>
            <a:prstDash val="solid"/>
          </a:ln>
        </p:spPr>
      </p:sp>
      <p:sp>
        <p:nvSpPr>
          <p:cNvPr id="42" name="anim2_38"/>
          <p:cNvSpPr txBox="1"/>
          <p:nvPr/>
        </p:nvSpPr>
        <p:spPr>
          <a:xfrm>
            <a:off x="7071055" y="44348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09</a:t>
            </a:r>
            <a:endParaRPr lang="en-US" sz="1500" dirty="0"/>
          </a:p>
        </p:txBody>
      </p:sp>
      <p:sp>
        <p:nvSpPr>
          <p:cNvPr id="43" name="anim2_39"/>
          <p:cNvSpPr txBox="1"/>
          <p:nvPr/>
        </p:nvSpPr>
        <p:spPr>
          <a:xfrm>
            <a:off x="4144975" y="4315968"/>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النتائج الرئيسية للمشروع</a:t>
            </a:r>
            <a:endParaRPr lang="ar-SA" sz="1500" dirty="0"/>
          </a:p>
        </p:txBody>
      </p:sp>
      <p:sp>
        <p:nvSpPr>
          <p:cNvPr id="44" name="anim2_40"/>
          <p:cNvSpPr/>
          <p:nvPr/>
        </p:nvSpPr>
        <p:spPr>
          <a:xfrm>
            <a:off x="3962095" y="5221224"/>
            <a:ext cx="3703320" cy="749808"/>
          </a:xfrm>
          <a:prstGeom prst="roundRect">
            <a:avLst>
              <a:gd name="adj" fmla="val 12195"/>
            </a:avLst>
          </a:prstGeom>
          <a:solidFill>
            <a:srgbClr val="FFFFFF"/>
          </a:solidFill>
          <a:ln w="9525">
            <a:solidFill>
              <a:srgbClr val="D6DFEA"/>
            </a:solidFill>
            <a:prstDash val="solid"/>
          </a:ln>
        </p:spPr>
      </p:sp>
      <p:sp>
        <p:nvSpPr>
          <p:cNvPr id="45" name="anim2_41"/>
          <p:cNvSpPr/>
          <p:nvPr/>
        </p:nvSpPr>
        <p:spPr>
          <a:xfrm>
            <a:off x="7071055" y="5340096"/>
            <a:ext cx="512064" cy="512064"/>
          </a:xfrm>
          <a:prstGeom prst="ellipse">
            <a:avLst/>
          </a:prstGeom>
          <a:solidFill>
            <a:srgbClr val="06305C"/>
          </a:solidFill>
          <a:ln w="12700">
            <a:solidFill>
              <a:srgbClr val="06305C"/>
            </a:solidFill>
            <a:prstDash val="solid"/>
          </a:ln>
        </p:spPr>
      </p:sp>
      <p:sp>
        <p:nvSpPr>
          <p:cNvPr id="46" name="anim2_42"/>
          <p:cNvSpPr txBox="1"/>
          <p:nvPr/>
        </p:nvSpPr>
        <p:spPr>
          <a:xfrm>
            <a:off x="7071055" y="5340096"/>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JF Flat" pitchFamily="34" charset="0"/>
                <a:ea typeface="JF Flat" pitchFamily="34" charset="-122"/>
                <a:cs typeface="JF Flat" pitchFamily="34" charset="-120"/>
              </a:rPr>
              <a:t>10</a:t>
            </a:r>
            <a:endParaRPr lang="en-US" sz="1500" dirty="0"/>
          </a:p>
        </p:txBody>
      </p:sp>
      <p:sp>
        <p:nvSpPr>
          <p:cNvPr id="47" name="anim2_43"/>
          <p:cNvSpPr txBox="1"/>
          <p:nvPr/>
        </p:nvSpPr>
        <p:spPr>
          <a:xfrm>
            <a:off x="4144975" y="5221224"/>
            <a:ext cx="2788920" cy="749808"/>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التوصيات والفوائد الاستراتيجية</a:t>
            </a:r>
            <a:endParaRPr lang="ar-SA" sz="15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2"/>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2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29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450" decel="100000" fill="hold"/>
                                        <p:tgtEl>
                                          <p:spTgt spid="9"/>
                                        </p:tgtEl>
                                        <p:attrNameLst>
                                          <p:attrName>ppt_w</p:attrName>
                                        </p:attrNameLst>
                                      </p:cBhvr>
                                      <p:tavLst>
                                        <p:tav tm="0">
                                          <p:val>
                                            <p:strVal val="0"/>
                                          </p:val>
                                        </p:tav>
                                        <p:tav tm="100000">
                                          <p:val>
                                            <p:strVal val="#ppt_w"/>
                                          </p:val>
                                        </p:tav>
                                      </p:tavLst>
                                    </p:anim>
                                    <p:anim calcmode="lin" valueType="num">
                                      <p:cBhvr additive="base">
                                        <p:cTn id="48" dur="450" decel="100000" fill="hold"/>
                                        <p:tgtEl>
                                          <p:spTgt spid="9"/>
                                        </p:tgtEl>
                                        <p:attrNameLst>
                                          <p:attrName>ppt_h</p:attrName>
                                        </p:attrNameLst>
                                      </p:cBhvr>
                                      <p:tavLst>
                                        <p:tav tm="0">
                                          <p:val>
                                            <p:strVal val="0"/>
                                          </p:val>
                                        </p:tav>
                                        <p:tav tm="100000">
                                          <p:val>
                                            <p:strVal val="#ppt_h"/>
                                          </p:val>
                                        </p:tav>
                                      </p:tavLst>
                                    </p:anim>
                                    <p:animEffect transition="in" filter="fade">
                                      <p:cBhvr>
                                        <p:cTn id="49" dur="450"/>
                                        <p:tgtEl>
                                          <p:spTgt spid="9"/>
                                        </p:tgtEl>
                                      </p:cBhvr>
                                    </p:animEffect>
                                  </p:childTnLst>
                                </p:cTn>
                              </p:par>
                              <p:par>
                                <p:cTn id="50" presetID="53" presetClass="entr" presetSubtype="16" fill="hold" grpId="0" nodeType="withEffect">
                                  <p:stCondLst>
                                    <p:cond delay="35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450" decel="100000" fill="hold"/>
                                        <p:tgtEl>
                                          <p:spTgt spid="10"/>
                                        </p:tgtEl>
                                        <p:attrNameLst>
                                          <p:attrName>ppt_w</p:attrName>
                                        </p:attrNameLst>
                                      </p:cBhvr>
                                      <p:tavLst>
                                        <p:tav tm="0">
                                          <p:val>
                                            <p:strVal val="0"/>
                                          </p:val>
                                        </p:tav>
                                        <p:tav tm="100000">
                                          <p:val>
                                            <p:strVal val="#ppt_w"/>
                                          </p:val>
                                        </p:tav>
                                      </p:tavLst>
                                    </p:anim>
                                    <p:anim calcmode="lin" valueType="num">
                                      <p:cBhvr additive="base">
                                        <p:cTn id="53" dur="450" decel="100000" fill="hold"/>
                                        <p:tgtEl>
                                          <p:spTgt spid="10"/>
                                        </p:tgtEl>
                                        <p:attrNameLst>
                                          <p:attrName>ppt_h</p:attrName>
                                        </p:attrNameLst>
                                      </p:cBhvr>
                                      <p:tavLst>
                                        <p:tav tm="0">
                                          <p:val>
                                            <p:strVal val="0"/>
                                          </p:val>
                                        </p:tav>
                                        <p:tav tm="100000">
                                          <p:val>
                                            <p:strVal val="#ppt_h"/>
                                          </p:val>
                                        </p:tav>
                                      </p:tavLst>
                                    </p:anim>
                                    <p:animEffect transition="in" filter="fade">
                                      <p:cBhvr>
                                        <p:cTn id="54" dur="450"/>
                                        <p:tgtEl>
                                          <p:spTgt spid="10"/>
                                        </p:tgtEl>
                                      </p:cBhvr>
                                    </p:animEffect>
                                  </p:childTnLst>
                                </p:cTn>
                              </p:par>
                              <p:par>
                                <p:cTn id="55" presetID="42" presetClass="entr" presetSubtype="0" fill="hold" grpId="0" nodeType="withEffect">
                                  <p:stCondLst>
                                    <p:cond delay="39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3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42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450" decel="100000" fill="hold"/>
                                        <p:tgtEl>
                                          <p:spTgt spid="13"/>
                                        </p:tgtEl>
                                        <p:attrNameLst>
                                          <p:attrName>ppt_w</p:attrName>
                                        </p:attrNameLst>
                                      </p:cBhvr>
                                      <p:tavLst>
                                        <p:tav tm="0">
                                          <p:val>
                                            <p:strVal val="0"/>
                                          </p:val>
                                        </p:tav>
                                        <p:tav tm="100000">
                                          <p:val>
                                            <p:strVal val="#ppt_w"/>
                                          </p:val>
                                        </p:tav>
                                      </p:tavLst>
                                    </p:anim>
                                    <p:anim calcmode="lin" valueType="num">
                                      <p:cBhvr additive="base">
                                        <p:cTn id="68" dur="450" decel="100000" fill="hold"/>
                                        <p:tgtEl>
                                          <p:spTgt spid="13"/>
                                        </p:tgtEl>
                                        <p:attrNameLst>
                                          <p:attrName>ppt_h</p:attrName>
                                        </p:attrNameLst>
                                      </p:cBhvr>
                                      <p:tavLst>
                                        <p:tav tm="0">
                                          <p:val>
                                            <p:strVal val="0"/>
                                          </p:val>
                                        </p:tav>
                                        <p:tav tm="100000">
                                          <p:val>
                                            <p:strVal val="#ppt_h"/>
                                          </p:val>
                                        </p:tav>
                                      </p:tavLst>
                                    </p:anim>
                                    <p:animEffect transition="in" filter="fade">
                                      <p:cBhvr>
                                        <p:cTn id="69" dur="450"/>
                                        <p:tgtEl>
                                          <p:spTgt spid="13"/>
                                        </p:tgtEl>
                                      </p:cBhvr>
                                    </p:animEffect>
                                  </p:childTnLst>
                                </p:cTn>
                              </p:par>
                              <p:par>
                                <p:cTn id="70" presetID="53" presetClass="entr" presetSubtype="16" fill="hold" grpId="0" nodeType="withEffect">
                                  <p:stCondLst>
                                    <p:cond delay="480"/>
                                  </p:stCondLst>
                                  <p:childTnLst>
                                    <p:set>
                                      <p:cBhvr>
                                        <p:cTn id="71" dur="1" fill="hold">
                                          <p:stCondLst>
                                            <p:cond delay="0"/>
                                          </p:stCondLst>
                                        </p:cTn>
                                        <p:tgtEl>
                                          <p:spTgt spid="14"/>
                                        </p:tgtEl>
                                        <p:attrNameLst>
                                          <p:attrName>style.visibility</p:attrName>
                                        </p:attrNameLst>
                                      </p:cBhvr>
                                      <p:to>
                                        <p:strVal val="visible"/>
                                      </p:to>
                                    </p:set>
                                    <p:anim calcmode="lin" valueType="num">
                                      <p:cBhvr additive="base">
                                        <p:cTn id="72" dur="450" decel="100000" fill="hold"/>
                                        <p:tgtEl>
                                          <p:spTgt spid="14"/>
                                        </p:tgtEl>
                                        <p:attrNameLst>
                                          <p:attrName>ppt_w</p:attrName>
                                        </p:attrNameLst>
                                      </p:cBhvr>
                                      <p:tavLst>
                                        <p:tav tm="0">
                                          <p:val>
                                            <p:strVal val="0"/>
                                          </p:val>
                                        </p:tav>
                                        <p:tav tm="100000">
                                          <p:val>
                                            <p:strVal val="#ppt_w"/>
                                          </p:val>
                                        </p:tav>
                                      </p:tavLst>
                                    </p:anim>
                                    <p:anim calcmode="lin" valueType="num">
                                      <p:cBhvr additive="base">
                                        <p:cTn id="73" dur="450" decel="100000" fill="hold"/>
                                        <p:tgtEl>
                                          <p:spTgt spid="14"/>
                                        </p:tgtEl>
                                        <p:attrNameLst>
                                          <p:attrName>ppt_h</p:attrName>
                                        </p:attrNameLst>
                                      </p:cBhvr>
                                      <p:tavLst>
                                        <p:tav tm="0">
                                          <p:val>
                                            <p:strVal val="0"/>
                                          </p:val>
                                        </p:tav>
                                        <p:tav tm="100000">
                                          <p:val>
                                            <p:strVal val="#ppt_h"/>
                                          </p:val>
                                        </p:tav>
                                      </p:tavLst>
                                    </p:anim>
                                    <p:animEffect transition="in" filter="fade">
                                      <p:cBhvr>
                                        <p:cTn id="74" dur="450"/>
                                        <p:tgtEl>
                                          <p:spTgt spid="14"/>
                                        </p:tgtEl>
                                      </p:cBhvr>
                                    </p:animEffect>
                                  </p:childTnLst>
                                </p:cTn>
                              </p:par>
                              <p:par>
                                <p:cTn id="75" presetID="42" presetClass="entr" presetSubtype="0" fill="hold" grpId="0" nodeType="withEffect">
                                  <p:stCondLst>
                                    <p:cond delay="52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600"/>
                                        <p:tgtEl>
                                          <p:spTgt spid="20"/>
                                        </p:tgtEl>
                                      </p:cBhvr>
                                    </p:animEffect>
                                    <p:anim calcmode="lin" valueType="num">
                                      <p:cBhvr additive="base">
                                        <p:cTn id="7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0"/>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52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53" presetClass="entr" presetSubtype="16" fill="hold" grpId="0" nodeType="withEffect">
                                  <p:stCondLst>
                                    <p:cond delay="55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decel="100000" fill="hold"/>
                                        <p:tgtEl>
                                          <p:spTgt spid="17"/>
                                        </p:tgtEl>
                                        <p:attrNameLst>
                                          <p:attrName>ppt_w</p:attrName>
                                        </p:attrNameLst>
                                      </p:cBhvr>
                                      <p:tavLst>
                                        <p:tav tm="0">
                                          <p:val>
                                            <p:strVal val="0"/>
                                          </p:val>
                                        </p:tav>
                                        <p:tav tm="100000">
                                          <p:val>
                                            <p:strVal val="#ppt_w"/>
                                          </p:val>
                                        </p:tav>
                                      </p:tavLst>
                                    </p:anim>
                                    <p:anim calcmode="lin" valueType="num">
                                      <p:cBhvr additive="base">
                                        <p:cTn id="88" dur="450" decel="100000" fill="hold"/>
                                        <p:tgtEl>
                                          <p:spTgt spid="17"/>
                                        </p:tgtEl>
                                        <p:attrNameLst>
                                          <p:attrName>ppt_h</p:attrName>
                                        </p:attrNameLst>
                                      </p:cBhvr>
                                      <p:tavLst>
                                        <p:tav tm="0">
                                          <p:val>
                                            <p:strVal val="0"/>
                                          </p:val>
                                        </p:tav>
                                        <p:tav tm="100000">
                                          <p:val>
                                            <p:strVal val="#ppt_h"/>
                                          </p:val>
                                        </p:tav>
                                      </p:tavLst>
                                    </p:anim>
                                    <p:animEffect transition="in" filter="fade">
                                      <p:cBhvr>
                                        <p:cTn id="89" dur="450"/>
                                        <p:tgtEl>
                                          <p:spTgt spid="17"/>
                                        </p:tgtEl>
                                      </p:cBhvr>
                                    </p:animEffect>
                                  </p:childTnLst>
                                </p:cTn>
                              </p:par>
                              <p:par>
                                <p:cTn id="90" presetID="53" presetClass="entr" presetSubtype="16" fill="hold" grpId="0" nodeType="withEffect">
                                  <p:stCondLst>
                                    <p:cond delay="610"/>
                                  </p:stCondLst>
                                  <p:childTnLst>
                                    <p:set>
                                      <p:cBhvr>
                                        <p:cTn id="91" dur="1" fill="hold">
                                          <p:stCondLst>
                                            <p:cond delay="0"/>
                                          </p:stCondLst>
                                        </p:cTn>
                                        <p:tgtEl>
                                          <p:spTgt spid="18"/>
                                        </p:tgtEl>
                                        <p:attrNameLst>
                                          <p:attrName>style.visibility</p:attrName>
                                        </p:attrNameLst>
                                      </p:cBhvr>
                                      <p:to>
                                        <p:strVal val="visible"/>
                                      </p:to>
                                    </p:set>
                                    <p:anim calcmode="lin" valueType="num">
                                      <p:cBhvr additive="base">
                                        <p:cTn id="92" dur="450" decel="100000" fill="hold"/>
                                        <p:tgtEl>
                                          <p:spTgt spid="18"/>
                                        </p:tgtEl>
                                        <p:attrNameLst>
                                          <p:attrName>ppt_w</p:attrName>
                                        </p:attrNameLst>
                                      </p:cBhvr>
                                      <p:tavLst>
                                        <p:tav tm="0">
                                          <p:val>
                                            <p:strVal val="0"/>
                                          </p:val>
                                        </p:tav>
                                        <p:tav tm="100000">
                                          <p:val>
                                            <p:strVal val="#ppt_w"/>
                                          </p:val>
                                        </p:tav>
                                      </p:tavLst>
                                    </p:anim>
                                    <p:anim calcmode="lin" valueType="num">
                                      <p:cBhvr additive="base">
                                        <p:cTn id="93" dur="450" decel="100000" fill="hold"/>
                                        <p:tgtEl>
                                          <p:spTgt spid="18"/>
                                        </p:tgtEl>
                                        <p:attrNameLst>
                                          <p:attrName>ppt_h</p:attrName>
                                        </p:attrNameLst>
                                      </p:cBhvr>
                                      <p:tavLst>
                                        <p:tav tm="0">
                                          <p:val>
                                            <p:strVal val="0"/>
                                          </p:val>
                                        </p:tav>
                                        <p:tav tm="100000">
                                          <p:val>
                                            <p:strVal val="#ppt_h"/>
                                          </p:val>
                                        </p:tav>
                                      </p:tavLst>
                                    </p:anim>
                                    <p:animEffect transition="in" filter="fade">
                                      <p:cBhvr>
                                        <p:cTn id="94" dur="450"/>
                                        <p:tgtEl>
                                          <p:spTgt spid="18"/>
                                        </p:tgtEl>
                                      </p:cBhvr>
                                    </p:animEffect>
                                  </p:childTnLst>
                                </p:cTn>
                              </p:par>
                              <p:par>
                                <p:cTn id="95" presetID="42" presetClass="entr" presetSubtype="0" fill="hold" grpId="0" nodeType="withEffect">
                                  <p:stCondLst>
                                    <p:cond delay="65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65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53" presetClass="entr" presetSubtype="16" fill="hold" grpId="0" nodeType="withEffect">
                                  <p:stCondLst>
                                    <p:cond delay="680"/>
                                  </p:stCondLst>
                                  <p:childTnLst>
                                    <p:set>
                                      <p:cBhvr>
                                        <p:cTn id="106" dur="1" fill="hold">
                                          <p:stCondLst>
                                            <p:cond delay="0"/>
                                          </p:stCondLst>
                                        </p:cTn>
                                        <p:tgtEl>
                                          <p:spTgt spid="21"/>
                                        </p:tgtEl>
                                        <p:attrNameLst>
                                          <p:attrName>style.visibility</p:attrName>
                                        </p:attrNameLst>
                                      </p:cBhvr>
                                      <p:to>
                                        <p:strVal val="visible"/>
                                      </p:to>
                                    </p:set>
                                    <p:anim calcmode="lin" valueType="num">
                                      <p:cBhvr additive="base">
                                        <p:cTn id="107" dur="450" decel="100000" fill="hold"/>
                                        <p:tgtEl>
                                          <p:spTgt spid="21"/>
                                        </p:tgtEl>
                                        <p:attrNameLst>
                                          <p:attrName>ppt_w</p:attrName>
                                        </p:attrNameLst>
                                      </p:cBhvr>
                                      <p:tavLst>
                                        <p:tav tm="0">
                                          <p:val>
                                            <p:strVal val="0"/>
                                          </p:val>
                                        </p:tav>
                                        <p:tav tm="100000">
                                          <p:val>
                                            <p:strVal val="#ppt_w"/>
                                          </p:val>
                                        </p:tav>
                                      </p:tavLst>
                                    </p:anim>
                                    <p:anim calcmode="lin" valueType="num">
                                      <p:cBhvr additive="base">
                                        <p:cTn id="108" dur="450" decel="100000" fill="hold"/>
                                        <p:tgtEl>
                                          <p:spTgt spid="21"/>
                                        </p:tgtEl>
                                        <p:attrNameLst>
                                          <p:attrName>ppt_h</p:attrName>
                                        </p:attrNameLst>
                                      </p:cBhvr>
                                      <p:tavLst>
                                        <p:tav tm="0">
                                          <p:val>
                                            <p:strVal val="0"/>
                                          </p:val>
                                        </p:tav>
                                        <p:tav tm="100000">
                                          <p:val>
                                            <p:strVal val="#ppt_h"/>
                                          </p:val>
                                        </p:tav>
                                      </p:tavLst>
                                    </p:anim>
                                    <p:animEffect transition="in" filter="fade">
                                      <p:cBhvr>
                                        <p:cTn id="109" dur="450"/>
                                        <p:tgtEl>
                                          <p:spTgt spid="21"/>
                                        </p:tgtEl>
                                      </p:cBhvr>
                                    </p:animEffect>
                                  </p:childTnLst>
                                </p:cTn>
                              </p:par>
                              <p:par>
                                <p:cTn id="110" presetID="53" presetClass="entr" presetSubtype="16" fill="hold" grpId="0" nodeType="withEffect">
                                  <p:stCondLst>
                                    <p:cond delay="740"/>
                                  </p:stCondLst>
                                  <p:childTnLst>
                                    <p:set>
                                      <p:cBhvr>
                                        <p:cTn id="111" dur="1" fill="hold">
                                          <p:stCondLst>
                                            <p:cond delay="0"/>
                                          </p:stCondLst>
                                        </p:cTn>
                                        <p:tgtEl>
                                          <p:spTgt spid="22"/>
                                        </p:tgtEl>
                                        <p:attrNameLst>
                                          <p:attrName>style.visibility</p:attrName>
                                        </p:attrNameLst>
                                      </p:cBhvr>
                                      <p:to>
                                        <p:strVal val="visible"/>
                                      </p:to>
                                    </p:set>
                                    <p:anim calcmode="lin" valueType="num">
                                      <p:cBhvr additive="base">
                                        <p:cTn id="112" dur="450" decel="100000" fill="hold"/>
                                        <p:tgtEl>
                                          <p:spTgt spid="22"/>
                                        </p:tgtEl>
                                        <p:attrNameLst>
                                          <p:attrName>ppt_w</p:attrName>
                                        </p:attrNameLst>
                                      </p:cBhvr>
                                      <p:tavLst>
                                        <p:tav tm="0">
                                          <p:val>
                                            <p:strVal val="0"/>
                                          </p:val>
                                        </p:tav>
                                        <p:tav tm="100000">
                                          <p:val>
                                            <p:strVal val="#ppt_w"/>
                                          </p:val>
                                        </p:tav>
                                      </p:tavLst>
                                    </p:anim>
                                    <p:anim calcmode="lin" valueType="num">
                                      <p:cBhvr additive="base">
                                        <p:cTn id="113" dur="450" decel="100000" fill="hold"/>
                                        <p:tgtEl>
                                          <p:spTgt spid="22"/>
                                        </p:tgtEl>
                                        <p:attrNameLst>
                                          <p:attrName>ppt_h</p:attrName>
                                        </p:attrNameLst>
                                      </p:cBhvr>
                                      <p:tavLst>
                                        <p:tav tm="0">
                                          <p:val>
                                            <p:strVal val="0"/>
                                          </p:val>
                                        </p:tav>
                                        <p:tav tm="100000">
                                          <p:val>
                                            <p:strVal val="#ppt_h"/>
                                          </p:val>
                                        </p:tav>
                                      </p:tavLst>
                                    </p:anim>
                                    <p:animEffect transition="in" filter="fade">
                                      <p:cBhvr>
                                        <p:cTn id="114" dur="450"/>
                                        <p:tgtEl>
                                          <p:spTgt spid="22"/>
                                        </p:tgtEl>
                                      </p:cBhvr>
                                    </p:animEffect>
                                  </p:childTnLst>
                                </p:cTn>
                              </p:par>
                              <p:par>
                                <p:cTn id="115" presetID="42" presetClass="entr" presetSubtype="0" fill="hold" grpId="0" nodeType="withEffect">
                                  <p:stCondLst>
                                    <p:cond delay="78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00"/>
                                        <p:tgtEl>
                                          <p:spTgt spid="28"/>
                                        </p:tgtEl>
                                      </p:cBhvr>
                                    </p:animEffect>
                                    <p:anim calcmode="lin" valueType="num">
                                      <p:cBhvr additive="base">
                                        <p:cTn id="11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28"/>
                                        </p:tgtEl>
                                        <p:attrNameLst>
                                          <p:attrName>ppt_y</p:attrName>
                                        </p:attrNameLst>
                                      </p:cBhvr>
                                      <p:tavLst>
                                        <p:tav tm="0">
                                          <p:val>
                                            <p:strVal val="#ppt_y+.03"/>
                                          </p:val>
                                        </p:tav>
                                        <p:tav tm="100000">
                                          <p:val>
                                            <p:strVal val="#ppt_y"/>
                                          </p:val>
                                        </p:tav>
                                      </p:tavLst>
                                    </p:anim>
                                  </p:childTnLst>
                                </p:cTn>
                              </p:par>
                              <p:par>
                                <p:cTn id="120" presetID="42" presetClass="entr" presetSubtype="0" fill="hold" grpId="0" nodeType="withEffect">
                                  <p:stCondLst>
                                    <p:cond delay="78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600"/>
                                        <p:tgtEl>
                                          <p:spTgt spid="31"/>
                                        </p:tgtEl>
                                      </p:cBhvr>
                                    </p:animEffect>
                                    <p:anim calcmode="lin" valueType="num">
                                      <p:cBhvr additive="base">
                                        <p:cTn id="123" dur="600" decel="100000" fill="hold"/>
                                        <p:tgtEl>
                                          <p:spTgt spid="31"/>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31"/>
                                        </p:tgtEl>
                                        <p:attrNameLst>
                                          <p:attrName>ppt_y</p:attrName>
                                        </p:attrNameLst>
                                      </p:cBhvr>
                                      <p:tavLst>
                                        <p:tav tm="0">
                                          <p:val>
                                            <p:strVal val="#ppt_y+.03"/>
                                          </p:val>
                                        </p:tav>
                                        <p:tav tm="100000">
                                          <p:val>
                                            <p:strVal val="#ppt_y"/>
                                          </p:val>
                                        </p:tav>
                                      </p:tavLst>
                                    </p:anim>
                                  </p:childTnLst>
                                </p:cTn>
                              </p:par>
                              <p:par>
                                <p:cTn id="125" presetID="53" presetClass="entr" presetSubtype="16" fill="hold" grpId="0" nodeType="withEffect">
                                  <p:stCondLst>
                                    <p:cond delay="810"/>
                                  </p:stCondLst>
                                  <p:childTnLst>
                                    <p:set>
                                      <p:cBhvr>
                                        <p:cTn id="126" dur="1" fill="hold">
                                          <p:stCondLst>
                                            <p:cond delay="0"/>
                                          </p:stCondLst>
                                        </p:cTn>
                                        <p:tgtEl>
                                          <p:spTgt spid="25"/>
                                        </p:tgtEl>
                                        <p:attrNameLst>
                                          <p:attrName>style.visibility</p:attrName>
                                        </p:attrNameLst>
                                      </p:cBhvr>
                                      <p:to>
                                        <p:strVal val="visible"/>
                                      </p:to>
                                    </p:set>
                                    <p:anim calcmode="lin" valueType="num">
                                      <p:cBhvr additive="base">
                                        <p:cTn id="127" dur="450" decel="100000" fill="hold"/>
                                        <p:tgtEl>
                                          <p:spTgt spid="25"/>
                                        </p:tgtEl>
                                        <p:attrNameLst>
                                          <p:attrName>ppt_w</p:attrName>
                                        </p:attrNameLst>
                                      </p:cBhvr>
                                      <p:tavLst>
                                        <p:tav tm="0">
                                          <p:val>
                                            <p:strVal val="0"/>
                                          </p:val>
                                        </p:tav>
                                        <p:tav tm="100000">
                                          <p:val>
                                            <p:strVal val="#ppt_w"/>
                                          </p:val>
                                        </p:tav>
                                      </p:tavLst>
                                    </p:anim>
                                    <p:anim calcmode="lin" valueType="num">
                                      <p:cBhvr additive="base">
                                        <p:cTn id="128" dur="450" decel="100000" fill="hold"/>
                                        <p:tgtEl>
                                          <p:spTgt spid="25"/>
                                        </p:tgtEl>
                                        <p:attrNameLst>
                                          <p:attrName>ppt_h</p:attrName>
                                        </p:attrNameLst>
                                      </p:cBhvr>
                                      <p:tavLst>
                                        <p:tav tm="0">
                                          <p:val>
                                            <p:strVal val="0"/>
                                          </p:val>
                                        </p:tav>
                                        <p:tav tm="100000">
                                          <p:val>
                                            <p:strVal val="#ppt_h"/>
                                          </p:val>
                                        </p:tav>
                                      </p:tavLst>
                                    </p:anim>
                                    <p:animEffect transition="in" filter="fade">
                                      <p:cBhvr>
                                        <p:cTn id="129" dur="450"/>
                                        <p:tgtEl>
                                          <p:spTgt spid="25"/>
                                        </p:tgtEl>
                                      </p:cBhvr>
                                    </p:animEffect>
                                  </p:childTnLst>
                                </p:cTn>
                              </p:par>
                              <p:par>
                                <p:cTn id="130" presetID="53" presetClass="entr" presetSubtype="16" fill="hold" grpId="0" nodeType="withEffect">
                                  <p:stCondLst>
                                    <p:cond delay="870"/>
                                  </p:stCondLst>
                                  <p:childTnLst>
                                    <p:set>
                                      <p:cBhvr>
                                        <p:cTn id="131" dur="1" fill="hold">
                                          <p:stCondLst>
                                            <p:cond delay="0"/>
                                          </p:stCondLst>
                                        </p:cTn>
                                        <p:tgtEl>
                                          <p:spTgt spid="26"/>
                                        </p:tgtEl>
                                        <p:attrNameLst>
                                          <p:attrName>style.visibility</p:attrName>
                                        </p:attrNameLst>
                                      </p:cBhvr>
                                      <p:to>
                                        <p:strVal val="visible"/>
                                      </p:to>
                                    </p:set>
                                    <p:anim calcmode="lin" valueType="num">
                                      <p:cBhvr additive="base">
                                        <p:cTn id="132" dur="450" decel="100000" fill="hold"/>
                                        <p:tgtEl>
                                          <p:spTgt spid="26"/>
                                        </p:tgtEl>
                                        <p:attrNameLst>
                                          <p:attrName>ppt_w</p:attrName>
                                        </p:attrNameLst>
                                      </p:cBhvr>
                                      <p:tavLst>
                                        <p:tav tm="0">
                                          <p:val>
                                            <p:strVal val="0"/>
                                          </p:val>
                                        </p:tav>
                                        <p:tav tm="100000">
                                          <p:val>
                                            <p:strVal val="#ppt_w"/>
                                          </p:val>
                                        </p:tav>
                                      </p:tavLst>
                                    </p:anim>
                                    <p:anim calcmode="lin" valueType="num">
                                      <p:cBhvr additive="base">
                                        <p:cTn id="133" dur="450" decel="100000" fill="hold"/>
                                        <p:tgtEl>
                                          <p:spTgt spid="26"/>
                                        </p:tgtEl>
                                        <p:attrNameLst>
                                          <p:attrName>ppt_h</p:attrName>
                                        </p:attrNameLst>
                                      </p:cBhvr>
                                      <p:tavLst>
                                        <p:tav tm="0">
                                          <p:val>
                                            <p:strVal val="0"/>
                                          </p:val>
                                        </p:tav>
                                        <p:tav tm="100000">
                                          <p:val>
                                            <p:strVal val="#ppt_h"/>
                                          </p:val>
                                        </p:tav>
                                      </p:tavLst>
                                    </p:anim>
                                    <p:animEffect transition="in" filter="fade">
                                      <p:cBhvr>
                                        <p:cTn id="134" dur="450"/>
                                        <p:tgtEl>
                                          <p:spTgt spid="26"/>
                                        </p:tgtEl>
                                      </p:cBhvr>
                                    </p:animEffect>
                                  </p:childTnLst>
                                </p:cTn>
                              </p:par>
                              <p:par>
                                <p:cTn id="135" presetID="42" presetClass="entr" presetSubtype="0" fill="hold" grpId="0" nodeType="withEffect">
                                  <p:stCondLst>
                                    <p:cond delay="91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600"/>
                                        <p:tgtEl>
                                          <p:spTgt spid="32"/>
                                        </p:tgtEl>
                                      </p:cBhvr>
                                    </p:animEffect>
                                    <p:anim calcmode="lin" valueType="num">
                                      <p:cBhvr additive="base">
                                        <p:cTn id="13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39" dur="600" decel="100000" fill="hold"/>
                                        <p:tgtEl>
                                          <p:spTgt spid="32"/>
                                        </p:tgtEl>
                                        <p:attrNameLst>
                                          <p:attrName>ppt_y</p:attrName>
                                        </p:attrNameLst>
                                      </p:cBhvr>
                                      <p:tavLst>
                                        <p:tav tm="0">
                                          <p:val>
                                            <p:strVal val="#ppt_y+.03"/>
                                          </p:val>
                                        </p:tav>
                                        <p:tav tm="100000">
                                          <p:val>
                                            <p:strVal val="#ppt_y"/>
                                          </p:val>
                                        </p:tav>
                                      </p:tavLst>
                                    </p:anim>
                                  </p:childTnLst>
                                </p:cTn>
                              </p:par>
                              <p:par>
                                <p:cTn id="140" presetID="42" presetClass="entr" presetSubtype="0" fill="hold" grpId="0" nodeType="withEffect">
                                  <p:stCondLst>
                                    <p:cond delay="91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600"/>
                                        <p:tgtEl>
                                          <p:spTgt spid="35"/>
                                        </p:tgtEl>
                                      </p:cBhvr>
                                    </p:animEffect>
                                    <p:anim calcmode="lin" valueType="num">
                                      <p:cBhvr additive="base">
                                        <p:cTn id="143" dur="600" decel="100000" fill="hold"/>
                                        <p:tgtEl>
                                          <p:spTgt spid="35"/>
                                        </p:tgtEl>
                                        <p:attrNameLst>
                                          <p:attrName>ppt_x</p:attrName>
                                        </p:attrNameLst>
                                      </p:cBhvr>
                                      <p:tavLst>
                                        <p:tav tm="0">
                                          <p:val>
                                            <p:strVal val="#ppt_x"/>
                                          </p:val>
                                        </p:tav>
                                        <p:tav tm="100000">
                                          <p:val>
                                            <p:strVal val="#ppt_x"/>
                                          </p:val>
                                        </p:tav>
                                      </p:tavLst>
                                    </p:anim>
                                    <p:anim calcmode="lin" valueType="num">
                                      <p:cBhvr additive="base">
                                        <p:cTn id="144" dur="600" decel="100000" fill="hold"/>
                                        <p:tgtEl>
                                          <p:spTgt spid="35"/>
                                        </p:tgtEl>
                                        <p:attrNameLst>
                                          <p:attrName>ppt_y</p:attrName>
                                        </p:attrNameLst>
                                      </p:cBhvr>
                                      <p:tavLst>
                                        <p:tav tm="0">
                                          <p:val>
                                            <p:strVal val="#ppt_y+.03"/>
                                          </p:val>
                                        </p:tav>
                                        <p:tav tm="100000">
                                          <p:val>
                                            <p:strVal val="#ppt_y"/>
                                          </p:val>
                                        </p:tav>
                                      </p:tavLst>
                                    </p:anim>
                                  </p:childTnLst>
                                </p:cTn>
                              </p:par>
                              <p:par>
                                <p:cTn id="145" presetID="53" presetClass="entr" presetSubtype="16" fill="hold" grpId="0" nodeType="withEffect">
                                  <p:stCondLst>
                                    <p:cond delay="940"/>
                                  </p:stCondLst>
                                  <p:childTnLst>
                                    <p:set>
                                      <p:cBhvr>
                                        <p:cTn id="146" dur="1" fill="hold">
                                          <p:stCondLst>
                                            <p:cond delay="0"/>
                                          </p:stCondLst>
                                        </p:cTn>
                                        <p:tgtEl>
                                          <p:spTgt spid="29"/>
                                        </p:tgtEl>
                                        <p:attrNameLst>
                                          <p:attrName>style.visibility</p:attrName>
                                        </p:attrNameLst>
                                      </p:cBhvr>
                                      <p:to>
                                        <p:strVal val="visible"/>
                                      </p:to>
                                    </p:set>
                                    <p:anim calcmode="lin" valueType="num">
                                      <p:cBhvr additive="base">
                                        <p:cTn id="147" dur="450" decel="100000" fill="hold"/>
                                        <p:tgtEl>
                                          <p:spTgt spid="29"/>
                                        </p:tgtEl>
                                        <p:attrNameLst>
                                          <p:attrName>ppt_w</p:attrName>
                                        </p:attrNameLst>
                                      </p:cBhvr>
                                      <p:tavLst>
                                        <p:tav tm="0">
                                          <p:val>
                                            <p:strVal val="0"/>
                                          </p:val>
                                        </p:tav>
                                        <p:tav tm="100000">
                                          <p:val>
                                            <p:strVal val="#ppt_w"/>
                                          </p:val>
                                        </p:tav>
                                      </p:tavLst>
                                    </p:anim>
                                    <p:anim calcmode="lin" valueType="num">
                                      <p:cBhvr additive="base">
                                        <p:cTn id="148" dur="450" decel="100000" fill="hold"/>
                                        <p:tgtEl>
                                          <p:spTgt spid="29"/>
                                        </p:tgtEl>
                                        <p:attrNameLst>
                                          <p:attrName>ppt_h</p:attrName>
                                        </p:attrNameLst>
                                      </p:cBhvr>
                                      <p:tavLst>
                                        <p:tav tm="0">
                                          <p:val>
                                            <p:strVal val="0"/>
                                          </p:val>
                                        </p:tav>
                                        <p:tav tm="100000">
                                          <p:val>
                                            <p:strVal val="#ppt_h"/>
                                          </p:val>
                                        </p:tav>
                                      </p:tavLst>
                                    </p:anim>
                                    <p:animEffect transition="in" filter="fade">
                                      <p:cBhvr>
                                        <p:cTn id="149" dur="450"/>
                                        <p:tgtEl>
                                          <p:spTgt spid="29"/>
                                        </p:tgtEl>
                                      </p:cBhvr>
                                    </p:animEffect>
                                  </p:childTnLst>
                                </p:cTn>
                              </p:par>
                              <p:par>
                                <p:cTn id="150" presetID="53" presetClass="entr" presetSubtype="16" fill="hold" grpId="0" nodeType="withEffect">
                                  <p:stCondLst>
                                    <p:cond delay="1000"/>
                                  </p:stCondLst>
                                  <p:childTnLst>
                                    <p:set>
                                      <p:cBhvr>
                                        <p:cTn id="151" dur="1" fill="hold">
                                          <p:stCondLst>
                                            <p:cond delay="0"/>
                                          </p:stCondLst>
                                        </p:cTn>
                                        <p:tgtEl>
                                          <p:spTgt spid="30"/>
                                        </p:tgtEl>
                                        <p:attrNameLst>
                                          <p:attrName>style.visibility</p:attrName>
                                        </p:attrNameLst>
                                      </p:cBhvr>
                                      <p:to>
                                        <p:strVal val="visible"/>
                                      </p:to>
                                    </p:set>
                                    <p:anim calcmode="lin" valueType="num">
                                      <p:cBhvr additive="base">
                                        <p:cTn id="152" dur="450" decel="100000" fill="hold"/>
                                        <p:tgtEl>
                                          <p:spTgt spid="30"/>
                                        </p:tgtEl>
                                        <p:attrNameLst>
                                          <p:attrName>ppt_w</p:attrName>
                                        </p:attrNameLst>
                                      </p:cBhvr>
                                      <p:tavLst>
                                        <p:tav tm="0">
                                          <p:val>
                                            <p:strVal val="0"/>
                                          </p:val>
                                        </p:tav>
                                        <p:tav tm="100000">
                                          <p:val>
                                            <p:strVal val="#ppt_w"/>
                                          </p:val>
                                        </p:tav>
                                      </p:tavLst>
                                    </p:anim>
                                    <p:anim calcmode="lin" valueType="num">
                                      <p:cBhvr additive="base">
                                        <p:cTn id="153" dur="450" decel="100000" fill="hold"/>
                                        <p:tgtEl>
                                          <p:spTgt spid="30"/>
                                        </p:tgtEl>
                                        <p:attrNameLst>
                                          <p:attrName>ppt_h</p:attrName>
                                        </p:attrNameLst>
                                      </p:cBhvr>
                                      <p:tavLst>
                                        <p:tav tm="0">
                                          <p:val>
                                            <p:strVal val="0"/>
                                          </p:val>
                                        </p:tav>
                                        <p:tav tm="100000">
                                          <p:val>
                                            <p:strVal val="#ppt_h"/>
                                          </p:val>
                                        </p:tav>
                                      </p:tavLst>
                                    </p:anim>
                                    <p:animEffect transition="in" filter="fade">
                                      <p:cBhvr>
                                        <p:cTn id="154" dur="450"/>
                                        <p:tgtEl>
                                          <p:spTgt spid="30"/>
                                        </p:tgtEl>
                                      </p:cBhvr>
                                    </p:animEffect>
                                  </p:childTnLst>
                                </p:cTn>
                              </p:par>
                              <p:par>
                                <p:cTn id="155" presetID="42" presetClass="entr" presetSubtype="0" fill="hold" grpId="0" nodeType="withEffect">
                                  <p:stCondLst>
                                    <p:cond delay="104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600"/>
                                        <p:tgtEl>
                                          <p:spTgt spid="36"/>
                                        </p:tgtEl>
                                      </p:cBhvr>
                                    </p:animEffect>
                                    <p:anim calcmode="lin" valueType="num">
                                      <p:cBhvr additive="base">
                                        <p:cTn id="158" dur="600" decel="100000" fill="hold"/>
                                        <p:tgtEl>
                                          <p:spTgt spid="36"/>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6"/>
                                        </p:tgtEl>
                                        <p:attrNameLst>
                                          <p:attrName>ppt_y</p:attrName>
                                        </p:attrNameLst>
                                      </p:cBhvr>
                                      <p:tavLst>
                                        <p:tav tm="0">
                                          <p:val>
                                            <p:strVal val="#ppt_y+.03"/>
                                          </p:val>
                                        </p:tav>
                                        <p:tav tm="100000">
                                          <p:val>
                                            <p:strVal val="#ppt_y"/>
                                          </p:val>
                                        </p:tav>
                                      </p:tavLst>
                                    </p:anim>
                                  </p:childTnLst>
                                </p:cTn>
                              </p:par>
                              <p:par>
                                <p:cTn id="160" presetID="42" presetClass="entr" presetSubtype="0" fill="hold" grpId="0" nodeType="withEffect">
                                  <p:stCondLst>
                                    <p:cond delay="104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600"/>
                                        <p:tgtEl>
                                          <p:spTgt spid="39"/>
                                        </p:tgtEl>
                                      </p:cBhvr>
                                    </p:animEffect>
                                    <p:anim calcmode="lin" valueType="num">
                                      <p:cBhvr additive="base">
                                        <p:cTn id="16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64" dur="600" decel="100000" fill="hold"/>
                                        <p:tgtEl>
                                          <p:spTgt spid="39"/>
                                        </p:tgtEl>
                                        <p:attrNameLst>
                                          <p:attrName>ppt_y</p:attrName>
                                        </p:attrNameLst>
                                      </p:cBhvr>
                                      <p:tavLst>
                                        <p:tav tm="0">
                                          <p:val>
                                            <p:strVal val="#ppt_y+.03"/>
                                          </p:val>
                                        </p:tav>
                                        <p:tav tm="100000">
                                          <p:val>
                                            <p:strVal val="#ppt_y"/>
                                          </p:val>
                                        </p:tav>
                                      </p:tavLst>
                                    </p:anim>
                                  </p:childTnLst>
                                </p:cTn>
                              </p:par>
                              <p:par>
                                <p:cTn id="165" presetID="53" presetClass="entr" presetSubtype="16" fill="hold" grpId="0" nodeType="withEffect">
                                  <p:stCondLst>
                                    <p:cond delay="1070"/>
                                  </p:stCondLst>
                                  <p:childTnLst>
                                    <p:set>
                                      <p:cBhvr>
                                        <p:cTn id="166" dur="1" fill="hold">
                                          <p:stCondLst>
                                            <p:cond delay="0"/>
                                          </p:stCondLst>
                                        </p:cTn>
                                        <p:tgtEl>
                                          <p:spTgt spid="33"/>
                                        </p:tgtEl>
                                        <p:attrNameLst>
                                          <p:attrName>style.visibility</p:attrName>
                                        </p:attrNameLst>
                                      </p:cBhvr>
                                      <p:to>
                                        <p:strVal val="visible"/>
                                      </p:to>
                                    </p:set>
                                    <p:anim calcmode="lin" valueType="num">
                                      <p:cBhvr additive="base">
                                        <p:cTn id="167" dur="450" decel="100000" fill="hold"/>
                                        <p:tgtEl>
                                          <p:spTgt spid="33"/>
                                        </p:tgtEl>
                                        <p:attrNameLst>
                                          <p:attrName>ppt_w</p:attrName>
                                        </p:attrNameLst>
                                      </p:cBhvr>
                                      <p:tavLst>
                                        <p:tav tm="0">
                                          <p:val>
                                            <p:strVal val="0"/>
                                          </p:val>
                                        </p:tav>
                                        <p:tav tm="100000">
                                          <p:val>
                                            <p:strVal val="#ppt_w"/>
                                          </p:val>
                                        </p:tav>
                                      </p:tavLst>
                                    </p:anim>
                                    <p:anim calcmode="lin" valueType="num">
                                      <p:cBhvr additive="base">
                                        <p:cTn id="168" dur="450" decel="100000" fill="hold"/>
                                        <p:tgtEl>
                                          <p:spTgt spid="33"/>
                                        </p:tgtEl>
                                        <p:attrNameLst>
                                          <p:attrName>ppt_h</p:attrName>
                                        </p:attrNameLst>
                                      </p:cBhvr>
                                      <p:tavLst>
                                        <p:tav tm="0">
                                          <p:val>
                                            <p:strVal val="0"/>
                                          </p:val>
                                        </p:tav>
                                        <p:tav tm="100000">
                                          <p:val>
                                            <p:strVal val="#ppt_h"/>
                                          </p:val>
                                        </p:tav>
                                      </p:tavLst>
                                    </p:anim>
                                    <p:animEffect transition="in" filter="fade">
                                      <p:cBhvr>
                                        <p:cTn id="169" dur="450"/>
                                        <p:tgtEl>
                                          <p:spTgt spid="33"/>
                                        </p:tgtEl>
                                      </p:cBhvr>
                                    </p:animEffect>
                                  </p:childTnLst>
                                </p:cTn>
                              </p:par>
                              <p:par>
                                <p:cTn id="170" presetID="53" presetClass="entr" presetSubtype="16" fill="hold" grpId="0" nodeType="withEffect">
                                  <p:stCondLst>
                                    <p:cond delay="1130"/>
                                  </p:stCondLst>
                                  <p:childTnLst>
                                    <p:set>
                                      <p:cBhvr>
                                        <p:cTn id="171" dur="1" fill="hold">
                                          <p:stCondLst>
                                            <p:cond delay="0"/>
                                          </p:stCondLst>
                                        </p:cTn>
                                        <p:tgtEl>
                                          <p:spTgt spid="34"/>
                                        </p:tgtEl>
                                        <p:attrNameLst>
                                          <p:attrName>style.visibility</p:attrName>
                                        </p:attrNameLst>
                                      </p:cBhvr>
                                      <p:to>
                                        <p:strVal val="visible"/>
                                      </p:to>
                                    </p:set>
                                    <p:anim calcmode="lin" valueType="num">
                                      <p:cBhvr additive="base">
                                        <p:cTn id="172" dur="450" decel="100000" fill="hold"/>
                                        <p:tgtEl>
                                          <p:spTgt spid="34"/>
                                        </p:tgtEl>
                                        <p:attrNameLst>
                                          <p:attrName>ppt_w</p:attrName>
                                        </p:attrNameLst>
                                      </p:cBhvr>
                                      <p:tavLst>
                                        <p:tav tm="0">
                                          <p:val>
                                            <p:strVal val="0"/>
                                          </p:val>
                                        </p:tav>
                                        <p:tav tm="100000">
                                          <p:val>
                                            <p:strVal val="#ppt_w"/>
                                          </p:val>
                                        </p:tav>
                                      </p:tavLst>
                                    </p:anim>
                                    <p:anim calcmode="lin" valueType="num">
                                      <p:cBhvr additive="base">
                                        <p:cTn id="173" dur="450" decel="100000" fill="hold"/>
                                        <p:tgtEl>
                                          <p:spTgt spid="34"/>
                                        </p:tgtEl>
                                        <p:attrNameLst>
                                          <p:attrName>ppt_h</p:attrName>
                                        </p:attrNameLst>
                                      </p:cBhvr>
                                      <p:tavLst>
                                        <p:tav tm="0">
                                          <p:val>
                                            <p:strVal val="0"/>
                                          </p:val>
                                        </p:tav>
                                        <p:tav tm="100000">
                                          <p:val>
                                            <p:strVal val="#ppt_h"/>
                                          </p:val>
                                        </p:tav>
                                      </p:tavLst>
                                    </p:anim>
                                    <p:animEffect transition="in" filter="fade">
                                      <p:cBhvr>
                                        <p:cTn id="174" dur="450"/>
                                        <p:tgtEl>
                                          <p:spTgt spid="34"/>
                                        </p:tgtEl>
                                      </p:cBhvr>
                                    </p:animEffect>
                                  </p:childTnLst>
                                </p:cTn>
                              </p:par>
                              <p:par>
                                <p:cTn id="175" presetID="42" presetClass="entr" presetSubtype="0" fill="hold" grpId="0" nodeType="withEffect">
                                  <p:stCondLst>
                                    <p:cond delay="117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600"/>
                                        <p:tgtEl>
                                          <p:spTgt spid="40"/>
                                        </p:tgtEl>
                                      </p:cBhvr>
                                    </p:animEffect>
                                    <p:anim calcmode="lin" valueType="num">
                                      <p:cBhvr additive="base">
                                        <p:cTn id="178" dur="600" decel="100000" fill="hold"/>
                                        <p:tgtEl>
                                          <p:spTgt spid="40"/>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40"/>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117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2" dur="600"/>
                                        <p:tgtEl>
                                          <p:spTgt spid="43"/>
                                        </p:tgtEl>
                                      </p:cBhvr>
                                    </p:animEffect>
                                    <p:anim calcmode="lin" valueType="num">
                                      <p:cBhvr additive="base">
                                        <p:cTn id="183" dur="600" decel="100000" fill="hold"/>
                                        <p:tgtEl>
                                          <p:spTgt spid="43"/>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43"/>
                                        </p:tgtEl>
                                        <p:attrNameLst>
                                          <p:attrName>ppt_y</p:attrName>
                                        </p:attrNameLst>
                                      </p:cBhvr>
                                      <p:tavLst>
                                        <p:tav tm="0">
                                          <p:val>
                                            <p:strVal val="#ppt_y+.03"/>
                                          </p:val>
                                        </p:tav>
                                        <p:tav tm="100000">
                                          <p:val>
                                            <p:strVal val="#ppt_y"/>
                                          </p:val>
                                        </p:tav>
                                      </p:tavLst>
                                    </p:anim>
                                  </p:childTnLst>
                                </p:cTn>
                              </p:par>
                              <p:par>
                                <p:cTn id="185" presetID="53" presetClass="entr" presetSubtype="16" fill="hold" grpId="0" nodeType="withEffect">
                                  <p:stCondLst>
                                    <p:cond delay="1200"/>
                                  </p:stCondLst>
                                  <p:childTnLst>
                                    <p:set>
                                      <p:cBhvr>
                                        <p:cTn id="186" dur="1" fill="hold">
                                          <p:stCondLst>
                                            <p:cond delay="0"/>
                                          </p:stCondLst>
                                        </p:cTn>
                                        <p:tgtEl>
                                          <p:spTgt spid="37"/>
                                        </p:tgtEl>
                                        <p:attrNameLst>
                                          <p:attrName>style.visibility</p:attrName>
                                        </p:attrNameLst>
                                      </p:cBhvr>
                                      <p:to>
                                        <p:strVal val="visible"/>
                                      </p:to>
                                    </p:set>
                                    <p:anim calcmode="lin" valueType="num">
                                      <p:cBhvr additive="base">
                                        <p:cTn id="187" dur="450" decel="100000" fill="hold"/>
                                        <p:tgtEl>
                                          <p:spTgt spid="37"/>
                                        </p:tgtEl>
                                        <p:attrNameLst>
                                          <p:attrName>ppt_w</p:attrName>
                                        </p:attrNameLst>
                                      </p:cBhvr>
                                      <p:tavLst>
                                        <p:tav tm="0">
                                          <p:val>
                                            <p:strVal val="0"/>
                                          </p:val>
                                        </p:tav>
                                        <p:tav tm="100000">
                                          <p:val>
                                            <p:strVal val="#ppt_w"/>
                                          </p:val>
                                        </p:tav>
                                      </p:tavLst>
                                    </p:anim>
                                    <p:anim calcmode="lin" valueType="num">
                                      <p:cBhvr additive="base">
                                        <p:cTn id="188" dur="450" decel="100000" fill="hold"/>
                                        <p:tgtEl>
                                          <p:spTgt spid="37"/>
                                        </p:tgtEl>
                                        <p:attrNameLst>
                                          <p:attrName>ppt_h</p:attrName>
                                        </p:attrNameLst>
                                      </p:cBhvr>
                                      <p:tavLst>
                                        <p:tav tm="0">
                                          <p:val>
                                            <p:strVal val="0"/>
                                          </p:val>
                                        </p:tav>
                                        <p:tav tm="100000">
                                          <p:val>
                                            <p:strVal val="#ppt_h"/>
                                          </p:val>
                                        </p:tav>
                                      </p:tavLst>
                                    </p:anim>
                                    <p:animEffect transition="in" filter="fade">
                                      <p:cBhvr>
                                        <p:cTn id="189" dur="450"/>
                                        <p:tgtEl>
                                          <p:spTgt spid="37"/>
                                        </p:tgtEl>
                                      </p:cBhvr>
                                    </p:animEffect>
                                  </p:childTnLst>
                                </p:cTn>
                              </p:par>
                              <p:par>
                                <p:cTn id="190" presetID="53" presetClass="entr" presetSubtype="16" fill="hold" grpId="0" nodeType="withEffect">
                                  <p:stCondLst>
                                    <p:cond delay="1260"/>
                                  </p:stCondLst>
                                  <p:childTnLst>
                                    <p:set>
                                      <p:cBhvr>
                                        <p:cTn id="191" dur="1" fill="hold">
                                          <p:stCondLst>
                                            <p:cond delay="0"/>
                                          </p:stCondLst>
                                        </p:cTn>
                                        <p:tgtEl>
                                          <p:spTgt spid="38"/>
                                        </p:tgtEl>
                                        <p:attrNameLst>
                                          <p:attrName>style.visibility</p:attrName>
                                        </p:attrNameLst>
                                      </p:cBhvr>
                                      <p:to>
                                        <p:strVal val="visible"/>
                                      </p:to>
                                    </p:set>
                                    <p:anim calcmode="lin" valueType="num">
                                      <p:cBhvr additive="base">
                                        <p:cTn id="192" dur="450" decel="100000" fill="hold"/>
                                        <p:tgtEl>
                                          <p:spTgt spid="38"/>
                                        </p:tgtEl>
                                        <p:attrNameLst>
                                          <p:attrName>ppt_w</p:attrName>
                                        </p:attrNameLst>
                                      </p:cBhvr>
                                      <p:tavLst>
                                        <p:tav tm="0">
                                          <p:val>
                                            <p:strVal val="0"/>
                                          </p:val>
                                        </p:tav>
                                        <p:tav tm="100000">
                                          <p:val>
                                            <p:strVal val="#ppt_w"/>
                                          </p:val>
                                        </p:tav>
                                      </p:tavLst>
                                    </p:anim>
                                    <p:anim calcmode="lin" valueType="num">
                                      <p:cBhvr additive="base">
                                        <p:cTn id="193" dur="450" decel="100000" fill="hold"/>
                                        <p:tgtEl>
                                          <p:spTgt spid="38"/>
                                        </p:tgtEl>
                                        <p:attrNameLst>
                                          <p:attrName>ppt_h</p:attrName>
                                        </p:attrNameLst>
                                      </p:cBhvr>
                                      <p:tavLst>
                                        <p:tav tm="0">
                                          <p:val>
                                            <p:strVal val="0"/>
                                          </p:val>
                                        </p:tav>
                                        <p:tav tm="100000">
                                          <p:val>
                                            <p:strVal val="#ppt_h"/>
                                          </p:val>
                                        </p:tav>
                                      </p:tavLst>
                                    </p:anim>
                                    <p:animEffect transition="in" filter="fade">
                                      <p:cBhvr>
                                        <p:cTn id="194" dur="450"/>
                                        <p:tgtEl>
                                          <p:spTgt spid="38"/>
                                        </p:tgtEl>
                                      </p:cBhvr>
                                    </p:animEffect>
                                  </p:childTnLst>
                                </p:cTn>
                              </p:par>
                              <p:par>
                                <p:cTn id="195" presetID="42" presetClass="entr" presetSubtype="0" fill="hold" grpId="0" nodeType="withEffect">
                                  <p:stCondLst>
                                    <p:cond delay="1300"/>
                                  </p:stCondLst>
                                  <p:childTnLst>
                                    <p:set>
                                      <p:cBhvr>
                                        <p:cTn id="196" dur="1" fill="hold">
                                          <p:stCondLst>
                                            <p:cond delay="0"/>
                                          </p:stCondLst>
                                        </p:cTn>
                                        <p:tgtEl>
                                          <p:spTgt spid="44"/>
                                        </p:tgtEl>
                                        <p:attrNameLst>
                                          <p:attrName>style.visibility</p:attrName>
                                        </p:attrNameLst>
                                      </p:cBhvr>
                                      <p:to>
                                        <p:strVal val="visible"/>
                                      </p:to>
                                    </p:set>
                                    <p:animEffect transition="in" filter="fade">
                                      <p:cBhvr>
                                        <p:cTn id="197" dur="600"/>
                                        <p:tgtEl>
                                          <p:spTgt spid="44"/>
                                        </p:tgtEl>
                                      </p:cBhvr>
                                    </p:animEffect>
                                    <p:anim calcmode="lin" valueType="num">
                                      <p:cBhvr additive="base">
                                        <p:cTn id="198" dur="600" decel="100000" fill="hold"/>
                                        <p:tgtEl>
                                          <p:spTgt spid="44"/>
                                        </p:tgtEl>
                                        <p:attrNameLst>
                                          <p:attrName>ppt_x</p:attrName>
                                        </p:attrNameLst>
                                      </p:cBhvr>
                                      <p:tavLst>
                                        <p:tav tm="0">
                                          <p:val>
                                            <p:strVal val="#ppt_x"/>
                                          </p:val>
                                        </p:tav>
                                        <p:tav tm="100000">
                                          <p:val>
                                            <p:strVal val="#ppt_x"/>
                                          </p:val>
                                        </p:tav>
                                      </p:tavLst>
                                    </p:anim>
                                    <p:anim calcmode="lin" valueType="num">
                                      <p:cBhvr additive="base">
                                        <p:cTn id="199" dur="600" decel="100000" fill="hold"/>
                                        <p:tgtEl>
                                          <p:spTgt spid="44"/>
                                        </p:tgtEl>
                                        <p:attrNameLst>
                                          <p:attrName>ppt_y</p:attrName>
                                        </p:attrNameLst>
                                      </p:cBhvr>
                                      <p:tavLst>
                                        <p:tav tm="0">
                                          <p:val>
                                            <p:strVal val="#ppt_y+.03"/>
                                          </p:val>
                                        </p:tav>
                                        <p:tav tm="100000">
                                          <p:val>
                                            <p:strVal val="#ppt_y"/>
                                          </p:val>
                                        </p:tav>
                                      </p:tavLst>
                                    </p:anim>
                                  </p:childTnLst>
                                </p:cTn>
                              </p:par>
                              <p:par>
                                <p:cTn id="200" presetID="42" presetClass="entr" presetSubtype="0" fill="hold" grpId="0" nodeType="withEffect">
                                  <p:stCondLst>
                                    <p:cond delay="1300"/>
                                  </p:stCondLst>
                                  <p:childTnLst>
                                    <p:set>
                                      <p:cBhvr>
                                        <p:cTn id="201" dur="1" fill="hold">
                                          <p:stCondLst>
                                            <p:cond delay="0"/>
                                          </p:stCondLst>
                                        </p:cTn>
                                        <p:tgtEl>
                                          <p:spTgt spid="47"/>
                                        </p:tgtEl>
                                        <p:attrNameLst>
                                          <p:attrName>style.visibility</p:attrName>
                                        </p:attrNameLst>
                                      </p:cBhvr>
                                      <p:to>
                                        <p:strVal val="visible"/>
                                      </p:to>
                                    </p:set>
                                    <p:animEffect transition="in" filter="fade">
                                      <p:cBhvr>
                                        <p:cTn id="202" dur="600"/>
                                        <p:tgtEl>
                                          <p:spTgt spid="47"/>
                                        </p:tgtEl>
                                      </p:cBhvr>
                                    </p:animEffect>
                                    <p:anim calcmode="lin" valueType="num">
                                      <p:cBhvr additive="base">
                                        <p:cTn id="203" dur="600" decel="100000" fill="hold"/>
                                        <p:tgtEl>
                                          <p:spTgt spid="47"/>
                                        </p:tgtEl>
                                        <p:attrNameLst>
                                          <p:attrName>ppt_x</p:attrName>
                                        </p:attrNameLst>
                                      </p:cBhvr>
                                      <p:tavLst>
                                        <p:tav tm="0">
                                          <p:val>
                                            <p:strVal val="#ppt_x"/>
                                          </p:val>
                                        </p:tav>
                                        <p:tav tm="100000">
                                          <p:val>
                                            <p:strVal val="#ppt_x"/>
                                          </p:val>
                                        </p:tav>
                                      </p:tavLst>
                                    </p:anim>
                                    <p:anim calcmode="lin" valueType="num">
                                      <p:cBhvr additive="base">
                                        <p:cTn id="204" dur="600" decel="100000" fill="hold"/>
                                        <p:tgtEl>
                                          <p:spTgt spid="47"/>
                                        </p:tgtEl>
                                        <p:attrNameLst>
                                          <p:attrName>ppt_y</p:attrName>
                                        </p:attrNameLst>
                                      </p:cBhvr>
                                      <p:tavLst>
                                        <p:tav tm="0">
                                          <p:val>
                                            <p:strVal val="#ppt_y+.03"/>
                                          </p:val>
                                        </p:tav>
                                        <p:tav tm="100000">
                                          <p:val>
                                            <p:strVal val="#ppt_y"/>
                                          </p:val>
                                        </p:tav>
                                      </p:tavLst>
                                    </p:anim>
                                  </p:childTnLst>
                                </p:cTn>
                              </p:par>
                              <p:par>
                                <p:cTn id="205" presetID="53" presetClass="entr" presetSubtype="16" fill="hold" grpId="0" nodeType="withEffect">
                                  <p:stCondLst>
                                    <p:cond delay="1330"/>
                                  </p:stCondLst>
                                  <p:childTnLst>
                                    <p:set>
                                      <p:cBhvr>
                                        <p:cTn id="206" dur="1" fill="hold">
                                          <p:stCondLst>
                                            <p:cond delay="0"/>
                                          </p:stCondLst>
                                        </p:cTn>
                                        <p:tgtEl>
                                          <p:spTgt spid="41"/>
                                        </p:tgtEl>
                                        <p:attrNameLst>
                                          <p:attrName>style.visibility</p:attrName>
                                        </p:attrNameLst>
                                      </p:cBhvr>
                                      <p:to>
                                        <p:strVal val="visible"/>
                                      </p:to>
                                    </p:set>
                                    <p:anim calcmode="lin" valueType="num">
                                      <p:cBhvr additive="base">
                                        <p:cTn id="207" dur="450" decel="100000" fill="hold"/>
                                        <p:tgtEl>
                                          <p:spTgt spid="41"/>
                                        </p:tgtEl>
                                        <p:attrNameLst>
                                          <p:attrName>ppt_w</p:attrName>
                                        </p:attrNameLst>
                                      </p:cBhvr>
                                      <p:tavLst>
                                        <p:tav tm="0">
                                          <p:val>
                                            <p:strVal val="0"/>
                                          </p:val>
                                        </p:tav>
                                        <p:tav tm="100000">
                                          <p:val>
                                            <p:strVal val="#ppt_w"/>
                                          </p:val>
                                        </p:tav>
                                      </p:tavLst>
                                    </p:anim>
                                    <p:anim calcmode="lin" valueType="num">
                                      <p:cBhvr additive="base">
                                        <p:cTn id="208" dur="450" decel="100000" fill="hold"/>
                                        <p:tgtEl>
                                          <p:spTgt spid="41"/>
                                        </p:tgtEl>
                                        <p:attrNameLst>
                                          <p:attrName>ppt_h</p:attrName>
                                        </p:attrNameLst>
                                      </p:cBhvr>
                                      <p:tavLst>
                                        <p:tav tm="0">
                                          <p:val>
                                            <p:strVal val="0"/>
                                          </p:val>
                                        </p:tav>
                                        <p:tav tm="100000">
                                          <p:val>
                                            <p:strVal val="#ppt_h"/>
                                          </p:val>
                                        </p:tav>
                                      </p:tavLst>
                                    </p:anim>
                                    <p:animEffect transition="in" filter="fade">
                                      <p:cBhvr>
                                        <p:cTn id="209" dur="450"/>
                                        <p:tgtEl>
                                          <p:spTgt spid="41"/>
                                        </p:tgtEl>
                                      </p:cBhvr>
                                    </p:animEffect>
                                  </p:childTnLst>
                                </p:cTn>
                              </p:par>
                              <p:par>
                                <p:cTn id="210" presetID="53" presetClass="entr" presetSubtype="16" fill="hold" grpId="0" nodeType="withEffect">
                                  <p:stCondLst>
                                    <p:cond delay="1390"/>
                                  </p:stCondLst>
                                  <p:childTnLst>
                                    <p:set>
                                      <p:cBhvr>
                                        <p:cTn id="211" dur="1" fill="hold">
                                          <p:stCondLst>
                                            <p:cond delay="0"/>
                                          </p:stCondLst>
                                        </p:cTn>
                                        <p:tgtEl>
                                          <p:spTgt spid="42"/>
                                        </p:tgtEl>
                                        <p:attrNameLst>
                                          <p:attrName>style.visibility</p:attrName>
                                        </p:attrNameLst>
                                      </p:cBhvr>
                                      <p:to>
                                        <p:strVal val="visible"/>
                                      </p:to>
                                    </p:set>
                                    <p:anim calcmode="lin" valueType="num">
                                      <p:cBhvr additive="base">
                                        <p:cTn id="212" dur="450" decel="100000" fill="hold"/>
                                        <p:tgtEl>
                                          <p:spTgt spid="42"/>
                                        </p:tgtEl>
                                        <p:attrNameLst>
                                          <p:attrName>ppt_w</p:attrName>
                                        </p:attrNameLst>
                                      </p:cBhvr>
                                      <p:tavLst>
                                        <p:tav tm="0">
                                          <p:val>
                                            <p:strVal val="0"/>
                                          </p:val>
                                        </p:tav>
                                        <p:tav tm="100000">
                                          <p:val>
                                            <p:strVal val="#ppt_w"/>
                                          </p:val>
                                        </p:tav>
                                      </p:tavLst>
                                    </p:anim>
                                    <p:anim calcmode="lin" valueType="num">
                                      <p:cBhvr additive="base">
                                        <p:cTn id="213" dur="450" decel="100000" fill="hold"/>
                                        <p:tgtEl>
                                          <p:spTgt spid="42"/>
                                        </p:tgtEl>
                                        <p:attrNameLst>
                                          <p:attrName>ppt_h</p:attrName>
                                        </p:attrNameLst>
                                      </p:cBhvr>
                                      <p:tavLst>
                                        <p:tav tm="0">
                                          <p:val>
                                            <p:strVal val="0"/>
                                          </p:val>
                                        </p:tav>
                                        <p:tav tm="100000">
                                          <p:val>
                                            <p:strVal val="#ppt_h"/>
                                          </p:val>
                                        </p:tav>
                                      </p:tavLst>
                                    </p:anim>
                                    <p:animEffect transition="in" filter="fade">
                                      <p:cBhvr>
                                        <p:cTn id="214" dur="450"/>
                                        <p:tgtEl>
                                          <p:spTgt spid="42"/>
                                        </p:tgtEl>
                                      </p:cBhvr>
                                    </p:animEffect>
                                  </p:childTnLst>
                                </p:cTn>
                              </p:par>
                              <p:par>
                                <p:cTn id="215" presetID="53" presetClass="entr" presetSubtype="16" fill="hold" grpId="0" nodeType="withEffect">
                                  <p:stCondLst>
                                    <p:cond delay="1460"/>
                                  </p:stCondLst>
                                  <p:childTnLst>
                                    <p:set>
                                      <p:cBhvr>
                                        <p:cTn id="216" dur="1" fill="hold">
                                          <p:stCondLst>
                                            <p:cond delay="0"/>
                                          </p:stCondLst>
                                        </p:cTn>
                                        <p:tgtEl>
                                          <p:spTgt spid="45"/>
                                        </p:tgtEl>
                                        <p:attrNameLst>
                                          <p:attrName>style.visibility</p:attrName>
                                        </p:attrNameLst>
                                      </p:cBhvr>
                                      <p:to>
                                        <p:strVal val="visible"/>
                                      </p:to>
                                    </p:set>
                                    <p:anim calcmode="lin" valueType="num">
                                      <p:cBhvr additive="base">
                                        <p:cTn id="217" dur="450" decel="100000" fill="hold"/>
                                        <p:tgtEl>
                                          <p:spTgt spid="45"/>
                                        </p:tgtEl>
                                        <p:attrNameLst>
                                          <p:attrName>ppt_w</p:attrName>
                                        </p:attrNameLst>
                                      </p:cBhvr>
                                      <p:tavLst>
                                        <p:tav tm="0">
                                          <p:val>
                                            <p:strVal val="0"/>
                                          </p:val>
                                        </p:tav>
                                        <p:tav tm="100000">
                                          <p:val>
                                            <p:strVal val="#ppt_w"/>
                                          </p:val>
                                        </p:tav>
                                      </p:tavLst>
                                    </p:anim>
                                    <p:anim calcmode="lin" valueType="num">
                                      <p:cBhvr additive="base">
                                        <p:cTn id="218" dur="450" decel="100000" fill="hold"/>
                                        <p:tgtEl>
                                          <p:spTgt spid="45"/>
                                        </p:tgtEl>
                                        <p:attrNameLst>
                                          <p:attrName>ppt_h</p:attrName>
                                        </p:attrNameLst>
                                      </p:cBhvr>
                                      <p:tavLst>
                                        <p:tav tm="0">
                                          <p:val>
                                            <p:strVal val="0"/>
                                          </p:val>
                                        </p:tav>
                                        <p:tav tm="100000">
                                          <p:val>
                                            <p:strVal val="#ppt_h"/>
                                          </p:val>
                                        </p:tav>
                                      </p:tavLst>
                                    </p:anim>
                                    <p:animEffect transition="in" filter="fade">
                                      <p:cBhvr>
                                        <p:cTn id="219" dur="450"/>
                                        <p:tgtEl>
                                          <p:spTgt spid="45"/>
                                        </p:tgtEl>
                                      </p:cBhvr>
                                    </p:animEffect>
                                  </p:childTnLst>
                                </p:cTn>
                              </p:par>
                              <p:par>
                                <p:cTn id="220" presetID="53" presetClass="entr" presetSubtype="16" fill="hold" grpId="0" nodeType="withEffect">
                                  <p:stCondLst>
                                    <p:cond delay="1520"/>
                                  </p:stCondLst>
                                  <p:childTnLst>
                                    <p:set>
                                      <p:cBhvr>
                                        <p:cTn id="221" dur="1" fill="hold">
                                          <p:stCondLst>
                                            <p:cond delay="0"/>
                                          </p:stCondLst>
                                        </p:cTn>
                                        <p:tgtEl>
                                          <p:spTgt spid="46"/>
                                        </p:tgtEl>
                                        <p:attrNameLst>
                                          <p:attrName>style.visibility</p:attrName>
                                        </p:attrNameLst>
                                      </p:cBhvr>
                                      <p:to>
                                        <p:strVal val="visible"/>
                                      </p:to>
                                    </p:set>
                                    <p:anim calcmode="lin" valueType="num">
                                      <p:cBhvr additive="base">
                                        <p:cTn id="222" dur="450" decel="100000" fill="hold"/>
                                        <p:tgtEl>
                                          <p:spTgt spid="46"/>
                                        </p:tgtEl>
                                        <p:attrNameLst>
                                          <p:attrName>ppt_w</p:attrName>
                                        </p:attrNameLst>
                                      </p:cBhvr>
                                      <p:tavLst>
                                        <p:tav tm="0">
                                          <p:val>
                                            <p:strVal val="0"/>
                                          </p:val>
                                        </p:tav>
                                        <p:tav tm="100000">
                                          <p:val>
                                            <p:strVal val="#ppt_w"/>
                                          </p:val>
                                        </p:tav>
                                      </p:tavLst>
                                    </p:anim>
                                    <p:anim calcmode="lin" valueType="num">
                                      <p:cBhvr additive="base">
                                        <p:cTn id="223" dur="450" decel="100000" fill="hold"/>
                                        <p:tgtEl>
                                          <p:spTgt spid="46"/>
                                        </p:tgtEl>
                                        <p:attrNameLst>
                                          <p:attrName>ppt_h</p:attrName>
                                        </p:attrNameLst>
                                      </p:cBhvr>
                                      <p:tavLst>
                                        <p:tav tm="0">
                                          <p:val>
                                            <p:strVal val="0"/>
                                          </p:val>
                                        </p:tav>
                                        <p:tav tm="100000">
                                          <p:val>
                                            <p:strVal val="#ppt_h"/>
                                          </p:val>
                                        </p:tav>
                                      </p:tavLst>
                                    </p:anim>
                                    <p:animEffect transition="in" filter="fade">
                                      <p:cBhvr>
                                        <p:cTn id="224"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01  |  التعريف بالمشروع</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مشروع إنشاء مركز البيانات الوطني</a:t>
            </a:r>
            <a:endParaRPr lang="en-US" sz="3000" dirty="0"/>
          </a:p>
        </p:txBody>
      </p:sp>
      <p:sp>
        <p:nvSpPr>
          <p:cNvPr id="4" name="anim3_0"/>
          <p:cNvSpPr/>
          <p:nvPr/>
        </p:nvSpPr>
        <p:spPr>
          <a:xfrm>
            <a:off x="548640" y="1600200"/>
            <a:ext cx="3566160" cy="4526280"/>
          </a:xfrm>
          <a:prstGeom prst="roundRect">
            <a:avLst>
              <a:gd name="adj" fmla="val 2564"/>
            </a:avLst>
          </a:prstGeom>
          <a:solidFill>
            <a:srgbClr val="06305C"/>
          </a:solidFill>
          <a:ln w="12700">
            <a:solidFill>
              <a:srgbClr val="06305C"/>
            </a:solidFill>
            <a:prstDash val="solid"/>
          </a:ln>
          <a:effectLst>
            <a:outerShdw sx="100000" sy="100000" kx="0" ky="0" algn="bl" rotWithShape="0" blurRad="127000" dist="38100" dir="5400000">
              <a:srgbClr val="1F3A5F">
                <a:alpha val="13000"/>
              </a:srgbClr>
            </a:outerShdw>
          </a:effectLst>
        </p:spPr>
      </p:sp>
      <p:sp>
        <p:nvSpPr>
          <p:cNvPr id="5" name="anim3_1"/>
          <p:cNvSpPr txBox="1"/>
          <p:nvPr/>
        </p:nvSpPr>
        <p:spPr>
          <a:xfrm>
            <a:off x="868680" y="1828800"/>
            <a:ext cx="2926080" cy="365760"/>
          </a:xfrm>
          <a:prstGeom prst="rect">
            <a:avLst/>
          </a:prstGeom>
          <a:noFill/>
          <a:ln/>
        </p:spPr>
        <p:txBody>
          <a:bodyPr wrap="square" lIns="0" tIns="0" rIns="0" bIns="0" rtlCol="0" anchor="t"/>
          <a:lstStyle/>
          <a:p>
            <a:pPr rtl="1" algn="ctr" indent="0" marL="0">
              <a:buNone/>
            </a:pPr>
            <a:r>
              <a:rPr lang="ar-SA" altLang="en-US" sz="1500" dirty="0">
                <a:solidFill>
                  <a:srgbClr val="C9DAEE"/>
                </a:solidFill>
                <a:latin typeface="JF Flat" pitchFamily="34" charset="0"/>
                <a:ea typeface="JF Flat" pitchFamily="34" charset="-122"/>
                <a:cs typeface="JF Flat" pitchFamily="34" charset="-120"/>
              </a:rPr>
              <a:t>حجم المشروع المخطط</a:t>
            </a:r>
            <a:endParaRPr lang="ar-SA" sz="1500" dirty="0"/>
          </a:p>
        </p:txBody>
      </p:sp>
      <p:sp>
        <p:nvSpPr>
          <p:cNvPr id="6" name="anim3_2"/>
          <p:cNvSpPr txBox="1"/>
          <p:nvPr/>
        </p:nvSpPr>
        <p:spPr>
          <a:xfrm>
            <a:off x="868680" y="2194560"/>
            <a:ext cx="2926080" cy="1051560"/>
          </a:xfrm>
          <a:prstGeom prst="rect">
            <a:avLst/>
          </a:prstGeom>
          <a:noFill/>
          <a:ln/>
        </p:spPr>
        <p:txBody>
          <a:bodyPr wrap="square" lIns="0" tIns="0" rIns="0" bIns="0" rtlCol="0" anchor="ctr"/>
          <a:lstStyle/>
          <a:p>
            <a:pPr algn="ctr" indent="0" marL="0">
              <a:buNone/>
            </a:pPr>
            <a:r>
              <a:rPr lang="ar-SA" altLang="en-US" sz="7200" b="1" dirty="0">
                <a:solidFill>
                  <a:srgbClr val="F15524"/>
                </a:solidFill>
                <a:latin typeface="JF Flat" pitchFamily="34" charset="0"/>
                <a:ea typeface="JF Flat" pitchFamily="34" charset="-122"/>
                <a:cs typeface="JF Flat" pitchFamily="34" charset="-120"/>
              </a:rPr>
              <a:t>5.1</a:t>
            </a:r>
            <a:endParaRPr lang="ar-SA" sz="7200" dirty="0"/>
          </a:p>
        </p:txBody>
      </p:sp>
      <p:sp>
        <p:nvSpPr>
          <p:cNvPr id="7" name="anim3_3"/>
          <p:cNvSpPr txBox="1"/>
          <p:nvPr/>
        </p:nvSpPr>
        <p:spPr>
          <a:xfrm>
            <a:off x="868680" y="3246120"/>
            <a:ext cx="2926080" cy="365760"/>
          </a:xfrm>
          <a:prstGeom prst="rect">
            <a:avLst/>
          </a:prstGeom>
          <a:noFill/>
          <a:ln/>
        </p:spPr>
        <p:txBody>
          <a:bodyPr wrap="square" lIns="0" tIns="0" rIns="0" bIns="0" rtlCol="0" anchor="t"/>
          <a:lstStyle/>
          <a:p>
            <a:pPr rtl="1" algn="ctr" indent="0" marL="0">
              <a:buNone/>
            </a:pPr>
            <a:r>
              <a:rPr lang="ar-SA" altLang="en-US" sz="1600" b="1" dirty="0">
                <a:solidFill>
                  <a:srgbClr val="FFFFFF"/>
                </a:solidFill>
                <a:latin typeface="JF Flat" pitchFamily="34" charset="0"/>
                <a:ea typeface="JF Flat" pitchFamily="34" charset="-122"/>
                <a:cs typeface="JF Flat" pitchFamily="34" charset="-120"/>
              </a:rPr>
              <a:t>ميجاوات (نحو)</a:t>
            </a:r>
            <a:endParaRPr lang="ar-SA" sz="1600" dirty="0"/>
          </a:p>
        </p:txBody>
      </p:sp>
      <p:sp>
        <p:nvSpPr>
          <p:cNvPr id="8" name="anim3_4"/>
          <p:cNvSpPr/>
          <p:nvPr/>
        </p:nvSpPr>
        <p:spPr>
          <a:xfrm>
            <a:off x="822960" y="3931920"/>
            <a:ext cx="3017520" cy="1920240"/>
          </a:xfrm>
          <a:prstGeom prst="roundRect">
            <a:avLst>
              <a:gd name="adj" fmla="val 3810"/>
            </a:avLst>
          </a:prstGeom>
          <a:solidFill>
            <a:srgbClr val="FFFFFF">
              <a:alpha val="10000"/>
            </a:srgbClr>
          </a:solidFill>
          <a:ln w="12700">
            <a:solidFill>
              <a:srgbClr val="FFFFFF">
                <a:alpha val="0"/>
              </a:srgbClr>
            </a:solidFill>
            <a:prstDash val="solid"/>
          </a:ln>
        </p:spPr>
      </p:sp>
      <p:sp>
        <p:nvSpPr>
          <p:cNvPr id="9" name="anim3_5"/>
          <p:cNvSpPr/>
          <p:nvPr/>
        </p:nvSpPr>
        <p:spPr>
          <a:xfrm>
            <a:off x="2057400" y="4069080"/>
            <a:ext cx="548640" cy="548640"/>
          </a:xfrm>
          <a:prstGeom prst="ellipse">
            <a:avLst/>
          </a:prstGeom>
          <a:solidFill>
            <a:srgbClr val="F15524"/>
          </a:solidFill>
          <a:ln w="12700">
            <a:solidFill>
              <a:srgbClr val="F15524"/>
            </a:solidFill>
            <a:prstDash val="solid"/>
          </a:ln>
        </p:spPr>
      </p:sp>
      <p:pic>
        <p:nvPicPr>
          <p:cNvPr id="10" name="anim3_6" descr="preencoded.png">    </p:cNvPr>
          <p:cNvPicPr>
            <a:picLocks noChangeAspect="1"/>
          </p:cNvPicPr>
          <p:nvPr/>
        </p:nvPicPr>
        <p:blipFill>
          <a:blip r:embed="rId1"/>
          <a:stretch>
            <a:fillRect/>
          </a:stretch>
        </p:blipFill>
        <p:spPr>
          <a:xfrm>
            <a:off x="2205533" y="4217213"/>
            <a:ext cx="252374" cy="252374"/>
          </a:xfrm>
          <a:prstGeom prst="rect">
            <a:avLst/>
          </a:prstGeom>
        </p:spPr>
      </p:pic>
      <p:sp>
        <p:nvSpPr>
          <p:cNvPr id="11" name="anim3_7"/>
          <p:cNvSpPr txBox="1"/>
          <p:nvPr/>
        </p:nvSpPr>
        <p:spPr>
          <a:xfrm>
            <a:off x="960120" y="4681728"/>
            <a:ext cx="2743200" cy="320040"/>
          </a:xfrm>
          <a:prstGeom prst="rect">
            <a:avLst/>
          </a:prstGeom>
          <a:noFill/>
          <a:ln/>
        </p:spPr>
        <p:txBody>
          <a:bodyPr wrap="square" lIns="0" tIns="0" rIns="0" bIns="0" rtlCol="0" anchor="t"/>
          <a:lstStyle/>
          <a:p>
            <a:pPr rtl="1" algn="ctr" indent="0" marL="0">
              <a:buNone/>
            </a:pPr>
            <a:r>
              <a:rPr lang="ar-SA" altLang="en-US" sz="1500" b="1" dirty="0">
                <a:solidFill>
                  <a:srgbClr val="FFFFFF"/>
                </a:solidFill>
                <a:latin typeface="JF Flat" pitchFamily="34" charset="0"/>
                <a:ea typeface="JF Flat" pitchFamily="34" charset="-122"/>
                <a:cs typeface="JF Flat" pitchFamily="34" charset="-120"/>
              </a:rPr>
              <a:t>الموقع المقترح</a:t>
            </a:r>
            <a:endParaRPr lang="ar-SA" sz="1500" dirty="0"/>
          </a:p>
        </p:txBody>
      </p:sp>
      <p:sp>
        <p:nvSpPr>
          <p:cNvPr id="12" name="anim3_8"/>
          <p:cNvSpPr txBox="1"/>
          <p:nvPr/>
        </p:nvSpPr>
        <p:spPr>
          <a:xfrm>
            <a:off x="960120" y="5010912"/>
            <a:ext cx="2743200" cy="685800"/>
          </a:xfrm>
          <a:prstGeom prst="rect">
            <a:avLst/>
          </a:prstGeom>
          <a:noFill/>
          <a:ln/>
        </p:spPr>
        <p:txBody>
          <a:bodyPr wrap="square" lIns="0" tIns="0" rIns="0" bIns="0" rtlCol="0" anchor="t"/>
          <a:lstStyle/>
          <a:p>
            <a:pPr rtl="1" algn="ctr" indent="0" marL="0">
              <a:buNone/>
            </a:pPr>
            <a:r>
              <a:rPr lang="ar-SA" altLang="en-US" sz="1400" dirty="0">
                <a:solidFill>
                  <a:srgbClr val="C9DAEE"/>
                </a:solidFill>
                <a:latin typeface="JF Flat" pitchFamily="34" charset="0"/>
                <a:ea typeface="JF Flat" pitchFamily="34" charset="-122"/>
                <a:cs typeface="JF Flat" pitchFamily="34" charset="-120"/>
              </a:rPr>
              <a:t>مقر شركة الجيل الجديد للتقنية في طرابلس</a:t>
            </a:r>
            <a:endParaRPr lang="ar-SA" sz="1400" dirty="0"/>
          </a:p>
        </p:txBody>
      </p:sp>
      <p:sp>
        <p:nvSpPr>
          <p:cNvPr id="13" name="anim3_9"/>
          <p:cNvSpPr/>
          <p:nvPr/>
        </p:nvSpPr>
        <p:spPr>
          <a:xfrm>
            <a:off x="4434840" y="1600200"/>
            <a:ext cx="7208215" cy="2103120"/>
          </a:xfrm>
          <a:prstGeom prst="roundRect">
            <a:avLst>
              <a:gd name="adj" fmla="val 434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4" name="anim3_10"/>
          <p:cNvSpPr/>
          <p:nvPr/>
        </p:nvSpPr>
        <p:spPr>
          <a:xfrm>
            <a:off x="10774375" y="1828800"/>
            <a:ext cx="640080" cy="640080"/>
          </a:xfrm>
          <a:prstGeom prst="ellipse">
            <a:avLst/>
          </a:prstGeom>
          <a:solidFill>
            <a:srgbClr val="00539B"/>
          </a:solidFill>
          <a:ln w="12700">
            <a:solidFill>
              <a:srgbClr val="00539B"/>
            </a:solidFill>
            <a:prstDash val="solid"/>
          </a:ln>
        </p:spPr>
      </p:sp>
      <p:pic>
        <p:nvPicPr>
          <p:cNvPr id="15" name="anim3_11" descr="preencoded.png">    </p:cNvPr>
          <p:cNvPicPr>
            <a:picLocks noChangeAspect="1"/>
          </p:cNvPicPr>
          <p:nvPr/>
        </p:nvPicPr>
        <p:blipFill>
          <a:blip r:embed="rId2"/>
          <a:stretch>
            <a:fillRect/>
          </a:stretch>
        </p:blipFill>
        <p:spPr>
          <a:xfrm>
            <a:off x="10947197" y="2001622"/>
            <a:ext cx="294437" cy="294437"/>
          </a:xfrm>
          <a:prstGeom prst="rect">
            <a:avLst/>
          </a:prstGeom>
        </p:spPr>
      </p:pic>
      <p:sp>
        <p:nvSpPr>
          <p:cNvPr id="16" name="anim3_12"/>
          <p:cNvSpPr txBox="1"/>
          <p:nvPr/>
        </p:nvSpPr>
        <p:spPr>
          <a:xfrm>
            <a:off x="4709160" y="1828800"/>
            <a:ext cx="5882335" cy="411480"/>
          </a:xfrm>
          <a:prstGeom prst="rect">
            <a:avLst/>
          </a:prstGeom>
          <a:noFill/>
          <a:ln/>
        </p:spPr>
        <p:txBody>
          <a:bodyPr wrap="square" lIns="0" tIns="0" rIns="0" bIns="0" rtlCol="0" anchor="t"/>
          <a:lstStyle/>
          <a:p>
            <a:pPr rtl="1" algn="r" indent="0" marL="0">
              <a:buNone/>
            </a:pPr>
            <a:r>
              <a:rPr lang="ar-SA" altLang="en-US" sz="2000" b="1" dirty="0">
                <a:solidFill>
                  <a:srgbClr val="06305C"/>
                </a:solidFill>
                <a:latin typeface="JF Flat" pitchFamily="34" charset="0"/>
                <a:ea typeface="JF Flat" pitchFamily="34" charset="-122"/>
                <a:cs typeface="JF Flat" pitchFamily="34" charset="-120"/>
              </a:rPr>
              <a:t>ما هو مركز البيانات؟</a:t>
            </a:r>
            <a:endParaRPr lang="ar-SA" sz="2000" dirty="0"/>
          </a:p>
        </p:txBody>
      </p:sp>
      <p:sp>
        <p:nvSpPr>
          <p:cNvPr id="17" name="anim3_13"/>
          <p:cNvSpPr txBox="1"/>
          <p:nvPr/>
        </p:nvSpPr>
        <p:spPr>
          <a:xfrm>
            <a:off x="4709160" y="2331720"/>
            <a:ext cx="5882335" cy="1188720"/>
          </a:xfrm>
          <a:prstGeom prst="rect">
            <a:avLst/>
          </a:prstGeom>
          <a:noFill/>
          <a:ln/>
        </p:spPr>
        <p:txBody>
          <a:bodyPr wrap="square" lIns="0" tIns="0" rIns="0" bIns="0" rtlCol="0" anchor="t"/>
          <a:lstStyle/>
          <a:p>
            <a:pPr rtl="1" algn="r" indent="0" marL="0">
              <a:lnSpc>
                <a:spcPct val="120000"/>
              </a:lnSpc>
              <a:buNone/>
            </a:pPr>
            <a:r>
              <a:rPr lang="ar-SA" altLang="en-US" sz="1600" dirty="0">
                <a:solidFill>
                  <a:srgbClr val="1F2937"/>
                </a:solidFill>
                <a:latin typeface="JF Flat" pitchFamily="34" charset="0"/>
                <a:ea typeface="JF Flat" pitchFamily="34" charset="-122"/>
                <a:cs typeface="JF Flat" pitchFamily="34" charset="-120"/>
              </a:rPr>
              <a:t>منشأة تقنية متخصصة لاستضافة الخوادم والأنظمة وقواعد البيانات، وتوفير بيئة آمنة لمعالجة البيانات وتخزينها وتشغيل الخدمات الرقمية.</a:t>
            </a:r>
            <a:endParaRPr lang="ar-SA" sz="1600" dirty="0"/>
          </a:p>
        </p:txBody>
      </p:sp>
      <p:sp>
        <p:nvSpPr>
          <p:cNvPr id="18" name="anim3_14"/>
          <p:cNvSpPr/>
          <p:nvPr/>
        </p:nvSpPr>
        <p:spPr>
          <a:xfrm>
            <a:off x="4434840" y="3931920"/>
            <a:ext cx="7208215" cy="2194560"/>
          </a:xfrm>
          <a:prstGeom prst="roundRect">
            <a:avLst>
              <a:gd name="adj" fmla="val 4167"/>
            </a:avLst>
          </a:prstGeom>
          <a:solidFill>
            <a:srgbClr val="FEF0EA"/>
          </a:solidFill>
          <a:ln w="12700">
            <a:solidFill>
              <a:srgbClr val="FEF0EA"/>
            </a:solidFill>
            <a:prstDash val="solid"/>
          </a:ln>
        </p:spPr>
      </p:sp>
      <p:sp>
        <p:nvSpPr>
          <p:cNvPr id="19" name="anim3_15"/>
          <p:cNvSpPr/>
          <p:nvPr/>
        </p:nvSpPr>
        <p:spPr>
          <a:xfrm>
            <a:off x="10774375" y="4160520"/>
            <a:ext cx="640080" cy="640080"/>
          </a:xfrm>
          <a:prstGeom prst="ellipse">
            <a:avLst/>
          </a:prstGeom>
          <a:solidFill>
            <a:srgbClr val="F15524"/>
          </a:solidFill>
          <a:ln w="12700">
            <a:solidFill>
              <a:srgbClr val="F15524"/>
            </a:solidFill>
            <a:prstDash val="solid"/>
          </a:ln>
        </p:spPr>
      </p:sp>
      <p:pic>
        <p:nvPicPr>
          <p:cNvPr id="20" name="anim3_16" descr="preencoded.png">    </p:cNvPr>
          <p:cNvPicPr>
            <a:picLocks noChangeAspect="1"/>
          </p:cNvPicPr>
          <p:nvPr/>
        </p:nvPicPr>
        <p:blipFill>
          <a:blip r:embed="rId3"/>
          <a:stretch>
            <a:fillRect/>
          </a:stretch>
        </p:blipFill>
        <p:spPr>
          <a:xfrm>
            <a:off x="10947197" y="4333342"/>
            <a:ext cx="294437" cy="294437"/>
          </a:xfrm>
          <a:prstGeom prst="rect">
            <a:avLst/>
          </a:prstGeom>
        </p:spPr>
      </p:pic>
      <p:sp>
        <p:nvSpPr>
          <p:cNvPr id="21" name="anim3_17"/>
          <p:cNvSpPr txBox="1"/>
          <p:nvPr/>
        </p:nvSpPr>
        <p:spPr>
          <a:xfrm>
            <a:off x="4709160" y="4160520"/>
            <a:ext cx="5882335" cy="411480"/>
          </a:xfrm>
          <a:prstGeom prst="rect">
            <a:avLst/>
          </a:prstGeom>
          <a:noFill/>
          <a:ln/>
        </p:spPr>
        <p:txBody>
          <a:bodyPr wrap="square" lIns="0" tIns="0" rIns="0" bIns="0" rtlCol="0" anchor="t"/>
          <a:lstStyle/>
          <a:p>
            <a:pPr rtl="1" algn="r" indent="0" marL="0">
              <a:buNone/>
            </a:pPr>
            <a:r>
              <a:rPr lang="ar-SA" altLang="en-US" sz="2000" b="1" dirty="0">
                <a:solidFill>
                  <a:srgbClr val="F15524"/>
                </a:solidFill>
                <a:latin typeface="JF Flat" pitchFamily="34" charset="0"/>
                <a:ea typeface="JF Flat" pitchFamily="34" charset="-122"/>
                <a:cs typeface="JF Flat" pitchFamily="34" charset="-120"/>
              </a:rPr>
              <a:t>الهدف الاستراتيجي</a:t>
            </a:r>
            <a:endParaRPr lang="ar-SA" sz="2000" dirty="0"/>
          </a:p>
        </p:txBody>
      </p:sp>
      <p:sp>
        <p:nvSpPr>
          <p:cNvPr id="22" name="anim3_18"/>
          <p:cNvSpPr txBox="1"/>
          <p:nvPr/>
        </p:nvSpPr>
        <p:spPr>
          <a:xfrm>
            <a:off x="4709160" y="4663440"/>
            <a:ext cx="5882335" cy="1188720"/>
          </a:xfrm>
          <a:prstGeom prst="rect">
            <a:avLst/>
          </a:prstGeom>
          <a:noFill/>
          <a:ln/>
        </p:spPr>
        <p:txBody>
          <a:bodyPr wrap="square" lIns="0" tIns="0" rIns="0" bIns="0" rtlCol="0" anchor="t"/>
          <a:lstStyle/>
          <a:p>
            <a:pPr rtl="1" algn="r" indent="0" marL="0">
              <a:lnSpc>
                <a:spcPct val="120000"/>
              </a:lnSpc>
              <a:buNone/>
            </a:pPr>
            <a:r>
              <a:rPr lang="ar-SA" altLang="en-US" sz="1600" dirty="0">
                <a:solidFill>
                  <a:srgbClr val="1F2937"/>
                </a:solidFill>
                <a:latin typeface="JF Flat" pitchFamily="34" charset="0"/>
                <a:ea typeface="JF Flat" pitchFamily="34" charset="-122"/>
                <a:cs typeface="JF Flat" pitchFamily="34" charset="-120"/>
              </a:rPr>
              <a:t>إنشاء بنية تحتية وطنية آمنة وموثوقة لاستضافة البيانات والأنظمة الحكومية، ودعم التحول الرقمي في ليبيا.</a:t>
            </a:r>
            <a:endParaRPr lang="ar-SA" sz="16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2"/>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additive="base">
                                        <p:cTn id="4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3"/>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13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anim calcmode="lin" valueType="num">
                                      <p:cBhvr additive="base">
                                        <p:cTn id="4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6"/>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13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anim calcmode="lin" valueType="num">
                                      <p:cBhvr additive="base">
                                        <p:cTn id="5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7"/>
                                        </p:tgtEl>
                                        <p:attrNameLst>
                                          <p:attrName>ppt_y</p:attrName>
                                        </p:attrNameLst>
                                      </p:cBhvr>
                                      <p:tavLst>
                                        <p:tav tm="0">
                                          <p:val>
                                            <p:strVal val="#ppt_y+.03"/>
                                          </p:val>
                                        </p:tav>
                                        <p:tav tm="100000">
                                          <p:val>
                                            <p:strVal val="#ppt_y"/>
                                          </p:val>
                                        </p:tav>
                                      </p:tavLst>
                                    </p:anim>
                                  </p:childTnLst>
                                </p:cTn>
                              </p:par>
                              <p:par>
                                <p:cTn id="55" presetID="53" presetClass="entr" presetSubtype="16" fill="hold" grpId="0" nodeType="withEffect">
                                  <p:stCondLst>
                                    <p:cond delay="16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450" decel="100000" fill="hold"/>
                                        <p:tgtEl>
                                          <p:spTgt spid="9"/>
                                        </p:tgtEl>
                                        <p:attrNameLst>
                                          <p:attrName>ppt_w</p:attrName>
                                        </p:attrNameLst>
                                      </p:cBhvr>
                                      <p:tavLst>
                                        <p:tav tm="0">
                                          <p:val>
                                            <p:strVal val="0"/>
                                          </p:val>
                                        </p:tav>
                                        <p:tav tm="100000">
                                          <p:val>
                                            <p:strVal val="#ppt_w"/>
                                          </p:val>
                                        </p:tav>
                                      </p:tavLst>
                                    </p:anim>
                                    <p:anim calcmode="lin" valueType="num">
                                      <p:cBhvr additive="base">
                                        <p:cTn id="58" dur="450" decel="100000" fill="hold"/>
                                        <p:tgtEl>
                                          <p:spTgt spid="9"/>
                                        </p:tgtEl>
                                        <p:attrNameLst>
                                          <p:attrName>ppt_h</p:attrName>
                                        </p:attrNameLst>
                                      </p:cBhvr>
                                      <p:tavLst>
                                        <p:tav tm="0">
                                          <p:val>
                                            <p:strVal val="0"/>
                                          </p:val>
                                        </p:tav>
                                        <p:tav tm="100000">
                                          <p:val>
                                            <p:strVal val="#ppt_h"/>
                                          </p:val>
                                        </p:tav>
                                      </p:tavLst>
                                    </p:anim>
                                    <p:animEffect transition="in" filter="fade">
                                      <p:cBhvr>
                                        <p:cTn id="59" dur="450"/>
                                        <p:tgtEl>
                                          <p:spTgt spid="9"/>
                                        </p:tgtEl>
                                      </p:cBhvr>
                                    </p:animEffect>
                                  </p:childTnLst>
                                </p:cTn>
                              </p:par>
                              <p:par>
                                <p:cTn id="60" presetID="53" presetClass="entr" presetSubtype="16" fill="hold" grpId="0" nodeType="withEffect">
                                  <p:stCondLst>
                                    <p:cond delay="26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450" decel="100000" fill="hold"/>
                                        <p:tgtEl>
                                          <p:spTgt spid="10"/>
                                        </p:tgtEl>
                                        <p:attrNameLst>
                                          <p:attrName>ppt_w</p:attrName>
                                        </p:attrNameLst>
                                      </p:cBhvr>
                                      <p:tavLst>
                                        <p:tav tm="0">
                                          <p:val>
                                            <p:strVal val="0"/>
                                          </p:val>
                                        </p:tav>
                                        <p:tav tm="100000">
                                          <p:val>
                                            <p:strVal val="#ppt_w"/>
                                          </p:val>
                                        </p:tav>
                                      </p:tavLst>
                                    </p:anim>
                                    <p:anim calcmode="lin" valueType="num">
                                      <p:cBhvr additive="base">
                                        <p:cTn id="63" dur="450" decel="100000" fill="hold"/>
                                        <p:tgtEl>
                                          <p:spTgt spid="10"/>
                                        </p:tgtEl>
                                        <p:attrNameLst>
                                          <p:attrName>ppt_h</p:attrName>
                                        </p:attrNameLst>
                                      </p:cBhvr>
                                      <p:tavLst>
                                        <p:tav tm="0">
                                          <p:val>
                                            <p:strVal val="0"/>
                                          </p:val>
                                        </p:tav>
                                        <p:tav tm="100000">
                                          <p:val>
                                            <p:strVal val="#ppt_h"/>
                                          </p:val>
                                        </p:tav>
                                      </p:tavLst>
                                    </p:anim>
                                    <p:animEffect transition="in" filter="fade">
                                      <p:cBhvr>
                                        <p:cTn id="64" dur="450"/>
                                        <p:tgtEl>
                                          <p:spTgt spid="10"/>
                                        </p:tgtEl>
                                      </p:cBhvr>
                                    </p:animEffect>
                                  </p:childTnLst>
                                </p:cTn>
                              </p:par>
                              <p:par>
                                <p:cTn id="65" presetID="42" presetClass="entr" presetSubtype="0" fill="hold" grpId="0" nodeType="withEffect">
                                  <p:stCondLst>
                                    <p:cond delay="26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600"/>
                                        <p:tgtEl>
                                          <p:spTgt spid="18"/>
                                        </p:tgtEl>
                                      </p:cBhvr>
                                    </p:animEffect>
                                    <p:anim calcmode="lin" valueType="num">
                                      <p:cBhvr additive="base">
                                        <p:cTn id="6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18"/>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26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2"/>
                                        </p:tgtEl>
                                        <p:attrNameLst>
                                          <p:attrName>ppt_y</p:attrName>
                                        </p:attrNameLst>
                                      </p:cBhvr>
                                      <p:tavLst>
                                        <p:tav tm="0">
                                          <p:val>
                                            <p:strVal val="#ppt_y+.03"/>
                                          </p:val>
                                        </p:tav>
                                        <p:tav tm="100000">
                                          <p:val>
                                            <p:strVal val="#ppt_y"/>
                                          </p:val>
                                        </p:tav>
                                      </p:tavLst>
                                    </p:anim>
                                  </p:childTnLst>
                                </p:cTn>
                              </p:par>
                              <p:par>
                                <p:cTn id="80" presetID="53" presetClass="entr" presetSubtype="16" fill="hold" grpId="0" nodeType="withEffect">
                                  <p:stCondLst>
                                    <p:cond delay="29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450" decel="100000" fill="hold"/>
                                        <p:tgtEl>
                                          <p:spTgt spid="14"/>
                                        </p:tgtEl>
                                        <p:attrNameLst>
                                          <p:attrName>ppt_w</p:attrName>
                                        </p:attrNameLst>
                                      </p:cBhvr>
                                      <p:tavLst>
                                        <p:tav tm="0">
                                          <p:val>
                                            <p:strVal val="0"/>
                                          </p:val>
                                        </p:tav>
                                        <p:tav tm="100000">
                                          <p:val>
                                            <p:strVal val="#ppt_w"/>
                                          </p:val>
                                        </p:tav>
                                      </p:tavLst>
                                    </p:anim>
                                    <p:anim calcmode="lin" valueType="num">
                                      <p:cBhvr additive="base">
                                        <p:cTn id="83" dur="450" decel="100000" fill="hold"/>
                                        <p:tgtEl>
                                          <p:spTgt spid="14"/>
                                        </p:tgtEl>
                                        <p:attrNameLst>
                                          <p:attrName>ppt_h</p:attrName>
                                        </p:attrNameLst>
                                      </p:cBhvr>
                                      <p:tavLst>
                                        <p:tav tm="0">
                                          <p:val>
                                            <p:strVal val="0"/>
                                          </p:val>
                                        </p:tav>
                                        <p:tav tm="100000">
                                          <p:val>
                                            <p:strVal val="#ppt_h"/>
                                          </p:val>
                                        </p:tav>
                                      </p:tavLst>
                                    </p:anim>
                                    <p:animEffect transition="in" filter="fade">
                                      <p:cBhvr>
                                        <p:cTn id="84" dur="450"/>
                                        <p:tgtEl>
                                          <p:spTgt spid="14"/>
                                        </p:tgtEl>
                                      </p:cBhvr>
                                    </p:animEffect>
                                  </p:childTnLst>
                                </p:cTn>
                              </p:par>
                              <p:par>
                                <p:cTn id="85" presetID="53" presetClass="entr" presetSubtype="16" fill="hold" grpId="0" nodeType="withEffect">
                                  <p:stCondLst>
                                    <p:cond delay="390"/>
                                  </p:stCondLst>
                                  <p:childTnLst>
                                    <p:set>
                                      <p:cBhvr>
                                        <p:cTn id="86" dur="1" fill="hold">
                                          <p:stCondLst>
                                            <p:cond delay="0"/>
                                          </p:stCondLst>
                                        </p:cTn>
                                        <p:tgtEl>
                                          <p:spTgt spid="15"/>
                                        </p:tgtEl>
                                        <p:attrNameLst>
                                          <p:attrName>style.visibility</p:attrName>
                                        </p:attrNameLst>
                                      </p:cBhvr>
                                      <p:to>
                                        <p:strVal val="visible"/>
                                      </p:to>
                                    </p:set>
                                    <p:anim calcmode="lin" valueType="num">
                                      <p:cBhvr additive="base">
                                        <p:cTn id="87" dur="450" decel="100000" fill="hold"/>
                                        <p:tgtEl>
                                          <p:spTgt spid="15"/>
                                        </p:tgtEl>
                                        <p:attrNameLst>
                                          <p:attrName>ppt_w</p:attrName>
                                        </p:attrNameLst>
                                      </p:cBhvr>
                                      <p:tavLst>
                                        <p:tav tm="0">
                                          <p:val>
                                            <p:strVal val="0"/>
                                          </p:val>
                                        </p:tav>
                                        <p:tav tm="100000">
                                          <p:val>
                                            <p:strVal val="#ppt_w"/>
                                          </p:val>
                                        </p:tav>
                                      </p:tavLst>
                                    </p:anim>
                                    <p:anim calcmode="lin" valueType="num">
                                      <p:cBhvr additive="base">
                                        <p:cTn id="88" dur="450" decel="100000" fill="hold"/>
                                        <p:tgtEl>
                                          <p:spTgt spid="15"/>
                                        </p:tgtEl>
                                        <p:attrNameLst>
                                          <p:attrName>ppt_h</p:attrName>
                                        </p:attrNameLst>
                                      </p:cBhvr>
                                      <p:tavLst>
                                        <p:tav tm="0">
                                          <p:val>
                                            <p:strVal val="0"/>
                                          </p:val>
                                        </p:tav>
                                        <p:tav tm="100000">
                                          <p:val>
                                            <p:strVal val="#ppt_h"/>
                                          </p:val>
                                        </p:tav>
                                      </p:tavLst>
                                    </p:anim>
                                    <p:animEffect transition="in" filter="fade">
                                      <p:cBhvr>
                                        <p:cTn id="89" dur="450"/>
                                        <p:tgtEl>
                                          <p:spTgt spid="15"/>
                                        </p:tgtEl>
                                      </p:cBhvr>
                                    </p:animEffect>
                                  </p:childTnLst>
                                </p:cTn>
                              </p:par>
                              <p:par>
                                <p:cTn id="90" presetID="53" presetClass="entr" presetSubtype="16" fill="hold" grpId="0" nodeType="withEffect">
                                  <p:stCondLst>
                                    <p:cond delay="420"/>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450" decel="100000" fill="hold"/>
                                        <p:tgtEl>
                                          <p:spTgt spid="19"/>
                                        </p:tgtEl>
                                        <p:attrNameLst>
                                          <p:attrName>ppt_w</p:attrName>
                                        </p:attrNameLst>
                                      </p:cBhvr>
                                      <p:tavLst>
                                        <p:tav tm="0">
                                          <p:val>
                                            <p:strVal val="0"/>
                                          </p:val>
                                        </p:tav>
                                        <p:tav tm="100000">
                                          <p:val>
                                            <p:strVal val="#ppt_w"/>
                                          </p:val>
                                        </p:tav>
                                      </p:tavLst>
                                    </p:anim>
                                    <p:anim calcmode="lin" valueType="num">
                                      <p:cBhvr additive="base">
                                        <p:cTn id="93" dur="450" decel="100000" fill="hold"/>
                                        <p:tgtEl>
                                          <p:spTgt spid="19"/>
                                        </p:tgtEl>
                                        <p:attrNameLst>
                                          <p:attrName>ppt_h</p:attrName>
                                        </p:attrNameLst>
                                      </p:cBhvr>
                                      <p:tavLst>
                                        <p:tav tm="0">
                                          <p:val>
                                            <p:strVal val="0"/>
                                          </p:val>
                                        </p:tav>
                                        <p:tav tm="100000">
                                          <p:val>
                                            <p:strVal val="#ppt_h"/>
                                          </p:val>
                                        </p:tav>
                                      </p:tavLst>
                                    </p:anim>
                                    <p:animEffect transition="in" filter="fade">
                                      <p:cBhvr>
                                        <p:cTn id="94" dur="450"/>
                                        <p:tgtEl>
                                          <p:spTgt spid="19"/>
                                        </p:tgtEl>
                                      </p:cBhvr>
                                    </p:animEffect>
                                  </p:childTnLst>
                                </p:cTn>
                              </p:par>
                              <p:par>
                                <p:cTn id="95" presetID="53" presetClass="entr" presetSubtype="16" fill="hold" grpId="0" nodeType="withEffect">
                                  <p:stCondLst>
                                    <p:cond delay="520"/>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450" decel="100000" fill="hold"/>
                                        <p:tgtEl>
                                          <p:spTgt spid="20"/>
                                        </p:tgtEl>
                                        <p:attrNameLst>
                                          <p:attrName>ppt_w</p:attrName>
                                        </p:attrNameLst>
                                      </p:cBhvr>
                                      <p:tavLst>
                                        <p:tav tm="0">
                                          <p:val>
                                            <p:strVal val="0"/>
                                          </p:val>
                                        </p:tav>
                                        <p:tav tm="100000">
                                          <p:val>
                                            <p:strVal val="#ppt_w"/>
                                          </p:val>
                                        </p:tav>
                                      </p:tavLst>
                                    </p:anim>
                                    <p:anim calcmode="lin" valueType="num">
                                      <p:cBhvr additive="base">
                                        <p:cTn id="98" dur="450" decel="100000" fill="hold"/>
                                        <p:tgtEl>
                                          <p:spTgt spid="20"/>
                                        </p:tgtEl>
                                        <p:attrNameLst>
                                          <p:attrName>ppt_h</p:attrName>
                                        </p:attrNameLst>
                                      </p:cBhvr>
                                      <p:tavLst>
                                        <p:tav tm="0">
                                          <p:val>
                                            <p:strVal val="0"/>
                                          </p:val>
                                        </p:tav>
                                        <p:tav tm="100000">
                                          <p:val>
                                            <p:strVal val="#ppt_h"/>
                                          </p:val>
                                        </p:tav>
                                      </p:tavLst>
                                    </p:anim>
                                    <p:animEffect transition="in" filter="fade">
                                      <p:cBhvr>
                                        <p:cTn id="9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01  |  التعريف بالمشروع</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موقع مركز البيانات</a:t>
            </a:r>
            <a:endParaRPr lang="en-US" sz="3000" dirty="0"/>
          </a:p>
        </p:txBody>
      </p:sp>
      <p:sp>
        <p:nvSpPr>
          <p:cNvPr id="4" name="anim4_0"/>
          <p:cNvSpPr/>
          <p:nvPr/>
        </p:nvSpPr>
        <p:spPr>
          <a:xfrm>
            <a:off x="4602175" y="1554480"/>
            <a:ext cx="7040880" cy="4346917"/>
          </a:xfrm>
          <a:prstGeom prst="roundRect">
            <a:avLst>
              <a:gd name="adj" fmla="val 2104"/>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pic>
        <p:nvPicPr>
          <p:cNvPr id="5" name="anim4_1" descr="شكل (2) يوضح موقع مركز البيانات بشركة الجيل الجديد للتقنية">    </p:cNvPr>
          <p:cNvPicPr>
            <a:picLocks noChangeAspect="1"/>
          </p:cNvPicPr>
          <p:nvPr/>
        </p:nvPicPr>
        <p:blipFill>
          <a:blip r:embed="rId1"/>
          <a:stretch>
            <a:fillRect/>
          </a:stretch>
        </p:blipFill>
        <p:spPr>
          <a:xfrm>
            <a:off x="4739335" y="1691640"/>
            <a:ext cx="6766560" cy="4072597"/>
          </a:xfrm>
          <a:prstGeom prst="rect">
            <a:avLst/>
          </a:prstGeom>
        </p:spPr>
      </p:pic>
      <p:sp>
        <p:nvSpPr>
          <p:cNvPr id="6" name="anim4_2"/>
          <p:cNvSpPr txBox="1"/>
          <p:nvPr/>
        </p:nvSpPr>
        <p:spPr>
          <a:xfrm>
            <a:off x="4602175" y="5992837"/>
            <a:ext cx="7040880" cy="365760"/>
          </a:xfrm>
          <a:prstGeom prst="rect">
            <a:avLst/>
          </a:prstGeom>
          <a:noFill/>
          <a:ln/>
        </p:spPr>
        <p:txBody>
          <a:bodyPr wrap="square" lIns="0" tIns="0" rIns="0" bIns="0" rtlCol="0" anchor="t"/>
          <a:lstStyle/>
          <a:p>
            <a:pPr rtl="1" algn="ctr" indent="0" marL="0">
              <a:buNone/>
            </a:pPr>
            <a:r>
              <a:rPr lang="ar-SA" altLang="en-US" sz="1500" b="1" dirty="0">
                <a:solidFill>
                  <a:srgbClr val="06305C"/>
                </a:solidFill>
                <a:latin typeface="JF Flat" pitchFamily="34" charset="0"/>
                <a:ea typeface="JF Flat" pitchFamily="34" charset="-122"/>
                <a:cs typeface="JF Flat" pitchFamily="34" charset="-120"/>
              </a:rPr>
              <a:t>شكل (2) يوضح موقع مركز البيانات بشركة الجيل الجديد للتقنية</a:t>
            </a:r>
            <a:endParaRPr lang="ar-SA" sz="1500" dirty="0"/>
          </a:p>
        </p:txBody>
      </p:sp>
      <p:sp>
        <p:nvSpPr>
          <p:cNvPr id="7" name="anim4_3"/>
          <p:cNvSpPr/>
          <p:nvPr/>
        </p:nvSpPr>
        <p:spPr>
          <a:xfrm>
            <a:off x="548640" y="1554480"/>
            <a:ext cx="3779215" cy="786384"/>
          </a:xfrm>
          <a:prstGeom prst="roundRect">
            <a:avLst>
              <a:gd name="adj" fmla="val 11628"/>
            </a:avLst>
          </a:prstGeom>
          <a:solidFill>
            <a:srgbClr val="06305C"/>
          </a:solidFill>
          <a:ln w="9525">
            <a:solidFill>
              <a:srgbClr val="06305C"/>
            </a:solidFill>
            <a:prstDash val="solid"/>
          </a:ln>
          <a:effectLst>
            <a:outerShdw sx="100000" sy="100000" kx="0" ky="0" algn="bl" rotWithShape="0" blurRad="127000" dist="38100" dir="5400000">
              <a:srgbClr val="1F3A5F">
                <a:alpha val="13000"/>
              </a:srgbClr>
            </a:outerShdw>
          </a:effectLst>
        </p:spPr>
      </p:sp>
      <p:sp>
        <p:nvSpPr>
          <p:cNvPr id="8" name="anim4_4"/>
          <p:cNvSpPr/>
          <p:nvPr/>
        </p:nvSpPr>
        <p:spPr>
          <a:xfrm>
            <a:off x="3687775" y="1709928"/>
            <a:ext cx="475488" cy="475488"/>
          </a:xfrm>
          <a:prstGeom prst="ellipse">
            <a:avLst/>
          </a:prstGeom>
          <a:solidFill>
            <a:srgbClr val="F15524"/>
          </a:solidFill>
          <a:ln w="12700">
            <a:solidFill>
              <a:srgbClr val="F15524"/>
            </a:solidFill>
            <a:prstDash val="solid"/>
          </a:ln>
        </p:spPr>
      </p:sp>
      <p:pic>
        <p:nvPicPr>
          <p:cNvPr id="9" name="anim4_5" descr="preencoded.png">    </p:cNvPr>
          <p:cNvPicPr>
            <a:picLocks noChangeAspect="1"/>
          </p:cNvPicPr>
          <p:nvPr/>
        </p:nvPicPr>
        <p:blipFill>
          <a:blip r:embed="rId2"/>
          <a:stretch>
            <a:fillRect/>
          </a:stretch>
        </p:blipFill>
        <p:spPr>
          <a:xfrm>
            <a:off x="3816157" y="1838310"/>
            <a:ext cx="218724" cy="218724"/>
          </a:xfrm>
          <a:prstGeom prst="rect">
            <a:avLst/>
          </a:prstGeom>
        </p:spPr>
      </p:pic>
      <p:sp>
        <p:nvSpPr>
          <p:cNvPr id="10" name="anim4_6"/>
          <p:cNvSpPr txBox="1"/>
          <p:nvPr/>
        </p:nvSpPr>
        <p:spPr>
          <a:xfrm>
            <a:off x="685800" y="1627632"/>
            <a:ext cx="2910535" cy="292608"/>
          </a:xfrm>
          <a:prstGeom prst="rect">
            <a:avLst/>
          </a:prstGeom>
          <a:noFill/>
          <a:ln/>
        </p:spPr>
        <p:txBody>
          <a:bodyPr wrap="square" lIns="0" tIns="0" rIns="0" bIns="0" rtlCol="0" anchor="t"/>
          <a:lstStyle/>
          <a:p>
            <a:pPr rtl="1" algn="r" indent="0" marL="0">
              <a:buNone/>
            </a:pPr>
            <a:r>
              <a:rPr lang="ar-SA" altLang="en-US" sz="1200" b="1" dirty="0">
                <a:solidFill>
                  <a:srgbClr val="C9DAEE"/>
                </a:solidFill>
                <a:latin typeface="JF Flat" pitchFamily="34" charset="0"/>
                <a:ea typeface="JF Flat" pitchFamily="34" charset="-122"/>
                <a:cs typeface="JF Flat" pitchFamily="34" charset="-120"/>
              </a:rPr>
              <a:t>مساحة الموقع</a:t>
            </a:r>
            <a:endParaRPr lang="ar-SA" sz="1200" dirty="0"/>
          </a:p>
        </p:txBody>
      </p:sp>
      <p:sp>
        <p:nvSpPr>
          <p:cNvPr id="11" name="anim4_7"/>
          <p:cNvSpPr txBox="1"/>
          <p:nvPr/>
        </p:nvSpPr>
        <p:spPr>
          <a:xfrm>
            <a:off x="685800" y="1920240"/>
            <a:ext cx="2910535" cy="36576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JF Flat" pitchFamily="34" charset="0"/>
                <a:ea typeface="JF Flat" pitchFamily="34" charset="-122"/>
                <a:cs typeface="JF Flat" pitchFamily="34" charset="-120"/>
              </a:rPr>
              <a:t>50 × 70 متر</a:t>
            </a:r>
            <a:endParaRPr lang="ar-SA" sz="1800" dirty="0"/>
          </a:p>
        </p:txBody>
      </p:sp>
      <p:sp>
        <p:nvSpPr>
          <p:cNvPr id="12" name="anim4_8"/>
          <p:cNvSpPr/>
          <p:nvPr/>
        </p:nvSpPr>
        <p:spPr>
          <a:xfrm>
            <a:off x="548640" y="2450592"/>
            <a:ext cx="3779215" cy="786384"/>
          </a:xfrm>
          <a:prstGeom prst="roundRect">
            <a:avLst>
              <a:gd name="adj" fmla="val 1162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3" name="anim4_9"/>
          <p:cNvSpPr/>
          <p:nvPr/>
        </p:nvSpPr>
        <p:spPr>
          <a:xfrm>
            <a:off x="3687775" y="2606040"/>
            <a:ext cx="475488" cy="475488"/>
          </a:xfrm>
          <a:prstGeom prst="ellipse">
            <a:avLst/>
          </a:prstGeom>
          <a:solidFill>
            <a:srgbClr val="F15524"/>
          </a:solidFill>
          <a:ln w="12700">
            <a:solidFill>
              <a:srgbClr val="F15524"/>
            </a:solidFill>
            <a:prstDash val="solid"/>
          </a:ln>
        </p:spPr>
      </p:sp>
      <p:pic>
        <p:nvPicPr>
          <p:cNvPr id="14" name="anim4_10" descr="preencoded.png">    </p:cNvPr>
          <p:cNvPicPr>
            <a:picLocks noChangeAspect="1"/>
          </p:cNvPicPr>
          <p:nvPr/>
        </p:nvPicPr>
        <p:blipFill>
          <a:blip r:embed="rId3"/>
          <a:stretch>
            <a:fillRect/>
          </a:stretch>
        </p:blipFill>
        <p:spPr>
          <a:xfrm>
            <a:off x="3816157" y="2734422"/>
            <a:ext cx="218724" cy="218724"/>
          </a:xfrm>
          <a:prstGeom prst="rect">
            <a:avLst/>
          </a:prstGeom>
        </p:spPr>
      </p:pic>
      <p:sp>
        <p:nvSpPr>
          <p:cNvPr id="15" name="anim4_11"/>
          <p:cNvSpPr txBox="1"/>
          <p:nvPr/>
        </p:nvSpPr>
        <p:spPr>
          <a:xfrm>
            <a:off x="685800" y="2523744"/>
            <a:ext cx="2910535" cy="292608"/>
          </a:xfrm>
          <a:prstGeom prst="rect">
            <a:avLst/>
          </a:prstGeom>
          <a:noFill/>
          <a:ln/>
        </p:spPr>
        <p:txBody>
          <a:bodyPr wrap="square" lIns="0" tIns="0" rIns="0" bIns="0" rtlCol="0" anchor="t"/>
          <a:lstStyle/>
          <a:p>
            <a:pPr rtl="1" algn="r" indent="0" marL="0">
              <a:buNone/>
            </a:pPr>
            <a:r>
              <a:rPr lang="ar-SA" altLang="en-US" sz="1200" b="1" dirty="0">
                <a:solidFill>
                  <a:srgbClr val="5B6B7F"/>
                </a:solidFill>
                <a:latin typeface="JF Flat" pitchFamily="34" charset="0"/>
                <a:ea typeface="JF Flat" pitchFamily="34" charset="-122"/>
                <a:cs typeface="JF Flat" pitchFamily="34" charset="-120"/>
              </a:rPr>
              <a:t>المولدات</a:t>
            </a:r>
            <a:endParaRPr lang="ar-SA" sz="1200" dirty="0"/>
          </a:p>
        </p:txBody>
      </p:sp>
      <p:sp>
        <p:nvSpPr>
          <p:cNvPr id="16" name="anim4_12"/>
          <p:cNvSpPr txBox="1"/>
          <p:nvPr/>
        </p:nvSpPr>
        <p:spPr>
          <a:xfrm>
            <a:off x="685800" y="2816352"/>
            <a:ext cx="2910535" cy="36576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4 مولدات (Gen 1 – Gen 4) حول المبنى</a:t>
            </a:r>
            <a:endParaRPr lang="ar-SA" sz="1300" dirty="0"/>
          </a:p>
        </p:txBody>
      </p:sp>
      <p:sp>
        <p:nvSpPr>
          <p:cNvPr id="17" name="anim4_13"/>
          <p:cNvSpPr/>
          <p:nvPr/>
        </p:nvSpPr>
        <p:spPr>
          <a:xfrm>
            <a:off x="548640" y="3346704"/>
            <a:ext cx="3779215" cy="786384"/>
          </a:xfrm>
          <a:prstGeom prst="roundRect">
            <a:avLst>
              <a:gd name="adj" fmla="val 1162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8" name="anim4_14"/>
          <p:cNvSpPr/>
          <p:nvPr/>
        </p:nvSpPr>
        <p:spPr>
          <a:xfrm>
            <a:off x="3687775" y="3502152"/>
            <a:ext cx="475488" cy="475488"/>
          </a:xfrm>
          <a:prstGeom prst="ellipse">
            <a:avLst/>
          </a:prstGeom>
          <a:solidFill>
            <a:srgbClr val="00539B"/>
          </a:solidFill>
          <a:ln w="12700">
            <a:solidFill>
              <a:srgbClr val="00539B"/>
            </a:solidFill>
            <a:prstDash val="solid"/>
          </a:ln>
        </p:spPr>
      </p:sp>
      <p:pic>
        <p:nvPicPr>
          <p:cNvPr id="19" name="anim4_15" descr="preencoded.png">    </p:cNvPr>
          <p:cNvPicPr>
            <a:picLocks noChangeAspect="1"/>
          </p:cNvPicPr>
          <p:nvPr/>
        </p:nvPicPr>
        <p:blipFill>
          <a:blip r:embed="rId4"/>
          <a:stretch>
            <a:fillRect/>
          </a:stretch>
        </p:blipFill>
        <p:spPr>
          <a:xfrm>
            <a:off x="3816157" y="3630534"/>
            <a:ext cx="218724" cy="218724"/>
          </a:xfrm>
          <a:prstGeom prst="rect">
            <a:avLst/>
          </a:prstGeom>
        </p:spPr>
      </p:pic>
      <p:sp>
        <p:nvSpPr>
          <p:cNvPr id="20" name="anim4_16"/>
          <p:cNvSpPr txBox="1"/>
          <p:nvPr/>
        </p:nvSpPr>
        <p:spPr>
          <a:xfrm>
            <a:off x="685800" y="3419856"/>
            <a:ext cx="2910535" cy="292608"/>
          </a:xfrm>
          <a:prstGeom prst="rect">
            <a:avLst/>
          </a:prstGeom>
          <a:noFill/>
          <a:ln/>
        </p:spPr>
        <p:txBody>
          <a:bodyPr wrap="square" lIns="0" tIns="0" rIns="0" bIns="0" rtlCol="0" anchor="t"/>
          <a:lstStyle/>
          <a:p>
            <a:pPr rtl="1" algn="r" indent="0" marL="0">
              <a:buNone/>
            </a:pPr>
            <a:r>
              <a:rPr lang="ar-SA" altLang="en-US" sz="1200" b="1" dirty="0">
                <a:solidFill>
                  <a:srgbClr val="5B6B7F"/>
                </a:solidFill>
                <a:latin typeface="JF Flat" pitchFamily="34" charset="0"/>
                <a:ea typeface="JF Flat" pitchFamily="34" charset="-122"/>
                <a:cs typeface="JF Flat" pitchFamily="34" charset="-120"/>
              </a:rPr>
              <a:t>التبريد</a:t>
            </a:r>
            <a:endParaRPr lang="ar-SA" sz="1200" dirty="0"/>
          </a:p>
        </p:txBody>
      </p:sp>
      <p:sp>
        <p:nvSpPr>
          <p:cNvPr id="21" name="anim4_17"/>
          <p:cNvSpPr txBox="1"/>
          <p:nvPr/>
        </p:nvSpPr>
        <p:spPr>
          <a:xfrm>
            <a:off x="685800" y="3712464"/>
            <a:ext cx="2910535" cy="36576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منطقة مخصصة لأنظمة التبريد</a:t>
            </a:r>
            <a:endParaRPr lang="ar-SA" sz="1300" dirty="0"/>
          </a:p>
        </p:txBody>
      </p:sp>
      <p:sp>
        <p:nvSpPr>
          <p:cNvPr id="22" name="anim4_18"/>
          <p:cNvSpPr/>
          <p:nvPr/>
        </p:nvSpPr>
        <p:spPr>
          <a:xfrm>
            <a:off x="548640" y="4242816"/>
            <a:ext cx="3779215" cy="786384"/>
          </a:xfrm>
          <a:prstGeom prst="roundRect">
            <a:avLst>
              <a:gd name="adj" fmla="val 1162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3" name="anim4_19"/>
          <p:cNvSpPr/>
          <p:nvPr/>
        </p:nvSpPr>
        <p:spPr>
          <a:xfrm>
            <a:off x="3687775" y="4398264"/>
            <a:ext cx="475488" cy="475488"/>
          </a:xfrm>
          <a:prstGeom prst="ellipse">
            <a:avLst/>
          </a:prstGeom>
          <a:solidFill>
            <a:srgbClr val="F15524"/>
          </a:solidFill>
          <a:ln w="12700">
            <a:solidFill>
              <a:srgbClr val="F15524"/>
            </a:solidFill>
            <a:prstDash val="solid"/>
          </a:ln>
        </p:spPr>
      </p:sp>
      <p:pic>
        <p:nvPicPr>
          <p:cNvPr id="24" name="anim4_20" descr="preencoded.png">    </p:cNvPr>
          <p:cNvPicPr>
            <a:picLocks noChangeAspect="1"/>
          </p:cNvPicPr>
          <p:nvPr/>
        </p:nvPicPr>
        <p:blipFill>
          <a:blip r:embed="rId5"/>
          <a:stretch>
            <a:fillRect/>
          </a:stretch>
        </p:blipFill>
        <p:spPr>
          <a:xfrm>
            <a:off x="3816157" y="4526646"/>
            <a:ext cx="218724" cy="218724"/>
          </a:xfrm>
          <a:prstGeom prst="rect">
            <a:avLst/>
          </a:prstGeom>
        </p:spPr>
      </p:pic>
      <p:sp>
        <p:nvSpPr>
          <p:cNvPr id="25" name="anim4_21"/>
          <p:cNvSpPr txBox="1"/>
          <p:nvPr/>
        </p:nvSpPr>
        <p:spPr>
          <a:xfrm>
            <a:off x="685800" y="4315968"/>
            <a:ext cx="2910535" cy="292608"/>
          </a:xfrm>
          <a:prstGeom prst="rect">
            <a:avLst/>
          </a:prstGeom>
          <a:noFill/>
          <a:ln/>
        </p:spPr>
        <p:txBody>
          <a:bodyPr wrap="square" lIns="0" tIns="0" rIns="0" bIns="0" rtlCol="0" anchor="t"/>
          <a:lstStyle/>
          <a:p>
            <a:pPr rtl="1" algn="r" indent="0" marL="0">
              <a:buNone/>
            </a:pPr>
            <a:r>
              <a:rPr lang="ar-SA" altLang="en-US" sz="1200" b="1" dirty="0">
                <a:solidFill>
                  <a:srgbClr val="5B6B7F"/>
                </a:solidFill>
                <a:latin typeface="JF Flat" pitchFamily="34" charset="0"/>
                <a:ea typeface="JF Flat" pitchFamily="34" charset="-122"/>
                <a:cs typeface="JF Flat" pitchFamily="34" charset="-120"/>
              </a:rPr>
              <a:t>مداخل الموقع</a:t>
            </a:r>
            <a:endParaRPr lang="ar-SA" sz="1200" dirty="0"/>
          </a:p>
        </p:txBody>
      </p:sp>
      <p:sp>
        <p:nvSpPr>
          <p:cNvPr id="26" name="anim4_22"/>
          <p:cNvSpPr txBox="1"/>
          <p:nvPr/>
        </p:nvSpPr>
        <p:spPr>
          <a:xfrm>
            <a:off x="685800" y="4608576"/>
            <a:ext cx="2910535" cy="36576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مدخل لوجستي، ومدخل مستقل للأفراد</a:t>
            </a:r>
            <a:endParaRPr lang="ar-SA" sz="1300" dirty="0"/>
          </a:p>
        </p:txBody>
      </p:sp>
      <p:sp>
        <p:nvSpPr>
          <p:cNvPr id="27" name="anim4_23"/>
          <p:cNvSpPr/>
          <p:nvPr/>
        </p:nvSpPr>
        <p:spPr>
          <a:xfrm>
            <a:off x="548640" y="5138928"/>
            <a:ext cx="3779215" cy="786384"/>
          </a:xfrm>
          <a:prstGeom prst="roundRect">
            <a:avLst>
              <a:gd name="adj" fmla="val 1162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8" name="anim4_24"/>
          <p:cNvSpPr/>
          <p:nvPr/>
        </p:nvSpPr>
        <p:spPr>
          <a:xfrm>
            <a:off x="3687775" y="5294376"/>
            <a:ext cx="475488" cy="475488"/>
          </a:xfrm>
          <a:prstGeom prst="ellipse">
            <a:avLst/>
          </a:prstGeom>
          <a:solidFill>
            <a:srgbClr val="00539B"/>
          </a:solidFill>
          <a:ln w="12700">
            <a:solidFill>
              <a:srgbClr val="00539B"/>
            </a:solidFill>
            <a:prstDash val="solid"/>
          </a:ln>
        </p:spPr>
      </p:sp>
      <p:pic>
        <p:nvPicPr>
          <p:cNvPr id="29" name="anim4_25" descr="preencoded.png">    </p:cNvPr>
          <p:cNvPicPr>
            <a:picLocks noChangeAspect="1"/>
          </p:cNvPicPr>
          <p:nvPr/>
        </p:nvPicPr>
        <p:blipFill>
          <a:blip r:embed="rId6"/>
          <a:stretch>
            <a:fillRect/>
          </a:stretch>
        </p:blipFill>
        <p:spPr>
          <a:xfrm>
            <a:off x="3816157" y="5422758"/>
            <a:ext cx="218724" cy="218724"/>
          </a:xfrm>
          <a:prstGeom prst="rect">
            <a:avLst/>
          </a:prstGeom>
        </p:spPr>
      </p:pic>
      <p:sp>
        <p:nvSpPr>
          <p:cNvPr id="30" name="anim4_26"/>
          <p:cNvSpPr txBox="1"/>
          <p:nvPr/>
        </p:nvSpPr>
        <p:spPr>
          <a:xfrm>
            <a:off x="685800" y="5212080"/>
            <a:ext cx="2910535" cy="292608"/>
          </a:xfrm>
          <a:prstGeom prst="rect">
            <a:avLst/>
          </a:prstGeom>
          <a:noFill/>
          <a:ln/>
        </p:spPr>
        <p:txBody>
          <a:bodyPr wrap="square" lIns="0" tIns="0" rIns="0" bIns="0" rtlCol="0" anchor="t"/>
          <a:lstStyle/>
          <a:p>
            <a:pPr rtl="1" algn="r" indent="0" marL="0">
              <a:buNone/>
            </a:pPr>
            <a:r>
              <a:rPr lang="ar-SA" altLang="en-US" sz="1200" b="1" dirty="0">
                <a:solidFill>
                  <a:srgbClr val="5B6B7F"/>
                </a:solidFill>
                <a:latin typeface="JF Flat" pitchFamily="34" charset="0"/>
                <a:ea typeface="JF Flat" pitchFamily="34" charset="-122"/>
                <a:cs typeface="JF Flat" pitchFamily="34" charset="-120"/>
              </a:rPr>
              <a:t>الوصول للطابق الأول</a:t>
            </a:r>
            <a:endParaRPr lang="ar-SA" sz="1200" dirty="0"/>
          </a:p>
        </p:txBody>
      </p:sp>
      <p:sp>
        <p:nvSpPr>
          <p:cNvPr id="31" name="anim4_27"/>
          <p:cNvSpPr txBox="1"/>
          <p:nvPr/>
        </p:nvSpPr>
        <p:spPr>
          <a:xfrm>
            <a:off x="685800" y="5504688"/>
            <a:ext cx="2910535" cy="36576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سلّم خارجي للوصول إلى الطابق رقم 1</a:t>
            </a:r>
            <a:endParaRPr lang="ar-SA" sz="13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2"/>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2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26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anim calcmode="lin" valueType="num">
                                      <p:cBhvr additive="base">
                                        <p:cTn id="4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6"/>
                                        </p:tgtEl>
                                        <p:attrNameLst>
                                          <p:attrName>ppt_y</p:attrName>
                                        </p:attrNameLst>
                                      </p:cBhvr>
                                      <p:tavLst>
                                        <p:tav tm="0">
                                          <p:val>
                                            <p:strVal val="#ppt_y+.03"/>
                                          </p:val>
                                        </p:tav>
                                        <p:tav tm="100000">
                                          <p:val>
                                            <p:strVal val="#ppt_y"/>
                                          </p:val>
                                        </p:tav>
                                      </p:tavLst>
                                    </p:anim>
                                  </p:childTnLst>
                                </p:cTn>
                              </p:par>
                              <p:par>
                                <p:cTn id="50" presetID="53" presetClass="entr" presetSubtype="16" fill="hold" grpId="0" nodeType="withEffect">
                                  <p:stCondLst>
                                    <p:cond delay="29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450" decel="100000" fill="hold"/>
                                        <p:tgtEl>
                                          <p:spTgt spid="8"/>
                                        </p:tgtEl>
                                        <p:attrNameLst>
                                          <p:attrName>ppt_w</p:attrName>
                                        </p:attrNameLst>
                                      </p:cBhvr>
                                      <p:tavLst>
                                        <p:tav tm="0">
                                          <p:val>
                                            <p:strVal val="0"/>
                                          </p:val>
                                        </p:tav>
                                        <p:tav tm="100000">
                                          <p:val>
                                            <p:strVal val="#ppt_w"/>
                                          </p:val>
                                        </p:tav>
                                      </p:tavLst>
                                    </p:anim>
                                    <p:anim calcmode="lin" valueType="num">
                                      <p:cBhvr additive="base">
                                        <p:cTn id="53" dur="450" decel="100000" fill="hold"/>
                                        <p:tgtEl>
                                          <p:spTgt spid="8"/>
                                        </p:tgtEl>
                                        <p:attrNameLst>
                                          <p:attrName>ppt_h</p:attrName>
                                        </p:attrNameLst>
                                      </p:cBhvr>
                                      <p:tavLst>
                                        <p:tav tm="0">
                                          <p:val>
                                            <p:strVal val="0"/>
                                          </p:val>
                                        </p:tav>
                                        <p:tav tm="100000">
                                          <p:val>
                                            <p:strVal val="#ppt_h"/>
                                          </p:val>
                                        </p:tav>
                                      </p:tavLst>
                                    </p:anim>
                                    <p:animEffect transition="in" filter="fade">
                                      <p:cBhvr>
                                        <p:cTn id="54" dur="450"/>
                                        <p:tgtEl>
                                          <p:spTgt spid="8"/>
                                        </p:tgtEl>
                                      </p:cBhvr>
                                    </p:animEffect>
                                  </p:childTnLst>
                                </p:cTn>
                              </p:par>
                              <p:par>
                                <p:cTn id="55" presetID="53" presetClass="entr" presetSubtype="16" fill="hold" grpId="0" nodeType="withEffect">
                                  <p:stCondLst>
                                    <p:cond delay="39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450" decel="100000" fill="hold"/>
                                        <p:tgtEl>
                                          <p:spTgt spid="9"/>
                                        </p:tgtEl>
                                        <p:attrNameLst>
                                          <p:attrName>ppt_w</p:attrName>
                                        </p:attrNameLst>
                                      </p:cBhvr>
                                      <p:tavLst>
                                        <p:tav tm="0">
                                          <p:val>
                                            <p:strVal val="0"/>
                                          </p:val>
                                        </p:tav>
                                        <p:tav tm="100000">
                                          <p:val>
                                            <p:strVal val="#ppt_w"/>
                                          </p:val>
                                        </p:tav>
                                      </p:tavLst>
                                    </p:anim>
                                    <p:anim calcmode="lin" valueType="num">
                                      <p:cBhvr additive="base">
                                        <p:cTn id="58" dur="450" decel="100000" fill="hold"/>
                                        <p:tgtEl>
                                          <p:spTgt spid="9"/>
                                        </p:tgtEl>
                                        <p:attrNameLst>
                                          <p:attrName>ppt_h</p:attrName>
                                        </p:attrNameLst>
                                      </p:cBhvr>
                                      <p:tavLst>
                                        <p:tav tm="0">
                                          <p:val>
                                            <p:strVal val="0"/>
                                          </p:val>
                                        </p:tav>
                                        <p:tav tm="100000">
                                          <p:val>
                                            <p:strVal val="#ppt_h"/>
                                          </p:val>
                                        </p:tav>
                                      </p:tavLst>
                                    </p:anim>
                                    <p:animEffect transition="in" filter="fade">
                                      <p:cBhvr>
                                        <p:cTn id="59" dur="450"/>
                                        <p:tgtEl>
                                          <p:spTgt spid="9"/>
                                        </p:tgtEl>
                                      </p:cBhvr>
                                    </p:animEffect>
                                  </p:childTnLst>
                                </p:cTn>
                              </p:par>
                              <p:par>
                                <p:cTn id="60" presetID="42" presetClass="entr" presetSubtype="0" fill="hold" grpId="0" nodeType="withEffect">
                                  <p:stCondLst>
                                    <p:cond delay="39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7"/>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39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3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420"/>
                                  </p:stCondLst>
                                  <p:childTnLst>
                                    <p:set>
                                      <p:cBhvr>
                                        <p:cTn id="76" dur="1" fill="hold">
                                          <p:stCondLst>
                                            <p:cond delay="0"/>
                                          </p:stCondLst>
                                        </p:cTn>
                                        <p:tgtEl>
                                          <p:spTgt spid="13"/>
                                        </p:tgtEl>
                                        <p:attrNameLst>
                                          <p:attrName>style.visibility</p:attrName>
                                        </p:attrNameLst>
                                      </p:cBhvr>
                                      <p:to>
                                        <p:strVal val="visible"/>
                                      </p:to>
                                    </p:set>
                                    <p:anim calcmode="lin" valueType="num">
                                      <p:cBhvr additive="base">
                                        <p:cTn id="77" dur="450" decel="100000" fill="hold"/>
                                        <p:tgtEl>
                                          <p:spTgt spid="13"/>
                                        </p:tgtEl>
                                        <p:attrNameLst>
                                          <p:attrName>ppt_w</p:attrName>
                                        </p:attrNameLst>
                                      </p:cBhvr>
                                      <p:tavLst>
                                        <p:tav tm="0">
                                          <p:val>
                                            <p:strVal val="0"/>
                                          </p:val>
                                        </p:tav>
                                        <p:tav tm="100000">
                                          <p:val>
                                            <p:strVal val="#ppt_w"/>
                                          </p:val>
                                        </p:tav>
                                      </p:tavLst>
                                    </p:anim>
                                    <p:anim calcmode="lin" valueType="num">
                                      <p:cBhvr additive="base">
                                        <p:cTn id="78" dur="450" decel="100000" fill="hold"/>
                                        <p:tgtEl>
                                          <p:spTgt spid="13"/>
                                        </p:tgtEl>
                                        <p:attrNameLst>
                                          <p:attrName>ppt_h</p:attrName>
                                        </p:attrNameLst>
                                      </p:cBhvr>
                                      <p:tavLst>
                                        <p:tav tm="0">
                                          <p:val>
                                            <p:strVal val="0"/>
                                          </p:val>
                                        </p:tav>
                                        <p:tav tm="100000">
                                          <p:val>
                                            <p:strVal val="#ppt_h"/>
                                          </p:val>
                                        </p:tav>
                                      </p:tavLst>
                                    </p:anim>
                                    <p:animEffect transition="in" filter="fade">
                                      <p:cBhvr>
                                        <p:cTn id="79" dur="450"/>
                                        <p:tgtEl>
                                          <p:spTgt spid="13"/>
                                        </p:tgtEl>
                                      </p:cBhvr>
                                    </p:animEffect>
                                  </p:childTnLst>
                                </p:cTn>
                              </p:par>
                              <p:par>
                                <p:cTn id="80" presetID="53" presetClass="entr" presetSubtype="16" fill="hold" grpId="0" nodeType="withEffect">
                                  <p:stCondLst>
                                    <p:cond delay="52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450" decel="100000" fill="hold"/>
                                        <p:tgtEl>
                                          <p:spTgt spid="14"/>
                                        </p:tgtEl>
                                        <p:attrNameLst>
                                          <p:attrName>ppt_w</p:attrName>
                                        </p:attrNameLst>
                                      </p:cBhvr>
                                      <p:tavLst>
                                        <p:tav tm="0">
                                          <p:val>
                                            <p:strVal val="0"/>
                                          </p:val>
                                        </p:tav>
                                        <p:tav tm="100000">
                                          <p:val>
                                            <p:strVal val="#ppt_w"/>
                                          </p:val>
                                        </p:tav>
                                      </p:tavLst>
                                    </p:anim>
                                    <p:anim calcmode="lin" valueType="num">
                                      <p:cBhvr additive="base">
                                        <p:cTn id="83" dur="450" decel="100000" fill="hold"/>
                                        <p:tgtEl>
                                          <p:spTgt spid="14"/>
                                        </p:tgtEl>
                                        <p:attrNameLst>
                                          <p:attrName>ppt_h</p:attrName>
                                        </p:attrNameLst>
                                      </p:cBhvr>
                                      <p:tavLst>
                                        <p:tav tm="0">
                                          <p:val>
                                            <p:strVal val="0"/>
                                          </p:val>
                                        </p:tav>
                                        <p:tav tm="100000">
                                          <p:val>
                                            <p:strVal val="#ppt_h"/>
                                          </p:val>
                                        </p:tav>
                                      </p:tavLst>
                                    </p:anim>
                                    <p:animEffect transition="in" filter="fade">
                                      <p:cBhvr>
                                        <p:cTn id="84" dur="450"/>
                                        <p:tgtEl>
                                          <p:spTgt spid="14"/>
                                        </p:tgtEl>
                                      </p:cBhvr>
                                    </p:animEffect>
                                  </p:childTnLst>
                                </p:cTn>
                              </p:par>
                              <p:par>
                                <p:cTn id="85" presetID="42" presetClass="entr" presetSubtype="0" fill="hold" grpId="0" nodeType="withEffect">
                                  <p:stCondLst>
                                    <p:cond delay="52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52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additive="base">
                                        <p:cTn id="9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5"/>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52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6"/>
                                        </p:tgtEl>
                                        <p:attrNameLst>
                                          <p:attrName>ppt_y</p:attrName>
                                        </p:attrNameLst>
                                      </p:cBhvr>
                                      <p:tavLst>
                                        <p:tav tm="0">
                                          <p:val>
                                            <p:strVal val="#ppt_y+.03"/>
                                          </p:val>
                                        </p:tav>
                                        <p:tav tm="100000">
                                          <p:val>
                                            <p:strVal val="#ppt_y"/>
                                          </p:val>
                                        </p:tav>
                                      </p:tavLst>
                                    </p:anim>
                                  </p:childTnLst>
                                </p:cTn>
                              </p:par>
                              <p:par>
                                <p:cTn id="100" presetID="53" presetClass="entr" presetSubtype="16" fill="hold" grpId="0" nodeType="withEffect">
                                  <p:stCondLst>
                                    <p:cond delay="550"/>
                                  </p:stCondLst>
                                  <p:childTnLst>
                                    <p:set>
                                      <p:cBhvr>
                                        <p:cTn id="101" dur="1" fill="hold">
                                          <p:stCondLst>
                                            <p:cond delay="0"/>
                                          </p:stCondLst>
                                        </p:cTn>
                                        <p:tgtEl>
                                          <p:spTgt spid="18"/>
                                        </p:tgtEl>
                                        <p:attrNameLst>
                                          <p:attrName>style.visibility</p:attrName>
                                        </p:attrNameLst>
                                      </p:cBhvr>
                                      <p:to>
                                        <p:strVal val="visible"/>
                                      </p:to>
                                    </p:set>
                                    <p:anim calcmode="lin" valueType="num">
                                      <p:cBhvr additive="base">
                                        <p:cTn id="102" dur="450" decel="100000" fill="hold"/>
                                        <p:tgtEl>
                                          <p:spTgt spid="18"/>
                                        </p:tgtEl>
                                        <p:attrNameLst>
                                          <p:attrName>ppt_w</p:attrName>
                                        </p:attrNameLst>
                                      </p:cBhvr>
                                      <p:tavLst>
                                        <p:tav tm="0">
                                          <p:val>
                                            <p:strVal val="0"/>
                                          </p:val>
                                        </p:tav>
                                        <p:tav tm="100000">
                                          <p:val>
                                            <p:strVal val="#ppt_w"/>
                                          </p:val>
                                        </p:tav>
                                      </p:tavLst>
                                    </p:anim>
                                    <p:anim calcmode="lin" valueType="num">
                                      <p:cBhvr additive="base">
                                        <p:cTn id="103" dur="450" decel="100000" fill="hold"/>
                                        <p:tgtEl>
                                          <p:spTgt spid="18"/>
                                        </p:tgtEl>
                                        <p:attrNameLst>
                                          <p:attrName>ppt_h</p:attrName>
                                        </p:attrNameLst>
                                      </p:cBhvr>
                                      <p:tavLst>
                                        <p:tav tm="0">
                                          <p:val>
                                            <p:strVal val="0"/>
                                          </p:val>
                                        </p:tav>
                                        <p:tav tm="100000">
                                          <p:val>
                                            <p:strVal val="#ppt_h"/>
                                          </p:val>
                                        </p:tav>
                                      </p:tavLst>
                                    </p:anim>
                                    <p:animEffect transition="in" filter="fade">
                                      <p:cBhvr>
                                        <p:cTn id="104" dur="450"/>
                                        <p:tgtEl>
                                          <p:spTgt spid="18"/>
                                        </p:tgtEl>
                                      </p:cBhvr>
                                    </p:animEffect>
                                  </p:childTnLst>
                                </p:cTn>
                              </p:par>
                              <p:par>
                                <p:cTn id="105" presetID="53" presetClass="entr" presetSubtype="16" fill="hold" grpId="0" nodeType="withEffect">
                                  <p:stCondLst>
                                    <p:cond delay="650"/>
                                  </p:stCondLst>
                                  <p:childTnLst>
                                    <p:set>
                                      <p:cBhvr>
                                        <p:cTn id="106" dur="1" fill="hold">
                                          <p:stCondLst>
                                            <p:cond delay="0"/>
                                          </p:stCondLst>
                                        </p:cTn>
                                        <p:tgtEl>
                                          <p:spTgt spid="19"/>
                                        </p:tgtEl>
                                        <p:attrNameLst>
                                          <p:attrName>style.visibility</p:attrName>
                                        </p:attrNameLst>
                                      </p:cBhvr>
                                      <p:to>
                                        <p:strVal val="visible"/>
                                      </p:to>
                                    </p:set>
                                    <p:anim calcmode="lin" valueType="num">
                                      <p:cBhvr additive="base">
                                        <p:cTn id="107" dur="450" decel="100000" fill="hold"/>
                                        <p:tgtEl>
                                          <p:spTgt spid="19"/>
                                        </p:tgtEl>
                                        <p:attrNameLst>
                                          <p:attrName>ppt_w</p:attrName>
                                        </p:attrNameLst>
                                      </p:cBhvr>
                                      <p:tavLst>
                                        <p:tav tm="0">
                                          <p:val>
                                            <p:strVal val="0"/>
                                          </p:val>
                                        </p:tav>
                                        <p:tav tm="100000">
                                          <p:val>
                                            <p:strVal val="#ppt_w"/>
                                          </p:val>
                                        </p:tav>
                                      </p:tavLst>
                                    </p:anim>
                                    <p:anim calcmode="lin" valueType="num">
                                      <p:cBhvr additive="base">
                                        <p:cTn id="108" dur="450" decel="100000" fill="hold"/>
                                        <p:tgtEl>
                                          <p:spTgt spid="19"/>
                                        </p:tgtEl>
                                        <p:attrNameLst>
                                          <p:attrName>ppt_h</p:attrName>
                                        </p:attrNameLst>
                                      </p:cBhvr>
                                      <p:tavLst>
                                        <p:tav tm="0">
                                          <p:val>
                                            <p:strVal val="0"/>
                                          </p:val>
                                        </p:tav>
                                        <p:tav tm="100000">
                                          <p:val>
                                            <p:strVal val="#ppt_h"/>
                                          </p:val>
                                        </p:tav>
                                      </p:tavLst>
                                    </p:anim>
                                    <p:animEffect transition="in" filter="fade">
                                      <p:cBhvr>
                                        <p:cTn id="109" dur="450"/>
                                        <p:tgtEl>
                                          <p:spTgt spid="19"/>
                                        </p:tgtEl>
                                      </p:cBhvr>
                                    </p:animEffect>
                                  </p:childTnLst>
                                </p:cTn>
                              </p:par>
                              <p:par>
                                <p:cTn id="110" presetID="42" presetClass="entr" presetSubtype="0" fill="hold" grpId="0" nodeType="withEffect">
                                  <p:stCondLst>
                                    <p:cond delay="65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600"/>
                                        <p:tgtEl>
                                          <p:spTgt spid="27"/>
                                        </p:tgtEl>
                                      </p:cBhvr>
                                    </p:animEffect>
                                    <p:anim calcmode="lin" valueType="num">
                                      <p:cBhvr additive="base">
                                        <p:cTn id="11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7"/>
                                        </p:tgtEl>
                                        <p:attrNameLst>
                                          <p:attrName>ppt_y</p:attrName>
                                        </p:attrNameLst>
                                      </p:cBhvr>
                                      <p:tavLst>
                                        <p:tav tm="0">
                                          <p:val>
                                            <p:strVal val="#ppt_y+.03"/>
                                          </p:val>
                                        </p:tav>
                                        <p:tav tm="100000">
                                          <p:val>
                                            <p:strVal val="#ppt_y"/>
                                          </p:val>
                                        </p:tav>
                                      </p:tavLst>
                                    </p:anim>
                                  </p:childTnLst>
                                </p:cTn>
                              </p:par>
                              <p:par>
                                <p:cTn id="115" presetID="42" presetClass="entr" presetSubtype="0" fill="hold" grpId="0" nodeType="withEffect">
                                  <p:stCondLst>
                                    <p:cond delay="65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600"/>
                                        <p:tgtEl>
                                          <p:spTgt spid="30"/>
                                        </p:tgtEl>
                                      </p:cBhvr>
                                    </p:animEffect>
                                    <p:anim calcmode="lin" valueType="num">
                                      <p:cBhvr additive="base">
                                        <p:cTn id="118"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30"/>
                                        </p:tgtEl>
                                        <p:attrNameLst>
                                          <p:attrName>ppt_y</p:attrName>
                                        </p:attrNameLst>
                                      </p:cBhvr>
                                      <p:tavLst>
                                        <p:tav tm="0">
                                          <p:val>
                                            <p:strVal val="#ppt_y+.03"/>
                                          </p:val>
                                        </p:tav>
                                        <p:tav tm="100000">
                                          <p:val>
                                            <p:strVal val="#ppt_y"/>
                                          </p:val>
                                        </p:tav>
                                      </p:tavLst>
                                    </p:anim>
                                  </p:childTnLst>
                                </p:cTn>
                              </p:par>
                              <p:par>
                                <p:cTn id="120" presetID="42" presetClass="entr" presetSubtype="0" fill="hold" grpId="0" nodeType="withEffect">
                                  <p:stCondLst>
                                    <p:cond delay="65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600"/>
                                        <p:tgtEl>
                                          <p:spTgt spid="31"/>
                                        </p:tgtEl>
                                      </p:cBhvr>
                                    </p:animEffect>
                                    <p:anim calcmode="lin" valueType="num">
                                      <p:cBhvr additive="base">
                                        <p:cTn id="123" dur="600" decel="100000" fill="hold"/>
                                        <p:tgtEl>
                                          <p:spTgt spid="31"/>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31"/>
                                        </p:tgtEl>
                                        <p:attrNameLst>
                                          <p:attrName>ppt_y</p:attrName>
                                        </p:attrNameLst>
                                      </p:cBhvr>
                                      <p:tavLst>
                                        <p:tav tm="0">
                                          <p:val>
                                            <p:strVal val="#ppt_y+.03"/>
                                          </p:val>
                                        </p:tav>
                                        <p:tav tm="100000">
                                          <p:val>
                                            <p:strVal val="#ppt_y"/>
                                          </p:val>
                                        </p:tav>
                                      </p:tavLst>
                                    </p:anim>
                                  </p:childTnLst>
                                </p:cTn>
                              </p:par>
                              <p:par>
                                <p:cTn id="125" presetID="53" presetClass="entr" presetSubtype="16" fill="hold" grpId="0" nodeType="withEffect">
                                  <p:stCondLst>
                                    <p:cond delay="680"/>
                                  </p:stCondLst>
                                  <p:childTnLst>
                                    <p:set>
                                      <p:cBhvr>
                                        <p:cTn id="126" dur="1" fill="hold">
                                          <p:stCondLst>
                                            <p:cond delay="0"/>
                                          </p:stCondLst>
                                        </p:cTn>
                                        <p:tgtEl>
                                          <p:spTgt spid="23"/>
                                        </p:tgtEl>
                                        <p:attrNameLst>
                                          <p:attrName>style.visibility</p:attrName>
                                        </p:attrNameLst>
                                      </p:cBhvr>
                                      <p:to>
                                        <p:strVal val="visible"/>
                                      </p:to>
                                    </p:set>
                                    <p:anim calcmode="lin" valueType="num">
                                      <p:cBhvr additive="base">
                                        <p:cTn id="127" dur="450" decel="100000" fill="hold"/>
                                        <p:tgtEl>
                                          <p:spTgt spid="23"/>
                                        </p:tgtEl>
                                        <p:attrNameLst>
                                          <p:attrName>ppt_w</p:attrName>
                                        </p:attrNameLst>
                                      </p:cBhvr>
                                      <p:tavLst>
                                        <p:tav tm="0">
                                          <p:val>
                                            <p:strVal val="0"/>
                                          </p:val>
                                        </p:tav>
                                        <p:tav tm="100000">
                                          <p:val>
                                            <p:strVal val="#ppt_w"/>
                                          </p:val>
                                        </p:tav>
                                      </p:tavLst>
                                    </p:anim>
                                    <p:anim calcmode="lin" valueType="num">
                                      <p:cBhvr additive="base">
                                        <p:cTn id="128" dur="450" decel="100000" fill="hold"/>
                                        <p:tgtEl>
                                          <p:spTgt spid="23"/>
                                        </p:tgtEl>
                                        <p:attrNameLst>
                                          <p:attrName>ppt_h</p:attrName>
                                        </p:attrNameLst>
                                      </p:cBhvr>
                                      <p:tavLst>
                                        <p:tav tm="0">
                                          <p:val>
                                            <p:strVal val="0"/>
                                          </p:val>
                                        </p:tav>
                                        <p:tav tm="100000">
                                          <p:val>
                                            <p:strVal val="#ppt_h"/>
                                          </p:val>
                                        </p:tav>
                                      </p:tavLst>
                                    </p:anim>
                                    <p:animEffect transition="in" filter="fade">
                                      <p:cBhvr>
                                        <p:cTn id="129" dur="450"/>
                                        <p:tgtEl>
                                          <p:spTgt spid="23"/>
                                        </p:tgtEl>
                                      </p:cBhvr>
                                    </p:animEffect>
                                  </p:childTnLst>
                                </p:cTn>
                              </p:par>
                              <p:par>
                                <p:cTn id="130" presetID="53" presetClass="entr" presetSubtype="16" fill="hold" grpId="0" nodeType="withEffect">
                                  <p:stCondLst>
                                    <p:cond delay="780"/>
                                  </p:stCondLst>
                                  <p:childTnLst>
                                    <p:set>
                                      <p:cBhvr>
                                        <p:cTn id="131" dur="1" fill="hold">
                                          <p:stCondLst>
                                            <p:cond delay="0"/>
                                          </p:stCondLst>
                                        </p:cTn>
                                        <p:tgtEl>
                                          <p:spTgt spid="24"/>
                                        </p:tgtEl>
                                        <p:attrNameLst>
                                          <p:attrName>style.visibility</p:attrName>
                                        </p:attrNameLst>
                                      </p:cBhvr>
                                      <p:to>
                                        <p:strVal val="visible"/>
                                      </p:to>
                                    </p:set>
                                    <p:anim calcmode="lin" valueType="num">
                                      <p:cBhvr additive="base">
                                        <p:cTn id="132" dur="450" decel="100000" fill="hold"/>
                                        <p:tgtEl>
                                          <p:spTgt spid="24"/>
                                        </p:tgtEl>
                                        <p:attrNameLst>
                                          <p:attrName>ppt_w</p:attrName>
                                        </p:attrNameLst>
                                      </p:cBhvr>
                                      <p:tavLst>
                                        <p:tav tm="0">
                                          <p:val>
                                            <p:strVal val="0"/>
                                          </p:val>
                                        </p:tav>
                                        <p:tav tm="100000">
                                          <p:val>
                                            <p:strVal val="#ppt_w"/>
                                          </p:val>
                                        </p:tav>
                                      </p:tavLst>
                                    </p:anim>
                                    <p:anim calcmode="lin" valueType="num">
                                      <p:cBhvr additive="base">
                                        <p:cTn id="133" dur="450" decel="100000" fill="hold"/>
                                        <p:tgtEl>
                                          <p:spTgt spid="24"/>
                                        </p:tgtEl>
                                        <p:attrNameLst>
                                          <p:attrName>ppt_h</p:attrName>
                                        </p:attrNameLst>
                                      </p:cBhvr>
                                      <p:tavLst>
                                        <p:tav tm="0">
                                          <p:val>
                                            <p:strVal val="0"/>
                                          </p:val>
                                        </p:tav>
                                        <p:tav tm="100000">
                                          <p:val>
                                            <p:strVal val="#ppt_h"/>
                                          </p:val>
                                        </p:tav>
                                      </p:tavLst>
                                    </p:anim>
                                    <p:animEffect transition="in" filter="fade">
                                      <p:cBhvr>
                                        <p:cTn id="134" dur="450"/>
                                        <p:tgtEl>
                                          <p:spTgt spid="24"/>
                                        </p:tgtEl>
                                      </p:cBhvr>
                                    </p:animEffect>
                                  </p:childTnLst>
                                </p:cTn>
                              </p:par>
                              <p:par>
                                <p:cTn id="135" presetID="53" presetClass="entr" presetSubtype="16" fill="hold" grpId="0" nodeType="withEffect">
                                  <p:stCondLst>
                                    <p:cond delay="810"/>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450" decel="100000" fill="hold"/>
                                        <p:tgtEl>
                                          <p:spTgt spid="28"/>
                                        </p:tgtEl>
                                        <p:attrNameLst>
                                          <p:attrName>ppt_w</p:attrName>
                                        </p:attrNameLst>
                                      </p:cBhvr>
                                      <p:tavLst>
                                        <p:tav tm="0">
                                          <p:val>
                                            <p:strVal val="0"/>
                                          </p:val>
                                        </p:tav>
                                        <p:tav tm="100000">
                                          <p:val>
                                            <p:strVal val="#ppt_w"/>
                                          </p:val>
                                        </p:tav>
                                      </p:tavLst>
                                    </p:anim>
                                    <p:anim calcmode="lin" valueType="num">
                                      <p:cBhvr additive="base">
                                        <p:cTn id="138" dur="450" decel="100000" fill="hold"/>
                                        <p:tgtEl>
                                          <p:spTgt spid="28"/>
                                        </p:tgtEl>
                                        <p:attrNameLst>
                                          <p:attrName>ppt_h</p:attrName>
                                        </p:attrNameLst>
                                      </p:cBhvr>
                                      <p:tavLst>
                                        <p:tav tm="0">
                                          <p:val>
                                            <p:strVal val="0"/>
                                          </p:val>
                                        </p:tav>
                                        <p:tav tm="100000">
                                          <p:val>
                                            <p:strVal val="#ppt_h"/>
                                          </p:val>
                                        </p:tav>
                                      </p:tavLst>
                                    </p:anim>
                                    <p:animEffect transition="in" filter="fade">
                                      <p:cBhvr>
                                        <p:cTn id="139" dur="450"/>
                                        <p:tgtEl>
                                          <p:spTgt spid="28"/>
                                        </p:tgtEl>
                                      </p:cBhvr>
                                    </p:animEffect>
                                  </p:childTnLst>
                                </p:cTn>
                              </p:par>
                              <p:par>
                                <p:cTn id="140" presetID="53" presetClass="entr" presetSubtype="16" fill="hold" grpId="0" nodeType="withEffect">
                                  <p:stCondLst>
                                    <p:cond delay="910"/>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450" decel="100000" fill="hold"/>
                                        <p:tgtEl>
                                          <p:spTgt spid="29"/>
                                        </p:tgtEl>
                                        <p:attrNameLst>
                                          <p:attrName>ppt_w</p:attrName>
                                        </p:attrNameLst>
                                      </p:cBhvr>
                                      <p:tavLst>
                                        <p:tav tm="0">
                                          <p:val>
                                            <p:strVal val="0"/>
                                          </p:val>
                                        </p:tav>
                                        <p:tav tm="100000">
                                          <p:val>
                                            <p:strVal val="#ppt_w"/>
                                          </p:val>
                                        </p:tav>
                                      </p:tavLst>
                                    </p:anim>
                                    <p:anim calcmode="lin" valueType="num">
                                      <p:cBhvr additive="base">
                                        <p:cTn id="143" dur="450" decel="100000" fill="hold"/>
                                        <p:tgtEl>
                                          <p:spTgt spid="29"/>
                                        </p:tgtEl>
                                        <p:attrNameLst>
                                          <p:attrName>ppt_h</p:attrName>
                                        </p:attrNameLst>
                                      </p:cBhvr>
                                      <p:tavLst>
                                        <p:tav tm="0">
                                          <p:val>
                                            <p:strVal val="0"/>
                                          </p:val>
                                        </p:tav>
                                        <p:tav tm="100000">
                                          <p:val>
                                            <p:strVal val="#ppt_h"/>
                                          </p:val>
                                        </p:tav>
                                      </p:tavLst>
                                    </p:anim>
                                    <p:animEffect transition="in" filter="fade">
                                      <p:cBhvr>
                                        <p:cTn id="144"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01  |  التعريف بالمشروع</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أبعاد مركز البيانات</a:t>
            </a:r>
            <a:endParaRPr lang="en-US" sz="3000" dirty="0"/>
          </a:p>
        </p:txBody>
      </p:sp>
      <p:sp>
        <p:nvSpPr>
          <p:cNvPr id="4" name="anim5_0"/>
          <p:cNvSpPr/>
          <p:nvPr/>
        </p:nvSpPr>
        <p:spPr>
          <a:xfrm>
            <a:off x="548640" y="1554480"/>
            <a:ext cx="7863840" cy="4045799"/>
          </a:xfrm>
          <a:prstGeom prst="roundRect">
            <a:avLst>
              <a:gd name="adj" fmla="val 2260"/>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pic>
        <p:nvPicPr>
          <p:cNvPr id="5" name="anim5_1" descr="شكل (3) يوضح أبعاد مركز البيانات">    </p:cNvPr>
          <p:cNvPicPr>
            <a:picLocks noChangeAspect="1"/>
          </p:cNvPicPr>
          <p:nvPr/>
        </p:nvPicPr>
        <p:blipFill>
          <a:blip r:embed="rId1"/>
          <a:stretch>
            <a:fillRect/>
          </a:stretch>
        </p:blipFill>
        <p:spPr>
          <a:xfrm>
            <a:off x="685800" y="1691640"/>
            <a:ext cx="7589520" cy="3771479"/>
          </a:xfrm>
          <a:prstGeom prst="rect">
            <a:avLst/>
          </a:prstGeom>
        </p:spPr>
      </p:pic>
      <p:sp>
        <p:nvSpPr>
          <p:cNvPr id="6" name="anim5_2"/>
          <p:cNvSpPr txBox="1"/>
          <p:nvPr/>
        </p:nvSpPr>
        <p:spPr>
          <a:xfrm>
            <a:off x="548640" y="5737439"/>
            <a:ext cx="7863840" cy="365760"/>
          </a:xfrm>
          <a:prstGeom prst="rect">
            <a:avLst/>
          </a:prstGeom>
          <a:noFill/>
          <a:ln/>
        </p:spPr>
        <p:txBody>
          <a:bodyPr wrap="square" lIns="0" tIns="0" rIns="0" bIns="0" rtlCol="0" anchor="t"/>
          <a:lstStyle/>
          <a:p>
            <a:pPr rtl="1" algn="ctr" indent="0" marL="0">
              <a:buNone/>
            </a:pPr>
            <a:r>
              <a:rPr lang="ar-SA" altLang="en-US" sz="1500" b="1" dirty="0">
                <a:solidFill>
                  <a:srgbClr val="06305C"/>
                </a:solidFill>
                <a:latin typeface="JF Flat" pitchFamily="34" charset="0"/>
                <a:ea typeface="JF Flat" pitchFamily="34" charset="-122"/>
                <a:cs typeface="JF Flat" pitchFamily="34" charset="-120"/>
              </a:rPr>
              <a:t>شكل (3) يوضح أبعاد مركز البيانات</a:t>
            </a:r>
            <a:endParaRPr lang="ar-SA" sz="1500" dirty="0"/>
          </a:p>
        </p:txBody>
      </p:sp>
      <p:sp>
        <p:nvSpPr>
          <p:cNvPr id="7" name="anim5_3"/>
          <p:cNvSpPr/>
          <p:nvPr/>
        </p:nvSpPr>
        <p:spPr>
          <a:xfrm>
            <a:off x="8686800" y="1554480"/>
            <a:ext cx="2956255" cy="1005840"/>
          </a:xfrm>
          <a:prstGeom prst="roundRect">
            <a:avLst>
              <a:gd name="adj" fmla="val 90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8" name="anim5_4"/>
          <p:cNvSpPr/>
          <p:nvPr/>
        </p:nvSpPr>
        <p:spPr>
          <a:xfrm>
            <a:off x="10957255" y="1805940"/>
            <a:ext cx="502920" cy="502920"/>
          </a:xfrm>
          <a:prstGeom prst="ellipse">
            <a:avLst/>
          </a:prstGeom>
          <a:solidFill>
            <a:srgbClr val="00539B"/>
          </a:solidFill>
          <a:ln w="12700">
            <a:solidFill>
              <a:srgbClr val="00539B"/>
            </a:solidFill>
            <a:prstDash val="solid"/>
          </a:ln>
        </p:spPr>
      </p:sp>
      <p:pic>
        <p:nvPicPr>
          <p:cNvPr id="9" name="anim5_5" descr="preencoded.png">    </p:cNvPr>
          <p:cNvPicPr>
            <a:picLocks noChangeAspect="1"/>
          </p:cNvPicPr>
          <p:nvPr/>
        </p:nvPicPr>
        <p:blipFill>
          <a:blip r:embed="rId2"/>
          <a:stretch>
            <a:fillRect/>
          </a:stretch>
        </p:blipFill>
        <p:spPr>
          <a:xfrm>
            <a:off x="11093044" y="1941728"/>
            <a:ext cx="231343" cy="231343"/>
          </a:xfrm>
          <a:prstGeom prst="rect">
            <a:avLst/>
          </a:prstGeom>
        </p:spPr>
      </p:pic>
      <p:sp>
        <p:nvSpPr>
          <p:cNvPr id="10" name="anim5_6"/>
          <p:cNvSpPr txBox="1"/>
          <p:nvPr/>
        </p:nvSpPr>
        <p:spPr>
          <a:xfrm>
            <a:off x="8823960" y="1645920"/>
            <a:ext cx="2041855" cy="320040"/>
          </a:xfrm>
          <a:prstGeom prst="rect">
            <a:avLst/>
          </a:prstGeom>
          <a:noFill/>
          <a:ln/>
        </p:spPr>
        <p:txBody>
          <a:bodyPr wrap="square" lIns="0" tIns="0" rIns="0" bIns="0" rtlCol="0" anchor="t"/>
          <a:lstStyle/>
          <a:p>
            <a:pPr rtl="1" algn="r" indent="0" marL="0">
              <a:buNone/>
            </a:pPr>
            <a:r>
              <a:rPr lang="ar-SA" altLang="en-US" sz="1150" b="1" dirty="0">
                <a:solidFill>
                  <a:srgbClr val="5B6B7F"/>
                </a:solidFill>
                <a:latin typeface="JF Flat" pitchFamily="34" charset="0"/>
                <a:ea typeface="JF Flat" pitchFamily="34" charset="-122"/>
                <a:cs typeface="JF Flat" pitchFamily="34" charset="-120"/>
              </a:rPr>
              <a:t>ارتفاع المبنى</a:t>
            </a:r>
            <a:endParaRPr lang="ar-SA" sz="1150" dirty="0"/>
          </a:p>
        </p:txBody>
      </p:sp>
      <p:sp>
        <p:nvSpPr>
          <p:cNvPr id="11" name="anim5_7"/>
          <p:cNvSpPr txBox="1"/>
          <p:nvPr/>
        </p:nvSpPr>
        <p:spPr>
          <a:xfrm>
            <a:off x="8823960" y="1965960"/>
            <a:ext cx="2041855" cy="502920"/>
          </a:xfrm>
          <a:prstGeom prst="rect">
            <a:avLst/>
          </a:prstGeom>
          <a:noFill/>
          <a:ln/>
        </p:spPr>
        <p:txBody>
          <a:bodyPr wrap="square" lIns="0" tIns="0" rIns="0" bIns="0" rtlCol="0" anchor="ctr"/>
          <a:lstStyle/>
          <a:p>
            <a:pPr algn="r" indent="0" marL="0">
              <a:buNone/>
            </a:pPr>
            <a:r>
              <a:rPr lang="ar-SA" altLang="en-US" sz="2600" b="1" dirty="0">
                <a:solidFill>
                  <a:srgbClr val="00539B"/>
                </a:solidFill>
                <a:latin typeface="JF Flat" pitchFamily="34" charset="0"/>
                <a:ea typeface="JF Flat" pitchFamily="34" charset="-122"/>
                <a:cs typeface="JF Flat" pitchFamily="34" charset="-120"/>
              </a:rPr>
              <a:t>14/16</a:t>
            </a:r>
            <a:pPr algn="r" indent="0" marL="0">
              <a:buNone/>
            </a:pPr>
            <a:r>
              <a:rPr lang="ar-SA" altLang="en-US" sz="1400" b="1" dirty="0">
                <a:solidFill>
                  <a:srgbClr val="5B6B7F"/>
                </a:solidFill>
                <a:latin typeface="JF Flat" pitchFamily="34" charset="0"/>
                <a:ea typeface="JF Flat" pitchFamily="34" charset="-122"/>
                <a:cs typeface="JF Flat" pitchFamily="34" charset="-120"/>
              </a:rPr>
              <a:t>  متر</a:t>
            </a:r>
            <a:endParaRPr lang="ar-SA" sz="1400" dirty="0"/>
          </a:p>
        </p:txBody>
      </p:sp>
      <p:sp>
        <p:nvSpPr>
          <p:cNvPr id="12" name="anim5_8"/>
          <p:cNvSpPr/>
          <p:nvPr/>
        </p:nvSpPr>
        <p:spPr>
          <a:xfrm>
            <a:off x="8686800" y="2697480"/>
            <a:ext cx="2956255" cy="1005840"/>
          </a:xfrm>
          <a:prstGeom prst="roundRect">
            <a:avLst>
              <a:gd name="adj" fmla="val 90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3" name="anim5_9"/>
          <p:cNvSpPr/>
          <p:nvPr/>
        </p:nvSpPr>
        <p:spPr>
          <a:xfrm>
            <a:off x="10957255" y="2948940"/>
            <a:ext cx="502920" cy="502920"/>
          </a:xfrm>
          <a:prstGeom prst="ellipse">
            <a:avLst/>
          </a:prstGeom>
          <a:solidFill>
            <a:srgbClr val="00539B"/>
          </a:solidFill>
          <a:ln w="12700">
            <a:solidFill>
              <a:srgbClr val="00539B"/>
            </a:solidFill>
            <a:prstDash val="solid"/>
          </a:ln>
        </p:spPr>
      </p:sp>
      <p:pic>
        <p:nvPicPr>
          <p:cNvPr id="14" name="anim5_10" descr="preencoded.png">    </p:cNvPr>
          <p:cNvPicPr>
            <a:picLocks noChangeAspect="1"/>
          </p:cNvPicPr>
          <p:nvPr/>
        </p:nvPicPr>
        <p:blipFill>
          <a:blip r:embed="rId3"/>
          <a:stretch>
            <a:fillRect/>
          </a:stretch>
        </p:blipFill>
        <p:spPr>
          <a:xfrm>
            <a:off x="11093044" y="3084728"/>
            <a:ext cx="231343" cy="231343"/>
          </a:xfrm>
          <a:prstGeom prst="rect">
            <a:avLst/>
          </a:prstGeom>
        </p:spPr>
      </p:pic>
      <p:sp>
        <p:nvSpPr>
          <p:cNvPr id="15" name="anim5_11"/>
          <p:cNvSpPr txBox="1"/>
          <p:nvPr/>
        </p:nvSpPr>
        <p:spPr>
          <a:xfrm>
            <a:off x="8823960" y="2788920"/>
            <a:ext cx="2041855" cy="320040"/>
          </a:xfrm>
          <a:prstGeom prst="rect">
            <a:avLst/>
          </a:prstGeom>
          <a:noFill/>
          <a:ln/>
        </p:spPr>
        <p:txBody>
          <a:bodyPr wrap="square" lIns="0" tIns="0" rIns="0" bIns="0" rtlCol="0" anchor="t"/>
          <a:lstStyle/>
          <a:p>
            <a:pPr rtl="1" algn="r" indent="0" marL="0">
              <a:buNone/>
            </a:pPr>
            <a:r>
              <a:rPr lang="ar-SA" altLang="en-US" sz="1150" b="1" dirty="0">
                <a:solidFill>
                  <a:srgbClr val="5B6B7F"/>
                </a:solidFill>
                <a:latin typeface="JF Flat" pitchFamily="34" charset="0"/>
                <a:ea typeface="JF Flat" pitchFamily="34" charset="-122"/>
                <a:cs typeface="JF Flat" pitchFamily="34" charset="-120"/>
              </a:rPr>
              <a:t>مساحة الطابقين 0 و1 (30×55 م)</a:t>
            </a:r>
            <a:endParaRPr lang="ar-SA" sz="1150" dirty="0"/>
          </a:p>
        </p:txBody>
      </p:sp>
      <p:sp>
        <p:nvSpPr>
          <p:cNvPr id="16" name="anim5_12"/>
          <p:cNvSpPr txBox="1"/>
          <p:nvPr/>
        </p:nvSpPr>
        <p:spPr>
          <a:xfrm>
            <a:off x="8823960" y="3108960"/>
            <a:ext cx="2041855" cy="502920"/>
          </a:xfrm>
          <a:prstGeom prst="rect">
            <a:avLst/>
          </a:prstGeom>
          <a:noFill/>
          <a:ln/>
        </p:spPr>
        <p:txBody>
          <a:bodyPr wrap="square" lIns="0" tIns="0" rIns="0" bIns="0" rtlCol="0" anchor="ctr"/>
          <a:lstStyle/>
          <a:p>
            <a:pPr algn="r" indent="0" marL="0">
              <a:buNone/>
            </a:pPr>
            <a:r>
              <a:rPr lang="ar-SA" altLang="en-US" sz="2600" b="1" dirty="0">
                <a:solidFill>
                  <a:srgbClr val="00539B"/>
                </a:solidFill>
                <a:latin typeface="JF Flat" pitchFamily="34" charset="0"/>
                <a:ea typeface="JF Flat" pitchFamily="34" charset="-122"/>
                <a:cs typeface="JF Flat" pitchFamily="34" charset="-120"/>
              </a:rPr>
              <a:t>3,300</a:t>
            </a:r>
            <a:pPr algn="r" indent="0" marL="0">
              <a:buNone/>
            </a:pPr>
            <a:r>
              <a:rPr lang="ar-SA" altLang="en-US" sz="1400" b="1" dirty="0">
                <a:solidFill>
                  <a:srgbClr val="5B6B7F"/>
                </a:solidFill>
                <a:latin typeface="JF Flat" pitchFamily="34" charset="0"/>
                <a:ea typeface="JF Flat" pitchFamily="34" charset="-122"/>
                <a:cs typeface="JF Flat" pitchFamily="34" charset="-120"/>
              </a:rPr>
              <a:t>  م²</a:t>
            </a:r>
            <a:endParaRPr lang="ar-SA" sz="1400" dirty="0"/>
          </a:p>
        </p:txBody>
      </p:sp>
      <p:sp>
        <p:nvSpPr>
          <p:cNvPr id="17" name="anim5_13"/>
          <p:cNvSpPr/>
          <p:nvPr/>
        </p:nvSpPr>
        <p:spPr>
          <a:xfrm>
            <a:off x="8686800" y="3840480"/>
            <a:ext cx="2956255" cy="1005840"/>
          </a:xfrm>
          <a:prstGeom prst="roundRect">
            <a:avLst>
              <a:gd name="adj" fmla="val 90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8" name="anim5_14"/>
          <p:cNvSpPr/>
          <p:nvPr/>
        </p:nvSpPr>
        <p:spPr>
          <a:xfrm>
            <a:off x="10957255" y="4091940"/>
            <a:ext cx="502920" cy="502920"/>
          </a:xfrm>
          <a:prstGeom prst="ellipse">
            <a:avLst/>
          </a:prstGeom>
          <a:solidFill>
            <a:srgbClr val="00539B"/>
          </a:solidFill>
          <a:ln w="12700">
            <a:solidFill>
              <a:srgbClr val="00539B"/>
            </a:solidFill>
            <a:prstDash val="solid"/>
          </a:ln>
        </p:spPr>
      </p:sp>
      <p:pic>
        <p:nvPicPr>
          <p:cNvPr id="19" name="anim5_15" descr="preencoded.png">    </p:cNvPr>
          <p:cNvPicPr>
            <a:picLocks noChangeAspect="1"/>
          </p:cNvPicPr>
          <p:nvPr/>
        </p:nvPicPr>
        <p:blipFill>
          <a:blip r:embed="rId4"/>
          <a:stretch>
            <a:fillRect/>
          </a:stretch>
        </p:blipFill>
        <p:spPr>
          <a:xfrm>
            <a:off x="11093044" y="4227728"/>
            <a:ext cx="231343" cy="231343"/>
          </a:xfrm>
          <a:prstGeom prst="rect">
            <a:avLst/>
          </a:prstGeom>
        </p:spPr>
      </p:pic>
      <p:sp>
        <p:nvSpPr>
          <p:cNvPr id="20" name="anim5_16"/>
          <p:cNvSpPr txBox="1"/>
          <p:nvPr/>
        </p:nvSpPr>
        <p:spPr>
          <a:xfrm>
            <a:off x="8823960" y="3931920"/>
            <a:ext cx="2041855" cy="320040"/>
          </a:xfrm>
          <a:prstGeom prst="rect">
            <a:avLst/>
          </a:prstGeom>
          <a:noFill/>
          <a:ln/>
        </p:spPr>
        <p:txBody>
          <a:bodyPr wrap="square" lIns="0" tIns="0" rIns="0" bIns="0" rtlCol="0" anchor="t"/>
          <a:lstStyle/>
          <a:p>
            <a:pPr rtl="1" algn="r" indent="0" marL="0">
              <a:buNone/>
            </a:pPr>
            <a:r>
              <a:rPr lang="ar-SA" altLang="en-US" sz="1150" b="1" dirty="0">
                <a:solidFill>
                  <a:srgbClr val="5B6B7F"/>
                </a:solidFill>
                <a:latin typeface="JF Flat" pitchFamily="34" charset="0"/>
                <a:ea typeface="JF Flat" pitchFamily="34" charset="-122"/>
                <a:cs typeface="JF Flat" pitchFamily="34" charset="-120"/>
              </a:rPr>
              <a:t>مساحة الطابق -1 (15×55 م)</a:t>
            </a:r>
            <a:endParaRPr lang="ar-SA" sz="1150" dirty="0"/>
          </a:p>
        </p:txBody>
      </p:sp>
      <p:sp>
        <p:nvSpPr>
          <p:cNvPr id="21" name="anim5_17"/>
          <p:cNvSpPr txBox="1"/>
          <p:nvPr/>
        </p:nvSpPr>
        <p:spPr>
          <a:xfrm>
            <a:off x="8823960" y="4251960"/>
            <a:ext cx="2041855" cy="502920"/>
          </a:xfrm>
          <a:prstGeom prst="rect">
            <a:avLst/>
          </a:prstGeom>
          <a:noFill/>
          <a:ln/>
        </p:spPr>
        <p:txBody>
          <a:bodyPr wrap="square" lIns="0" tIns="0" rIns="0" bIns="0" rtlCol="0" anchor="ctr"/>
          <a:lstStyle/>
          <a:p>
            <a:pPr algn="r" indent="0" marL="0">
              <a:buNone/>
            </a:pPr>
            <a:r>
              <a:rPr lang="ar-SA" altLang="en-US" sz="2600" b="1" dirty="0">
                <a:solidFill>
                  <a:srgbClr val="00539B"/>
                </a:solidFill>
                <a:latin typeface="JF Flat" pitchFamily="34" charset="0"/>
                <a:ea typeface="JF Flat" pitchFamily="34" charset="-122"/>
                <a:cs typeface="JF Flat" pitchFamily="34" charset="-120"/>
              </a:rPr>
              <a:t>825</a:t>
            </a:r>
            <a:pPr algn="r" indent="0" marL="0">
              <a:buNone/>
            </a:pPr>
            <a:r>
              <a:rPr lang="ar-SA" altLang="en-US" sz="1400" b="1" dirty="0">
                <a:solidFill>
                  <a:srgbClr val="5B6B7F"/>
                </a:solidFill>
                <a:latin typeface="JF Flat" pitchFamily="34" charset="0"/>
                <a:ea typeface="JF Flat" pitchFamily="34" charset="-122"/>
                <a:cs typeface="JF Flat" pitchFamily="34" charset="-120"/>
              </a:rPr>
              <a:t>  م²</a:t>
            </a:r>
            <a:endParaRPr lang="ar-SA" sz="1400" dirty="0"/>
          </a:p>
        </p:txBody>
      </p:sp>
      <p:sp>
        <p:nvSpPr>
          <p:cNvPr id="22" name="anim5_18"/>
          <p:cNvSpPr/>
          <p:nvPr/>
        </p:nvSpPr>
        <p:spPr>
          <a:xfrm>
            <a:off x="8686800" y="4983480"/>
            <a:ext cx="2956255" cy="1005840"/>
          </a:xfrm>
          <a:prstGeom prst="roundRect">
            <a:avLst>
              <a:gd name="adj" fmla="val 9091"/>
            </a:avLst>
          </a:prstGeom>
          <a:solidFill>
            <a:srgbClr val="06305C"/>
          </a:solidFill>
          <a:ln w="9525">
            <a:solidFill>
              <a:srgbClr val="06305C"/>
            </a:solidFill>
            <a:prstDash val="solid"/>
          </a:ln>
          <a:effectLst>
            <a:outerShdw sx="100000" sy="100000" kx="0" ky="0" algn="bl" rotWithShape="0" blurRad="127000" dist="38100" dir="5400000">
              <a:srgbClr val="1F3A5F">
                <a:alpha val="13000"/>
              </a:srgbClr>
            </a:outerShdw>
          </a:effectLst>
        </p:spPr>
      </p:sp>
      <p:sp>
        <p:nvSpPr>
          <p:cNvPr id="23" name="anim5_19"/>
          <p:cNvSpPr/>
          <p:nvPr/>
        </p:nvSpPr>
        <p:spPr>
          <a:xfrm>
            <a:off x="10957255" y="5234940"/>
            <a:ext cx="502920" cy="502920"/>
          </a:xfrm>
          <a:prstGeom prst="ellipse">
            <a:avLst/>
          </a:prstGeom>
          <a:solidFill>
            <a:srgbClr val="F15524"/>
          </a:solidFill>
          <a:ln w="12700">
            <a:solidFill>
              <a:srgbClr val="F15524"/>
            </a:solidFill>
            <a:prstDash val="solid"/>
          </a:ln>
        </p:spPr>
      </p:sp>
      <p:pic>
        <p:nvPicPr>
          <p:cNvPr id="24" name="anim5_20" descr="preencoded.png">    </p:cNvPr>
          <p:cNvPicPr>
            <a:picLocks noChangeAspect="1"/>
          </p:cNvPicPr>
          <p:nvPr/>
        </p:nvPicPr>
        <p:blipFill>
          <a:blip r:embed="rId5"/>
          <a:stretch>
            <a:fillRect/>
          </a:stretch>
        </p:blipFill>
        <p:spPr>
          <a:xfrm>
            <a:off x="11093044" y="5370728"/>
            <a:ext cx="231343" cy="231343"/>
          </a:xfrm>
          <a:prstGeom prst="rect">
            <a:avLst/>
          </a:prstGeom>
        </p:spPr>
      </p:pic>
      <p:sp>
        <p:nvSpPr>
          <p:cNvPr id="25" name="anim5_21"/>
          <p:cNvSpPr txBox="1"/>
          <p:nvPr/>
        </p:nvSpPr>
        <p:spPr>
          <a:xfrm>
            <a:off x="8823960" y="5074920"/>
            <a:ext cx="2041855" cy="320040"/>
          </a:xfrm>
          <a:prstGeom prst="rect">
            <a:avLst/>
          </a:prstGeom>
          <a:noFill/>
          <a:ln/>
        </p:spPr>
        <p:txBody>
          <a:bodyPr wrap="square" lIns="0" tIns="0" rIns="0" bIns="0" rtlCol="0" anchor="t"/>
          <a:lstStyle/>
          <a:p>
            <a:pPr rtl="1" algn="r" indent="0" marL="0">
              <a:buNone/>
            </a:pPr>
            <a:r>
              <a:rPr lang="ar-SA" altLang="en-US" sz="1150" b="1" dirty="0">
                <a:solidFill>
                  <a:srgbClr val="C9DAEE"/>
                </a:solidFill>
                <a:latin typeface="JF Flat" pitchFamily="34" charset="0"/>
                <a:ea typeface="JF Flat" pitchFamily="34" charset="-122"/>
                <a:cs typeface="JF Flat" pitchFamily="34" charset="-120"/>
              </a:rPr>
              <a:t>إجمالي المساحة</a:t>
            </a:r>
            <a:endParaRPr lang="ar-SA" sz="1150" dirty="0"/>
          </a:p>
        </p:txBody>
      </p:sp>
      <p:sp>
        <p:nvSpPr>
          <p:cNvPr id="26" name="anim5_22"/>
          <p:cNvSpPr txBox="1"/>
          <p:nvPr/>
        </p:nvSpPr>
        <p:spPr>
          <a:xfrm>
            <a:off x="8823960" y="5394960"/>
            <a:ext cx="2041855" cy="502920"/>
          </a:xfrm>
          <a:prstGeom prst="rect">
            <a:avLst/>
          </a:prstGeom>
          <a:noFill/>
          <a:ln/>
        </p:spPr>
        <p:txBody>
          <a:bodyPr wrap="square" lIns="0" tIns="0" rIns="0" bIns="0" rtlCol="0" anchor="ctr"/>
          <a:lstStyle/>
          <a:p>
            <a:pPr algn="r" indent="0" marL="0">
              <a:buNone/>
            </a:pPr>
            <a:r>
              <a:rPr lang="ar-SA" altLang="en-US" sz="2600" b="1" dirty="0">
                <a:solidFill>
                  <a:srgbClr val="F15524"/>
                </a:solidFill>
                <a:latin typeface="JF Flat" pitchFamily="34" charset="0"/>
                <a:ea typeface="JF Flat" pitchFamily="34" charset="-122"/>
                <a:cs typeface="JF Flat" pitchFamily="34" charset="-120"/>
              </a:rPr>
              <a:t>4,125</a:t>
            </a:r>
            <a:pPr algn="r" indent="0" marL="0">
              <a:buNone/>
            </a:pPr>
            <a:r>
              <a:rPr lang="ar-SA" altLang="en-US" sz="1400" b="1" dirty="0">
                <a:solidFill>
                  <a:srgbClr val="FFFFFF"/>
                </a:solidFill>
                <a:latin typeface="JF Flat" pitchFamily="34" charset="0"/>
                <a:ea typeface="JF Flat" pitchFamily="34" charset="-122"/>
                <a:cs typeface="JF Flat" pitchFamily="34" charset="-120"/>
              </a:rPr>
              <a:t>  م²</a:t>
            </a:r>
            <a:endParaRPr lang="ar-SA" sz="14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2"/>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2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26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anim calcmode="lin" valueType="num">
                                      <p:cBhvr additive="base">
                                        <p:cTn id="4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6"/>
                                        </p:tgtEl>
                                        <p:attrNameLst>
                                          <p:attrName>ppt_y</p:attrName>
                                        </p:attrNameLst>
                                      </p:cBhvr>
                                      <p:tavLst>
                                        <p:tav tm="0">
                                          <p:val>
                                            <p:strVal val="#ppt_y+.03"/>
                                          </p:val>
                                        </p:tav>
                                        <p:tav tm="100000">
                                          <p:val>
                                            <p:strVal val="#ppt_y"/>
                                          </p:val>
                                        </p:tav>
                                      </p:tavLst>
                                    </p:anim>
                                  </p:childTnLst>
                                </p:cTn>
                              </p:par>
                              <p:par>
                                <p:cTn id="50" presetID="53" presetClass="entr" presetSubtype="16" fill="hold" grpId="0" nodeType="withEffect">
                                  <p:stCondLst>
                                    <p:cond delay="29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450" decel="100000" fill="hold"/>
                                        <p:tgtEl>
                                          <p:spTgt spid="8"/>
                                        </p:tgtEl>
                                        <p:attrNameLst>
                                          <p:attrName>ppt_w</p:attrName>
                                        </p:attrNameLst>
                                      </p:cBhvr>
                                      <p:tavLst>
                                        <p:tav tm="0">
                                          <p:val>
                                            <p:strVal val="0"/>
                                          </p:val>
                                        </p:tav>
                                        <p:tav tm="100000">
                                          <p:val>
                                            <p:strVal val="#ppt_w"/>
                                          </p:val>
                                        </p:tav>
                                      </p:tavLst>
                                    </p:anim>
                                    <p:anim calcmode="lin" valueType="num">
                                      <p:cBhvr additive="base">
                                        <p:cTn id="53" dur="450" decel="100000" fill="hold"/>
                                        <p:tgtEl>
                                          <p:spTgt spid="8"/>
                                        </p:tgtEl>
                                        <p:attrNameLst>
                                          <p:attrName>ppt_h</p:attrName>
                                        </p:attrNameLst>
                                      </p:cBhvr>
                                      <p:tavLst>
                                        <p:tav tm="0">
                                          <p:val>
                                            <p:strVal val="0"/>
                                          </p:val>
                                        </p:tav>
                                        <p:tav tm="100000">
                                          <p:val>
                                            <p:strVal val="#ppt_h"/>
                                          </p:val>
                                        </p:tav>
                                      </p:tavLst>
                                    </p:anim>
                                    <p:animEffect transition="in" filter="fade">
                                      <p:cBhvr>
                                        <p:cTn id="54" dur="450"/>
                                        <p:tgtEl>
                                          <p:spTgt spid="8"/>
                                        </p:tgtEl>
                                      </p:cBhvr>
                                    </p:animEffect>
                                  </p:childTnLst>
                                </p:cTn>
                              </p:par>
                              <p:par>
                                <p:cTn id="55" presetID="53" presetClass="entr" presetSubtype="16" fill="hold" grpId="0" nodeType="withEffect">
                                  <p:stCondLst>
                                    <p:cond delay="390"/>
                                  </p:stCondLst>
                                  <p:childTnLst>
                                    <p:set>
                                      <p:cBhvr>
                                        <p:cTn id="56" dur="1" fill="hold">
                                          <p:stCondLst>
                                            <p:cond delay="0"/>
                                          </p:stCondLst>
                                        </p:cTn>
                                        <p:tgtEl>
                                          <p:spTgt spid="9"/>
                                        </p:tgtEl>
                                        <p:attrNameLst>
                                          <p:attrName>style.visibility</p:attrName>
                                        </p:attrNameLst>
                                      </p:cBhvr>
                                      <p:to>
                                        <p:strVal val="visible"/>
                                      </p:to>
                                    </p:set>
                                    <p:anim calcmode="lin" valueType="num">
                                      <p:cBhvr additive="base">
                                        <p:cTn id="57" dur="450" decel="100000" fill="hold"/>
                                        <p:tgtEl>
                                          <p:spTgt spid="9"/>
                                        </p:tgtEl>
                                        <p:attrNameLst>
                                          <p:attrName>ppt_w</p:attrName>
                                        </p:attrNameLst>
                                      </p:cBhvr>
                                      <p:tavLst>
                                        <p:tav tm="0">
                                          <p:val>
                                            <p:strVal val="0"/>
                                          </p:val>
                                        </p:tav>
                                        <p:tav tm="100000">
                                          <p:val>
                                            <p:strVal val="#ppt_w"/>
                                          </p:val>
                                        </p:tav>
                                      </p:tavLst>
                                    </p:anim>
                                    <p:anim calcmode="lin" valueType="num">
                                      <p:cBhvr additive="base">
                                        <p:cTn id="58" dur="450" decel="100000" fill="hold"/>
                                        <p:tgtEl>
                                          <p:spTgt spid="9"/>
                                        </p:tgtEl>
                                        <p:attrNameLst>
                                          <p:attrName>ppt_h</p:attrName>
                                        </p:attrNameLst>
                                      </p:cBhvr>
                                      <p:tavLst>
                                        <p:tav tm="0">
                                          <p:val>
                                            <p:strVal val="0"/>
                                          </p:val>
                                        </p:tav>
                                        <p:tav tm="100000">
                                          <p:val>
                                            <p:strVal val="#ppt_h"/>
                                          </p:val>
                                        </p:tav>
                                      </p:tavLst>
                                    </p:anim>
                                    <p:animEffect transition="in" filter="fade">
                                      <p:cBhvr>
                                        <p:cTn id="59" dur="450"/>
                                        <p:tgtEl>
                                          <p:spTgt spid="9"/>
                                        </p:tgtEl>
                                      </p:cBhvr>
                                    </p:animEffect>
                                  </p:childTnLst>
                                </p:cTn>
                              </p:par>
                              <p:par>
                                <p:cTn id="60" presetID="42" presetClass="entr" presetSubtype="0" fill="hold" grpId="0" nodeType="withEffect">
                                  <p:stCondLst>
                                    <p:cond delay="39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7"/>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39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3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420"/>
                                  </p:stCondLst>
                                  <p:childTnLst>
                                    <p:set>
                                      <p:cBhvr>
                                        <p:cTn id="76" dur="1" fill="hold">
                                          <p:stCondLst>
                                            <p:cond delay="0"/>
                                          </p:stCondLst>
                                        </p:cTn>
                                        <p:tgtEl>
                                          <p:spTgt spid="13"/>
                                        </p:tgtEl>
                                        <p:attrNameLst>
                                          <p:attrName>style.visibility</p:attrName>
                                        </p:attrNameLst>
                                      </p:cBhvr>
                                      <p:to>
                                        <p:strVal val="visible"/>
                                      </p:to>
                                    </p:set>
                                    <p:anim calcmode="lin" valueType="num">
                                      <p:cBhvr additive="base">
                                        <p:cTn id="77" dur="450" decel="100000" fill="hold"/>
                                        <p:tgtEl>
                                          <p:spTgt spid="13"/>
                                        </p:tgtEl>
                                        <p:attrNameLst>
                                          <p:attrName>ppt_w</p:attrName>
                                        </p:attrNameLst>
                                      </p:cBhvr>
                                      <p:tavLst>
                                        <p:tav tm="0">
                                          <p:val>
                                            <p:strVal val="0"/>
                                          </p:val>
                                        </p:tav>
                                        <p:tav tm="100000">
                                          <p:val>
                                            <p:strVal val="#ppt_w"/>
                                          </p:val>
                                        </p:tav>
                                      </p:tavLst>
                                    </p:anim>
                                    <p:anim calcmode="lin" valueType="num">
                                      <p:cBhvr additive="base">
                                        <p:cTn id="78" dur="450" decel="100000" fill="hold"/>
                                        <p:tgtEl>
                                          <p:spTgt spid="13"/>
                                        </p:tgtEl>
                                        <p:attrNameLst>
                                          <p:attrName>ppt_h</p:attrName>
                                        </p:attrNameLst>
                                      </p:cBhvr>
                                      <p:tavLst>
                                        <p:tav tm="0">
                                          <p:val>
                                            <p:strVal val="0"/>
                                          </p:val>
                                        </p:tav>
                                        <p:tav tm="100000">
                                          <p:val>
                                            <p:strVal val="#ppt_h"/>
                                          </p:val>
                                        </p:tav>
                                      </p:tavLst>
                                    </p:anim>
                                    <p:animEffect transition="in" filter="fade">
                                      <p:cBhvr>
                                        <p:cTn id="79" dur="450"/>
                                        <p:tgtEl>
                                          <p:spTgt spid="13"/>
                                        </p:tgtEl>
                                      </p:cBhvr>
                                    </p:animEffect>
                                  </p:childTnLst>
                                </p:cTn>
                              </p:par>
                              <p:par>
                                <p:cTn id="80" presetID="53" presetClass="entr" presetSubtype="16" fill="hold" grpId="0" nodeType="withEffect">
                                  <p:stCondLst>
                                    <p:cond delay="520"/>
                                  </p:stCondLst>
                                  <p:childTnLst>
                                    <p:set>
                                      <p:cBhvr>
                                        <p:cTn id="81" dur="1" fill="hold">
                                          <p:stCondLst>
                                            <p:cond delay="0"/>
                                          </p:stCondLst>
                                        </p:cTn>
                                        <p:tgtEl>
                                          <p:spTgt spid="14"/>
                                        </p:tgtEl>
                                        <p:attrNameLst>
                                          <p:attrName>style.visibility</p:attrName>
                                        </p:attrNameLst>
                                      </p:cBhvr>
                                      <p:to>
                                        <p:strVal val="visible"/>
                                      </p:to>
                                    </p:set>
                                    <p:anim calcmode="lin" valueType="num">
                                      <p:cBhvr additive="base">
                                        <p:cTn id="82" dur="450" decel="100000" fill="hold"/>
                                        <p:tgtEl>
                                          <p:spTgt spid="14"/>
                                        </p:tgtEl>
                                        <p:attrNameLst>
                                          <p:attrName>ppt_w</p:attrName>
                                        </p:attrNameLst>
                                      </p:cBhvr>
                                      <p:tavLst>
                                        <p:tav tm="0">
                                          <p:val>
                                            <p:strVal val="0"/>
                                          </p:val>
                                        </p:tav>
                                        <p:tav tm="100000">
                                          <p:val>
                                            <p:strVal val="#ppt_w"/>
                                          </p:val>
                                        </p:tav>
                                      </p:tavLst>
                                    </p:anim>
                                    <p:anim calcmode="lin" valueType="num">
                                      <p:cBhvr additive="base">
                                        <p:cTn id="83" dur="450" decel="100000" fill="hold"/>
                                        <p:tgtEl>
                                          <p:spTgt spid="14"/>
                                        </p:tgtEl>
                                        <p:attrNameLst>
                                          <p:attrName>ppt_h</p:attrName>
                                        </p:attrNameLst>
                                      </p:cBhvr>
                                      <p:tavLst>
                                        <p:tav tm="0">
                                          <p:val>
                                            <p:strVal val="0"/>
                                          </p:val>
                                        </p:tav>
                                        <p:tav tm="100000">
                                          <p:val>
                                            <p:strVal val="#ppt_h"/>
                                          </p:val>
                                        </p:tav>
                                      </p:tavLst>
                                    </p:anim>
                                    <p:animEffect transition="in" filter="fade">
                                      <p:cBhvr>
                                        <p:cTn id="84" dur="450"/>
                                        <p:tgtEl>
                                          <p:spTgt spid="14"/>
                                        </p:tgtEl>
                                      </p:cBhvr>
                                    </p:animEffect>
                                  </p:childTnLst>
                                </p:cTn>
                              </p:par>
                              <p:par>
                                <p:cTn id="85" presetID="42" presetClass="entr" presetSubtype="0" fill="hold" grpId="0" nodeType="withEffect">
                                  <p:stCondLst>
                                    <p:cond delay="52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52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additive="base">
                                        <p:cTn id="9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5"/>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52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6"/>
                                        </p:tgtEl>
                                        <p:attrNameLst>
                                          <p:attrName>ppt_y</p:attrName>
                                        </p:attrNameLst>
                                      </p:cBhvr>
                                      <p:tavLst>
                                        <p:tav tm="0">
                                          <p:val>
                                            <p:strVal val="#ppt_y+.03"/>
                                          </p:val>
                                        </p:tav>
                                        <p:tav tm="100000">
                                          <p:val>
                                            <p:strVal val="#ppt_y"/>
                                          </p:val>
                                        </p:tav>
                                      </p:tavLst>
                                    </p:anim>
                                  </p:childTnLst>
                                </p:cTn>
                              </p:par>
                              <p:par>
                                <p:cTn id="100" presetID="53" presetClass="entr" presetSubtype="16" fill="hold" grpId="0" nodeType="withEffect">
                                  <p:stCondLst>
                                    <p:cond delay="550"/>
                                  </p:stCondLst>
                                  <p:childTnLst>
                                    <p:set>
                                      <p:cBhvr>
                                        <p:cTn id="101" dur="1" fill="hold">
                                          <p:stCondLst>
                                            <p:cond delay="0"/>
                                          </p:stCondLst>
                                        </p:cTn>
                                        <p:tgtEl>
                                          <p:spTgt spid="18"/>
                                        </p:tgtEl>
                                        <p:attrNameLst>
                                          <p:attrName>style.visibility</p:attrName>
                                        </p:attrNameLst>
                                      </p:cBhvr>
                                      <p:to>
                                        <p:strVal val="visible"/>
                                      </p:to>
                                    </p:set>
                                    <p:anim calcmode="lin" valueType="num">
                                      <p:cBhvr additive="base">
                                        <p:cTn id="102" dur="450" decel="100000" fill="hold"/>
                                        <p:tgtEl>
                                          <p:spTgt spid="18"/>
                                        </p:tgtEl>
                                        <p:attrNameLst>
                                          <p:attrName>ppt_w</p:attrName>
                                        </p:attrNameLst>
                                      </p:cBhvr>
                                      <p:tavLst>
                                        <p:tav tm="0">
                                          <p:val>
                                            <p:strVal val="0"/>
                                          </p:val>
                                        </p:tav>
                                        <p:tav tm="100000">
                                          <p:val>
                                            <p:strVal val="#ppt_w"/>
                                          </p:val>
                                        </p:tav>
                                      </p:tavLst>
                                    </p:anim>
                                    <p:anim calcmode="lin" valueType="num">
                                      <p:cBhvr additive="base">
                                        <p:cTn id="103" dur="450" decel="100000" fill="hold"/>
                                        <p:tgtEl>
                                          <p:spTgt spid="18"/>
                                        </p:tgtEl>
                                        <p:attrNameLst>
                                          <p:attrName>ppt_h</p:attrName>
                                        </p:attrNameLst>
                                      </p:cBhvr>
                                      <p:tavLst>
                                        <p:tav tm="0">
                                          <p:val>
                                            <p:strVal val="0"/>
                                          </p:val>
                                        </p:tav>
                                        <p:tav tm="100000">
                                          <p:val>
                                            <p:strVal val="#ppt_h"/>
                                          </p:val>
                                        </p:tav>
                                      </p:tavLst>
                                    </p:anim>
                                    <p:animEffect transition="in" filter="fade">
                                      <p:cBhvr>
                                        <p:cTn id="104" dur="450"/>
                                        <p:tgtEl>
                                          <p:spTgt spid="18"/>
                                        </p:tgtEl>
                                      </p:cBhvr>
                                    </p:animEffect>
                                  </p:childTnLst>
                                </p:cTn>
                              </p:par>
                              <p:par>
                                <p:cTn id="105" presetID="53" presetClass="entr" presetSubtype="16" fill="hold" grpId="0" nodeType="withEffect">
                                  <p:stCondLst>
                                    <p:cond delay="650"/>
                                  </p:stCondLst>
                                  <p:childTnLst>
                                    <p:set>
                                      <p:cBhvr>
                                        <p:cTn id="106" dur="1" fill="hold">
                                          <p:stCondLst>
                                            <p:cond delay="0"/>
                                          </p:stCondLst>
                                        </p:cTn>
                                        <p:tgtEl>
                                          <p:spTgt spid="19"/>
                                        </p:tgtEl>
                                        <p:attrNameLst>
                                          <p:attrName>style.visibility</p:attrName>
                                        </p:attrNameLst>
                                      </p:cBhvr>
                                      <p:to>
                                        <p:strVal val="visible"/>
                                      </p:to>
                                    </p:set>
                                    <p:anim calcmode="lin" valueType="num">
                                      <p:cBhvr additive="base">
                                        <p:cTn id="107" dur="450" decel="100000" fill="hold"/>
                                        <p:tgtEl>
                                          <p:spTgt spid="19"/>
                                        </p:tgtEl>
                                        <p:attrNameLst>
                                          <p:attrName>ppt_w</p:attrName>
                                        </p:attrNameLst>
                                      </p:cBhvr>
                                      <p:tavLst>
                                        <p:tav tm="0">
                                          <p:val>
                                            <p:strVal val="0"/>
                                          </p:val>
                                        </p:tav>
                                        <p:tav tm="100000">
                                          <p:val>
                                            <p:strVal val="#ppt_w"/>
                                          </p:val>
                                        </p:tav>
                                      </p:tavLst>
                                    </p:anim>
                                    <p:anim calcmode="lin" valueType="num">
                                      <p:cBhvr additive="base">
                                        <p:cTn id="108" dur="450" decel="100000" fill="hold"/>
                                        <p:tgtEl>
                                          <p:spTgt spid="19"/>
                                        </p:tgtEl>
                                        <p:attrNameLst>
                                          <p:attrName>ppt_h</p:attrName>
                                        </p:attrNameLst>
                                      </p:cBhvr>
                                      <p:tavLst>
                                        <p:tav tm="0">
                                          <p:val>
                                            <p:strVal val="0"/>
                                          </p:val>
                                        </p:tav>
                                        <p:tav tm="100000">
                                          <p:val>
                                            <p:strVal val="#ppt_h"/>
                                          </p:val>
                                        </p:tav>
                                      </p:tavLst>
                                    </p:anim>
                                    <p:animEffect transition="in" filter="fade">
                                      <p:cBhvr>
                                        <p:cTn id="109" dur="450"/>
                                        <p:tgtEl>
                                          <p:spTgt spid="19"/>
                                        </p:tgtEl>
                                      </p:cBhvr>
                                    </p:animEffect>
                                  </p:childTnLst>
                                </p:cTn>
                              </p:par>
                              <p:par>
                                <p:cTn id="110" presetID="53" presetClass="entr" presetSubtype="16" fill="hold" grpId="0" nodeType="withEffect">
                                  <p:stCondLst>
                                    <p:cond delay="680"/>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450" decel="100000" fill="hold"/>
                                        <p:tgtEl>
                                          <p:spTgt spid="23"/>
                                        </p:tgtEl>
                                        <p:attrNameLst>
                                          <p:attrName>ppt_w</p:attrName>
                                        </p:attrNameLst>
                                      </p:cBhvr>
                                      <p:tavLst>
                                        <p:tav tm="0">
                                          <p:val>
                                            <p:strVal val="0"/>
                                          </p:val>
                                        </p:tav>
                                        <p:tav tm="100000">
                                          <p:val>
                                            <p:strVal val="#ppt_w"/>
                                          </p:val>
                                        </p:tav>
                                      </p:tavLst>
                                    </p:anim>
                                    <p:anim calcmode="lin" valueType="num">
                                      <p:cBhvr additive="base">
                                        <p:cTn id="113" dur="450" decel="100000" fill="hold"/>
                                        <p:tgtEl>
                                          <p:spTgt spid="23"/>
                                        </p:tgtEl>
                                        <p:attrNameLst>
                                          <p:attrName>ppt_h</p:attrName>
                                        </p:attrNameLst>
                                      </p:cBhvr>
                                      <p:tavLst>
                                        <p:tav tm="0">
                                          <p:val>
                                            <p:strVal val="0"/>
                                          </p:val>
                                        </p:tav>
                                        <p:tav tm="100000">
                                          <p:val>
                                            <p:strVal val="#ppt_h"/>
                                          </p:val>
                                        </p:tav>
                                      </p:tavLst>
                                    </p:anim>
                                    <p:animEffect transition="in" filter="fade">
                                      <p:cBhvr>
                                        <p:cTn id="114" dur="450"/>
                                        <p:tgtEl>
                                          <p:spTgt spid="23"/>
                                        </p:tgtEl>
                                      </p:cBhvr>
                                    </p:animEffect>
                                  </p:childTnLst>
                                </p:cTn>
                              </p:par>
                              <p:par>
                                <p:cTn id="115" presetID="53" presetClass="entr" presetSubtype="16" fill="hold" grpId="0" nodeType="withEffect">
                                  <p:stCondLst>
                                    <p:cond delay="780"/>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450" decel="100000" fill="hold"/>
                                        <p:tgtEl>
                                          <p:spTgt spid="24"/>
                                        </p:tgtEl>
                                        <p:attrNameLst>
                                          <p:attrName>ppt_w</p:attrName>
                                        </p:attrNameLst>
                                      </p:cBhvr>
                                      <p:tavLst>
                                        <p:tav tm="0">
                                          <p:val>
                                            <p:strVal val="0"/>
                                          </p:val>
                                        </p:tav>
                                        <p:tav tm="100000">
                                          <p:val>
                                            <p:strVal val="#ppt_w"/>
                                          </p:val>
                                        </p:tav>
                                      </p:tavLst>
                                    </p:anim>
                                    <p:anim calcmode="lin" valueType="num">
                                      <p:cBhvr additive="base">
                                        <p:cTn id="118" dur="450" decel="100000" fill="hold"/>
                                        <p:tgtEl>
                                          <p:spTgt spid="24"/>
                                        </p:tgtEl>
                                        <p:attrNameLst>
                                          <p:attrName>ppt_h</p:attrName>
                                        </p:attrNameLst>
                                      </p:cBhvr>
                                      <p:tavLst>
                                        <p:tav tm="0">
                                          <p:val>
                                            <p:strVal val="0"/>
                                          </p:val>
                                        </p:tav>
                                        <p:tav tm="100000">
                                          <p:val>
                                            <p:strVal val="#ppt_h"/>
                                          </p:val>
                                        </p:tav>
                                      </p:tavLst>
                                    </p:anim>
                                    <p:animEffect transition="in" filter="fade">
                                      <p:cBhvr>
                                        <p:cTn id="11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01  |  التعريف بالمشروع</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أهمية المشروع</a:t>
            </a:r>
            <a:endParaRPr lang="en-US" sz="3000" dirty="0"/>
          </a:p>
        </p:txBody>
      </p:sp>
      <p:sp>
        <p:nvSpPr>
          <p:cNvPr id="4" name="anim6_0"/>
          <p:cNvSpPr/>
          <p:nvPr/>
        </p:nvSpPr>
        <p:spPr>
          <a:xfrm>
            <a:off x="9607052" y="1691640"/>
            <a:ext cx="2036003" cy="4343400"/>
          </a:xfrm>
          <a:prstGeom prst="roundRect">
            <a:avLst>
              <a:gd name="adj" fmla="val 44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6_1"/>
          <p:cNvSpPr txBox="1"/>
          <p:nvPr/>
        </p:nvSpPr>
        <p:spPr>
          <a:xfrm>
            <a:off x="9789932" y="1874520"/>
            <a:ext cx="1670243" cy="457200"/>
          </a:xfrm>
          <a:prstGeom prst="rect">
            <a:avLst/>
          </a:prstGeom>
          <a:noFill/>
          <a:ln/>
        </p:spPr>
        <p:txBody>
          <a:bodyPr wrap="square" lIns="0" tIns="0" rIns="0" bIns="0" rtlCol="0" anchor="t"/>
          <a:lstStyle/>
          <a:p>
            <a:pPr algn="l" indent="0" marL="0">
              <a:buNone/>
            </a:pPr>
            <a:r>
              <a:rPr lang="ar-SA" altLang="en-US" sz="2800" b="1" dirty="0">
                <a:solidFill>
                  <a:srgbClr val="D9E3EF"/>
                </a:solidFill>
                <a:latin typeface="JF Flat" pitchFamily="34" charset="0"/>
                <a:ea typeface="JF Flat" pitchFamily="34" charset="-122"/>
                <a:cs typeface="JF Flat" pitchFamily="34" charset="-120"/>
              </a:rPr>
              <a:t>01</a:t>
            </a:r>
            <a:endParaRPr lang="ar-SA" sz="2800" dirty="0"/>
          </a:p>
        </p:txBody>
      </p:sp>
      <p:sp>
        <p:nvSpPr>
          <p:cNvPr id="6" name="anim6_2"/>
          <p:cNvSpPr/>
          <p:nvPr/>
        </p:nvSpPr>
        <p:spPr>
          <a:xfrm>
            <a:off x="10167854" y="2377440"/>
            <a:ext cx="914400" cy="914400"/>
          </a:xfrm>
          <a:prstGeom prst="ellipse">
            <a:avLst/>
          </a:prstGeom>
          <a:solidFill>
            <a:srgbClr val="F15524"/>
          </a:solidFill>
          <a:ln w="12700">
            <a:solidFill>
              <a:srgbClr val="F15524"/>
            </a:solidFill>
            <a:prstDash val="solid"/>
          </a:ln>
        </p:spPr>
      </p:sp>
      <p:pic>
        <p:nvPicPr>
          <p:cNvPr id="7" name="anim6_3" descr="preencoded.png">    </p:cNvPr>
          <p:cNvPicPr>
            <a:picLocks noChangeAspect="1"/>
          </p:cNvPicPr>
          <p:nvPr/>
        </p:nvPicPr>
        <p:blipFill>
          <a:blip r:embed="rId1"/>
          <a:stretch>
            <a:fillRect/>
          </a:stretch>
        </p:blipFill>
        <p:spPr>
          <a:xfrm>
            <a:off x="10414742" y="2624328"/>
            <a:ext cx="420624" cy="420624"/>
          </a:xfrm>
          <a:prstGeom prst="rect">
            <a:avLst/>
          </a:prstGeom>
        </p:spPr>
      </p:pic>
      <p:sp>
        <p:nvSpPr>
          <p:cNvPr id="8" name="anim6_4"/>
          <p:cNvSpPr txBox="1"/>
          <p:nvPr/>
        </p:nvSpPr>
        <p:spPr>
          <a:xfrm>
            <a:off x="9744212" y="3520440"/>
            <a:ext cx="1761683" cy="411480"/>
          </a:xfrm>
          <a:prstGeom prst="rect">
            <a:avLst/>
          </a:prstGeom>
          <a:noFill/>
          <a:ln/>
        </p:spPr>
        <p:txBody>
          <a:bodyPr wrap="square" lIns="0" tIns="0" rIns="0" bIns="0" rtlCol="0" anchor="t"/>
          <a:lstStyle/>
          <a:p>
            <a:pPr rtl="1" algn="ctr" indent="0" marL="0">
              <a:buNone/>
            </a:pPr>
            <a:r>
              <a:rPr lang="ar-SA" altLang="en-US" sz="1700" b="1" dirty="0">
                <a:solidFill>
                  <a:srgbClr val="06305C"/>
                </a:solidFill>
                <a:latin typeface="JF Flat" pitchFamily="34" charset="0"/>
                <a:ea typeface="JF Flat" pitchFamily="34" charset="-122"/>
                <a:cs typeface="JF Flat" pitchFamily="34" charset="-120"/>
              </a:rPr>
              <a:t>السيادة الرقمية</a:t>
            </a:r>
            <a:endParaRPr lang="ar-SA" sz="1700" dirty="0"/>
          </a:p>
        </p:txBody>
      </p:sp>
      <p:sp>
        <p:nvSpPr>
          <p:cNvPr id="9" name="anim6_5"/>
          <p:cNvSpPr txBox="1"/>
          <p:nvPr/>
        </p:nvSpPr>
        <p:spPr>
          <a:xfrm>
            <a:off x="9789932" y="4023360"/>
            <a:ext cx="1670243" cy="1737360"/>
          </a:xfrm>
          <a:prstGeom prst="rect">
            <a:avLst/>
          </a:prstGeom>
          <a:noFill/>
          <a:ln/>
        </p:spPr>
        <p:txBody>
          <a:bodyPr wrap="square" lIns="0" tIns="0" rIns="0" bIns="0" rtlCol="0" anchor="t"/>
          <a:lstStyle/>
          <a:p>
            <a:pPr rtl="1" algn="ctr" indent="0" marL="0">
              <a:lnSpc>
                <a:spcPct val="120000"/>
              </a:lnSpc>
              <a:buNone/>
            </a:pPr>
            <a:r>
              <a:rPr lang="ar-SA" altLang="en-US" sz="1400" dirty="0">
                <a:solidFill>
                  <a:srgbClr val="5B6B7F"/>
                </a:solidFill>
                <a:latin typeface="JF Flat" pitchFamily="34" charset="0"/>
                <a:ea typeface="JF Flat" pitchFamily="34" charset="-122"/>
                <a:cs typeface="JF Flat" pitchFamily="34" charset="-120"/>
              </a:rPr>
              <a:t>توطين البيانات داخل ليبيا وتعزيز السيادة الرقمية.</a:t>
            </a:r>
            <a:endParaRPr lang="ar-SA" sz="1400" dirty="0"/>
          </a:p>
        </p:txBody>
      </p:sp>
      <p:sp>
        <p:nvSpPr>
          <p:cNvPr id="10" name="anim6_6"/>
          <p:cNvSpPr/>
          <p:nvPr/>
        </p:nvSpPr>
        <p:spPr>
          <a:xfrm>
            <a:off x="7342449" y="1691640"/>
            <a:ext cx="2036003" cy="4343400"/>
          </a:xfrm>
          <a:prstGeom prst="roundRect">
            <a:avLst>
              <a:gd name="adj" fmla="val 4491"/>
            </a:avLst>
          </a:prstGeom>
          <a:solidFill>
            <a:srgbClr val="F4F7FB"/>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1" name="anim6_7"/>
          <p:cNvSpPr txBox="1"/>
          <p:nvPr/>
        </p:nvSpPr>
        <p:spPr>
          <a:xfrm>
            <a:off x="7525329" y="1874520"/>
            <a:ext cx="1670243" cy="457200"/>
          </a:xfrm>
          <a:prstGeom prst="rect">
            <a:avLst/>
          </a:prstGeom>
          <a:noFill/>
          <a:ln/>
        </p:spPr>
        <p:txBody>
          <a:bodyPr wrap="square" lIns="0" tIns="0" rIns="0" bIns="0" rtlCol="0" anchor="t"/>
          <a:lstStyle/>
          <a:p>
            <a:pPr algn="l" indent="0" marL="0">
              <a:buNone/>
            </a:pPr>
            <a:r>
              <a:rPr lang="ar-SA" altLang="en-US" sz="2800" b="1" dirty="0">
                <a:solidFill>
                  <a:srgbClr val="D9E3EF"/>
                </a:solidFill>
                <a:latin typeface="JF Flat" pitchFamily="34" charset="0"/>
                <a:ea typeface="JF Flat" pitchFamily="34" charset="-122"/>
                <a:cs typeface="JF Flat" pitchFamily="34" charset="-120"/>
              </a:rPr>
              <a:t>02</a:t>
            </a:r>
            <a:endParaRPr lang="ar-SA" sz="2800" dirty="0"/>
          </a:p>
        </p:txBody>
      </p:sp>
      <p:sp>
        <p:nvSpPr>
          <p:cNvPr id="12" name="anim6_8"/>
          <p:cNvSpPr/>
          <p:nvPr/>
        </p:nvSpPr>
        <p:spPr>
          <a:xfrm>
            <a:off x="7903251" y="2377440"/>
            <a:ext cx="914400" cy="914400"/>
          </a:xfrm>
          <a:prstGeom prst="ellipse">
            <a:avLst/>
          </a:prstGeom>
          <a:solidFill>
            <a:srgbClr val="00539B"/>
          </a:solidFill>
          <a:ln w="12700">
            <a:solidFill>
              <a:srgbClr val="00539B"/>
            </a:solidFill>
            <a:prstDash val="solid"/>
          </a:ln>
        </p:spPr>
      </p:sp>
      <p:pic>
        <p:nvPicPr>
          <p:cNvPr id="13" name="anim6_9" descr="preencoded.png">    </p:cNvPr>
          <p:cNvPicPr>
            <a:picLocks noChangeAspect="1"/>
          </p:cNvPicPr>
          <p:nvPr/>
        </p:nvPicPr>
        <p:blipFill>
          <a:blip r:embed="rId2"/>
          <a:stretch>
            <a:fillRect/>
          </a:stretch>
        </p:blipFill>
        <p:spPr>
          <a:xfrm>
            <a:off x="8150139" y="2624328"/>
            <a:ext cx="420624" cy="420624"/>
          </a:xfrm>
          <a:prstGeom prst="rect">
            <a:avLst/>
          </a:prstGeom>
        </p:spPr>
      </p:pic>
      <p:sp>
        <p:nvSpPr>
          <p:cNvPr id="14" name="anim6_10"/>
          <p:cNvSpPr txBox="1"/>
          <p:nvPr/>
        </p:nvSpPr>
        <p:spPr>
          <a:xfrm>
            <a:off x="7479609" y="3520440"/>
            <a:ext cx="1761683" cy="411480"/>
          </a:xfrm>
          <a:prstGeom prst="rect">
            <a:avLst/>
          </a:prstGeom>
          <a:noFill/>
          <a:ln/>
        </p:spPr>
        <p:txBody>
          <a:bodyPr wrap="square" lIns="0" tIns="0" rIns="0" bIns="0" rtlCol="0" anchor="t"/>
          <a:lstStyle/>
          <a:p>
            <a:pPr rtl="1" algn="ctr" indent="0" marL="0">
              <a:buNone/>
            </a:pPr>
            <a:r>
              <a:rPr lang="ar-SA" altLang="en-US" sz="1700" b="1" dirty="0">
                <a:solidFill>
                  <a:srgbClr val="06305C"/>
                </a:solidFill>
                <a:latin typeface="JF Flat" pitchFamily="34" charset="0"/>
                <a:ea typeface="JF Flat" pitchFamily="34" charset="-122"/>
                <a:cs typeface="JF Flat" pitchFamily="34" charset="-120"/>
              </a:rPr>
              <a:t>أمن واستمرارية</a:t>
            </a:r>
            <a:endParaRPr lang="ar-SA" sz="1700" dirty="0"/>
          </a:p>
        </p:txBody>
      </p:sp>
      <p:sp>
        <p:nvSpPr>
          <p:cNvPr id="15" name="anim6_11"/>
          <p:cNvSpPr txBox="1"/>
          <p:nvPr/>
        </p:nvSpPr>
        <p:spPr>
          <a:xfrm>
            <a:off x="7525329" y="4023360"/>
            <a:ext cx="1670243" cy="1737360"/>
          </a:xfrm>
          <a:prstGeom prst="rect">
            <a:avLst/>
          </a:prstGeom>
          <a:noFill/>
          <a:ln/>
        </p:spPr>
        <p:txBody>
          <a:bodyPr wrap="square" lIns="0" tIns="0" rIns="0" bIns="0" rtlCol="0" anchor="t"/>
          <a:lstStyle/>
          <a:p>
            <a:pPr rtl="1" algn="ctr" indent="0" marL="0">
              <a:lnSpc>
                <a:spcPct val="120000"/>
              </a:lnSpc>
              <a:buNone/>
            </a:pPr>
            <a:r>
              <a:rPr lang="ar-SA" altLang="en-US" sz="1400" dirty="0">
                <a:solidFill>
                  <a:srgbClr val="5B6B7F"/>
                </a:solidFill>
                <a:latin typeface="JF Flat" pitchFamily="34" charset="0"/>
                <a:ea typeface="JF Flat" pitchFamily="34" charset="-122"/>
                <a:cs typeface="JF Flat" pitchFamily="34" charset="-120"/>
              </a:rPr>
              <a:t>رفع أمن المعلومات واستمرارية الخدمات الحكومية.</a:t>
            </a:r>
            <a:endParaRPr lang="ar-SA" sz="1400" dirty="0"/>
          </a:p>
        </p:txBody>
      </p:sp>
      <p:sp>
        <p:nvSpPr>
          <p:cNvPr id="16" name="anim6_12"/>
          <p:cNvSpPr/>
          <p:nvPr/>
        </p:nvSpPr>
        <p:spPr>
          <a:xfrm>
            <a:off x="5077846" y="1691640"/>
            <a:ext cx="2036003" cy="4343400"/>
          </a:xfrm>
          <a:prstGeom prst="roundRect">
            <a:avLst>
              <a:gd name="adj" fmla="val 44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6_13"/>
          <p:cNvSpPr txBox="1"/>
          <p:nvPr/>
        </p:nvSpPr>
        <p:spPr>
          <a:xfrm>
            <a:off x="5260726" y="1874520"/>
            <a:ext cx="1670243" cy="457200"/>
          </a:xfrm>
          <a:prstGeom prst="rect">
            <a:avLst/>
          </a:prstGeom>
          <a:noFill/>
          <a:ln/>
        </p:spPr>
        <p:txBody>
          <a:bodyPr wrap="square" lIns="0" tIns="0" rIns="0" bIns="0" rtlCol="0" anchor="t"/>
          <a:lstStyle/>
          <a:p>
            <a:pPr algn="l" indent="0" marL="0">
              <a:buNone/>
            </a:pPr>
            <a:r>
              <a:rPr lang="ar-SA" altLang="en-US" sz="2800" b="1" dirty="0">
                <a:solidFill>
                  <a:srgbClr val="D9E3EF"/>
                </a:solidFill>
                <a:latin typeface="JF Flat" pitchFamily="34" charset="0"/>
                <a:ea typeface="JF Flat" pitchFamily="34" charset="-122"/>
                <a:cs typeface="JF Flat" pitchFamily="34" charset="-120"/>
              </a:rPr>
              <a:t>03</a:t>
            </a:r>
            <a:endParaRPr lang="ar-SA" sz="2800" dirty="0"/>
          </a:p>
        </p:txBody>
      </p:sp>
      <p:sp>
        <p:nvSpPr>
          <p:cNvPr id="18" name="anim6_14"/>
          <p:cNvSpPr/>
          <p:nvPr/>
        </p:nvSpPr>
        <p:spPr>
          <a:xfrm>
            <a:off x="5638648" y="2377440"/>
            <a:ext cx="914400" cy="914400"/>
          </a:xfrm>
          <a:prstGeom prst="ellipse">
            <a:avLst/>
          </a:prstGeom>
          <a:solidFill>
            <a:srgbClr val="F15524"/>
          </a:solidFill>
          <a:ln w="12700">
            <a:solidFill>
              <a:srgbClr val="F15524"/>
            </a:solidFill>
            <a:prstDash val="solid"/>
          </a:ln>
        </p:spPr>
      </p:sp>
      <p:pic>
        <p:nvPicPr>
          <p:cNvPr id="19" name="anim6_15" descr="preencoded.png">    </p:cNvPr>
          <p:cNvPicPr>
            <a:picLocks noChangeAspect="1"/>
          </p:cNvPicPr>
          <p:nvPr/>
        </p:nvPicPr>
        <p:blipFill>
          <a:blip r:embed="rId3"/>
          <a:stretch>
            <a:fillRect/>
          </a:stretch>
        </p:blipFill>
        <p:spPr>
          <a:xfrm>
            <a:off x="5885536" y="2624328"/>
            <a:ext cx="420624" cy="420624"/>
          </a:xfrm>
          <a:prstGeom prst="rect">
            <a:avLst/>
          </a:prstGeom>
        </p:spPr>
      </p:pic>
      <p:sp>
        <p:nvSpPr>
          <p:cNvPr id="20" name="anim6_16"/>
          <p:cNvSpPr txBox="1"/>
          <p:nvPr/>
        </p:nvSpPr>
        <p:spPr>
          <a:xfrm>
            <a:off x="5215006" y="3520440"/>
            <a:ext cx="1761683" cy="411480"/>
          </a:xfrm>
          <a:prstGeom prst="rect">
            <a:avLst/>
          </a:prstGeom>
          <a:noFill/>
          <a:ln/>
        </p:spPr>
        <p:txBody>
          <a:bodyPr wrap="square" lIns="0" tIns="0" rIns="0" bIns="0" rtlCol="0" anchor="t"/>
          <a:lstStyle/>
          <a:p>
            <a:pPr rtl="1" algn="ctr" indent="0" marL="0">
              <a:buNone/>
            </a:pPr>
            <a:r>
              <a:rPr lang="ar-SA" altLang="en-US" sz="1700" b="1" dirty="0">
                <a:solidFill>
                  <a:srgbClr val="06305C"/>
                </a:solidFill>
                <a:latin typeface="JF Flat" pitchFamily="34" charset="0"/>
                <a:ea typeface="JF Flat" pitchFamily="34" charset="-122"/>
                <a:cs typeface="JF Flat" pitchFamily="34" charset="-120"/>
              </a:rPr>
              <a:t>خدمات سحابية</a:t>
            </a:r>
            <a:endParaRPr lang="ar-SA" sz="1700" dirty="0"/>
          </a:p>
        </p:txBody>
      </p:sp>
      <p:sp>
        <p:nvSpPr>
          <p:cNvPr id="21" name="anim6_17"/>
          <p:cNvSpPr txBox="1"/>
          <p:nvPr/>
        </p:nvSpPr>
        <p:spPr>
          <a:xfrm>
            <a:off x="5260726" y="4023360"/>
            <a:ext cx="1670243" cy="1737360"/>
          </a:xfrm>
          <a:prstGeom prst="rect">
            <a:avLst/>
          </a:prstGeom>
          <a:noFill/>
          <a:ln/>
        </p:spPr>
        <p:txBody>
          <a:bodyPr wrap="square" lIns="0" tIns="0" rIns="0" bIns="0" rtlCol="0" anchor="t"/>
          <a:lstStyle/>
          <a:p>
            <a:pPr rtl="1" algn="ctr" indent="0" marL="0">
              <a:lnSpc>
                <a:spcPct val="120000"/>
              </a:lnSpc>
              <a:buNone/>
            </a:pPr>
            <a:r>
              <a:rPr lang="ar-SA" altLang="en-US" sz="1400" dirty="0">
                <a:solidFill>
                  <a:srgbClr val="5B6B7F"/>
                </a:solidFill>
                <a:latin typeface="JF Flat" pitchFamily="34" charset="0"/>
                <a:ea typeface="JF Flat" pitchFamily="34" charset="-122"/>
                <a:cs typeface="JF Flat" pitchFamily="34" charset="-120"/>
              </a:rPr>
              <a:t>توفير خدمات الحوسبة السحابية والنسخ الاحتياطي والتعافي من الكوارث.</a:t>
            </a:r>
            <a:endParaRPr lang="ar-SA" sz="1400" dirty="0"/>
          </a:p>
        </p:txBody>
      </p:sp>
      <p:sp>
        <p:nvSpPr>
          <p:cNvPr id="22" name="anim6_18"/>
          <p:cNvSpPr/>
          <p:nvPr/>
        </p:nvSpPr>
        <p:spPr>
          <a:xfrm>
            <a:off x="2813243" y="1691640"/>
            <a:ext cx="2036003" cy="4343400"/>
          </a:xfrm>
          <a:prstGeom prst="roundRect">
            <a:avLst>
              <a:gd name="adj" fmla="val 4491"/>
            </a:avLst>
          </a:prstGeom>
          <a:solidFill>
            <a:srgbClr val="F4F7FB"/>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3" name="anim6_19"/>
          <p:cNvSpPr txBox="1"/>
          <p:nvPr/>
        </p:nvSpPr>
        <p:spPr>
          <a:xfrm>
            <a:off x="2996123" y="1874520"/>
            <a:ext cx="1670243" cy="457200"/>
          </a:xfrm>
          <a:prstGeom prst="rect">
            <a:avLst/>
          </a:prstGeom>
          <a:noFill/>
          <a:ln/>
        </p:spPr>
        <p:txBody>
          <a:bodyPr wrap="square" lIns="0" tIns="0" rIns="0" bIns="0" rtlCol="0" anchor="t"/>
          <a:lstStyle/>
          <a:p>
            <a:pPr algn="l" indent="0" marL="0">
              <a:buNone/>
            </a:pPr>
            <a:r>
              <a:rPr lang="ar-SA" altLang="en-US" sz="2800" b="1" dirty="0">
                <a:solidFill>
                  <a:srgbClr val="D9E3EF"/>
                </a:solidFill>
                <a:latin typeface="JF Flat" pitchFamily="34" charset="0"/>
                <a:ea typeface="JF Flat" pitchFamily="34" charset="-122"/>
                <a:cs typeface="JF Flat" pitchFamily="34" charset="-120"/>
              </a:rPr>
              <a:t>04</a:t>
            </a:r>
            <a:endParaRPr lang="ar-SA" sz="2800" dirty="0"/>
          </a:p>
        </p:txBody>
      </p:sp>
      <p:sp>
        <p:nvSpPr>
          <p:cNvPr id="24" name="anim6_20"/>
          <p:cNvSpPr/>
          <p:nvPr/>
        </p:nvSpPr>
        <p:spPr>
          <a:xfrm>
            <a:off x="3374045" y="2377440"/>
            <a:ext cx="914400" cy="914400"/>
          </a:xfrm>
          <a:prstGeom prst="ellipse">
            <a:avLst/>
          </a:prstGeom>
          <a:solidFill>
            <a:srgbClr val="00539B"/>
          </a:solidFill>
          <a:ln w="12700">
            <a:solidFill>
              <a:srgbClr val="00539B"/>
            </a:solidFill>
            <a:prstDash val="solid"/>
          </a:ln>
        </p:spPr>
      </p:sp>
      <p:pic>
        <p:nvPicPr>
          <p:cNvPr id="25" name="anim6_21" descr="preencoded.png">    </p:cNvPr>
          <p:cNvPicPr>
            <a:picLocks noChangeAspect="1"/>
          </p:cNvPicPr>
          <p:nvPr/>
        </p:nvPicPr>
        <p:blipFill>
          <a:blip r:embed="rId4"/>
          <a:stretch>
            <a:fillRect/>
          </a:stretch>
        </p:blipFill>
        <p:spPr>
          <a:xfrm>
            <a:off x="3620933" y="2624328"/>
            <a:ext cx="420624" cy="420624"/>
          </a:xfrm>
          <a:prstGeom prst="rect">
            <a:avLst/>
          </a:prstGeom>
        </p:spPr>
      </p:pic>
      <p:sp>
        <p:nvSpPr>
          <p:cNvPr id="26" name="anim6_22"/>
          <p:cNvSpPr txBox="1"/>
          <p:nvPr/>
        </p:nvSpPr>
        <p:spPr>
          <a:xfrm>
            <a:off x="2950403" y="3520440"/>
            <a:ext cx="1761683" cy="411480"/>
          </a:xfrm>
          <a:prstGeom prst="rect">
            <a:avLst/>
          </a:prstGeom>
          <a:noFill/>
          <a:ln/>
        </p:spPr>
        <p:txBody>
          <a:bodyPr wrap="square" lIns="0" tIns="0" rIns="0" bIns="0" rtlCol="0" anchor="t"/>
          <a:lstStyle/>
          <a:p>
            <a:pPr rtl="1" algn="ctr" indent="0" marL="0">
              <a:buNone/>
            </a:pPr>
            <a:r>
              <a:rPr lang="ar-SA" altLang="en-US" sz="1700" b="1" dirty="0">
                <a:solidFill>
                  <a:srgbClr val="06305C"/>
                </a:solidFill>
                <a:latin typeface="JF Flat" pitchFamily="34" charset="0"/>
                <a:ea typeface="JF Flat" pitchFamily="34" charset="-122"/>
                <a:cs typeface="JF Flat" pitchFamily="34" charset="-120"/>
              </a:rPr>
              <a:t>كفاءة الإنفاق</a:t>
            </a:r>
            <a:endParaRPr lang="ar-SA" sz="1700" dirty="0"/>
          </a:p>
        </p:txBody>
      </p:sp>
      <p:sp>
        <p:nvSpPr>
          <p:cNvPr id="27" name="anim6_23"/>
          <p:cNvSpPr txBox="1"/>
          <p:nvPr/>
        </p:nvSpPr>
        <p:spPr>
          <a:xfrm>
            <a:off x="2996123" y="4023360"/>
            <a:ext cx="1670243" cy="1737360"/>
          </a:xfrm>
          <a:prstGeom prst="rect">
            <a:avLst/>
          </a:prstGeom>
          <a:noFill/>
          <a:ln/>
        </p:spPr>
        <p:txBody>
          <a:bodyPr wrap="square" lIns="0" tIns="0" rIns="0" bIns="0" rtlCol="0" anchor="t"/>
          <a:lstStyle/>
          <a:p>
            <a:pPr rtl="1" algn="ctr" indent="0" marL="0">
              <a:lnSpc>
                <a:spcPct val="120000"/>
              </a:lnSpc>
              <a:buNone/>
            </a:pPr>
            <a:r>
              <a:rPr lang="ar-SA" altLang="en-US" sz="1400" dirty="0">
                <a:solidFill>
                  <a:srgbClr val="5B6B7F"/>
                </a:solidFill>
                <a:latin typeface="JF Flat" pitchFamily="34" charset="0"/>
                <a:ea typeface="JF Flat" pitchFamily="34" charset="-122"/>
                <a:cs typeface="JF Flat" pitchFamily="34" charset="-120"/>
              </a:rPr>
              <a:t>تحسين كفاءة الإنفاق التقني من خلال مشاركة البنية التحتية.</a:t>
            </a:r>
            <a:endParaRPr lang="ar-SA" sz="1400" dirty="0"/>
          </a:p>
        </p:txBody>
      </p:sp>
      <p:sp>
        <p:nvSpPr>
          <p:cNvPr id="28" name="anim6_24"/>
          <p:cNvSpPr/>
          <p:nvPr/>
        </p:nvSpPr>
        <p:spPr>
          <a:xfrm>
            <a:off x="548640" y="1691640"/>
            <a:ext cx="2036003" cy="4343400"/>
          </a:xfrm>
          <a:prstGeom prst="roundRect">
            <a:avLst>
              <a:gd name="adj" fmla="val 4491"/>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9" name="anim6_25"/>
          <p:cNvSpPr txBox="1"/>
          <p:nvPr/>
        </p:nvSpPr>
        <p:spPr>
          <a:xfrm>
            <a:off x="731520" y="1874520"/>
            <a:ext cx="1670243" cy="457200"/>
          </a:xfrm>
          <a:prstGeom prst="rect">
            <a:avLst/>
          </a:prstGeom>
          <a:noFill/>
          <a:ln/>
        </p:spPr>
        <p:txBody>
          <a:bodyPr wrap="square" lIns="0" tIns="0" rIns="0" bIns="0" rtlCol="0" anchor="t"/>
          <a:lstStyle/>
          <a:p>
            <a:pPr algn="l" indent="0" marL="0">
              <a:buNone/>
            </a:pPr>
            <a:r>
              <a:rPr lang="ar-SA" altLang="en-US" sz="2800" b="1" dirty="0">
                <a:solidFill>
                  <a:srgbClr val="D9E3EF"/>
                </a:solidFill>
                <a:latin typeface="JF Flat" pitchFamily="34" charset="0"/>
                <a:ea typeface="JF Flat" pitchFamily="34" charset="-122"/>
                <a:cs typeface="JF Flat" pitchFamily="34" charset="-120"/>
              </a:rPr>
              <a:t>05</a:t>
            </a:r>
            <a:endParaRPr lang="ar-SA" sz="2800" dirty="0"/>
          </a:p>
        </p:txBody>
      </p:sp>
      <p:sp>
        <p:nvSpPr>
          <p:cNvPr id="30" name="anim6_26"/>
          <p:cNvSpPr/>
          <p:nvPr/>
        </p:nvSpPr>
        <p:spPr>
          <a:xfrm>
            <a:off x="1109442" y="2377440"/>
            <a:ext cx="914400" cy="914400"/>
          </a:xfrm>
          <a:prstGeom prst="ellipse">
            <a:avLst/>
          </a:prstGeom>
          <a:solidFill>
            <a:srgbClr val="F15524"/>
          </a:solidFill>
          <a:ln w="12700">
            <a:solidFill>
              <a:srgbClr val="F15524"/>
            </a:solidFill>
            <a:prstDash val="solid"/>
          </a:ln>
        </p:spPr>
      </p:sp>
      <p:pic>
        <p:nvPicPr>
          <p:cNvPr id="31" name="anim6_27" descr="preencoded.png">    </p:cNvPr>
          <p:cNvPicPr>
            <a:picLocks noChangeAspect="1"/>
          </p:cNvPicPr>
          <p:nvPr/>
        </p:nvPicPr>
        <p:blipFill>
          <a:blip r:embed="rId5"/>
          <a:stretch>
            <a:fillRect/>
          </a:stretch>
        </p:blipFill>
        <p:spPr>
          <a:xfrm>
            <a:off x="1356330" y="2624328"/>
            <a:ext cx="420624" cy="420624"/>
          </a:xfrm>
          <a:prstGeom prst="rect">
            <a:avLst/>
          </a:prstGeom>
        </p:spPr>
      </p:pic>
      <p:sp>
        <p:nvSpPr>
          <p:cNvPr id="32" name="anim6_28"/>
          <p:cNvSpPr txBox="1"/>
          <p:nvPr/>
        </p:nvSpPr>
        <p:spPr>
          <a:xfrm>
            <a:off x="685800" y="3520440"/>
            <a:ext cx="1761683" cy="411480"/>
          </a:xfrm>
          <a:prstGeom prst="rect">
            <a:avLst/>
          </a:prstGeom>
          <a:noFill/>
          <a:ln/>
        </p:spPr>
        <p:txBody>
          <a:bodyPr wrap="square" lIns="0" tIns="0" rIns="0" bIns="0" rtlCol="0" anchor="t"/>
          <a:lstStyle/>
          <a:p>
            <a:pPr rtl="1" algn="ctr" indent="0" marL="0">
              <a:buNone/>
            </a:pPr>
            <a:r>
              <a:rPr lang="ar-SA" altLang="en-US" sz="1700" b="1" dirty="0">
                <a:solidFill>
                  <a:srgbClr val="06305C"/>
                </a:solidFill>
                <a:latin typeface="JF Flat" pitchFamily="34" charset="0"/>
                <a:ea typeface="JF Flat" pitchFamily="34" charset="-122"/>
                <a:cs typeface="JF Flat" pitchFamily="34" charset="-120"/>
              </a:rPr>
              <a:t>التكامل الوطني</a:t>
            </a:r>
            <a:endParaRPr lang="ar-SA" sz="1700" dirty="0"/>
          </a:p>
        </p:txBody>
      </p:sp>
      <p:sp>
        <p:nvSpPr>
          <p:cNvPr id="33" name="anim6_29"/>
          <p:cNvSpPr txBox="1"/>
          <p:nvPr/>
        </p:nvSpPr>
        <p:spPr>
          <a:xfrm>
            <a:off x="731520" y="4023360"/>
            <a:ext cx="1670243" cy="1737360"/>
          </a:xfrm>
          <a:prstGeom prst="rect">
            <a:avLst/>
          </a:prstGeom>
          <a:noFill/>
          <a:ln/>
        </p:spPr>
        <p:txBody>
          <a:bodyPr wrap="square" lIns="0" tIns="0" rIns="0" bIns="0" rtlCol="0" anchor="t"/>
          <a:lstStyle/>
          <a:p>
            <a:pPr rtl="1" algn="ctr" indent="0" marL="0">
              <a:lnSpc>
                <a:spcPct val="120000"/>
              </a:lnSpc>
              <a:buNone/>
            </a:pPr>
            <a:r>
              <a:rPr lang="ar-SA" altLang="en-US" sz="1400" dirty="0">
                <a:solidFill>
                  <a:srgbClr val="5B6B7F"/>
                </a:solidFill>
                <a:latin typeface="JF Flat" pitchFamily="34" charset="0"/>
                <a:ea typeface="JF Flat" pitchFamily="34" charset="-122"/>
                <a:cs typeface="JF Flat" pitchFamily="34" charset="-120"/>
              </a:rPr>
              <a:t>التكامل مع الشبكة الحكومية الآمنة ونقطة تبادل الإنترنت الوطنية (IXP).</a:t>
            </a:r>
            <a:endParaRPr lang="ar-SA" sz="14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16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450" decel="100000" fill="hold"/>
                                        <p:tgtEl>
                                          <p:spTgt spid="6"/>
                                        </p:tgtEl>
                                        <p:attrNameLst>
                                          <p:attrName>ppt_w</p:attrName>
                                        </p:attrNameLst>
                                      </p:cBhvr>
                                      <p:tavLst>
                                        <p:tav tm="0">
                                          <p:val>
                                            <p:strVal val="0"/>
                                          </p:val>
                                        </p:tav>
                                        <p:tav tm="100000">
                                          <p:val>
                                            <p:strVal val="#ppt_w"/>
                                          </p:val>
                                        </p:tav>
                                      </p:tavLst>
                                    </p:anim>
                                    <p:anim calcmode="lin" valueType="num">
                                      <p:cBhvr additive="base">
                                        <p:cTn id="48" dur="450" decel="100000" fill="hold"/>
                                        <p:tgtEl>
                                          <p:spTgt spid="6"/>
                                        </p:tgtEl>
                                        <p:attrNameLst>
                                          <p:attrName>ppt_h</p:attrName>
                                        </p:attrNameLst>
                                      </p:cBhvr>
                                      <p:tavLst>
                                        <p:tav tm="0">
                                          <p:val>
                                            <p:strVal val="0"/>
                                          </p:val>
                                        </p:tav>
                                        <p:tav tm="100000">
                                          <p:val>
                                            <p:strVal val="#ppt_h"/>
                                          </p:val>
                                        </p:tav>
                                      </p:tavLst>
                                    </p:anim>
                                    <p:animEffect transition="in" filter="fade">
                                      <p:cBhvr>
                                        <p:cTn id="49" dur="450"/>
                                        <p:tgtEl>
                                          <p:spTgt spid="6"/>
                                        </p:tgtEl>
                                      </p:cBhvr>
                                    </p:animEffect>
                                  </p:childTnLst>
                                </p:cTn>
                              </p:par>
                              <p:par>
                                <p:cTn id="50" presetID="53" presetClass="entr" presetSubtype="16" fill="hold" grpId="0" nodeType="withEffect">
                                  <p:stCondLst>
                                    <p:cond delay="260"/>
                                  </p:stCondLst>
                                  <p:childTnLst>
                                    <p:set>
                                      <p:cBhvr>
                                        <p:cTn id="51" dur="1" fill="hold">
                                          <p:stCondLst>
                                            <p:cond delay="0"/>
                                          </p:stCondLst>
                                        </p:cTn>
                                        <p:tgtEl>
                                          <p:spTgt spid="7"/>
                                        </p:tgtEl>
                                        <p:attrNameLst>
                                          <p:attrName>style.visibility</p:attrName>
                                        </p:attrNameLst>
                                      </p:cBhvr>
                                      <p:to>
                                        <p:strVal val="visible"/>
                                      </p:to>
                                    </p:set>
                                    <p:anim calcmode="lin" valueType="num">
                                      <p:cBhvr additive="base">
                                        <p:cTn id="52" dur="450" decel="100000" fill="hold"/>
                                        <p:tgtEl>
                                          <p:spTgt spid="7"/>
                                        </p:tgtEl>
                                        <p:attrNameLst>
                                          <p:attrName>ppt_w</p:attrName>
                                        </p:attrNameLst>
                                      </p:cBhvr>
                                      <p:tavLst>
                                        <p:tav tm="0">
                                          <p:val>
                                            <p:strVal val="0"/>
                                          </p:val>
                                        </p:tav>
                                        <p:tav tm="100000">
                                          <p:val>
                                            <p:strVal val="#ppt_w"/>
                                          </p:val>
                                        </p:tav>
                                      </p:tavLst>
                                    </p:anim>
                                    <p:anim calcmode="lin" valueType="num">
                                      <p:cBhvr additive="base">
                                        <p:cTn id="53" dur="450" decel="100000" fill="hold"/>
                                        <p:tgtEl>
                                          <p:spTgt spid="7"/>
                                        </p:tgtEl>
                                        <p:attrNameLst>
                                          <p:attrName>ppt_h</p:attrName>
                                        </p:attrNameLst>
                                      </p:cBhvr>
                                      <p:tavLst>
                                        <p:tav tm="0">
                                          <p:val>
                                            <p:strVal val="0"/>
                                          </p:val>
                                        </p:tav>
                                        <p:tav tm="100000">
                                          <p:val>
                                            <p:strVal val="#ppt_h"/>
                                          </p:val>
                                        </p:tav>
                                      </p:tavLst>
                                    </p:anim>
                                    <p:animEffect transition="in" filter="fade">
                                      <p:cBhvr>
                                        <p:cTn id="54" dur="450"/>
                                        <p:tgtEl>
                                          <p:spTgt spid="7"/>
                                        </p:tgtEl>
                                      </p:cBhvr>
                                    </p:animEffect>
                                  </p:childTnLst>
                                </p:cTn>
                              </p:par>
                              <p:par>
                                <p:cTn id="55" presetID="42" presetClass="entr" presetSubtype="0" fill="hold" grpId="0" nodeType="withEffect">
                                  <p:stCondLst>
                                    <p:cond delay="26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26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7"/>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6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290"/>
                                  </p:stCondLst>
                                  <p:childTnLst>
                                    <p:set>
                                      <p:cBhvr>
                                        <p:cTn id="76" dur="1" fill="hold">
                                          <p:stCondLst>
                                            <p:cond delay="0"/>
                                          </p:stCondLst>
                                        </p:cTn>
                                        <p:tgtEl>
                                          <p:spTgt spid="12"/>
                                        </p:tgtEl>
                                        <p:attrNameLst>
                                          <p:attrName>style.visibility</p:attrName>
                                        </p:attrNameLst>
                                      </p:cBhvr>
                                      <p:to>
                                        <p:strVal val="visible"/>
                                      </p:to>
                                    </p:set>
                                    <p:anim calcmode="lin" valueType="num">
                                      <p:cBhvr additive="base">
                                        <p:cTn id="77" dur="450" decel="100000" fill="hold"/>
                                        <p:tgtEl>
                                          <p:spTgt spid="12"/>
                                        </p:tgtEl>
                                        <p:attrNameLst>
                                          <p:attrName>ppt_w</p:attrName>
                                        </p:attrNameLst>
                                      </p:cBhvr>
                                      <p:tavLst>
                                        <p:tav tm="0">
                                          <p:val>
                                            <p:strVal val="0"/>
                                          </p:val>
                                        </p:tav>
                                        <p:tav tm="100000">
                                          <p:val>
                                            <p:strVal val="#ppt_w"/>
                                          </p:val>
                                        </p:tav>
                                      </p:tavLst>
                                    </p:anim>
                                    <p:anim calcmode="lin" valueType="num">
                                      <p:cBhvr additive="base">
                                        <p:cTn id="78" dur="450" decel="100000" fill="hold"/>
                                        <p:tgtEl>
                                          <p:spTgt spid="12"/>
                                        </p:tgtEl>
                                        <p:attrNameLst>
                                          <p:attrName>ppt_h</p:attrName>
                                        </p:attrNameLst>
                                      </p:cBhvr>
                                      <p:tavLst>
                                        <p:tav tm="0">
                                          <p:val>
                                            <p:strVal val="0"/>
                                          </p:val>
                                        </p:tav>
                                        <p:tav tm="100000">
                                          <p:val>
                                            <p:strVal val="#ppt_h"/>
                                          </p:val>
                                        </p:tav>
                                      </p:tavLst>
                                    </p:anim>
                                    <p:animEffect transition="in" filter="fade">
                                      <p:cBhvr>
                                        <p:cTn id="79" dur="450"/>
                                        <p:tgtEl>
                                          <p:spTgt spid="12"/>
                                        </p:tgtEl>
                                      </p:cBhvr>
                                    </p:animEffect>
                                  </p:childTnLst>
                                </p:cTn>
                              </p:par>
                              <p:par>
                                <p:cTn id="80" presetID="53" presetClass="entr" presetSubtype="16" fill="hold" grpId="0" nodeType="withEffect">
                                  <p:stCondLst>
                                    <p:cond delay="390"/>
                                  </p:stCondLst>
                                  <p:childTnLst>
                                    <p:set>
                                      <p:cBhvr>
                                        <p:cTn id="81" dur="1" fill="hold">
                                          <p:stCondLst>
                                            <p:cond delay="0"/>
                                          </p:stCondLst>
                                        </p:cTn>
                                        <p:tgtEl>
                                          <p:spTgt spid="13"/>
                                        </p:tgtEl>
                                        <p:attrNameLst>
                                          <p:attrName>style.visibility</p:attrName>
                                        </p:attrNameLst>
                                      </p:cBhvr>
                                      <p:to>
                                        <p:strVal val="visible"/>
                                      </p:to>
                                    </p:set>
                                    <p:anim calcmode="lin" valueType="num">
                                      <p:cBhvr additive="base">
                                        <p:cTn id="82" dur="450" decel="100000" fill="hold"/>
                                        <p:tgtEl>
                                          <p:spTgt spid="13"/>
                                        </p:tgtEl>
                                        <p:attrNameLst>
                                          <p:attrName>ppt_w</p:attrName>
                                        </p:attrNameLst>
                                      </p:cBhvr>
                                      <p:tavLst>
                                        <p:tav tm="0">
                                          <p:val>
                                            <p:strVal val="0"/>
                                          </p:val>
                                        </p:tav>
                                        <p:tav tm="100000">
                                          <p:val>
                                            <p:strVal val="#ppt_w"/>
                                          </p:val>
                                        </p:tav>
                                      </p:tavLst>
                                    </p:anim>
                                    <p:anim calcmode="lin" valueType="num">
                                      <p:cBhvr additive="base">
                                        <p:cTn id="83" dur="450" decel="100000" fill="hold"/>
                                        <p:tgtEl>
                                          <p:spTgt spid="13"/>
                                        </p:tgtEl>
                                        <p:attrNameLst>
                                          <p:attrName>ppt_h</p:attrName>
                                        </p:attrNameLst>
                                      </p:cBhvr>
                                      <p:tavLst>
                                        <p:tav tm="0">
                                          <p:val>
                                            <p:strVal val="0"/>
                                          </p:val>
                                        </p:tav>
                                        <p:tav tm="100000">
                                          <p:val>
                                            <p:strVal val="#ppt_h"/>
                                          </p:val>
                                        </p:tav>
                                      </p:tavLst>
                                    </p:anim>
                                    <p:animEffect transition="in" filter="fade">
                                      <p:cBhvr>
                                        <p:cTn id="84" dur="450"/>
                                        <p:tgtEl>
                                          <p:spTgt spid="13"/>
                                        </p:tgtEl>
                                      </p:cBhvr>
                                    </p:animEffect>
                                  </p:childTnLst>
                                </p:cTn>
                              </p:par>
                              <p:par>
                                <p:cTn id="85" presetID="42" presetClass="entr" presetSubtype="0" fill="hold" grpId="0" nodeType="withEffect">
                                  <p:stCondLst>
                                    <p:cond delay="39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39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600"/>
                                        <p:tgtEl>
                                          <p:spTgt spid="23"/>
                                        </p:tgtEl>
                                      </p:cBhvr>
                                    </p:animEffect>
                                    <p:anim calcmode="lin" valueType="num">
                                      <p:cBhvr additive="base">
                                        <p:cTn id="9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3"/>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3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6"/>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39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53" presetClass="entr" presetSubtype="16" fill="hold" grpId="0" nodeType="withEffect">
                                  <p:stCondLst>
                                    <p:cond delay="420"/>
                                  </p:stCondLst>
                                  <p:childTnLst>
                                    <p:set>
                                      <p:cBhvr>
                                        <p:cTn id="106" dur="1" fill="hold">
                                          <p:stCondLst>
                                            <p:cond delay="0"/>
                                          </p:stCondLst>
                                        </p:cTn>
                                        <p:tgtEl>
                                          <p:spTgt spid="18"/>
                                        </p:tgtEl>
                                        <p:attrNameLst>
                                          <p:attrName>style.visibility</p:attrName>
                                        </p:attrNameLst>
                                      </p:cBhvr>
                                      <p:to>
                                        <p:strVal val="visible"/>
                                      </p:to>
                                    </p:set>
                                    <p:anim calcmode="lin" valueType="num">
                                      <p:cBhvr additive="base">
                                        <p:cTn id="107" dur="450" decel="100000" fill="hold"/>
                                        <p:tgtEl>
                                          <p:spTgt spid="18"/>
                                        </p:tgtEl>
                                        <p:attrNameLst>
                                          <p:attrName>ppt_w</p:attrName>
                                        </p:attrNameLst>
                                      </p:cBhvr>
                                      <p:tavLst>
                                        <p:tav tm="0">
                                          <p:val>
                                            <p:strVal val="0"/>
                                          </p:val>
                                        </p:tav>
                                        <p:tav tm="100000">
                                          <p:val>
                                            <p:strVal val="#ppt_w"/>
                                          </p:val>
                                        </p:tav>
                                      </p:tavLst>
                                    </p:anim>
                                    <p:anim calcmode="lin" valueType="num">
                                      <p:cBhvr additive="base">
                                        <p:cTn id="108" dur="450" decel="100000" fill="hold"/>
                                        <p:tgtEl>
                                          <p:spTgt spid="18"/>
                                        </p:tgtEl>
                                        <p:attrNameLst>
                                          <p:attrName>ppt_h</p:attrName>
                                        </p:attrNameLst>
                                      </p:cBhvr>
                                      <p:tavLst>
                                        <p:tav tm="0">
                                          <p:val>
                                            <p:strVal val="0"/>
                                          </p:val>
                                        </p:tav>
                                        <p:tav tm="100000">
                                          <p:val>
                                            <p:strVal val="#ppt_h"/>
                                          </p:val>
                                        </p:tav>
                                      </p:tavLst>
                                    </p:anim>
                                    <p:animEffect transition="in" filter="fade">
                                      <p:cBhvr>
                                        <p:cTn id="109" dur="450"/>
                                        <p:tgtEl>
                                          <p:spTgt spid="18"/>
                                        </p:tgtEl>
                                      </p:cBhvr>
                                    </p:animEffect>
                                  </p:childTnLst>
                                </p:cTn>
                              </p:par>
                              <p:par>
                                <p:cTn id="110" presetID="53" presetClass="entr" presetSubtype="16" fill="hold" grpId="0" nodeType="withEffect">
                                  <p:stCondLst>
                                    <p:cond delay="520"/>
                                  </p:stCondLst>
                                  <p:childTnLst>
                                    <p:set>
                                      <p:cBhvr>
                                        <p:cTn id="111" dur="1" fill="hold">
                                          <p:stCondLst>
                                            <p:cond delay="0"/>
                                          </p:stCondLst>
                                        </p:cTn>
                                        <p:tgtEl>
                                          <p:spTgt spid="19"/>
                                        </p:tgtEl>
                                        <p:attrNameLst>
                                          <p:attrName>style.visibility</p:attrName>
                                        </p:attrNameLst>
                                      </p:cBhvr>
                                      <p:to>
                                        <p:strVal val="visible"/>
                                      </p:to>
                                    </p:set>
                                    <p:anim calcmode="lin" valueType="num">
                                      <p:cBhvr additive="base">
                                        <p:cTn id="112" dur="450" decel="100000" fill="hold"/>
                                        <p:tgtEl>
                                          <p:spTgt spid="19"/>
                                        </p:tgtEl>
                                        <p:attrNameLst>
                                          <p:attrName>ppt_w</p:attrName>
                                        </p:attrNameLst>
                                      </p:cBhvr>
                                      <p:tavLst>
                                        <p:tav tm="0">
                                          <p:val>
                                            <p:strVal val="0"/>
                                          </p:val>
                                        </p:tav>
                                        <p:tav tm="100000">
                                          <p:val>
                                            <p:strVal val="#ppt_w"/>
                                          </p:val>
                                        </p:tav>
                                      </p:tavLst>
                                    </p:anim>
                                    <p:anim calcmode="lin" valueType="num">
                                      <p:cBhvr additive="base">
                                        <p:cTn id="113" dur="450" decel="100000" fill="hold"/>
                                        <p:tgtEl>
                                          <p:spTgt spid="19"/>
                                        </p:tgtEl>
                                        <p:attrNameLst>
                                          <p:attrName>ppt_h</p:attrName>
                                        </p:attrNameLst>
                                      </p:cBhvr>
                                      <p:tavLst>
                                        <p:tav tm="0">
                                          <p:val>
                                            <p:strVal val="0"/>
                                          </p:val>
                                        </p:tav>
                                        <p:tav tm="100000">
                                          <p:val>
                                            <p:strVal val="#ppt_h"/>
                                          </p:val>
                                        </p:tav>
                                      </p:tavLst>
                                    </p:anim>
                                    <p:animEffect transition="in" filter="fade">
                                      <p:cBhvr>
                                        <p:cTn id="114" dur="450"/>
                                        <p:tgtEl>
                                          <p:spTgt spid="19"/>
                                        </p:tgtEl>
                                      </p:cBhvr>
                                    </p:animEffect>
                                  </p:childTnLst>
                                </p:cTn>
                              </p:par>
                              <p:par>
                                <p:cTn id="115" presetID="42" presetClass="entr" presetSubtype="0" fill="hold" grpId="0" nodeType="withEffect">
                                  <p:stCondLst>
                                    <p:cond delay="52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00"/>
                                        <p:tgtEl>
                                          <p:spTgt spid="28"/>
                                        </p:tgtEl>
                                      </p:cBhvr>
                                    </p:animEffect>
                                    <p:anim calcmode="lin" valueType="num">
                                      <p:cBhvr additive="base">
                                        <p:cTn id="11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28"/>
                                        </p:tgtEl>
                                        <p:attrNameLst>
                                          <p:attrName>ppt_y</p:attrName>
                                        </p:attrNameLst>
                                      </p:cBhvr>
                                      <p:tavLst>
                                        <p:tav tm="0">
                                          <p:val>
                                            <p:strVal val="#ppt_y+.03"/>
                                          </p:val>
                                        </p:tav>
                                        <p:tav tm="100000">
                                          <p:val>
                                            <p:strVal val="#ppt_y"/>
                                          </p:val>
                                        </p:tav>
                                      </p:tavLst>
                                    </p:anim>
                                  </p:childTnLst>
                                </p:cTn>
                              </p:par>
                              <p:par>
                                <p:cTn id="120" presetID="42" presetClass="entr" presetSubtype="0" fill="hold" grpId="0" nodeType="withEffect">
                                  <p:stCondLst>
                                    <p:cond delay="52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600"/>
                                        <p:tgtEl>
                                          <p:spTgt spid="29"/>
                                        </p:tgtEl>
                                      </p:cBhvr>
                                    </p:animEffect>
                                    <p:anim calcmode="lin" valueType="num">
                                      <p:cBhvr additive="base">
                                        <p:cTn id="12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29"/>
                                        </p:tgtEl>
                                        <p:attrNameLst>
                                          <p:attrName>ppt_y</p:attrName>
                                        </p:attrNameLst>
                                      </p:cBhvr>
                                      <p:tavLst>
                                        <p:tav tm="0">
                                          <p:val>
                                            <p:strVal val="#ppt_y+.03"/>
                                          </p:val>
                                        </p:tav>
                                        <p:tav tm="100000">
                                          <p:val>
                                            <p:strVal val="#ppt_y"/>
                                          </p:val>
                                        </p:tav>
                                      </p:tavLst>
                                    </p:anim>
                                  </p:childTnLst>
                                </p:cTn>
                              </p:par>
                              <p:par>
                                <p:cTn id="125" presetID="42" presetClass="entr" presetSubtype="0" fill="hold" grpId="0" nodeType="withEffect">
                                  <p:stCondLst>
                                    <p:cond delay="52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600"/>
                                        <p:tgtEl>
                                          <p:spTgt spid="32"/>
                                        </p:tgtEl>
                                      </p:cBhvr>
                                    </p:animEffect>
                                    <p:anim calcmode="lin" valueType="num">
                                      <p:cBhvr additive="base">
                                        <p:cTn id="12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2"/>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52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53" presetClass="entr" presetSubtype="16" fill="hold" grpId="0" nodeType="withEffect">
                                  <p:stCondLst>
                                    <p:cond delay="550"/>
                                  </p:stCondLst>
                                  <p:childTnLst>
                                    <p:set>
                                      <p:cBhvr>
                                        <p:cTn id="136" dur="1" fill="hold">
                                          <p:stCondLst>
                                            <p:cond delay="0"/>
                                          </p:stCondLst>
                                        </p:cTn>
                                        <p:tgtEl>
                                          <p:spTgt spid="24"/>
                                        </p:tgtEl>
                                        <p:attrNameLst>
                                          <p:attrName>style.visibility</p:attrName>
                                        </p:attrNameLst>
                                      </p:cBhvr>
                                      <p:to>
                                        <p:strVal val="visible"/>
                                      </p:to>
                                    </p:set>
                                    <p:anim calcmode="lin" valueType="num">
                                      <p:cBhvr additive="base">
                                        <p:cTn id="137" dur="450" decel="100000" fill="hold"/>
                                        <p:tgtEl>
                                          <p:spTgt spid="24"/>
                                        </p:tgtEl>
                                        <p:attrNameLst>
                                          <p:attrName>ppt_w</p:attrName>
                                        </p:attrNameLst>
                                      </p:cBhvr>
                                      <p:tavLst>
                                        <p:tav tm="0">
                                          <p:val>
                                            <p:strVal val="0"/>
                                          </p:val>
                                        </p:tav>
                                        <p:tav tm="100000">
                                          <p:val>
                                            <p:strVal val="#ppt_w"/>
                                          </p:val>
                                        </p:tav>
                                      </p:tavLst>
                                    </p:anim>
                                    <p:anim calcmode="lin" valueType="num">
                                      <p:cBhvr additive="base">
                                        <p:cTn id="138" dur="450" decel="100000" fill="hold"/>
                                        <p:tgtEl>
                                          <p:spTgt spid="24"/>
                                        </p:tgtEl>
                                        <p:attrNameLst>
                                          <p:attrName>ppt_h</p:attrName>
                                        </p:attrNameLst>
                                      </p:cBhvr>
                                      <p:tavLst>
                                        <p:tav tm="0">
                                          <p:val>
                                            <p:strVal val="0"/>
                                          </p:val>
                                        </p:tav>
                                        <p:tav tm="100000">
                                          <p:val>
                                            <p:strVal val="#ppt_h"/>
                                          </p:val>
                                        </p:tav>
                                      </p:tavLst>
                                    </p:anim>
                                    <p:animEffect transition="in" filter="fade">
                                      <p:cBhvr>
                                        <p:cTn id="139" dur="450"/>
                                        <p:tgtEl>
                                          <p:spTgt spid="24"/>
                                        </p:tgtEl>
                                      </p:cBhvr>
                                    </p:animEffect>
                                  </p:childTnLst>
                                </p:cTn>
                              </p:par>
                              <p:par>
                                <p:cTn id="140" presetID="53" presetClass="entr" presetSubtype="16" fill="hold" grpId="0" nodeType="withEffect">
                                  <p:stCondLst>
                                    <p:cond delay="650"/>
                                  </p:stCondLst>
                                  <p:childTnLst>
                                    <p:set>
                                      <p:cBhvr>
                                        <p:cTn id="141" dur="1" fill="hold">
                                          <p:stCondLst>
                                            <p:cond delay="0"/>
                                          </p:stCondLst>
                                        </p:cTn>
                                        <p:tgtEl>
                                          <p:spTgt spid="25"/>
                                        </p:tgtEl>
                                        <p:attrNameLst>
                                          <p:attrName>style.visibility</p:attrName>
                                        </p:attrNameLst>
                                      </p:cBhvr>
                                      <p:to>
                                        <p:strVal val="visible"/>
                                      </p:to>
                                    </p:set>
                                    <p:anim calcmode="lin" valueType="num">
                                      <p:cBhvr additive="base">
                                        <p:cTn id="142" dur="450" decel="100000" fill="hold"/>
                                        <p:tgtEl>
                                          <p:spTgt spid="25"/>
                                        </p:tgtEl>
                                        <p:attrNameLst>
                                          <p:attrName>ppt_w</p:attrName>
                                        </p:attrNameLst>
                                      </p:cBhvr>
                                      <p:tavLst>
                                        <p:tav tm="0">
                                          <p:val>
                                            <p:strVal val="0"/>
                                          </p:val>
                                        </p:tav>
                                        <p:tav tm="100000">
                                          <p:val>
                                            <p:strVal val="#ppt_w"/>
                                          </p:val>
                                        </p:tav>
                                      </p:tavLst>
                                    </p:anim>
                                    <p:anim calcmode="lin" valueType="num">
                                      <p:cBhvr additive="base">
                                        <p:cTn id="143" dur="450" decel="100000" fill="hold"/>
                                        <p:tgtEl>
                                          <p:spTgt spid="25"/>
                                        </p:tgtEl>
                                        <p:attrNameLst>
                                          <p:attrName>ppt_h</p:attrName>
                                        </p:attrNameLst>
                                      </p:cBhvr>
                                      <p:tavLst>
                                        <p:tav tm="0">
                                          <p:val>
                                            <p:strVal val="0"/>
                                          </p:val>
                                        </p:tav>
                                        <p:tav tm="100000">
                                          <p:val>
                                            <p:strVal val="#ppt_h"/>
                                          </p:val>
                                        </p:tav>
                                      </p:tavLst>
                                    </p:anim>
                                    <p:animEffect transition="in" filter="fade">
                                      <p:cBhvr>
                                        <p:cTn id="144" dur="450"/>
                                        <p:tgtEl>
                                          <p:spTgt spid="25"/>
                                        </p:tgtEl>
                                      </p:cBhvr>
                                    </p:animEffect>
                                  </p:childTnLst>
                                </p:cTn>
                              </p:par>
                              <p:par>
                                <p:cTn id="145" presetID="53" presetClass="entr" presetSubtype="16" fill="hold" grpId="0" nodeType="withEffect">
                                  <p:stCondLst>
                                    <p:cond delay="680"/>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450" decel="100000" fill="hold"/>
                                        <p:tgtEl>
                                          <p:spTgt spid="30"/>
                                        </p:tgtEl>
                                        <p:attrNameLst>
                                          <p:attrName>ppt_w</p:attrName>
                                        </p:attrNameLst>
                                      </p:cBhvr>
                                      <p:tavLst>
                                        <p:tav tm="0">
                                          <p:val>
                                            <p:strVal val="0"/>
                                          </p:val>
                                        </p:tav>
                                        <p:tav tm="100000">
                                          <p:val>
                                            <p:strVal val="#ppt_w"/>
                                          </p:val>
                                        </p:tav>
                                      </p:tavLst>
                                    </p:anim>
                                    <p:anim calcmode="lin" valueType="num">
                                      <p:cBhvr additive="base">
                                        <p:cTn id="148" dur="450" decel="100000" fill="hold"/>
                                        <p:tgtEl>
                                          <p:spTgt spid="30"/>
                                        </p:tgtEl>
                                        <p:attrNameLst>
                                          <p:attrName>ppt_h</p:attrName>
                                        </p:attrNameLst>
                                      </p:cBhvr>
                                      <p:tavLst>
                                        <p:tav tm="0">
                                          <p:val>
                                            <p:strVal val="0"/>
                                          </p:val>
                                        </p:tav>
                                        <p:tav tm="100000">
                                          <p:val>
                                            <p:strVal val="#ppt_h"/>
                                          </p:val>
                                        </p:tav>
                                      </p:tavLst>
                                    </p:anim>
                                    <p:animEffect transition="in" filter="fade">
                                      <p:cBhvr>
                                        <p:cTn id="149" dur="450"/>
                                        <p:tgtEl>
                                          <p:spTgt spid="30"/>
                                        </p:tgtEl>
                                      </p:cBhvr>
                                    </p:animEffect>
                                  </p:childTnLst>
                                </p:cTn>
                              </p:par>
                              <p:par>
                                <p:cTn id="150" presetID="53" presetClass="entr" presetSubtype="16" fill="hold" grpId="0" nodeType="withEffect">
                                  <p:stCondLst>
                                    <p:cond delay="780"/>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450" decel="100000" fill="hold"/>
                                        <p:tgtEl>
                                          <p:spTgt spid="31"/>
                                        </p:tgtEl>
                                        <p:attrNameLst>
                                          <p:attrName>ppt_w</p:attrName>
                                        </p:attrNameLst>
                                      </p:cBhvr>
                                      <p:tavLst>
                                        <p:tav tm="0">
                                          <p:val>
                                            <p:strVal val="0"/>
                                          </p:val>
                                        </p:tav>
                                        <p:tav tm="100000">
                                          <p:val>
                                            <p:strVal val="#ppt_w"/>
                                          </p:val>
                                        </p:tav>
                                      </p:tavLst>
                                    </p:anim>
                                    <p:anim calcmode="lin" valueType="num">
                                      <p:cBhvr additive="base">
                                        <p:cTn id="153" dur="450" decel="100000" fill="hold"/>
                                        <p:tgtEl>
                                          <p:spTgt spid="31"/>
                                        </p:tgtEl>
                                        <p:attrNameLst>
                                          <p:attrName>ppt_h</p:attrName>
                                        </p:attrNameLst>
                                      </p:cBhvr>
                                      <p:tavLst>
                                        <p:tav tm="0">
                                          <p:val>
                                            <p:strVal val="0"/>
                                          </p:val>
                                        </p:tav>
                                        <p:tav tm="100000">
                                          <p:val>
                                            <p:strVal val="#ppt_h"/>
                                          </p:val>
                                        </p:tav>
                                      </p:tavLst>
                                    </p:anim>
                                    <p:animEffect transition="in" filter="fade">
                                      <p:cBhvr>
                                        <p:cTn id="15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P spid="3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02  |  نقاط القوة الاستراتيجية (1/2)</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نقاط القوة الاستراتيجية لشركة الجيل الجديد للتقنية</a:t>
            </a:r>
            <a:endParaRPr lang="en-US" sz="3000" dirty="0"/>
          </a:p>
        </p:txBody>
      </p:sp>
      <p:sp>
        <p:nvSpPr>
          <p:cNvPr id="4" name="anim7_0"/>
          <p:cNvSpPr/>
          <p:nvPr/>
        </p:nvSpPr>
        <p:spPr>
          <a:xfrm>
            <a:off x="9040901"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7_1"/>
          <p:cNvSpPr/>
          <p:nvPr/>
        </p:nvSpPr>
        <p:spPr>
          <a:xfrm>
            <a:off x="10929823" y="1828800"/>
            <a:ext cx="530352" cy="530352"/>
          </a:xfrm>
          <a:prstGeom prst="ellipse">
            <a:avLst/>
          </a:prstGeom>
          <a:solidFill>
            <a:srgbClr val="00539B"/>
          </a:solidFill>
          <a:ln w="12700">
            <a:solidFill>
              <a:srgbClr val="00539B"/>
            </a:solidFill>
            <a:prstDash val="solid"/>
          </a:ln>
        </p:spPr>
      </p:sp>
      <p:pic>
        <p:nvPicPr>
          <p:cNvPr id="6" name="anim7_2" descr="preencoded.png">    </p:cNvPr>
          <p:cNvPicPr>
            <a:picLocks noChangeAspect="1"/>
          </p:cNvPicPr>
          <p:nvPr/>
        </p:nvPicPr>
        <p:blipFill>
          <a:blip r:embed="rId1"/>
          <a:stretch>
            <a:fillRect/>
          </a:stretch>
        </p:blipFill>
        <p:spPr>
          <a:xfrm>
            <a:off x="11073018" y="1971995"/>
            <a:ext cx="243962" cy="243962"/>
          </a:xfrm>
          <a:prstGeom prst="rect">
            <a:avLst/>
          </a:prstGeom>
        </p:spPr>
      </p:pic>
      <p:sp>
        <p:nvSpPr>
          <p:cNvPr id="7" name="anim7_3"/>
          <p:cNvSpPr txBox="1"/>
          <p:nvPr/>
        </p:nvSpPr>
        <p:spPr>
          <a:xfrm>
            <a:off x="9205493"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البنية التحتية للشبكات</a:t>
            </a:r>
            <a:endParaRPr lang="ar-SA" sz="1400" dirty="0"/>
          </a:p>
        </p:txBody>
      </p:sp>
      <p:sp>
        <p:nvSpPr>
          <p:cNvPr id="8" name="anim7_4"/>
          <p:cNvSpPr txBox="1"/>
          <p:nvPr/>
        </p:nvSpPr>
        <p:spPr>
          <a:xfrm>
            <a:off x="9223781"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شبكة واسعة الانتشار جغرافياً وذات سعات عالية.</a:t>
            </a:r>
            <a:endParaRPr lang="ar-SA" sz="1250" dirty="0"/>
          </a:p>
        </p:txBody>
      </p:sp>
      <p:sp>
        <p:nvSpPr>
          <p:cNvPr id="9" name="anim7_5"/>
          <p:cNvSpPr/>
          <p:nvPr/>
        </p:nvSpPr>
        <p:spPr>
          <a:xfrm>
            <a:off x="6210148"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0" name="anim7_6"/>
          <p:cNvSpPr/>
          <p:nvPr/>
        </p:nvSpPr>
        <p:spPr>
          <a:xfrm>
            <a:off x="8099069" y="1828800"/>
            <a:ext cx="530352" cy="530352"/>
          </a:xfrm>
          <a:prstGeom prst="ellipse">
            <a:avLst/>
          </a:prstGeom>
          <a:solidFill>
            <a:srgbClr val="F15524"/>
          </a:solidFill>
          <a:ln w="12700">
            <a:solidFill>
              <a:srgbClr val="F15524"/>
            </a:solidFill>
            <a:prstDash val="solid"/>
          </a:ln>
        </p:spPr>
      </p:sp>
      <p:pic>
        <p:nvPicPr>
          <p:cNvPr id="11" name="anim7_7" descr="preencoded.png">    </p:cNvPr>
          <p:cNvPicPr>
            <a:picLocks noChangeAspect="1"/>
          </p:cNvPicPr>
          <p:nvPr/>
        </p:nvPicPr>
        <p:blipFill>
          <a:blip r:embed="rId2"/>
          <a:stretch>
            <a:fillRect/>
          </a:stretch>
        </p:blipFill>
        <p:spPr>
          <a:xfrm>
            <a:off x="8242264" y="1971995"/>
            <a:ext cx="243962" cy="243962"/>
          </a:xfrm>
          <a:prstGeom prst="rect">
            <a:avLst/>
          </a:prstGeom>
        </p:spPr>
      </p:pic>
      <p:sp>
        <p:nvSpPr>
          <p:cNvPr id="12" name="anim7_8"/>
          <p:cNvSpPr txBox="1"/>
          <p:nvPr/>
        </p:nvSpPr>
        <p:spPr>
          <a:xfrm>
            <a:off x="6374740"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التخصص التقني</a:t>
            </a:r>
            <a:endParaRPr lang="ar-SA" sz="1400" dirty="0"/>
          </a:p>
        </p:txBody>
      </p:sp>
      <p:sp>
        <p:nvSpPr>
          <p:cNvPr id="13" name="anim7_9"/>
          <p:cNvSpPr txBox="1"/>
          <p:nvPr/>
        </p:nvSpPr>
        <p:spPr>
          <a:xfrm>
            <a:off x="6393028"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التوافق بين نشاط الشركة ومجال مراكز البيانات والاتصالات وتقنية المعلومات.</a:t>
            </a:r>
            <a:endParaRPr lang="ar-SA" sz="1250" dirty="0"/>
          </a:p>
        </p:txBody>
      </p:sp>
      <p:sp>
        <p:nvSpPr>
          <p:cNvPr id="14" name="anim7_10"/>
          <p:cNvSpPr/>
          <p:nvPr/>
        </p:nvSpPr>
        <p:spPr>
          <a:xfrm>
            <a:off x="3379394"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5" name="anim7_11"/>
          <p:cNvSpPr/>
          <p:nvPr/>
        </p:nvSpPr>
        <p:spPr>
          <a:xfrm>
            <a:off x="5268316" y="1828800"/>
            <a:ext cx="530352" cy="530352"/>
          </a:xfrm>
          <a:prstGeom prst="ellipse">
            <a:avLst/>
          </a:prstGeom>
          <a:solidFill>
            <a:srgbClr val="00539B"/>
          </a:solidFill>
          <a:ln w="12700">
            <a:solidFill>
              <a:srgbClr val="00539B"/>
            </a:solidFill>
            <a:prstDash val="solid"/>
          </a:ln>
        </p:spPr>
      </p:sp>
      <p:pic>
        <p:nvPicPr>
          <p:cNvPr id="16" name="anim7_12" descr="preencoded.png">    </p:cNvPr>
          <p:cNvPicPr>
            <a:picLocks noChangeAspect="1"/>
          </p:cNvPicPr>
          <p:nvPr/>
        </p:nvPicPr>
        <p:blipFill>
          <a:blip r:embed="rId3"/>
          <a:stretch>
            <a:fillRect/>
          </a:stretch>
        </p:blipFill>
        <p:spPr>
          <a:xfrm>
            <a:off x="5411511" y="1971995"/>
            <a:ext cx="243962" cy="243962"/>
          </a:xfrm>
          <a:prstGeom prst="rect">
            <a:avLst/>
          </a:prstGeom>
        </p:spPr>
      </p:pic>
      <p:sp>
        <p:nvSpPr>
          <p:cNvPr id="17" name="anim7_13"/>
          <p:cNvSpPr txBox="1"/>
          <p:nvPr/>
        </p:nvSpPr>
        <p:spPr>
          <a:xfrm>
            <a:off x="3543986"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الكوادر الفنية والتشغيلية</a:t>
            </a:r>
            <a:endParaRPr lang="ar-SA" sz="1400" dirty="0"/>
          </a:p>
        </p:txBody>
      </p:sp>
      <p:sp>
        <p:nvSpPr>
          <p:cNvPr id="18" name="anim7_14"/>
          <p:cNvSpPr txBox="1"/>
          <p:nvPr/>
        </p:nvSpPr>
        <p:spPr>
          <a:xfrm>
            <a:off x="3562274"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إمكانية الاستفادة من الخبرات القائمة في التنفيذ والتشغيل والصيانة.</a:t>
            </a:r>
            <a:endParaRPr lang="ar-SA" sz="1250" dirty="0"/>
          </a:p>
        </p:txBody>
      </p:sp>
      <p:sp>
        <p:nvSpPr>
          <p:cNvPr id="19" name="anim7_15"/>
          <p:cNvSpPr/>
          <p:nvPr/>
        </p:nvSpPr>
        <p:spPr>
          <a:xfrm>
            <a:off x="548640"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0" name="anim7_16"/>
          <p:cNvSpPr/>
          <p:nvPr/>
        </p:nvSpPr>
        <p:spPr>
          <a:xfrm>
            <a:off x="2437562" y="1828800"/>
            <a:ext cx="530352" cy="530352"/>
          </a:xfrm>
          <a:prstGeom prst="ellipse">
            <a:avLst/>
          </a:prstGeom>
          <a:solidFill>
            <a:srgbClr val="F15524"/>
          </a:solidFill>
          <a:ln w="12700">
            <a:solidFill>
              <a:srgbClr val="F15524"/>
            </a:solidFill>
            <a:prstDash val="solid"/>
          </a:ln>
        </p:spPr>
      </p:sp>
      <p:pic>
        <p:nvPicPr>
          <p:cNvPr id="21" name="anim7_17" descr="preencoded.png">    </p:cNvPr>
          <p:cNvPicPr>
            <a:picLocks noChangeAspect="1"/>
          </p:cNvPicPr>
          <p:nvPr/>
        </p:nvPicPr>
        <p:blipFill>
          <a:blip r:embed="rId4"/>
          <a:stretch>
            <a:fillRect/>
          </a:stretch>
        </p:blipFill>
        <p:spPr>
          <a:xfrm>
            <a:off x="2580757" y="1971995"/>
            <a:ext cx="243962" cy="243962"/>
          </a:xfrm>
          <a:prstGeom prst="rect">
            <a:avLst/>
          </a:prstGeom>
        </p:spPr>
      </p:pic>
      <p:sp>
        <p:nvSpPr>
          <p:cNvPr id="22" name="anim7_18"/>
          <p:cNvSpPr txBox="1"/>
          <p:nvPr/>
        </p:nvSpPr>
        <p:spPr>
          <a:xfrm>
            <a:off x="713232"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توفر الأرض والمساحات</a:t>
            </a:r>
            <a:endParaRPr lang="ar-SA" sz="1400" dirty="0"/>
          </a:p>
        </p:txBody>
      </p:sp>
      <p:sp>
        <p:nvSpPr>
          <p:cNvPr id="23" name="anim7_19"/>
          <p:cNvSpPr txBox="1"/>
          <p:nvPr/>
        </p:nvSpPr>
        <p:spPr>
          <a:xfrm>
            <a:off x="731520"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إمكانية استغلال أصول الشركة لإنشاء المركز والتوسع مستقبلاً.</a:t>
            </a:r>
            <a:endParaRPr lang="ar-SA" sz="1250" dirty="0"/>
          </a:p>
        </p:txBody>
      </p:sp>
      <p:sp>
        <p:nvSpPr>
          <p:cNvPr id="24" name="anim7_20"/>
          <p:cNvSpPr/>
          <p:nvPr/>
        </p:nvSpPr>
        <p:spPr>
          <a:xfrm>
            <a:off x="9040901"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5" name="anim7_21"/>
          <p:cNvSpPr/>
          <p:nvPr/>
        </p:nvSpPr>
        <p:spPr>
          <a:xfrm>
            <a:off x="10929823" y="4206240"/>
            <a:ext cx="530352" cy="530352"/>
          </a:xfrm>
          <a:prstGeom prst="ellipse">
            <a:avLst/>
          </a:prstGeom>
          <a:solidFill>
            <a:srgbClr val="00539B"/>
          </a:solidFill>
          <a:ln w="12700">
            <a:solidFill>
              <a:srgbClr val="00539B"/>
            </a:solidFill>
            <a:prstDash val="solid"/>
          </a:ln>
        </p:spPr>
      </p:sp>
      <p:pic>
        <p:nvPicPr>
          <p:cNvPr id="26" name="anim7_22" descr="preencoded.png">    </p:cNvPr>
          <p:cNvPicPr>
            <a:picLocks noChangeAspect="1"/>
          </p:cNvPicPr>
          <p:nvPr/>
        </p:nvPicPr>
        <p:blipFill>
          <a:blip r:embed="rId5"/>
          <a:stretch>
            <a:fillRect/>
          </a:stretch>
        </p:blipFill>
        <p:spPr>
          <a:xfrm>
            <a:off x="11073018" y="4349435"/>
            <a:ext cx="243962" cy="243962"/>
          </a:xfrm>
          <a:prstGeom prst="rect">
            <a:avLst/>
          </a:prstGeom>
        </p:spPr>
      </p:pic>
      <p:sp>
        <p:nvSpPr>
          <p:cNvPr id="27" name="anim7_23"/>
          <p:cNvSpPr txBox="1"/>
          <p:nvPr/>
        </p:nvSpPr>
        <p:spPr>
          <a:xfrm>
            <a:off x="9205493"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السمعة المؤسسية</a:t>
            </a:r>
            <a:endParaRPr lang="ar-SA" sz="1400" dirty="0"/>
          </a:p>
        </p:txBody>
      </p:sp>
      <p:sp>
        <p:nvSpPr>
          <p:cNvPr id="28" name="anim7_24"/>
          <p:cNvSpPr txBox="1"/>
          <p:nvPr/>
        </p:nvSpPr>
        <p:spPr>
          <a:xfrm>
            <a:off x="9223781"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الخبرة في تقديم خدمات الاتصالات وتقنية المعلومات.</a:t>
            </a:r>
            <a:endParaRPr lang="ar-SA" sz="1250" dirty="0"/>
          </a:p>
        </p:txBody>
      </p:sp>
      <p:sp>
        <p:nvSpPr>
          <p:cNvPr id="29" name="anim7_25"/>
          <p:cNvSpPr/>
          <p:nvPr/>
        </p:nvSpPr>
        <p:spPr>
          <a:xfrm>
            <a:off x="6210148"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0" name="anim7_26"/>
          <p:cNvSpPr/>
          <p:nvPr/>
        </p:nvSpPr>
        <p:spPr>
          <a:xfrm>
            <a:off x="8099069" y="4206240"/>
            <a:ext cx="530352" cy="530352"/>
          </a:xfrm>
          <a:prstGeom prst="ellipse">
            <a:avLst/>
          </a:prstGeom>
          <a:solidFill>
            <a:srgbClr val="F15524"/>
          </a:solidFill>
          <a:ln w="12700">
            <a:solidFill>
              <a:srgbClr val="F15524"/>
            </a:solidFill>
            <a:prstDash val="solid"/>
          </a:ln>
        </p:spPr>
      </p:sp>
      <p:pic>
        <p:nvPicPr>
          <p:cNvPr id="31" name="anim7_27" descr="preencoded.png">    </p:cNvPr>
          <p:cNvPicPr>
            <a:picLocks noChangeAspect="1"/>
          </p:cNvPicPr>
          <p:nvPr/>
        </p:nvPicPr>
        <p:blipFill>
          <a:blip r:embed="rId6"/>
          <a:stretch>
            <a:fillRect/>
          </a:stretch>
        </p:blipFill>
        <p:spPr>
          <a:xfrm>
            <a:off x="8242264" y="4349435"/>
            <a:ext cx="243962" cy="243962"/>
          </a:xfrm>
          <a:prstGeom prst="rect">
            <a:avLst/>
          </a:prstGeom>
        </p:spPr>
      </p:pic>
      <p:sp>
        <p:nvSpPr>
          <p:cNvPr id="32" name="anim7_28"/>
          <p:cNvSpPr txBox="1"/>
          <p:nvPr/>
        </p:nvSpPr>
        <p:spPr>
          <a:xfrm>
            <a:off x="6374740"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الخبرة في تنفيذ المشروعات</a:t>
            </a:r>
            <a:endParaRPr lang="ar-SA" sz="1400" dirty="0"/>
          </a:p>
        </p:txBody>
      </p:sp>
      <p:sp>
        <p:nvSpPr>
          <p:cNvPr id="33" name="anim7_29"/>
          <p:cNvSpPr txBox="1"/>
          <p:nvPr/>
        </p:nvSpPr>
        <p:spPr>
          <a:xfrm>
            <a:off x="6393028"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الاستفادة من الخبرات المكتسبة في مشروعات الاتصالات وتقنية المعلومات.</a:t>
            </a:r>
            <a:endParaRPr lang="ar-SA" sz="1250" dirty="0"/>
          </a:p>
        </p:txBody>
      </p:sp>
      <p:sp>
        <p:nvSpPr>
          <p:cNvPr id="34" name="anim7_30"/>
          <p:cNvSpPr/>
          <p:nvPr/>
        </p:nvSpPr>
        <p:spPr>
          <a:xfrm>
            <a:off x="3379394"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5" name="anim7_31"/>
          <p:cNvSpPr/>
          <p:nvPr/>
        </p:nvSpPr>
        <p:spPr>
          <a:xfrm>
            <a:off x="5268316" y="4206240"/>
            <a:ext cx="530352" cy="530352"/>
          </a:xfrm>
          <a:prstGeom prst="ellipse">
            <a:avLst/>
          </a:prstGeom>
          <a:solidFill>
            <a:srgbClr val="00539B"/>
          </a:solidFill>
          <a:ln w="12700">
            <a:solidFill>
              <a:srgbClr val="00539B"/>
            </a:solidFill>
            <a:prstDash val="solid"/>
          </a:ln>
        </p:spPr>
      </p:sp>
      <p:pic>
        <p:nvPicPr>
          <p:cNvPr id="36" name="anim7_32" descr="preencoded.png">    </p:cNvPr>
          <p:cNvPicPr>
            <a:picLocks noChangeAspect="1"/>
          </p:cNvPicPr>
          <p:nvPr/>
        </p:nvPicPr>
        <p:blipFill>
          <a:blip r:embed="rId7"/>
          <a:stretch>
            <a:fillRect/>
          </a:stretch>
        </p:blipFill>
        <p:spPr>
          <a:xfrm>
            <a:off x="5411511" y="4349435"/>
            <a:ext cx="243962" cy="243962"/>
          </a:xfrm>
          <a:prstGeom prst="rect">
            <a:avLst/>
          </a:prstGeom>
        </p:spPr>
      </p:pic>
      <p:sp>
        <p:nvSpPr>
          <p:cNvPr id="37" name="anim7_33"/>
          <p:cNvSpPr txBox="1"/>
          <p:nvPr/>
        </p:nvSpPr>
        <p:spPr>
          <a:xfrm>
            <a:off x="3543986"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الدعم الفني والتشغيلي</a:t>
            </a:r>
            <a:endParaRPr lang="ar-SA" sz="1400" dirty="0"/>
          </a:p>
        </p:txBody>
      </p:sp>
      <p:sp>
        <p:nvSpPr>
          <p:cNvPr id="38" name="anim7_34"/>
          <p:cNvSpPr txBox="1"/>
          <p:nvPr/>
        </p:nvSpPr>
        <p:spPr>
          <a:xfrm>
            <a:off x="3562274"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إمكانية توفير المراقبة والدعم على مدار الساعة، مع ميزة قرب الموقع من البنية التحتية الكهربائية الاستراتيجية.</a:t>
            </a:r>
            <a:endParaRPr lang="ar-SA" sz="1250" dirty="0"/>
          </a:p>
        </p:txBody>
      </p:sp>
      <p:sp>
        <p:nvSpPr>
          <p:cNvPr id="39" name="anim7_35"/>
          <p:cNvSpPr/>
          <p:nvPr/>
        </p:nvSpPr>
        <p:spPr>
          <a:xfrm>
            <a:off x="548640" y="3977640"/>
            <a:ext cx="2602154" cy="2194560"/>
          </a:xfrm>
          <a:prstGeom prst="roundRect">
            <a:avLst>
              <a:gd name="adj" fmla="val 4167"/>
            </a:avLst>
          </a:prstGeom>
          <a:solidFill>
            <a:srgbClr val="06305C"/>
          </a:solidFill>
          <a:ln w="12700">
            <a:solidFill>
              <a:srgbClr val="06305C"/>
            </a:solidFill>
            <a:prstDash val="solid"/>
          </a:ln>
          <a:effectLst>
            <a:outerShdw sx="100000" sy="100000" kx="0" ky="0" algn="bl" rotWithShape="0" blurRad="127000" dist="38100" dir="5400000">
              <a:srgbClr val="1F3A5F">
                <a:alpha val="13000"/>
              </a:srgbClr>
            </a:outerShdw>
          </a:effectLst>
        </p:spPr>
      </p:sp>
      <p:pic>
        <p:nvPicPr>
          <p:cNvPr id="40" name="anim7_36" descr="preencoded.png">    </p:cNvPr>
          <p:cNvPicPr>
            <a:picLocks noChangeAspect="1"/>
          </p:cNvPicPr>
          <p:nvPr/>
        </p:nvPicPr>
        <p:blipFill>
          <a:blip r:embed="rId8"/>
          <a:stretch>
            <a:fillRect/>
          </a:stretch>
        </p:blipFill>
        <p:spPr>
          <a:xfrm>
            <a:off x="2373554" y="4251960"/>
            <a:ext cx="502920" cy="502920"/>
          </a:xfrm>
          <a:prstGeom prst="rect">
            <a:avLst/>
          </a:prstGeom>
        </p:spPr>
      </p:pic>
      <p:sp>
        <p:nvSpPr>
          <p:cNvPr id="41" name="anim7_37"/>
          <p:cNvSpPr txBox="1"/>
          <p:nvPr/>
        </p:nvSpPr>
        <p:spPr>
          <a:xfrm>
            <a:off x="777240" y="4892040"/>
            <a:ext cx="2144954" cy="822960"/>
          </a:xfrm>
          <a:prstGeom prst="rect">
            <a:avLst/>
          </a:prstGeom>
          <a:noFill/>
          <a:ln/>
        </p:spPr>
        <p:txBody>
          <a:bodyPr wrap="square" lIns="0" tIns="0" rIns="0" bIns="0" rtlCol="0" anchor="ctr"/>
          <a:lstStyle/>
          <a:p>
            <a:pPr rtl="1" algn="r" indent="0" marL="0">
              <a:buNone/>
            </a:pPr>
            <a:r>
              <a:rPr lang="ar-SA" altLang="en-US" sz="1900" b="1" dirty="0">
                <a:solidFill>
                  <a:srgbClr val="FFFFFF"/>
                </a:solidFill>
                <a:latin typeface="JF Flat" pitchFamily="34" charset="0"/>
                <a:ea typeface="JF Flat" pitchFamily="34" charset="-122"/>
                <a:cs typeface="JF Flat" pitchFamily="34" charset="-120"/>
              </a:rPr>
              <a:t>القدرات والأصول المؤسسية</a:t>
            </a:r>
            <a:endParaRPr lang="ar-SA" sz="1900" dirty="0"/>
          </a:p>
        </p:txBody>
      </p:sp>
      <p:sp>
        <p:nvSpPr>
          <p:cNvPr id="42" name="anim7_38"/>
          <p:cNvSpPr txBox="1"/>
          <p:nvPr/>
        </p:nvSpPr>
        <p:spPr>
          <a:xfrm>
            <a:off x="777240" y="5669280"/>
            <a:ext cx="2144954" cy="320040"/>
          </a:xfrm>
          <a:prstGeom prst="rect">
            <a:avLst/>
          </a:prstGeom>
          <a:noFill/>
          <a:ln/>
        </p:spPr>
        <p:txBody>
          <a:bodyPr wrap="square" lIns="0" tIns="0" rIns="0" bIns="0" rtlCol="0" anchor="t"/>
          <a:lstStyle/>
          <a:p>
            <a:pPr rtl="1" algn="r" indent="0" marL="0">
              <a:buNone/>
            </a:pPr>
            <a:r>
              <a:rPr lang="ar-SA" altLang="en-US" sz="1300" dirty="0">
                <a:solidFill>
                  <a:srgbClr val="C9DAEE"/>
                </a:solidFill>
                <a:latin typeface="JF Flat" pitchFamily="34" charset="0"/>
                <a:ea typeface="JF Flat" pitchFamily="34" charset="-122"/>
                <a:cs typeface="JF Flat" pitchFamily="34" charset="-120"/>
              </a:rPr>
              <a:t>7 عناصر قوة</a:t>
            </a:r>
            <a:endParaRPr lang="ar-SA" sz="13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anim calcmode="lin" valueType="num">
                                      <p:cBhvr additive="base">
                                        <p:cTn id="2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2"/>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53" presetClass="entr" presetSubtype="16" fill="hold" grpId="0" nodeType="withEffect">
                                  <p:stCondLst>
                                    <p:cond delay="16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450" decel="100000" fill="hold"/>
                                        <p:tgtEl>
                                          <p:spTgt spid="5"/>
                                        </p:tgtEl>
                                        <p:attrNameLst>
                                          <p:attrName>ppt_w</p:attrName>
                                        </p:attrNameLst>
                                      </p:cBhvr>
                                      <p:tavLst>
                                        <p:tav tm="0">
                                          <p:val>
                                            <p:strVal val="0"/>
                                          </p:val>
                                        </p:tav>
                                        <p:tav tm="100000">
                                          <p:val>
                                            <p:strVal val="#ppt_w"/>
                                          </p:val>
                                        </p:tav>
                                      </p:tavLst>
                                    </p:anim>
                                    <p:anim calcmode="lin" valueType="num">
                                      <p:cBhvr additive="base">
                                        <p:cTn id="38" dur="450" decel="100000" fill="hold"/>
                                        <p:tgtEl>
                                          <p:spTgt spid="5"/>
                                        </p:tgtEl>
                                        <p:attrNameLst>
                                          <p:attrName>ppt_h</p:attrName>
                                        </p:attrNameLst>
                                      </p:cBhvr>
                                      <p:tavLst>
                                        <p:tav tm="0">
                                          <p:val>
                                            <p:strVal val="0"/>
                                          </p:val>
                                        </p:tav>
                                        <p:tav tm="100000">
                                          <p:val>
                                            <p:strVal val="#ppt_h"/>
                                          </p:val>
                                        </p:tav>
                                      </p:tavLst>
                                    </p:anim>
                                    <p:animEffect transition="in" filter="fade">
                                      <p:cBhvr>
                                        <p:cTn id="39" dur="450"/>
                                        <p:tgtEl>
                                          <p:spTgt spid="5"/>
                                        </p:tgtEl>
                                      </p:cBhvr>
                                    </p:animEffect>
                                  </p:childTnLst>
                                </p:cTn>
                              </p:par>
                              <p:par>
                                <p:cTn id="40" presetID="53" presetClass="entr" presetSubtype="16" fill="hold" grpId="0" nodeType="withEffect">
                                  <p:stCondLst>
                                    <p:cond delay="26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450" decel="100000" fill="hold"/>
                                        <p:tgtEl>
                                          <p:spTgt spid="6"/>
                                        </p:tgtEl>
                                        <p:attrNameLst>
                                          <p:attrName>ppt_w</p:attrName>
                                        </p:attrNameLst>
                                      </p:cBhvr>
                                      <p:tavLst>
                                        <p:tav tm="0">
                                          <p:val>
                                            <p:strVal val="0"/>
                                          </p:val>
                                        </p:tav>
                                        <p:tav tm="100000">
                                          <p:val>
                                            <p:strVal val="#ppt_w"/>
                                          </p:val>
                                        </p:tav>
                                      </p:tavLst>
                                    </p:anim>
                                    <p:anim calcmode="lin" valueType="num">
                                      <p:cBhvr additive="base">
                                        <p:cTn id="43" dur="450" decel="100000" fill="hold"/>
                                        <p:tgtEl>
                                          <p:spTgt spid="6"/>
                                        </p:tgtEl>
                                        <p:attrNameLst>
                                          <p:attrName>ppt_h</p:attrName>
                                        </p:attrNameLst>
                                      </p:cBhvr>
                                      <p:tavLst>
                                        <p:tav tm="0">
                                          <p:val>
                                            <p:strVal val="0"/>
                                          </p:val>
                                        </p:tav>
                                        <p:tav tm="100000">
                                          <p:val>
                                            <p:strVal val="#ppt_h"/>
                                          </p:val>
                                        </p:tav>
                                      </p:tavLst>
                                    </p:anim>
                                    <p:animEffect transition="in" filter="fade">
                                      <p:cBhvr>
                                        <p:cTn id="44" dur="450"/>
                                        <p:tgtEl>
                                          <p:spTgt spid="6"/>
                                        </p:tgtEl>
                                      </p:cBhvr>
                                    </p:animEffect>
                                  </p:childTnLst>
                                </p:cTn>
                              </p:par>
                              <p:par>
                                <p:cTn id="45" presetID="42" presetClass="entr" presetSubtype="0" fill="hold" grpId="0" nodeType="withEffect">
                                  <p:stCondLst>
                                    <p:cond delay="2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600"/>
                                        <p:tgtEl>
                                          <p:spTgt spid="14"/>
                                        </p:tgtEl>
                                      </p:cBhvr>
                                    </p:animEffect>
                                    <p:anim calcmode="lin" valueType="num">
                                      <p:cBhvr additive="base">
                                        <p:cTn id="4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4"/>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26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anim calcmode="lin" valueType="num">
                                      <p:cBhvr additive="base">
                                        <p:cTn id="5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7"/>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26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53" presetClass="entr" presetSubtype="16" fill="hold" grpId="0" nodeType="withEffect">
                                  <p:stCondLst>
                                    <p:cond delay="29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450" decel="100000" fill="hold"/>
                                        <p:tgtEl>
                                          <p:spTgt spid="10"/>
                                        </p:tgtEl>
                                        <p:attrNameLst>
                                          <p:attrName>ppt_w</p:attrName>
                                        </p:attrNameLst>
                                      </p:cBhvr>
                                      <p:tavLst>
                                        <p:tav tm="0">
                                          <p:val>
                                            <p:strVal val="0"/>
                                          </p:val>
                                        </p:tav>
                                        <p:tav tm="100000">
                                          <p:val>
                                            <p:strVal val="#ppt_w"/>
                                          </p:val>
                                        </p:tav>
                                      </p:tavLst>
                                    </p:anim>
                                    <p:anim calcmode="lin" valueType="num">
                                      <p:cBhvr additive="base">
                                        <p:cTn id="63" dur="450" decel="100000" fill="hold"/>
                                        <p:tgtEl>
                                          <p:spTgt spid="10"/>
                                        </p:tgtEl>
                                        <p:attrNameLst>
                                          <p:attrName>ppt_h</p:attrName>
                                        </p:attrNameLst>
                                      </p:cBhvr>
                                      <p:tavLst>
                                        <p:tav tm="0">
                                          <p:val>
                                            <p:strVal val="0"/>
                                          </p:val>
                                        </p:tav>
                                        <p:tav tm="100000">
                                          <p:val>
                                            <p:strVal val="#ppt_h"/>
                                          </p:val>
                                        </p:tav>
                                      </p:tavLst>
                                    </p:anim>
                                    <p:animEffect transition="in" filter="fade">
                                      <p:cBhvr>
                                        <p:cTn id="64" dur="450"/>
                                        <p:tgtEl>
                                          <p:spTgt spid="10"/>
                                        </p:tgtEl>
                                      </p:cBhvr>
                                    </p:animEffect>
                                  </p:childTnLst>
                                </p:cTn>
                              </p:par>
                              <p:par>
                                <p:cTn id="65" presetID="53" presetClass="entr" presetSubtype="16" fill="hold" grpId="0" nodeType="withEffect">
                                  <p:stCondLst>
                                    <p:cond delay="39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450" decel="100000" fill="hold"/>
                                        <p:tgtEl>
                                          <p:spTgt spid="11"/>
                                        </p:tgtEl>
                                        <p:attrNameLst>
                                          <p:attrName>ppt_w</p:attrName>
                                        </p:attrNameLst>
                                      </p:cBhvr>
                                      <p:tavLst>
                                        <p:tav tm="0">
                                          <p:val>
                                            <p:strVal val="0"/>
                                          </p:val>
                                        </p:tav>
                                        <p:tav tm="100000">
                                          <p:val>
                                            <p:strVal val="#ppt_w"/>
                                          </p:val>
                                        </p:tav>
                                      </p:tavLst>
                                    </p:anim>
                                    <p:anim calcmode="lin" valueType="num">
                                      <p:cBhvr additive="base">
                                        <p:cTn id="68" dur="450" decel="100000" fill="hold"/>
                                        <p:tgtEl>
                                          <p:spTgt spid="11"/>
                                        </p:tgtEl>
                                        <p:attrNameLst>
                                          <p:attrName>ppt_h</p:attrName>
                                        </p:attrNameLst>
                                      </p:cBhvr>
                                      <p:tavLst>
                                        <p:tav tm="0">
                                          <p:val>
                                            <p:strVal val="0"/>
                                          </p:val>
                                        </p:tav>
                                        <p:tav tm="100000">
                                          <p:val>
                                            <p:strVal val="#ppt_h"/>
                                          </p:val>
                                        </p:tav>
                                      </p:tavLst>
                                    </p:anim>
                                    <p:animEffect transition="in" filter="fade">
                                      <p:cBhvr>
                                        <p:cTn id="69" dur="450"/>
                                        <p:tgtEl>
                                          <p:spTgt spid="11"/>
                                        </p:tgtEl>
                                      </p:cBhvr>
                                    </p:animEffect>
                                  </p:childTnLst>
                                </p:cTn>
                              </p:par>
                              <p:par>
                                <p:cTn id="70" presetID="42" presetClass="entr" presetSubtype="0" fill="hold" grpId="0" nodeType="withEffect">
                                  <p:stCondLst>
                                    <p:cond delay="39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600"/>
                                        <p:tgtEl>
                                          <p:spTgt spid="19"/>
                                        </p:tgtEl>
                                      </p:cBhvr>
                                    </p:animEffect>
                                    <p:anim calcmode="lin" valueType="num">
                                      <p:cBhvr additive="base">
                                        <p:cTn id="7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9"/>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39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2"/>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3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53" presetClass="entr" presetSubtype="16" fill="hold" grpId="0" nodeType="withEffect">
                                  <p:stCondLst>
                                    <p:cond delay="420"/>
                                  </p:stCondLst>
                                  <p:childTnLst>
                                    <p:set>
                                      <p:cBhvr>
                                        <p:cTn id="86" dur="1" fill="hold">
                                          <p:stCondLst>
                                            <p:cond delay="0"/>
                                          </p:stCondLst>
                                        </p:cTn>
                                        <p:tgtEl>
                                          <p:spTgt spid="15"/>
                                        </p:tgtEl>
                                        <p:attrNameLst>
                                          <p:attrName>style.visibility</p:attrName>
                                        </p:attrNameLst>
                                      </p:cBhvr>
                                      <p:to>
                                        <p:strVal val="visible"/>
                                      </p:to>
                                    </p:set>
                                    <p:anim calcmode="lin" valueType="num">
                                      <p:cBhvr additive="base">
                                        <p:cTn id="87" dur="450" decel="100000" fill="hold"/>
                                        <p:tgtEl>
                                          <p:spTgt spid="15"/>
                                        </p:tgtEl>
                                        <p:attrNameLst>
                                          <p:attrName>ppt_w</p:attrName>
                                        </p:attrNameLst>
                                      </p:cBhvr>
                                      <p:tavLst>
                                        <p:tav tm="0">
                                          <p:val>
                                            <p:strVal val="0"/>
                                          </p:val>
                                        </p:tav>
                                        <p:tav tm="100000">
                                          <p:val>
                                            <p:strVal val="#ppt_w"/>
                                          </p:val>
                                        </p:tav>
                                      </p:tavLst>
                                    </p:anim>
                                    <p:anim calcmode="lin" valueType="num">
                                      <p:cBhvr additive="base">
                                        <p:cTn id="88" dur="450" decel="100000" fill="hold"/>
                                        <p:tgtEl>
                                          <p:spTgt spid="15"/>
                                        </p:tgtEl>
                                        <p:attrNameLst>
                                          <p:attrName>ppt_h</p:attrName>
                                        </p:attrNameLst>
                                      </p:cBhvr>
                                      <p:tavLst>
                                        <p:tav tm="0">
                                          <p:val>
                                            <p:strVal val="0"/>
                                          </p:val>
                                        </p:tav>
                                        <p:tav tm="100000">
                                          <p:val>
                                            <p:strVal val="#ppt_h"/>
                                          </p:val>
                                        </p:tav>
                                      </p:tavLst>
                                    </p:anim>
                                    <p:animEffect transition="in" filter="fade">
                                      <p:cBhvr>
                                        <p:cTn id="89" dur="450"/>
                                        <p:tgtEl>
                                          <p:spTgt spid="15"/>
                                        </p:tgtEl>
                                      </p:cBhvr>
                                    </p:animEffect>
                                  </p:childTnLst>
                                </p:cTn>
                              </p:par>
                              <p:par>
                                <p:cTn id="90" presetID="53" presetClass="entr" presetSubtype="16" fill="hold" grpId="0" nodeType="withEffect">
                                  <p:stCondLst>
                                    <p:cond delay="52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450" decel="100000" fill="hold"/>
                                        <p:tgtEl>
                                          <p:spTgt spid="16"/>
                                        </p:tgtEl>
                                        <p:attrNameLst>
                                          <p:attrName>ppt_w</p:attrName>
                                        </p:attrNameLst>
                                      </p:cBhvr>
                                      <p:tavLst>
                                        <p:tav tm="0">
                                          <p:val>
                                            <p:strVal val="0"/>
                                          </p:val>
                                        </p:tav>
                                        <p:tav tm="100000">
                                          <p:val>
                                            <p:strVal val="#ppt_w"/>
                                          </p:val>
                                        </p:tav>
                                      </p:tavLst>
                                    </p:anim>
                                    <p:anim calcmode="lin" valueType="num">
                                      <p:cBhvr additive="base">
                                        <p:cTn id="93" dur="450" decel="100000" fill="hold"/>
                                        <p:tgtEl>
                                          <p:spTgt spid="16"/>
                                        </p:tgtEl>
                                        <p:attrNameLst>
                                          <p:attrName>ppt_h</p:attrName>
                                        </p:attrNameLst>
                                      </p:cBhvr>
                                      <p:tavLst>
                                        <p:tav tm="0">
                                          <p:val>
                                            <p:strVal val="0"/>
                                          </p:val>
                                        </p:tav>
                                        <p:tav tm="100000">
                                          <p:val>
                                            <p:strVal val="#ppt_h"/>
                                          </p:val>
                                        </p:tav>
                                      </p:tavLst>
                                    </p:anim>
                                    <p:animEffect transition="in" filter="fade">
                                      <p:cBhvr>
                                        <p:cTn id="94" dur="450"/>
                                        <p:tgtEl>
                                          <p:spTgt spid="16"/>
                                        </p:tgtEl>
                                      </p:cBhvr>
                                    </p:animEffect>
                                  </p:childTnLst>
                                </p:cTn>
                              </p:par>
                              <p:par>
                                <p:cTn id="95" presetID="42" presetClass="entr" presetSubtype="0" fill="hold" grpId="0" nodeType="withEffect">
                                  <p:stCondLst>
                                    <p:cond delay="52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52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52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53" presetClass="entr" presetSubtype="16" fill="hold" grpId="0" nodeType="withEffect">
                                  <p:stCondLst>
                                    <p:cond delay="550"/>
                                  </p:stCondLst>
                                  <p:childTnLst>
                                    <p:set>
                                      <p:cBhvr>
                                        <p:cTn id="111" dur="1" fill="hold">
                                          <p:stCondLst>
                                            <p:cond delay="0"/>
                                          </p:stCondLst>
                                        </p:cTn>
                                        <p:tgtEl>
                                          <p:spTgt spid="20"/>
                                        </p:tgtEl>
                                        <p:attrNameLst>
                                          <p:attrName>style.visibility</p:attrName>
                                        </p:attrNameLst>
                                      </p:cBhvr>
                                      <p:to>
                                        <p:strVal val="visible"/>
                                      </p:to>
                                    </p:set>
                                    <p:anim calcmode="lin" valueType="num">
                                      <p:cBhvr additive="base">
                                        <p:cTn id="112" dur="450" decel="100000" fill="hold"/>
                                        <p:tgtEl>
                                          <p:spTgt spid="20"/>
                                        </p:tgtEl>
                                        <p:attrNameLst>
                                          <p:attrName>ppt_w</p:attrName>
                                        </p:attrNameLst>
                                      </p:cBhvr>
                                      <p:tavLst>
                                        <p:tav tm="0">
                                          <p:val>
                                            <p:strVal val="0"/>
                                          </p:val>
                                        </p:tav>
                                        <p:tav tm="100000">
                                          <p:val>
                                            <p:strVal val="#ppt_w"/>
                                          </p:val>
                                        </p:tav>
                                      </p:tavLst>
                                    </p:anim>
                                    <p:anim calcmode="lin" valueType="num">
                                      <p:cBhvr additive="base">
                                        <p:cTn id="113" dur="450" decel="100000" fill="hold"/>
                                        <p:tgtEl>
                                          <p:spTgt spid="20"/>
                                        </p:tgtEl>
                                        <p:attrNameLst>
                                          <p:attrName>ppt_h</p:attrName>
                                        </p:attrNameLst>
                                      </p:cBhvr>
                                      <p:tavLst>
                                        <p:tav tm="0">
                                          <p:val>
                                            <p:strVal val="0"/>
                                          </p:val>
                                        </p:tav>
                                        <p:tav tm="100000">
                                          <p:val>
                                            <p:strVal val="#ppt_h"/>
                                          </p:val>
                                        </p:tav>
                                      </p:tavLst>
                                    </p:anim>
                                    <p:animEffect transition="in" filter="fade">
                                      <p:cBhvr>
                                        <p:cTn id="114" dur="450"/>
                                        <p:tgtEl>
                                          <p:spTgt spid="20"/>
                                        </p:tgtEl>
                                      </p:cBhvr>
                                    </p:animEffect>
                                  </p:childTnLst>
                                </p:cTn>
                              </p:par>
                              <p:par>
                                <p:cTn id="115" presetID="53" presetClass="entr" presetSubtype="16" fill="hold" grpId="0" nodeType="withEffect">
                                  <p:stCondLst>
                                    <p:cond delay="650"/>
                                  </p:stCondLst>
                                  <p:childTnLst>
                                    <p:set>
                                      <p:cBhvr>
                                        <p:cTn id="116" dur="1" fill="hold">
                                          <p:stCondLst>
                                            <p:cond delay="0"/>
                                          </p:stCondLst>
                                        </p:cTn>
                                        <p:tgtEl>
                                          <p:spTgt spid="21"/>
                                        </p:tgtEl>
                                        <p:attrNameLst>
                                          <p:attrName>style.visibility</p:attrName>
                                        </p:attrNameLst>
                                      </p:cBhvr>
                                      <p:to>
                                        <p:strVal val="visible"/>
                                      </p:to>
                                    </p:set>
                                    <p:anim calcmode="lin" valueType="num">
                                      <p:cBhvr additive="base">
                                        <p:cTn id="117" dur="450" decel="100000" fill="hold"/>
                                        <p:tgtEl>
                                          <p:spTgt spid="21"/>
                                        </p:tgtEl>
                                        <p:attrNameLst>
                                          <p:attrName>ppt_w</p:attrName>
                                        </p:attrNameLst>
                                      </p:cBhvr>
                                      <p:tavLst>
                                        <p:tav tm="0">
                                          <p:val>
                                            <p:strVal val="0"/>
                                          </p:val>
                                        </p:tav>
                                        <p:tav tm="100000">
                                          <p:val>
                                            <p:strVal val="#ppt_w"/>
                                          </p:val>
                                        </p:tav>
                                      </p:tavLst>
                                    </p:anim>
                                    <p:anim calcmode="lin" valueType="num">
                                      <p:cBhvr additive="base">
                                        <p:cTn id="118" dur="450" decel="100000" fill="hold"/>
                                        <p:tgtEl>
                                          <p:spTgt spid="21"/>
                                        </p:tgtEl>
                                        <p:attrNameLst>
                                          <p:attrName>ppt_h</p:attrName>
                                        </p:attrNameLst>
                                      </p:cBhvr>
                                      <p:tavLst>
                                        <p:tav tm="0">
                                          <p:val>
                                            <p:strVal val="0"/>
                                          </p:val>
                                        </p:tav>
                                        <p:tav tm="100000">
                                          <p:val>
                                            <p:strVal val="#ppt_h"/>
                                          </p:val>
                                        </p:tav>
                                      </p:tavLst>
                                    </p:anim>
                                    <p:animEffect transition="in" filter="fade">
                                      <p:cBhvr>
                                        <p:cTn id="119" dur="450"/>
                                        <p:tgtEl>
                                          <p:spTgt spid="21"/>
                                        </p:tgtEl>
                                      </p:cBhvr>
                                    </p:animEffect>
                                  </p:childTnLst>
                                </p:cTn>
                              </p:par>
                              <p:par>
                                <p:cTn id="120" presetID="42" presetClass="entr" presetSubtype="0" fill="hold" grpId="0" nodeType="withEffect">
                                  <p:stCondLst>
                                    <p:cond delay="65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600"/>
                                        <p:tgtEl>
                                          <p:spTgt spid="29"/>
                                        </p:tgtEl>
                                      </p:cBhvr>
                                    </p:animEffect>
                                    <p:anim calcmode="lin" valueType="num">
                                      <p:cBhvr additive="base">
                                        <p:cTn id="12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29"/>
                                        </p:tgtEl>
                                        <p:attrNameLst>
                                          <p:attrName>ppt_y</p:attrName>
                                        </p:attrNameLst>
                                      </p:cBhvr>
                                      <p:tavLst>
                                        <p:tav tm="0">
                                          <p:val>
                                            <p:strVal val="#ppt_y+.03"/>
                                          </p:val>
                                        </p:tav>
                                        <p:tav tm="100000">
                                          <p:val>
                                            <p:strVal val="#ppt_y"/>
                                          </p:val>
                                        </p:tav>
                                      </p:tavLst>
                                    </p:anim>
                                  </p:childTnLst>
                                </p:cTn>
                              </p:par>
                              <p:par>
                                <p:cTn id="125" presetID="42" presetClass="entr" presetSubtype="0" fill="hold" grpId="0" nodeType="withEffect">
                                  <p:stCondLst>
                                    <p:cond delay="65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600"/>
                                        <p:tgtEl>
                                          <p:spTgt spid="32"/>
                                        </p:tgtEl>
                                      </p:cBhvr>
                                    </p:animEffect>
                                    <p:anim calcmode="lin" valueType="num">
                                      <p:cBhvr additive="base">
                                        <p:cTn id="12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2"/>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65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53" presetClass="entr" presetSubtype="16" fill="hold" grpId="0" nodeType="withEffect">
                                  <p:stCondLst>
                                    <p:cond delay="680"/>
                                  </p:stCondLst>
                                  <p:childTnLst>
                                    <p:set>
                                      <p:cBhvr>
                                        <p:cTn id="136" dur="1" fill="hold">
                                          <p:stCondLst>
                                            <p:cond delay="0"/>
                                          </p:stCondLst>
                                        </p:cTn>
                                        <p:tgtEl>
                                          <p:spTgt spid="25"/>
                                        </p:tgtEl>
                                        <p:attrNameLst>
                                          <p:attrName>style.visibility</p:attrName>
                                        </p:attrNameLst>
                                      </p:cBhvr>
                                      <p:to>
                                        <p:strVal val="visible"/>
                                      </p:to>
                                    </p:set>
                                    <p:anim calcmode="lin" valueType="num">
                                      <p:cBhvr additive="base">
                                        <p:cTn id="137" dur="450" decel="100000" fill="hold"/>
                                        <p:tgtEl>
                                          <p:spTgt spid="25"/>
                                        </p:tgtEl>
                                        <p:attrNameLst>
                                          <p:attrName>ppt_w</p:attrName>
                                        </p:attrNameLst>
                                      </p:cBhvr>
                                      <p:tavLst>
                                        <p:tav tm="0">
                                          <p:val>
                                            <p:strVal val="0"/>
                                          </p:val>
                                        </p:tav>
                                        <p:tav tm="100000">
                                          <p:val>
                                            <p:strVal val="#ppt_w"/>
                                          </p:val>
                                        </p:tav>
                                      </p:tavLst>
                                    </p:anim>
                                    <p:anim calcmode="lin" valueType="num">
                                      <p:cBhvr additive="base">
                                        <p:cTn id="138" dur="450" decel="100000" fill="hold"/>
                                        <p:tgtEl>
                                          <p:spTgt spid="25"/>
                                        </p:tgtEl>
                                        <p:attrNameLst>
                                          <p:attrName>ppt_h</p:attrName>
                                        </p:attrNameLst>
                                      </p:cBhvr>
                                      <p:tavLst>
                                        <p:tav tm="0">
                                          <p:val>
                                            <p:strVal val="0"/>
                                          </p:val>
                                        </p:tav>
                                        <p:tav tm="100000">
                                          <p:val>
                                            <p:strVal val="#ppt_h"/>
                                          </p:val>
                                        </p:tav>
                                      </p:tavLst>
                                    </p:anim>
                                    <p:animEffect transition="in" filter="fade">
                                      <p:cBhvr>
                                        <p:cTn id="139" dur="450"/>
                                        <p:tgtEl>
                                          <p:spTgt spid="25"/>
                                        </p:tgtEl>
                                      </p:cBhvr>
                                    </p:animEffect>
                                  </p:childTnLst>
                                </p:cTn>
                              </p:par>
                              <p:par>
                                <p:cTn id="140" presetID="53" presetClass="entr" presetSubtype="16" fill="hold" grpId="0" nodeType="withEffect">
                                  <p:stCondLst>
                                    <p:cond delay="780"/>
                                  </p:stCondLst>
                                  <p:childTnLst>
                                    <p:set>
                                      <p:cBhvr>
                                        <p:cTn id="141" dur="1" fill="hold">
                                          <p:stCondLst>
                                            <p:cond delay="0"/>
                                          </p:stCondLst>
                                        </p:cTn>
                                        <p:tgtEl>
                                          <p:spTgt spid="26"/>
                                        </p:tgtEl>
                                        <p:attrNameLst>
                                          <p:attrName>style.visibility</p:attrName>
                                        </p:attrNameLst>
                                      </p:cBhvr>
                                      <p:to>
                                        <p:strVal val="visible"/>
                                      </p:to>
                                    </p:set>
                                    <p:anim calcmode="lin" valueType="num">
                                      <p:cBhvr additive="base">
                                        <p:cTn id="142" dur="450" decel="100000" fill="hold"/>
                                        <p:tgtEl>
                                          <p:spTgt spid="26"/>
                                        </p:tgtEl>
                                        <p:attrNameLst>
                                          <p:attrName>ppt_w</p:attrName>
                                        </p:attrNameLst>
                                      </p:cBhvr>
                                      <p:tavLst>
                                        <p:tav tm="0">
                                          <p:val>
                                            <p:strVal val="0"/>
                                          </p:val>
                                        </p:tav>
                                        <p:tav tm="100000">
                                          <p:val>
                                            <p:strVal val="#ppt_w"/>
                                          </p:val>
                                        </p:tav>
                                      </p:tavLst>
                                    </p:anim>
                                    <p:anim calcmode="lin" valueType="num">
                                      <p:cBhvr additive="base">
                                        <p:cTn id="143" dur="450" decel="100000" fill="hold"/>
                                        <p:tgtEl>
                                          <p:spTgt spid="26"/>
                                        </p:tgtEl>
                                        <p:attrNameLst>
                                          <p:attrName>ppt_h</p:attrName>
                                        </p:attrNameLst>
                                      </p:cBhvr>
                                      <p:tavLst>
                                        <p:tav tm="0">
                                          <p:val>
                                            <p:strVal val="0"/>
                                          </p:val>
                                        </p:tav>
                                        <p:tav tm="100000">
                                          <p:val>
                                            <p:strVal val="#ppt_h"/>
                                          </p:val>
                                        </p:tav>
                                      </p:tavLst>
                                    </p:anim>
                                    <p:animEffect transition="in" filter="fade">
                                      <p:cBhvr>
                                        <p:cTn id="144" dur="450"/>
                                        <p:tgtEl>
                                          <p:spTgt spid="26"/>
                                        </p:tgtEl>
                                      </p:cBhvr>
                                    </p:animEffect>
                                  </p:childTnLst>
                                </p:cTn>
                              </p:par>
                              <p:par>
                                <p:cTn id="145" presetID="42" presetClass="entr" presetSubtype="0" fill="hold" grpId="0" nodeType="withEffect">
                                  <p:stCondLst>
                                    <p:cond delay="78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600"/>
                                        <p:tgtEl>
                                          <p:spTgt spid="34"/>
                                        </p:tgtEl>
                                      </p:cBhvr>
                                    </p:animEffect>
                                    <p:anim calcmode="lin" valueType="num">
                                      <p:cBhvr additive="base">
                                        <p:cTn id="14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49" dur="600" decel="100000" fill="hold"/>
                                        <p:tgtEl>
                                          <p:spTgt spid="34"/>
                                        </p:tgtEl>
                                        <p:attrNameLst>
                                          <p:attrName>ppt_y</p:attrName>
                                        </p:attrNameLst>
                                      </p:cBhvr>
                                      <p:tavLst>
                                        <p:tav tm="0">
                                          <p:val>
                                            <p:strVal val="#ppt_y+.03"/>
                                          </p:val>
                                        </p:tav>
                                        <p:tav tm="100000">
                                          <p:val>
                                            <p:strVal val="#ppt_y"/>
                                          </p:val>
                                        </p:tav>
                                      </p:tavLst>
                                    </p:anim>
                                  </p:childTnLst>
                                </p:cTn>
                              </p:par>
                              <p:par>
                                <p:cTn id="150" presetID="42" presetClass="entr" presetSubtype="0" fill="hold" grpId="0" nodeType="withEffect">
                                  <p:stCondLst>
                                    <p:cond delay="78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600"/>
                                        <p:tgtEl>
                                          <p:spTgt spid="37"/>
                                        </p:tgtEl>
                                      </p:cBhvr>
                                    </p:animEffect>
                                    <p:anim calcmode="lin" valueType="num">
                                      <p:cBhvr additive="base">
                                        <p:cTn id="153"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7"/>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78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600"/>
                                        <p:tgtEl>
                                          <p:spTgt spid="38"/>
                                        </p:tgtEl>
                                      </p:cBhvr>
                                    </p:animEffect>
                                    <p:anim calcmode="lin" valueType="num">
                                      <p:cBhvr additive="base">
                                        <p:cTn id="15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8"/>
                                        </p:tgtEl>
                                        <p:attrNameLst>
                                          <p:attrName>ppt_y</p:attrName>
                                        </p:attrNameLst>
                                      </p:cBhvr>
                                      <p:tavLst>
                                        <p:tav tm="0">
                                          <p:val>
                                            <p:strVal val="#ppt_y+.03"/>
                                          </p:val>
                                        </p:tav>
                                        <p:tav tm="100000">
                                          <p:val>
                                            <p:strVal val="#ppt_y"/>
                                          </p:val>
                                        </p:tav>
                                      </p:tavLst>
                                    </p:anim>
                                  </p:childTnLst>
                                </p:cTn>
                              </p:par>
                              <p:par>
                                <p:cTn id="160" presetID="53" presetClass="entr" presetSubtype="16" fill="hold" grpId="0" nodeType="withEffect">
                                  <p:stCondLst>
                                    <p:cond delay="810"/>
                                  </p:stCondLst>
                                  <p:childTnLst>
                                    <p:set>
                                      <p:cBhvr>
                                        <p:cTn id="161" dur="1" fill="hold">
                                          <p:stCondLst>
                                            <p:cond delay="0"/>
                                          </p:stCondLst>
                                        </p:cTn>
                                        <p:tgtEl>
                                          <p:spTgt spid="30"/>
                                        </p:tgtEl>
                                        <p:attrNameLst>
                                          <p:attrName>style.visibility</p:attrName>
                                        </p:attrNameLst>
                                      </p:cBhvr>
                                      <p:to>
                                        <p:strVal val="visible"/>
                                      </p:to>
                                    </p:set>
                                    <p:anim calcmode="lin" valueType="num">
                                      <p:cBhvr additive="base">
                                        <p:cTn id="162" dur="450" decel="100000" fill="hold"/>
                                        <p:tgtEl>
                                          <p:spTgt spid="30"/>
                                        </p:tgtEl>
                                        <p:attrNameLst>
                                          <p:attrName>ppt_w</p:attrName>
                                        </p:attrNameLst>
                                      </p:cBhvr>
                                      <p:tavLst>
                                        <p:tav tm="0">
                                          <p:val>
                                            <p:strVal val="0"/>
                                          </p:val>
                                        </p:tav>
                                        <p:tav tm="100000">
                                          <p:val>
                                            <p:strVal val="#ppt_w"/>
                                          </p:val>
                                        </p:tav>
                                      </p:tavLst>
                                    </p:anim>
                                    <p:anim calcmode="lin" valueType="num">
                                      <p:cBhvr additive="base">
                                        <p:cTn id="163" dur="450" decel="100000" fill="hold"/>
                                        <p:tgtEl>
                                          <p:spTgt spid="30"/>
                                        </p:tgtEl>
                                        <p:attrNameLst>
                                          <p:attrName>ppt_h</p:attrName>
                                        </p:attrNameLst>
                                      </p:cBhvr>
                                      <p:tavLst>
                                        <p:tav tm="0">
                                          <p:val>
                                            <p:strVal val="0"/>
                                          </p:val>
                                        </p:tav>
                                        <p:tav tm="100000">
                                          <p:val>
                                            <p:strVal val="#ppt_h"/>
                                          </p:val>
                                        </p:tav>
                                      </p:tavLst>
                                    </p:anim>
                                    <p:animEffect transition="in" filter="fade">
                                      <p:cBhvr>
                                        <p:cTn id="164" dur="450"/>
                                        <p:tgtEl>
                                          <p:spTgt spid="30"/>
                                        </p:tgtEl>
                                      </p:cBhvr>
                                    </p:animEffect>
                                  </p:childTnLst>
                                </p:cTn>
                              </p:par>
                              <p:par>
                                <p:cTn id="165" presetID="53" presetClass="entr" presetSubtype="16" fill="hold" grpId="0" nodeType="withEffect">
                                  <p:stCondLst>
                                    <p:cond delay="910"/>
                                  </p:stCondLst>
                                  <p:childTnLst>
                                    <p:set>
                                      <p:cBhvr>
                                        <p:cTn id="166" dur="1" fill="hold">
                                          <p:stCondLst>
                                            <p:cond delay="0"/>
                                          </p:stCondLst>
                                        </p:cTn>
                                        <p:tgtEl>
                                          <p:spTgt spid="31"/>
                                        </p:tgtEl>
                                        <p:attrNameLst>
                                          <p:attrName>style.visibility</p:attrName>
                                        </p:attrNameLst>
                                      </p:cBhvr>
                                      <p:to>
                                        <p:strVal val="visible"/>
                                      </p:to>
                                    </p:set>
                                    <p:anim calcmode="lin" valueType="num">
                                      <p:cBhvr additive="base">
                                        <p:cTn id="167" dur="450" decel="100000" fill="hold"/>
                                        <p:tgtEl>
                                          <p:spTgt spid="31"/>
                                        </p:tgtEl>
                                        <p:attrNameLst>
                                          <p:attrName>ppt_w</p:attrName>
                                        </p:attrNameLst>
                                      </p:cBhvr>
                                      <p:tavLst>
                                        <p:tav tm="0">
                                          <p:val>
                                            <p:strVal val="0"/>
                                          </p:val>
                                        </p:tav>
                                        <p:tav tm="100000">
                                          <p:val>
                                            <p:strVal val="#ppt_w"/>
                                          </p:val>
                                        </p:tav>
                                      </p:tavLst>
                                    </p:anim>
                                    <p:anim calcmode="lin" valueType="num">
                                      <p:cBhvr additive="base">
                                        <p:cTn id="168" dur="450" decel="100000" fill="hold"/>
                                        <p:tgtEl>
                                          <p:spTgt spid="31"/>
                                        </p:tgtEl>
                                        <p:attrNameLst>
                                          <p:attrName>ppt_h</p:attrName>
                                        </p:attrNameLst>
                                      </p:cBhvr>
                                      <p:tavLst>
                                        <p:tav tm="0">
                                          <p:val>
                                            <p:strVal val="0"/>
                                          </p:val>
                                        </p:tav>
                                        <p:tav tm="100000">
                                          <p:val>
                                            <p:strVal val="#ppt_h"/>
                                          </p:val>
                                        </p:tav>
                                      </p:tavLst>
                                    </p:anim>
                                    <p:animEffect transition="in" filter="fade">
                                      <p:cBhvr>
                                        <p:cTn id="169" dur="450"/>
                                        <p:tgtEl>
                                          <p:spTgt spid="31"/>
                                        </p:tgtEl>
                                      </p:cBhvr>
                                    </p:animEffect>
                                  </p:childTnLst>
                                </p:cTn>
                              </p:par>
                              <p:par>
                                <p:cTn id="170" presetID="42" presetClass="entr" presetSubtype="0" fill="hold" grpId="0" nodeType="withEffect">
                                  <p:stCondLst>
                                    <p:cond delay="91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600"/>
                                        <p:tgtEl>
                                          <p:spTgt spid="39"/>
                                        </p:tgtEl>
                                      </p:cBhvr>
                                    </p:animEffect>
                                    <p:anim calcmode="lin" valueType="num">
                                      <p:cBhvr additive="base">
                                        <p:cTn id="17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74" dur="600" decel="100000" fill="hold"/>
                                        <p:tgtEl>
                                          <p:spTgt spid="39"/>
                                        </p:tgtEl>
                                        <p:attrNameLst>
                                          <p:attrName>ppt_y</p:attrName>
                                        </p:attrNameLst>
                                      </p:cBhvr>
                                      <p:tavLst>
                                        <p:tav tm="0">
                                          <p:val>
                                            <p:strVal val="#ppt_y+.03"/>
                                          </p:val>
                                        </p:tav>
                                        <p:tav tm="100000">
                                          <p:val>
                                            <p:strVal val="#ppt_y"/>
                                          </p:val>
                                        </p:tav>
                                      </p:tavLst>
                                    </p:anim>
                                  </p:childTnLst>
                                </p:cTn>
                              </p:par>
                              <p:par>
                                <p:cTn id="175" presetID="42" presetClass="entr" presetSubtype="0" fill="hold" grpId="0" nodeType="withEffect">
                                  <p:stCondLst>
                                    <p:cond delay="91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600"/>
                                        <p:tgtEl>
                                          <p:spTgt spid="40"/>
                                        </p:tgtEl>
                                      </p:cBhvr>
                                    </p:animEffect>
                                    <p:anim calcmode="lin" valueType="num">
                                      <p:cBhvr additive="base">
                                        <p:cTn id="178" dur="600" decel="100000" fill="hold"/>
                                        <p:tgtEl>
                                          <p:spTgt spid="40"/>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40"/>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91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600"/>
                                        <p:tgtEl>
                                          <p:spTgt spid="41"/>
                                        </p:tgtEl>
                                      </p:cBhvr>
                                    </p:animEffect>
                                    <p:anim calcmode="lin" valueType="num">
                                      <p:cBhvr additive="base">
                                        <p:cTn id="183" dur="600" decel="100000" fill="hold"/>
                                        <p:tgtEl>
                                          <p:spTgt spid="41"/>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41"/>
                                        </p:tgtEl>
                                        <p:attrNameLst>
                                          <p:attrName>ppt_y</p:attrName>
                                        </p:attrNameLst>
                                      </p:cBhvr>
                                      <p:tavLst>
                                        <p:tav tm="0">
                                          <p:val>
                                            <p:strVal val="#ppt_y+.03"/>
                                          </p:val>
                                        </p:tav>
                                        <p:tav tm="100000">
                                          <p:val>
                                            <p:strVal val="#ppt_y"/>
                                          </p:val>
                                        </p:tav>
                                      </p:tavLst>
                                    </p:anim>
                                  </p:childTnLst>
                                </p:cTn>
                              </p:par>
                              <p:par>
                                <p:cTn id="185" presetID="42" presetClass="entr" presetSubtype="0" fill="hold" grpId="0" nodeType="withEffect">
                                  <p:stCondLst>
                                    <p:cond delay="91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600"/>
                                        <p:tgtEl>
                                          <p:spTgt spid="42"/>
                                        </p:tgtEl>
                                      </p:cBhvr>
                                    </p:animEffect>
                                    <p:anim calcmode="lin" valueType="num">
                                      <p:cBhvr additive="base">
                                        <p:cTn id="188" dur="600" decel="100000" fill="hold"/>
                                        <p:tgtEl>
                                          <p:spTgt spid="42"/>
                                        </p:tgtEl>
                                        <p:attrNameLst>
                                          <p:attrName>ppt_x</p:attrName>
                                        </p:attrNameLst>
                                      </p:cBhvr>
                                      <p:tavLst>
                                        <p:tav tm="0">
                                          <p:val>
                                            <p:strVal val="#ppt_x"/>
                                          </p:val>
                                        </p:tav>
                                        <p:tav tm="100000">
                                          <p:val>
                                            <p:strVal val="#ppt_x"/>
                                          </p:val>
                                        </p:tav>
                                      </p:tavLst>
                                    </p:anim>
                                    <p:anim calcmode="lin" valueType="num">
                                      <p:cBhvr additive="base">
                                        <p:cTn id="189" dur="600" decel="100000" fill="hold"/>
                                        <p:tgtEl>
                                          <p:spTgt spid="42"/>
                                        </p:tgtEl>
                                        <p:attrNameLst>
                                          <p:attrName>ppt_y</p:attrName>
                                        </p:attrNameLst>
                                      </p:cBhvr>
                                      <p:tavLst>
                                        <p:tav tm="0">
                                          <p:val>
                                            <p:strVal val="#ppt_y+.03"/>
                                          </p:val>
                                        </p:tav>
                                        <p:tav tm="100000">
                                          <p:val>
                                            <p:strVal val="#ppt_y"/>
                                          </p:val>
                                        </p:tav>
                                      </p:tavLst>
                                    </p:anim>
                                  </p:childTnLst>
                                </p:cTn>
                              </p:par>
                              <p:par>
                                <p:cTn id="190" presetID="53" presetClass="entr" presetSubtype="16" fill="hold" grpId="0" nodeType="withEffect">
                                  <p:stCondLst>
                                    <p:cond delay="940"/>
                                  </p:stCondLst>
                                  <p:childTnLst>
                                    <p:set>
                                      <p:cBhvr>
                                        <p:cTn id="191" dur="1" fill="hold">
                                          <p:stCondLst>
                                            <p:cond delay="0"/>
                                          </p:stCondLst>
                                        </p:cTn>
                                        <p:tgtEl>
                                          <p:spTgt spid="35"/>
                                        </p:tgtEl>
                                        <p:attrNameLst>
                                          <p:attrName>style.visibility</p:attrName>
                                        </p:attrNameLst>
                                      </p:cBhvr>
                                      <p:to>
                                        <p:strVal val="visible"/>
                                      </p:to>
                                    </p:set>
                                    <p:anim calcmode="lin" valueType="num">
                                      <p:cBhvr additive="base">
                                        <p:cTn id="192" dur="450" decel="100000" fill="hold"/>
                                        <p:tgtEl>
                                          <p:spTgt spid="35"/>
                                        </p:tgtEl>
                                        <p:attrNameLst>
                                          <p:attrName>ppt_w</p:attrName>
                                        </p:attrNameLst>
                                      </p:cBhvr>
                                      <p:tavLst>
                                        <p:tav tm="0">
                                          <p:val>
                                            <p:strVal val="0"/>
                                          </p:val>
                                        </p:tav>
                                        <p:tav tm="100000">
                                          <p:val>
                                            <p:strVal val="#ppt_w"/>
                                          </p:val>
                                        </p:tav>
                                      </p:tavLst>
                                    </p:anim>
                                    <p:anim calcmode="lin" valueType="num">
                                      <p:cBhvr additive="base">
                                        <p:cTn id="193" dur="450" decel="100000" fill="hold"/>
                                        <p:tgtEl>
                                          <p:spTgt spid="35"/>
                                        </p:tgtEl>
                                        <p:attrNameLst>
                                          <p:attrName>ppt_h</p:attrName>
                                        </p:attrNameLst>
                                      </p:cBhvr>
                                      <p:tavLst>
                                        <p:tav tm="0">
                                          <p:val>
                                            <p:strVal val="0"/>
                                          </p:val>
                                        </p:tav>
                                        <p:tav tm="100000">
                                          <p:val>
                                            <p:strVal val="#ppt_h"/>
                                          </p:val>
                                        </p:tav>
                                      </p:tavLst>
                                    </p:anim>
                                    <p:animEffect transition="in" filter="fade">
                                      <p:cBhvr>
                                        <p:cTn id="194" dur="450"/>
                                        <p:tgtEl>
                                          <p:spTgt spid="35"/>
                                        </p:tgtEl>
                                      </p:cBhvr>
                                    </p:animEffect>
                                  </p:childTnLst>
                                </p:cTn>
                              </p:par>
                              <p:par>
                                <p:cTn id="195" presetID="53" presetClass="entr" presetSubtype="16" fill="hold" grpId="0" nodeType="withEffect">
                                  <p:stCondLst>
                                    <p:cond delay="1040"/>
                                  </p:stCondLst>
                                  <p:childTnLst>
                                    <p:set>
                                      <p:cBhvr>
                                        <p:cTn id="196" dur="1" fill="hold">
                                          <p:stCondLst>
                                            <p:cond delay="0"/>
                                          </p:stCondLst>
                                        </p:cTn>
                                        <p:tgtEl>
                                          <p:spTgt spid="36"/>
                                        </p:tgtEl>
                                        <p:attrNameLst>
                                          <p:attrName>style.visibility</p:attrName>
                                        </p:attrNameLst>
                                      </p:cBhvr>
                                      <p:to>
                                        <p:strVal val="visible"/>
                                      </p:to>
                                    </p:set>
                                    <p:anim calcmode="lin" valueType="num">
                                      <p:cBhvr additive="base">
                                        <p:cTn id="197" dur="450" decel="100000" fill="hold"/>
                                        <p:tgtEl>
                                          <p:spTgt spid="36"/>
                                        </p:tgtEl>
                                        <p:attrNameLst>
                                          <p:attrName>ppt_w</p:attrName>
                                        </p:attrNameLst>
                                      </p:cBhvr>
                                      <p:tavLst>
                                        <p:tav tm="0">
                                          <p:val>
                                            <p:strVal val="0"/>
                                          </p:val>
                                        </p:tav>
                                        <p:tav tm="100000">
                                          <p:val>
                                            <p:strVal val="#ppt_w"/>
                                          </p:val>
                                        </p:tav>
                                      </p:tavLst>
                                    </p:anim>
                                    <p:anim calcmode="lin" valueType="num">
                                      <p:cBhvr additive="base">
                                        <p:cTn id="198" dur="450" decel="100000" fill="hold"/>
                                        <p:tgtEl>
                                          <p:spTgt spid="36"/>
                                        </p:tgtEl>
                                        <p:attrNameLst>
                                          <p:attrName>ppt_h</p:attrName>
                                        </p:attrNameLst>
                                      </p:cBhvr>
                                      <p:tavLst>
                                        <p:tav tm="0">
                                          <p:val>
                                            <p:strVal val="0"/>
                                          </p:val>
                                        </p:tav>
                                        <p:tav tm="100000">
                                          <p:val>
                                            <p:strVal val="#ppt_h"/>
                                          </p:val>
                                        </p:tav>
                                      </p:tavLst>
                                    </p:anim>
                                    <p:animEffect transition="in" filter="fade">
                                      <p:cBhvr>
                                        <p:cTn id="199"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02  |  نقاط القوة الاستراتيجية (2/2)</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نقاط القوة الاستراتيجية لشركة الجيل الجديد للتقنية</a:t>
            </a:r>
            <a:endParaRPr lang="en-US" sz="3000" dirty="0"/>
          </a:p>
        </p:txBody>
      </p:sp>
      <p:sp>
        <p:nvSpPr>
          <p:cNvPr id="4" name="anim8_0"/>
          <p:cNvSpPr/>
          <p:nvPr/>
        </p:nvSpPr>
        <p:spPr>
          <a:xfrm>
            <a:off x="9040901"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8_1"/>
          <p:cNvSpPr/>
          <p:nvPr/>
        </p:nvSpPr>
        <p:spPr>
          <a:xfrm>
            <a:off x="10929823" y="1828800"/>
            <a:ext cx="530352" cy="530352"/>
          </a:xfrm>
          <a:prstGeom prst="ellipse">
            <a:avLst/>
          </a:prstGeom>
          <a:solidFill>
            <a:srgbClr val="00539B"/>
          </a:solidFill>
          <a:ln w="12700">
            <a:solidFill>
              <a:srgbClr val="00539B"/>
            </a:solidFill>
            <a:prstDash val="solid"/>
          </a:ln>
        </p:spPr>
      </p:sp>
      <p:pic>
        <p:nvPicPr>
          <p:cNvPr id="6" name="anim8_2" descr="preencoded.png">    </p:cNvPr>
          <p:cNvPicPr>
            <a:picLocks noChangeAspect="1"/>
          </p:cNvPicPr>
          <p:nvPr/>
        </p:nvPicPr>
        <p:blipFill>
          <a:blip r:embed="rId1"/>
          <a:stretch>
            <a:fillRect/>
          </a:stretch>
        </p:blipFill>
        <p:spPr>
          <a:xfrm>
            <a:off x="11073018" y="1971995"/>
            <a:ext cx="243962" cy="243962"/>
          </a:xfrm>
          <a:prstGeom prst="rect">
            <a:avLst/>
          </a:prstGeom>
        </p:spPr>
      </p:pic>
      <p:sp>
        <p:nvSpPr>
          <p:cNvPr id="7" name="anim8_3"/>
          <p:cNvSpPr txBox="1"/>
          <p:nvPr/>
        </p:nvSpPr>
        <p:spPr>
          <a:xfrm>
            <a:off x="9205493"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توطين البيانات</a:t>
            </a:r>
            <a:endParaRPr lang="ar-SA" sz="1400" dirty="0"/>
          </a:p>
        </p:txBody>
      </p:sp>
      <p:sp>
        <p:nvSpPr>
          <p:cNvPr id="8" name="anim8_4"/>
          <p:cNvSpPr txBox="1"/>
          <p:nvPr/>
        </p:nvSpPr>
        <p:spPr>
          <a:xfrm>
            <a:off x="9223781"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استضافة البيانات محلياً ودعم السيادة الرقمية.</a:t>
            </a:r>
            <a:endParaRPr lang="ar-SA" sz="1250" dirty="0"/>
          </a:p>
        </p:txBody>
      </p:sp>
      <p:sp>
        <p:nvSpPr>
          <p:cNvPr id="9" name="anim8_5"/>
          <p:cNvSpPr/>
          <p:nvPr/>
        </p:nvSpPr>
        <p:spPr>
          <a:xfrm>
            <a:off x="6210148"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0" name="anim8_6"/>
          <p:cNvSpPr/>
          <p:nvPr/>
        </p:nvSpPr>
        <p:spPr>
          <a:xfrm>
            <a:off x="8099069" y="1828800"/>
            <a:ext cx="530352" cy="530352"/>
          </a:xfrm>
          <a:prstGeom prst="ellipse">
            <a:avLst/>
          </a:prstGeom>
          <a:solidFill>
            <a:srgbClr val="F15524"/>
          </a:solidFill>
          <a:ln w="12700">
            <a:solidFill>
              <a:srgbClr val="F15524"/>
            </a:solidFill>
            <a:prstDash val="solid"/>
          </a:ln>
        </p:spPr>
      </p:sp>
      <p:pic>
        <p:nvPicPr>
          <p:cNvPr id="11" name="anim8_7" descr="preencoded.png">    </p:cNvPr>
          <p:cNvPicPr>
            <a:picLocks noChangeAspect="1"/>
          </p:cNvPicPr>
          <p:nvPr/>
        </p:nvPicPr>
        <p:blipFill>
          <a:blip r:embed="rId2"/>
          <a:stretch>
            <a:fillRect/>
          </a:stretch>
        </p:blipFill>
        <p:spPr>
          <a:xfrm>
            <a:off x="8242264" y="1971995"/>
            <a:ext cx="243962" cy="243962"/>
          </a:xfrm>
          <a:prstGeom prst="rect">
            <a:avLst/>
          </a:prstGeom>
        </p:spPr>
      </p:pic>
      <p:sp>
        <p:nvSpPr>
          <p:cNvPr id="12" name="anim8_8"/>
          <p:cNvSpPr txBox="1"/>
          <p:nvPr/>
        </p:nvSpPr>
        <p:spPr>
          <a:xfrm>
            <a:off x="6374740"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إدارة حركة البيانات</a:t>
            </a:r>
            <a:endParaRPr lang="ar-SA" sz="1400" dirty="0"/>
          </a:p>
        </p:txBody>
      </p:sp>
      <p:sp>
        <p:nvSpPr>
          <p:cNvPr id="13" name="anim8_9"/>
          <p:cNvSpPr txBox="1"/>
          <p:nvPr/>
        </p:nvSpPr>
        <p:spPr>
          <a:xfrm>
            <a:off x="6393028"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القدرة على توجيه حركة المرور عبر مسارات الربط المناسبة.</a:t>
            </a:r>
            <a:endParaRPr lang="ar-SA" sz="1250" dirty="0"/>
          </a:p>
        </p:txBody>
      </p:sp>
      <p:sp>
        <p:nvSpPr>
          <p:cNvPr id="14" name="anim8_10"/>
          <p:cNvSpPr/>
          <p:nvPr/>
        </p:nvSpPr>
        <p:spPr>
          <a:xfrm>
            <a:off x="3379394"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5" name="anim8_11"/>
          <p:cNvSpPr/>
          <p:nvPr/>
        </p:nvSpPr>
        <p:spPr>
          <a:xfrm>
            <a:off x="5268316" y="1828800"/>
            <a:ext cx="530352" cy="530352"/>
          </a:xfrm>
          <a:prstGeom prst="ellipse">
            <a:avLst/>
          </a:prstGeom>
          <a:solidFill>
            <a:srgbClr val="00539B"/>
          </a:solidFill>
          <a:ln w="12700">
            <a:solidFill>
              <a:srgbClr val="00539B"/>
            </a:solidFill>
            <a:prstDash val="solid"/>
          </a:ln>
        </p:spPr>
      </p:sp>
      <p:pic>
        <p:nvPicPr>
          <p:cNvPr id="16" name="anim8_12" descr="preencoded.png">    </p:cNvPr>
          <p:cNvPicPr>
            <a:picLocks noChangeAspect="1"/>
          </p:cNvPicPr>
          <p:nvPr/>
        </p:nvPicPr>
        <p:blipFill>
          <a:blip r:embed="rId3"/>
          <a:stretch>
            <a:fillRect/>
          </a:stretch>
        </p:blipFill>
        <p:spPr>
          <a:xfrm>
            <a:off x="5411511" y="1971995"/>
            <a:ext cx="243962" cy="243962"/>
          </a:xfrm>
          <a:prstGeom prst="rect">
            <a:avLst/>
          </a:prstGeom>
        </p:spPr>
      </p:pic>
      <p:sp>
        <p:nvSpPr>
          <p:cNvPr id="17" name="anim8_13"/>
          <p:cNvSpPr txBox="1"/>
          <p:nvPr/>
        </p:nvSpPr>
        <p:spPr>
          <a:xfrm>
            <a:off x="3543986"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مسارات الحماية</a:t>
            </a:r>
            <a:endParaRPr lang="ar-SA" sz="1400" dirty="0"/>
          </a:p>
        </p:txBody>
      </p:sp>
      <p:sp>
        <p:nvSpPr>
          <p:cNvPr id="18" name="anim8_14"/>
          <p:cNvSpPr txBox="1"/>
          <p:nvPr/>
        </p:nvSpPr>
        <p:spPr>
          <a:xfrm>
            <a:off x="3562274"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إمكانية توفير مسارات اتصال احتياطية لتعزيز استمرارية الخدمة.</a:t>
            </a:r>
            <a:endParaRPr lang="ar-SA" sz="1250" dirty="0"/>
          </a:p>
        </p:txBody>
      </p:sp>
      <p:sp>
        <p:nvSpPr>
          <p:cNvPr id="19" name="anim8_15"/>
          <p:cNvSpPr/>
          <p:nvPr/>
        </p:nvSpPr>
        <p:spPr>
          <a:xfrm>
            <a:off x="548640" y="160020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0" name="anim8_16"/>
          <p:cNvSpPr/>
          <p:nvPr/>
        </p:nvSpPr>
        <p:spPr>
          <a:xfrm>
            <a:off x="2437562" y="1828800"/>
            <a:ext cx="530352" cy="530352"/>
          </a:xfrm>
          <a:prstGeom prst="ellipse">
            <a:avLst/>
          </a:prstGeom>
          <a:solidFill>
            <a:srgbClr val="F15524"/>
          </a:solidFill>
          <a:ln w="12700">
            <a:solidFill>
              <a:srgbClr val="F15524"/>
            </a:solidFill>
            <a:prstDash val="solid"/>
          </a:ln>
        </p:spPr>
      </p:sp>
      <p:pic>
        <p:nvPicPr>
          <p:cNvPr id="21" name="anim8_17" descr="preencoded.png">    </p:cNvPr>
          <p:cNvPicPr>
            <a:picLocks noChangeAspect="1"/>
          </p:cNvPicPr>
          <p:nvPr/>
        </p:nvPicPr>
        <p:blipFill>
          <a:blip r:embed="rId4"/>
          <a:stretch>
            <a:fillRect/>
          </a:stretch>
        </p:blipFill>
        <p:spPr>
          <a:xfrm>
            <a:off x="2580757" y="1971995"/>
            <a:ext cx="243962" cy="243962"/>
          </a:xfrm>
          <a:prstGeom prst="rect">
            <a:avLst/>
          </a:prstGeom>
        </p:spPr>
      </p:pic>
      <p:sp>
        <p:nvSpPr>
          <p:cNvPr id="22" name="anim8_18"/>
          <p:cNvSpPr txBox="1"/>
          <p:nvPr/>
        </p:nvSpPr>
        <p:spPr>
          <a:xfrm>
            <a:off x="713232" y="178308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الشبكة الحكومية الآمنة</a:t>
            </a:r>
            <a:endParaRPr lang="ar-SA" sz="1400" dirty="0"/>
          </a:p>
        </p:txBody>
      </p:sp>
      <p:sp>
        <p:nvSpPr>
          <p:cNvPr id="23" name="anim8_19"/>
          <p:cNvSpPr txBox="1"/>
          <p:nvPr/>
        </p:nvSpPr>
        <p:spPr>
          <a:xfrm>
            <a:off x="731520" y="256032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ربط الجهات الحكومية بالمركز عبر بنية اتصالات آمنة.</a:t>
            </a:r>
            <a:endParaRPr lang="ar-SA" sz="1250" dirty="0"/>
          </a:p>
        </p:txBody>
      </p:sp>
      <p:sp>
        <p:nvSpPr>
          <p:cNvPr id="24" name="anim8_20"/>
          <p:cNvSpPr/>
          <p:nvPr/>
        </p:nvSpPr>
        <p:spPr>
          <a:xfrm>
            <a:off x="9040901"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5" name="anim8_21"/>
          <p:cNvSpPr/>
          <p:nvPr/>
        </p:nvSpPr>
        <p:spPr>
          <a:xfrm>
            <a:off x="10929823" y="4206240"/>
            <a:ext cx="530352" cy="530352"/>
          </a:xfrm>
          <a:prstGeom prst="ellipse">
            <a:avLst/>
          </a:prstGeom>
          <a:solidFill>
            <a:srgbClr val="00539B"/>
          </a:solidFill>
          <a:ln w="12700">
            <a:solidFill>
              <a:srgbClr val="00539B"/>
            </a:solidFill>
            <a:prstDash val="solid"/>
          </a:ln>
        </p:spPr>
      </p:sp>
      <p:pic>
        <p:nvPicPr>
          <p:cNvPr id="26" name="anim8_22" descr="preencoded.png">    </p:cNvPr>
          <p:cNvPicPr>
            <a:picLocks noChangeAspect="1"/>
          </p:cNvPicPr>
          <p:nvPr/>
        </p:nvPicPr>
        <p:blipFill>
          <a:blip r:embed="rId5"/>
          <a:stretch>
            <a:fillRect/>
          </a:stretch>
        </p:blipFill>
        <p:spPr>
          <a:xfrm>
            <a:off x="11073018" y="4349435"/>
            <a:ext cx="243962" cy="243962"/>
          </a:xfrm>
          <a:prstGeom prst="rect">
            <a:avLst/>
          </a:prstGeom>
        </p:spPr>
      </p:pic>
      <p:sp>
        <p:nvSpPr>
          <p:cNvPr id="27" name="anim8_23"/>
          <p:cNvSpPr txBox="1"/>
          <p:nvPr/>
        </p:nvSpPr>
        <p:spPr>
          <a:xfrm>
            <a:off x="9205493"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التكامل الحكومي</a:t>
            </a:r>
            <a:endParaRPr lang="ar-SA" sz="1400" dirty="0"/>
          </a:p>
        </p:txBody>
      </p:sp>
      <p:sp>
        <p:nvSpPr>
          <p:cNvPr id="28" name="anim8_24"/>
          <p:cNvSpPr txBox="1"/>
          <p:nvPr/>
        </p:nvSpPr>
        <p:spPr>
          <a:xfrm>
            <a:off x="9223781"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توفير أساس تقني لتكامل الأنظمة والخدمات بين الجهات العامة.</a:t>
            </a:r>
            <a:endParaRPr lang="ar-SA" sz="1250" dirty="0"/>
          </a:p>
        </p:txBody>
      </p:sp>
      <p:sp>
        <p:nvSpPr>
          <p:cNvPr id="29" name="anim8_25"/>
          <p:cNvSpPr/>
          <p:nvPr/>
        </p:nvSpPr>
        <p:spPr>
          <a:xfrm>
            <a:off x="6210148"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0" name="anim8_26"/>
          <p:cNvSpPr/>
          <p:nvPr/>
        </p:nvSpPr>
        <p:spPr>
          <a:xfrm>
            <a:off x="8099069" y="4206240"/>
            <a:ext cx="530352" cy="530352"/>
          </a:xfrm>
          <a:prstGeom prst="ellipse">
            <a:avLst/>
          </a:prstGeom>
          <a:solidFill>
            <a:srgbClr val="F15524"/>
          </a:solidFill>
          <a:ln w="12700">
            <a:solidFill>
              <a:srgbClr val="F15524"/>
            </a:solidFill>
            <a:prstDash val="solid"/>
          </a:ln>
        </p:spPr>
      </p:sp>
      <p:pic>
        <p:nvPicPr>
          <p:cNvPr id="31" name="anim8_27" descr="preencoded.png">    </p:cNvPr>
          <p:cNvPicPr>
            <a:picLocks noChangeAspect="1"/>
          </p:cNvPicPr>
          <p:nvPr/>
        </p:nvPicPr>
        <p:blipFill>
          <a:blip r:embed="rId6"/>
          <a:stretch>
            <a:fillRect/>
          </a:stretch>
        </p:blipFill>
        <p:spPr>
          <a:xfrm>
            <a:off x="8242264" y="4349435"/>
            <a:ext cx="243962" cy="243962"/>
          </a:xfrm>
          <a:prstGeom prst="rect">
            <a:avLst/>
          </a:prstGeom>
        </p:spPr>
      </p:pic>
      <p:sp>
        <p:nvSpPr>
          <p:cNvPr id="32" name="anim8_28"/>
          <p:cNvSpPr txBox="1"/>
          <p:nvPr/>
        </p:nvSpPr>
        <p:spPr>
          <a:xfrm>
            <a:off x="6374740"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التكامل مع المشروعات القائمة</a:t>
            </a:r>
            <a:endParaRPr lang="ar-SA" sz="1400" dirty="0"/>
          </a:p>
        </p:txBody>
      </p:sp>
      <p:sp>
        <p:nvSpPr>
          <p:cNvPr id="33" name="anim8_29"/>
          <p:cNvSpPr txBox="1"/>
          <p:nvPr/>
        </p:nvSpPr>
        <p:spPr>
          <a:xfrm>
            <a:off x="6393028"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ربط خدمات المركز بالشبكة الحكومية الآمنة وخدمات الاتصالات.</a:t>
            </a:r>
            <a:endParaRPr lang="ar-SA" sz="1250" dirty="0"/>
          </a:p>
        </p:txBody>
      </p:sp>
      <p:sp>
        <p:nvSpPr>
          <p:cNvPr id="34" name="anim8_30"/>
          <p:cNvSpPr/>
          <p:nvPr/>
        </p:nvSpPr>
        <p:spPr>
          <a:xfrm>
            <a:off x="3379394" y="3977640"/>
            <a:ext cx="2602154" cy="2194560"/>
          </a:xfrm>
          <a:prstGeom prst="roundRect">
            <a:avLst>
              <a:gd name="adj" fmla="val 4167"/>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5" name="anim8_31"/>
          <p:cNvSpPr/>
          <p:nvPr/>
        </p:nvSpPr>
        <p:spPr>
          <a:xfrm>
            <a:off x="5268316" y="4206240"/>
            <a:ext cx="530352" cy="530352"/>
          </a:xfrm>
          <a:prstGeom prst="ellipse">
            <a:avLst/>
          </a:prstGeom>
          <a:solidFill>
            <a:srgbClr val="00539B"/>
          </a:solidFill>
          <a:ln w="12700">
            <a:solidFill>
              <a:srgbClr val="00539B"/>
            </a:solidFill>
            <a:prstDash val="solid"/>
          </a:ln>
        </p:spPr>
      </p:sp>
      <p:pic>
        <p:nvPicPr>
          <p:cNvPr id="36" name="anim8_32" descr="preencoded.png">    </p:cNvPr>
          <p:cNvPicPr>
            <a:picLocks noChangeAspect="1"/>
          </p:cNvPicPr>
          <p:nvPr/>
        </p:nvPicPr>
        <p:blipFill>
          <a:blip r:embed="rId7"/>
          <a:stretch>
            <a:fillRect/>
          </a:stretch>
        </p:blipFill>
        <p:spPr>
          <a:xfrm>
            <a:off x="5411511" y="4349435"/>
            <a:ext cx="243962" cy="243962"/>
          </a:xfrm>
          <a:prstGeom prst="rect">
            <a:avLst/>
          </a:prstGeom>
        </p:spPr>
      </p:pic>
      <p:sp>
        <p:nvSpPr>
          <p:cNvPr id="37" name="anim8_33"/>
          <p:cNvSpPr txBox="1"/>
          <p:nvPr/>
        </p:nvSpPr>
        <p:spPr>
          <a:xfrm>
            <a:off x="3543986" y="4160520"/>
            <a:ext cx="1642034" cy="621792"/>
          </a:xfrm>
          <a:prstGeom prst="rect">
            <a:avLst/>
          </a:prstGeom>
          <a:noFill/>
          <a:ln/>
        </p:spPr>
        <p:txBody>
          <a:bodyPr wrap="square" lIns="0" tIns="0" rIns="0" bIns="0" rtlCol="0" anchor="ctr"/>
          <a:lstStyle/>
          <a:p>
            <a:pPr rtl="1" algn="r" indent="0" marL="0">
              <a:buNone/>
            </a:pPr>
            <a:r>
              <a:rPr lang="ar-SA" altLang="en-US" sz="1400" b="1" dirty="0">
                <a:solidFill>
                  <a:srgbClr val="06305C"/>
                </a:solidFill>
                <a:latin typeface="JF Flat" pitchFamily="34" charset="0"/>
                <a:ea typeface="JF Flat" pitchFamily="34" charset="-122"/>
                <a:cs typeface="JF Flat" pitchFamily="34" charset="-120"/>
              </a:rPr>
              <a:t>تحسين خدمات الإنترنت</a:t>
            </a:r>
            <a:endParaRPr lang="ar-SA" sz="1400" dirty="0"/>
          </a:p>
        </p:txBody>
      </p:sp>
      <p:sp>
        <p:nvSpPr>
          <p:cNvPr id="38" name="anim8_34"/>
          <p:cNvSpPr txBox="1"/>
          <p:nvPr/>
        </p:nvSpPr>
        <p:spPr>
          <a:xfrm>
            <a:off x="3562274" y="4937760"/>
            <a:ext cx="2236394" cy="1143000"/>
          </a:xfrm>
          <a:prstGeom prst="rect">
            <a:avLst/>
          </a:prstGeom>
          <a:noFill/>
          <a:ln/>
        </p:spPr>
        <p:txBody>
          <a:bodyPr wrap="square" lIns="0" tIns="0" rIns="0" bIns="0" rtlCol="0" anchor="t"/>
          <a:lstStyle/>
          <a:p>
            <a:pPr rtl="1" algn="r" indent="0" marL="0">
              <a:lnSpc>
                <a:spcPct val="115000"/>
              </a:lnSpc>
              <a:buNone/>
            </a:pPr>
            <a:r>
              <a:rPr lang="ar-SA" altLang="en-US" sz="1250" dirty="0">
                <a:solidFill>
                  <a:srgbClr val="5B6B7F"/>
                </a:solidFill>
                <a:latin typeface="JF Flat" pitchFamily="34" charset="0"/>
                <a:ea typeface="JF Flat" pitchFamily="34" charset="-122"/>
                <a:cs typeface="JF Flat" pitchFamily="34" charset="-120"/>
              </a:rPr>
              <a:t>إمكانية إنشاء أو تطوير نقطة تبادل إنترنت وطنية (IXP) لتحسين تبادل حركة البيانات محلياً.</a:t>
            </a:r>
            <a:endParaRPr lang="ar-SA" sz="1250" dirty="0"/>
          </a:p>
        </p:txBody>
      </p:sp>
      <p:sp>
        <p:nvSpPr>
          <p:cNvPr id="39" name="anim8_35"/>
          <p:cNvSpPr/>
          <p:nvPr/>
        </p:nvSpPr>
        <p:spPr>
          <a:xfrm>
            <a:off x="548640" y="3977640"/>
            <a:ext cx="2602154" cy="2194560"/>
          </a:xfrm>
          <a:prstGeom prst="roundRect">
            <a:avLst>
              <a:gd name="adj" fmla="val 4167"/>
            </a:avLst>
          </a:prstGeom>
          <a:solidFill>
            <a:srgbClr val="F15524"/>
          </a:solidFill>
          <a:ln w="12700">
            <a:solidFill>
              <a:srgbClr val="F15524"/>
            </a:solidFill>
            <a:prstDash val="solid"/>
          </a:ln>
          <a:effectLst>
            <a:outerShdw sx="100000" sy="100000" kx="0" ky="0" algn="bl" rotWithShape="0" blurRad="127000" dist="38100" dir="5400000">
              <a:srgbClr val="1F3A5F">
                <a:alpha val="13000"/>
              </a:srgbClr>
            </a:outerShdw>
          </a:effectLst>
        </p:spPr>
      </p:sp>
      <p:pic>
        <p:nvPicPr>
          <p:cNvPr id="40" name="anim8_36" descr="preencoded.png">    </p:cNvPr>
          <p:cNvPicPr>
            <a:picLocks noChangeAspect="1"/>
          </p:cNvPicPr>
          <p:nvPr/>
        </p:nvPicPr>
        <p:blipFill>
          <a:blip r:embed="rId8"/>
          <a:stretch>
            <a:fillRect/>
          </a:stretch>
        </p:blipFill>
        <p:spPr>
          <a:xfrm>
            <a:off x="2373554" y="4251960"/>
            <a:ext cx="502920" cy="502920"/>
          </a:xfrm>
          <a:prstGeom prst="rect">
            <a:avLst/>
          </a:prstGeom>
        </p:spPr>
      </p:pic>
      <p:sp>
        <p:nvSpPr>
          <p:cNvPr id="41" name="anim8_37"/>
          <p:cNvSpPr txBox="1"/>
          <p:nvPr/>
        </p:nvSpPr>
        <p:spPr>
          <a:xfrm>
            <a:off x="777240" y="4892040"/>
            <a:ext cx="2144954" cy="822960"/>
          </a:xfrm>
          <a:prstGeom prst="rect">
            <a:avLst/>
          </a:prstGeom>
          <a:noFill/>
          <a:ln/>
        </p:spPr>
        <p:txBody>
          <a:bodyPr wrap="square" lIns="0" tIns="0" rIns="0" bIns="0" rtlCol="0" anchor="ctr"/>
          <a:lstStyle/>
          <a:p>
            <a:pPr rtl="1" algn="r" indent="0" marL="0">
              <a:buNone/>
            </a:pPr>
            <a:r>
              <a:rPr lang="ar-SA" altLang="en-US" sz="1900" b="1" dirty="0">
                <a:solidFill>
                  <a:srgbClr val="FFFFFF"/>
                </a:solidFill>
                <a:latin typeface="JF Flat" pitchFamily="34" charset="0"/>
                <a:ea typeface="JF Flat" pitchFamily="34" charset="-122"/>
                <a:cs typeface="JF Flat" pitchFamily="34" charset="-120"/>
              </a:rPr>
              <a:t>التكامل والخدمات الوطنية</a:t>
            </a:r>
            <a:endParaRPr lang="ar-SA" sz="1900" dirty="0"/>
          </a:p>
        </p:txBody>
      </p:sp>
      <p:sp>
        <p:nvSpPr>
          <p:cNvPr id="42" name="anim8_38"/>
          <p:cNvSpPr txBox="1"/>
          <p:nvPr/>
        </p:nvSpPr>
        <p:spPr>
          <a:xfrm>
            <a:off x="777240" y="5669280"/>
            <a:ext cx="2144954" cy="320040"/>
          </a:xfrm>
          <a:prstGeom prst="rect">
            <a:avLst/>
          </a:prstGeom>
          <a:noFill/>
          <a:ln/>
        </p:spPr>
        <p:txBody>
          <a:bodyPr wrap="square" lIns="0" tIns="0" rIns="0" bIns="0" rtlCol="0" anchor="t"/>
          <a:lstStyle/>
          <a:p>
            <a:pPr rtl="1" algn="r" indent="0" marL="0">
              <a:buNone/>
            </a:pPr>
            <a:r>
              <a:rPr lang="ar-SA" altLang="en-US" sz="1300" dirty="0">
                <a:solidFill>
                  <a:srgbClr val="FFE3D6"/>
                </a:solidFill>
                <a:latin typeface="JF Flat" pitchFamily="34" charset="0"/>
                <a:ea typeface="JF Flat" pitchFamily="34" charset="-122"/>
                <a:cs typeface="JF Flat" pitchFamily="34" charset="-120"/>
              </a:rPr>
              <a:t>7 عناصر قوة</a:t>
            </a:r>
            <a:endParaRPr lang="ar-SA" sz="13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anim calcmode="lin" valueType="num">
                                      <p:cBhvr additive="base">
                                        <p:cTn id="2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2"/>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53" presetClass="entr" presetSubtype="16" fill="hold" grpId="0" nodeType="withEffect">
                                  <p:stCondLst>
                                    <p:cond delay="16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450" decel="100000" fill="hold"/>
                                        <p:tgtEl>
                                          <p:spTgt spid="5"/>
                                        </p:tgtEl>
                                        <p:attrNameLst>
                                          <p:attrName>ppt_w</p:attrName>
                                        </p:attrNameLst>
                                      </p:cBhvr>
                                      <p:tavLst>
                                        <p:tav tm="0">
                                          <p:val>
                                            <p:strVal val="0"/>
                                          </p:val>
                                        </p:tav>
                                        <p:tav tm="100000">
                                          <p:val>
                                            <p:strVal val="#ppt_w"/>
                                          </p:val>
                                        </p:tav>
                                      </p:tavLst>
                                    </p:anim>
                                    <p:anim calcmode="lin" valueType="num">
                                      <p:cBhvr additive="base">
                                        <p:cTn id="38" dur="450" decel="100000" fill="hold"/>
                                        <p:tgtEl>
                                          <p:spTgt spid="5"/>
                                        </p:tgtEl>
                                        <p:attrNameLst>
                                          <p:attrName>ppt_h</p:attrName>
                                        </p:attrNameLst>
                                      </p:cBhvr>
                                      <p:tavLst>
                                        <p:tav tm="0">
                                          <p:val>
                                            <p:strVal val="0"/>
                                          </p:val>
                                        </p:tav>
                                        <p:tav tm="100000">
                                          <p:val>
                                            <p:strVal val="#ppt_h"/>
                                          </p:val>
                                        </p:tav>
                                      </p:tavLst>
                                    </p:anim>
                                    <p:animEffect transition="in" filter="fade">
                                      <p:cBhvr>
                                        <p:cTn id="39" dur="450"/>
                                        <p:tgtEl>
                                          <p:spTgt spid="5"/>
                                        </p:tgtEl>
                                      </p:cBhvr>
                                    </p:animEffect>
                                  </p:childTnLst>
                                </p:cTn>
                              </p:par>
                              <p:par>
                                <p:cTn id="40" presetID="53" presetClass="entr" presetSubtype="16" fill="hold" grpId="0" nodeType="withEffect">
                                  <p:stCondLst>
                                    <p:cond delay="26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450" decel="100000" fill="hold"/>
                                        <p:tgtEl>
                                          <p:spTgt spid="6"/>
                                        </p:tgtEl>
                                        <p:attrNameLst>
                                          <p:attrName>ppt_w</p:attrName>
                                        </p:attrNameLst>
                                      </p:cBhvr>
                                      <p:tavLst>
                                        <p:tav tm="0">
                                          <p:val>
                                            <p:strVal val="0"/>
                                          </p:val>
                                        </p:tav>
                                        <p:tav tm="100000">
                                          <p:val>
                                            <p:strVal val="#ppt_w"/>
                                          </p:val>
                                        </p:tav>
                                      </p:tavLst>
                                    </p:anim>
                                    <p:anim calcmode="lin" valueType="num">
                                      <p:cBhvr additive="base">
                                        <p:cTn id="43" dur="450" decel="100000" fill="hold"/>
                                        <p:tgtEl>
                                          <p:spTgt spid="6"/>
                                        </p:tgtEl>
                                        <p:attrNameLst>
                                          <p:attrName>ppt_h</p:attrName>
                                        </p:attrNameLst>
                                      </p:cBhvr>
                                      <p:tavLst>
                                        <p:tav tm="0">
                                          <p:val>
                                            <p:strVal val="0"/>
                                          </p:val>
                                        </p:tav>
                                        <p:tav tm="100000">
                                          <p:val>
                                            <p:strVal val="#ppt_h"/>
                                          </p:val>
                                        </p:tav>
                                      </p:tavLst>
                                    </p:anim>
                                    <p:animEffect transition="in" filter="fade">
                                      <p:cBhvr>
                                        <p:cTn id="44" dur="450"/>
                                        <p:tgtEl>
                                          <p:spTgt spid="6"/>
                                        </p:tgtEl>
                                      </p:cBhvr>
                                    </p:animEffect>
                                  </p:childTnLst>
                                </p:cTn>
                              </p:par>
                              <p:par>
                                <p:cTn id="45" presetID="42" presetClass="entr" presetSubtype="0" fill="hold" grpId="0" nodeType="withEffect">
                                  <p:stCondLst>
                                    <p:cond delay="2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600"/>
                                        <p:tgtEl>
                                          <p:spTgt spid="14"/>
                                        </p:tgtEl>
                                      </p:cBhvr>
                                    </p:animEffect>
                                    <p:anim calcmode="lin" valueType="num">
                                      <p:cBhvr additive="base">
                                        <p:cTn id="4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4"/>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26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anim calcmode="lin" valueType="num">
                                      <p:cBhvr additive="base">
                                        <p:cTn id="5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7"/>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26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53" presetClass="entr" presetSubtype="16" fill="hold" grpId="0" nodeType="withEffect">
                                  <p:stCondLst>
                                    <p:cond delay="29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450" decel="100000" fill="hold"/>
                                        <p:tgtEl>
                                          <p:spTgt spid="10"/>
                                        </p:tgtEl>
                                        <p:attrNameLst>
                                          <p:attrName>ppt_w</p:attrName>
                                        </p:attrNameLst>
                                      </p:cBhvr>
                                      <p:tavLst>
                                        <p:tav tm="0">
                                          <p:val>
                                            <p:strVal val="0"/>
                                          </p:val>
                                        </p:tav>
                                        <p:tav tm="100000">
                                          <p:val>
                                            <p:strVal val="#ppt_w"/>
                                          </p:val>
                                        </p:tav>
                                      </p:tavLst>
                                    </p:anim>
                                    <p:anim calcmode="lin" valueType="num">
                                      <p:cBhvr additive="base">
                                        <p:cTn id="63" dur="450" decel="100000" fill="hold"/>
                                        <p:tgtEl>
                                          <p:spTgt spid="10"/>
                                        </p:tgtEl>
                                        <p:attrNameLst>
                                          <p:attrName>ppt_h</p:attrName>
                                        </p:attrNameLst>
                                      </p:cBhvr>
                                      <p:tavLst>
                                        <p:tav tm="0">
                                          <p:val>
                                            <p:strVal val="0"/>
                                          </p:val>
                                        </p:tav>
                                        <p:tav tm="100000">
                                          <p:val>
                                            <p:strVal val="#ppt_h"/>
                                          </p:val>
                                        </p:tav>
                                      </p:tavLst>
                                    </p:anim>
                                    <p:animEffect transition="in" filter="fade">
                                      <p:cBhvr>
                                        <p:cTn id="64" dur="450"/>
                                        <p:tgtEl>
                                          <p:spTgt spid="10"/>
                                        </p:tgtEl>
                                      </p:cBhvr>
                                    </p:animEffect>
                                  </p:childTnLst>
                                </p:cTn>
                              </p:par>
                              <p:par>
                                <p:cTn id="65" presetID="53" presetClass="entr" presetSubtype="16" fill="hold" grpId="0" nodeType="withEffect">
                                  <p:stCondLst>
                                    <p:cond delay="39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450" decel="100000" fill="hold"/>
                                        <p:tgtEl>
                                          <p:spTgt spid="11"/>
                                        </p:tgtEl>
                                        <p:attrNameLst>
                                          <p:attrName>ppt_w</p:attrName>
                                        </p:attrNameLst>
                                      </p:cBhvr>
                                      <p:tavLst>
                                        <p:tav tm="0">
                                          <p:val>
                                            <p:strVal val="0"/>
                                          </p:val>
                                        </p:tav>
                                        <p:tav tm="100000">
                                          <p:val>
                                            <p:strVal val="#ppt_w"/>
                                          </p:val>
                                        </p:tav>
                                      </p:tavLst>
                                    </p:anim>
                                    <p:anim calcmode="lin" valueType="num">
                                      <p:cBhvr additive="base">
                                        <p:cTn id="68" dur="450" decel="100000" fill="hold"/>
                                        <p:tgtEl>
                                          <p:spTgt spid="11"/>
                                        </p:tgtEl>
                                        <p:attrNameLst>
                                          <p:attrName>ppt_h</p:attrName>
                                        </p:attrNameLst>
                                      </p:cBhvr>
                                      <p:tavLst>
                                        <p:tav tm="0">
                                          <p:val>
                                            <p:strVal val="0"/>
                                          </p:val>
                                        </p:tav>
                                        <p:tav tm="100000">
                                          <p:val>
                                            <p:strVal val="#ppt_h"/>
                                          </p:val>
                                        </p:tav>
                                      </p:tavLst>
                                    </p:anim>
                                    <p:animEffect transition="in" filter="fade">
                                      <p:cBhvr>
                                        <p:cTn id="69" dur="450"/>
                                        <p:tgtEl>
                                          <p:spTgt spid="11"/>
                                        </p:tgtEl>
                                      </p:cBhvr>
                                    </p:animEffect>
                                  </p:childTnLst>
                                </p:cTn>
                              </p:par>
                              <p:par>
                                <p:cTn id="70" presetID="42" presetClass="entr" presetSubtype="0" fill="hold" grpId="0" nodeType="withEffect">
                                  <p:stCondLst>
                                    <p:cond delay="39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600"/>
                                        <p:tgtEl>
                                          <p:spTgt spid="19"/>
                                        </p:tgtEl>
                                      </p:cBhvr>
                                    </p:animEffect>
                                    <p:anim calcmode="lin" valueType="num">
                                      <p:cBhvr additive="base">
                                        <p:cTn id="7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9"/>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39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2"/>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3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53" presetClass="entr" presetSubtype="16" fill="hold" grpId="0" nodeType="withEffect">
                                  <p:stCondLst>
                                    <p:cond delay="420"/>
                                  </p:stCondLst>
                                  <p:childTnLst>
                                    <p:set>
                                      <p:cBhvr>
                                        <p:cTn id="86" dur="1" fill="hold">
                                          <p:stCondLst>
                                            <p:cond delay="0"/>
                                          </p:stCondLst>
                                        </p:cTn>
                                        <p:tgtEl>
                                          <p:spTgt spid="15"/>
                                        </p:tgtEl>
                                        <p:attrNameLst>
                                          <p:attrName>style.visibility</p:attrName>
                                        </p:attrNameLst>
                                      </p:cBhvr>
                                      <p:to>
                                        <p:strVal val="visible"/>
                                      </p:to>
                                    </p:set>
                                    <p:anim calcmode="lin" valueType="num">
                                      <p:cBhvr additive="base">
                                        <p:cTn id="87" dur="450" decel="100000" fill="hold"/>
                                        <p:tgtEl>
                                          <p:spTgt spid="15"/>
                                        </p:tgtEl>
                                        <p:attrNameLst>
                                          <p:attrName>ppt_w</p:attrName>
                                        </p:attrNameLst>
                                      </p:cBhvr>
                                      <p:tavLst>
                                        <p:tav tm="0">
                                          <p:val>
                                            <p:strVal val="0"/>
                                          </p:val>
                                        </p:tav>
                                        <p:tav tm="100000">
                                          <p:val>
                                            <p:strVal val="#ppt_w"/>
                                          </p:val>
                                        </p:tav>
                                      </p:tavLst>
                                    </p:anim>
                                    <p:anim calcmode="lin" valueType="num">
                                      <p:cBhvr additive="base">
                                        <p:cTn id="88" dur="450" decel="100000" fill="hold"/>
                                        <p:tgtEl>
                                          <p:spTgt spid="15"/>
                                        </p:tgtEl>
                                        <p:attrNameLst>
                                          <p:attrName>ppt_h</p:attrName>
                                        </p:attrNameLst>
                                      </p:cBhvr>
                                      <p:tavLst>
                                        <p:tav tm="0">
                                          <p:val>
                                            <p:strVal val="0"/>
                                          </p:val>
                                        </p:tav>
                                        <p:tav tm="100000">
                                          <p:val>
                                            <p:strVal val="#ppt_h"/>
                                          </p:val>
                                        </p:tav>
                                      </p:tavLst>
                                    </p:anim>
                                    <p:animEffect transition="in" filter="fade">
                                      <p:cBhvr>
                                        <p:cTn id="89" dur="450"/>
                                        <p:tgtEl>
                                          <p:spTgt spid="15"/>
                                        </p:tgtEl>
                                      </p:cBhvr>
                                    </p:animEffect>
                                  </p:childTnLst>
                                </p:cTn>
                              </p:par>
                              <p:par>
                                <p:cTn id="90" presetID="53" presetClass="entr" presetSubtype="16" fill="hold" grpId="0" nodeType="withEffect">
                                  <p:stCondLst>
                                    <p:cond delay="52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450" decel="100000" fill="hold"/>
                                        <p:tgtEl>
                                          <p:spTgt spid="16"/>
                                        </p:tgtEl>
                                        <p:attrNameLst>
                                          <p:attrName>ppt_w</p:attrName>
                                        </p:attrNameLst>
                                      </p:cBhvr>
                                      <p:tavLst>
                                        <p:tav tm="0">
                                          <p:val>
                                            <p:strVal val="0"/>
                                          </p:val>
                                        </p:tav>
                                        <p:tav tm="100000">
                                          <p:val>
                                            <p:strVal val="#ppt_w"/>
                                          </p:val>
                                        </p:tav>
                                      </p:tavLst>
                                    </p:anim>
                                    <p:anim calcmode="lin" valueType="num">
                                      <p:cBhvr additive="base">
                                        <p:cTn id="93" dur="450" decel="100000" fill="hold"/>
                                        <p:tgtEl>
                                          <p:spTgt spid="16"/>
                                        </p:tgtEl>
                                        <p:attrNameLst>
                                          <p:attrName>ppt_h</p:attrName>
                                        </p:attrNameLst>
                                      </p:cBhvr>
                                      <p:tavLst>
                                        <p:tav tm="0">
                                          <p:val>
                                            <p:strVal val="0"/>
                                          </p:val>
                                        </p:tav>
                                        <p:tav tm="100000">
                                          <p:val>
                                            <p:strVal val="#ppt_h"/>
                                          </p:val>
                                        </p:tav>
                                      </p:tavLst>
                                    </p:anim>
                                    <p:animEffect transition="in" filter="fade">
                                      <p:cBhvr>
                                        <p:cTn id="94" dur="450"/>
                                        <p:tgtEl>
                                          <p:spTgt spid="16"/>
                                        </p:tgtEl>
                                      </p:cBhvr>
                                    </p:animEffect>
                                  </p:childTnLst>
                                </p:cTn>
                              </p:par>
                              <p:par>
                                <p:cTn id="95" presetID="42" presetClass="entr" presetSubtype="0" fill="hold" grpId="0" nodeType="withEffect">
                                  <p:stCondLst>
                                    <p:cond delay="52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52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52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53" presetClass="entr" presetSubtype="16" fill="hold" grpId="0" nodeType="withEffect">
                                  <p:stCondLst>
                                    <p:cond delay="550"/>
                                  </p:stCondLst>
                                  <p:childTnLst>
                                    <p:set>
                                      <p:cBhvr>
                                        <p:cTn id="111" dur="1" fill="hold">
                                          <p:stCondLst>
                                            <p:cond delay="0"/>
                                          </p:stCondLst>
                                        </p:cTn>
                                        <p:tgtEl>
                                          <p:spTgt spid="20"/>
                                        </p:tgtEl>
                                        <p:attrNameLst>
                                          <p:attrName>style.visibility</p:attrName>
                                        </p:attrNameLst>
                                      </p:cBhvr>
                                      <p:to>
                                        <p:strVal val="visible"/>
                                      </p:to>
                                    </p:set>
                                    <p:anim calcmode="lin" valueType="num">
                                      <p:cBhvr additive="base">
                                        <p:cTn id="112" dur="450" decel="100000" fill="hold"/>
                                        <p:tgtEl>
                                          <p:spTgt spid="20"/>
                                        </p:tgtEl>
                                        <p:attrNameLst>
                                          <p:attrName>ppt_w</p:attrName>
                                        </p:attrNameLst>
                                      </p:cBhvr>
                                      <p:tavLst>
                                        <p:tav tm="0">
                                          <p:val>
                                            <p:strVal val="0"/>
                                          </p:val>
                                        </p:tav>
                                        <p:tav tm="100000">
                                          <p:val>
                                            <p:strVal val="#ppt_w"/>
                                          </p:val>
                                        </p:tav>
                                      </p:tavLst>
                                    </p:anim>
                                    <p:anim calcmode="lin" valueType="num">
                                      <p:cBhvr additive="base">
                                        <p:cTn id="113" dur="450" decel="100000" fill="hold"/>
                                        <p:tgtEl>
                                          <p:spTgt spid="20"/>
                                        </p:tgtEl>
                                        <p:attrNameLst>
                                          <p:attrName>ppt_h</p:attrName>
                                        </p:attrNameLst>
                                      </p:cBhvr>
                                      <p:tavLst>
                                        <p:tav tm="0">
                                          <p:val>
                                            <p:strVal val="0"/>
                                          </p:val>
                                        </p:tav>
                                        <p:tav tm="100000">
                                          <p:val>
                                            <p:strVal val="#ppt_h"/>
                                          </p:val>
                                        </p:tav>
                                      </p:tavLst>
                                    </p:anim>
                                    <p:animEffect transition="in" filter="fade">
                                      <p:cBhvr>
                                        <p:cTn id="114" dur="450"/>
                                        <p:tgtEl>
                                          <p:spTgt spid="20"/>
                                        </p:tgtEl>
                                      </p:cBhvr>
                                    </p:animEffect>
                                  </p:childTnLst>
                                </p:cTn>
                              </p:par>
                              <p:par>
                                <p:cTn id="115" presetID="53" presetClass="entr" presetSubtype="16" fill="hold" grpId="0" nodeType="withEffect">
                                  <p:stCondLst>
                                    <p:cond delay="650"/>
                                  </p:stCondLst>
                                  <p:childTnLst>
                                    <p:set>
                                      <p:cBhvr>
                                        <p:cTn id="116" dur="1" fill="hold">
                                          <p:stCondLst>
                                            <p:cond delay="0"/>
                                          </p:stCondLst>
                                        </p:cTn>
                                        <p:tgtEl>
                                          <p:spTgt spid="21"/>
                                        </p:tgtEl>
                                        <p:attrNameLst>
                                          <p:attrName>style.visibility</p:attrName>
                                        </p:attrNameLst>
                                      </p:cBhvr>
                                      <p:to>
                                        <p:strVal val="visible"/>
                                      </p:to>
                                    </p:set>
                                    <p:anim calcmode="lin" valueType="num">
                                      <p:cBhvr additive="base">
                                        <p:cTn id="117" dur="450" decel="100000" fill="hold"/>
                                        <p:tgtEl>
                                          <p:spTgt spid="21"/>
                                        </p:tgtEl>
                                        <p:attrNameLst>
                                          <p:attrName>ppt_w</p:attrName>
                                        </p:attrNameLst>
                                      </p:cBhvr>
                                      <p:tavLst>
                                        <p:tav tm="0">
                                          <p:val>
                                            <p:strVal val="0"/>
                                          </p:val>
                                        </p:tav>
                                        <p:tav tm="100000">
                                          <p:val>
                                            <p:strVal val="#ppt_w"/>
                                          </p:val>
                                        </p:tav>
                                      </p:tavLst>
                                    </p:anim>
                                    <p:anim calcmode="lin" valueType="num">
                                      <p:cBhvr additive="base">
                                        <p:cTn id="118" dur="450" decel="100000" fill="hold"/>
                                        <p:tgtEl>
                                          <p:spTgt spid="21"/>
                                        </p:tgtEl>
                                        <p:attrNameLst>
                                          <p:attrName>ppt_h</p:attrName>
                                        </p:attrNameLst>
                                      </p:cBhvr>
                                      <p:tavLst>
                                        <p:tav tm="0">
                                          <p:val>
                                            <p:strVal val="0"/>
                                          </p:val>
                                        </p:tav>
                                        <p:tav tm="100000">
                                          <p:val>
                                            <p:strVal val="#ppt_h"/>
                                          </p:val>
                                        </p:tav>
                                      </p:tavLst>
                                    </p:anim>
                                    <p:animEffect transition="in" filter="fade">
                                      <p:cBhvr>
                                        <p:cTn id="119" dur="450"/>
                                        <p:tgtEl>
                                          <p:spTgt spid="21"/>
                                        </p:tgtEl>
                                      </p:cBhvr>
                                    </p:animEffect>
                                  </p:childTnLst>
                                </p:cTn>
                              </p:par>
                              <p:par>
                                <p:cTn id="120" presetID="42" presetClass="entr" presetSubtype="0" fill="hold" grpId="0" nodeType="withEffect">
                                  <p:stCondLst>
                                    <p:cond delay="65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600"/>
                                        <p:tgtEl>
                                          <p:spTgt spid="29"/>
                                        </p:tgtEl>
                                      </p:cBhvr>
                                    </p:animEffect>
                                    <p:anim calcmode="lin" valueType="num">
                                      <p:cBhvr additive="base">
                                        <p:cTn id="12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29"/>
                                        </p:tgtEl>
                                        <p:attrNameLst>
                                          <p:attrName>ppt_y</p:attrName>
                                        </p:attrNameLst>
                                      </p:cBhvr>
                                      <p:tavLst>
                                        <p:tav tm="0">
                                          <p:val>
                                            <p:strVal val="#ppt_y+.03"/>
                                          </p:val>
                                        </p:tav>
                                        <p:tav tm="100000">
                                          <p:val>
                                            <p:strVal val="#ppt_y"/>
                                          </p:val>
                                        </p:tav>
                                      </p:tavLst>
                                    </p:anim>
                                  </p:childTnLst>
                                </p:cTn>
                              </p:par>
                              <p:par>
                                <p:cTn id="125" presetID="42" presetClass="entr" presetSubtype="0" fill="hold" grpId="0" nodeType="withEffect">
                                  <p:stCondLst>
                                    <p:cond delay="65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600"/>
                                        <p:tgtEl>
                                          <p:spTgt spid="32"/>
                                        </p:tgtEl>
                                      </p:cBhvr>
                                    </p:animEffect>
                                    <p:anim calcmode="lin" valueType="num">
                                      <p:cBhvr additive="base">
                                        <p:cTn id="12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2"/>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65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53" presetClass="entr" presetSubtype="16" fill="hold" grpId="0" nodeType="withEffect">
                                  <p:stCondLst>
                                    <p:cond delay="680"/>
                                  </p:stCondLst>
                                  <p:childTnLst>
                                    <p:set>
                                      <p:cBhvr>
                                        <p:cTn id="136" dur="1" fill="hold">
                                          <p:stCondLst>
                                            <p:cond delay="0"/>
                                          </p:stCondLst>
                                        </p:cTn>
                                        <p:tgtEl>
                                          <p:spTgt spid="25"/>
                                        </p:tgtEl>
                                        <p:attrNameLst>
                                          <p:attrName>style.visibility</p:attrName>
                                        </p:attrNameLst>
                                      </p:cBhvr>
                                      <p:to>
                                        <p:strVal val="visible"/>
                                      </p:to>
                                    </p:set>
                                    <p:anim calcmode="lin" valueType="num">
                                      <p:cBhvr additive="base">
                                        <p:cTn id="137" dur="450" decel="100000" fill="hold"/>
                                        <p:tgtEl>
                                          <p:spTgt spid="25"/>
                                        </p:tgtEl>
                                        <p:attrNameLst>
                                          <p:attrName>ppt_w</p:attrName>
                                        </p:attrNameLst>
                                      </p:cBhvr>
                                      <p:tavLst>
                                        <p:tav tm="0">
                                          <p:val>
                                            <p:strVal val="0"/>
                                          </p:val>
                                        </p:tav>
                                        <p:tav tm="100000">
                                          <p:val>
                                            <p:strVal val="#ppt_w"/>
                                          </p:val>
                                        </p:tav>
                                      </p:tavLst>
                                    </p:anim>
                                    <p:anim calcmode="lin" valueType="num">
                                      <p:cBhvr additive="base">
                                        <p:cTn id="138" dur="450" decel="100000" fill="hold"/>
                                        <p:tgtEl>
                                          <p:spTgt spid="25"/>
                                        </p:tgtEl>
                                        <p:attrNameLst>
                                          <p:attrName>ppt_h</p:attrName>
                                        </p:attrNameLst>
                                      </p:cBhvr>
                                      <p:tavLst>
                                        <p:tav tm="0">
                                          <p:val>
                                            <p:strVal val="0"/>
                                          </p:val>
                                        </p:tav>
                                        <p:tav tm="100000">
                                          <p:val>
                                            <p:strVal val="#ppt_h"/>
                                          </p:val>
                                        </p:tav>
                                      </p:tavLst>
                                    </p:anim>
                                    <p:animEffect transition="in" filter="fade">
                                      <p:cBhvr>
                                        <p:cTn id="139" dur="450"/>
                                        <p:tgtEl>
                                          <p:spTgt spid="25"/>
                                        </p:tgtEl>
                                      </p:cBhvr>
                                    </p:animEffect>
                                  </p:childTnLst>
                                </p:cTn>
                              </p:par>
                              <p:par>
                                <p:cTn id="140" presetID="53" presetClass="entr" presetSubtype="16" fill="hold" grpId="0" nodeType="withEffect">
                                  <p:stCondLst>
                                    <p:cond delay="780"/>
                                  </p:stCondLst>
                                  <p:childTnLst>
                                    <p:set>
                                      <p:cBhvr>
                                        <p:cTn id="141" dur="1" fill="hold">
                                          <p:stCondLst>
                                            <p:cond delay="0"/>
                                          </p:stCondLst>
                                        </p:cTn>
                                        <p:tgtEl>
                                          <p:spTgt spid="26"/>
                                        </p:tgtEl>
                                        <p:attrNameLst>
                                          <p:attrName>style.visibility</p:attrName>
                                        </p:attrNameLst>
                                      </p:cBhvr>
                                      <p:to>
                                        <p:strVal val="visible"/>
                                      </p:to>
                                    </p:set>
                                    <p:anim calcmode="lin" valueType="num">
                                      <p:cBhvr additive="base">
                                        <p:cTn id="142" dur="450" decel="100000" fill="hold"/>
                                        <p:tgtEl>
                                          <p:spTgt spid="26"/>
                                        </p:tgtEl>
                                        <p:attrNameLst>
                                          <p:attrName>ppt_w</p:attrName>
                                        </p:attrNameLst>
                                      </p:cBhvr>
                                      <p:tavLst>
                                        <p:tav tm="0">
                                          <p:val>
                                            <p:strVal val="0"/>
                                          </p:val>
                                        </p:tav>
                                        <p:tav tm="100000">
                                          <p:val>
                                            <p:strVal val="#ppt_w"/>
                                          </p:val>
                                        </p:tav>
                                      </p:tavLst>
                                    </p:anim>
                                    <p:anim calcmode="lin" valueType="num">
                                      <p:cBhvr additive="base">
                                        <p:cTn id="143" dur="450" decel="100000" fill="hold"/>
                                        <p:tgtEl>
                                          <p:spTgt spid="26"/>
                                        </p:tgtEl>
                                        <p:attrNameLst>
                                          <p:attrName>ppt_h</p:attrName>
                                        </p:attrNameLst>
                                      </p:cBhvr>
                                      <p:tavLst>
                                        <p:tav tm="0">
                                          <p:val>
                                            <p:strVal val="0"/>
                                          </p:val>
                                        </p:tav>
                                        <p:tav tm="100000">
                                          <p:val>
                                            <p:strVal val="#ppt_h"/>
                                          </p:val>
                                        </p:tav>
                                      </p:tavLst>
                                    </p:anim>
                                    <p:animEffect transition="in" filter="fade">
                                      <p:cBhvr>
                                        <p:cTn id="144" dur="450"/>
                                        <p:tgtEl>
                                          <p:spTgt spid="26"/>
                                        </p:tgtEl>
                                      </p:cBhvr>
                                    </p:animEffect>
                                  </p:childTnLst>
                                </p:cTn>
                              </p:par>
                              <p:par>
                                <p:cTn id="145" presetID="42" presetClass="entr" presetSubtype="0" fill="hold" grpId="0" nodeType="withEffect">
                                  <p:stCondLst>
                                    <p:cond delay="78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600"/>
                                        <p:tgtEl>
                                          <p:spTgt spid="34"/>
                                        </p:tgtEl>
                                      </p:cBhvr>
                                    </p:animEffect>
                                    <p:anim calcmode="lin" valueType="num">
                                      <p:cBhvr additive="base">
                                        <p:cTn id="14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49" dur="600" decel="100000" fill="hold"/>
                                        <p:tgtEl>
                                          <p:spTgt spid="34"/>
                                        </p:tgtEl>
                                        <p:attrNameLst>
                                          <p:attrName>ppt_y</p:attrName>
                                        </p:attrNameLst>
                                      </p:cBhvr>
                                      <p:tavLst>
                                        <p:tav tm="0">
                                          <p:val>
                                            <p:strVal val="#ppt_y+.03"/>
                                          </p:val>
                                        </p:tav>
                                        <p:tav tm="100000">
                                          <p:val>
                                            <p:strVal val="#ppt_y"/>
                                          </p:val>
                                        </p:tav>
                                      </p:tavLst>
                                    </p:anim>
                                  </p:childTnLst>
                                </p:cTn>
                              </p:par>
                              <p:par>
                                <p:cTn id="150" presetID="42" presetClass="entr" presetSubtype="0" fill="hold" grpId="0" nodeType="withEffect">
                                  <p:stCondLst>
                                    <p:cond delay="78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600"/>
                                        <p:tgtEl>
                                          <p:spTgt spid="37"/>
                                        </p:tgtEl>
                                      </p:cBhvr>
                                    </p:animEffect>
                                    <p:anim calcmode="lin" valueType="num">
                                      <p:cBhvr additive="base">
                                        <p:cTn id="153"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7"/>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78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600"/>
                                        <p:tgtEl>
                                          <p:spTgt spid="38"/>
                                        </p:tgtEl>
                                      </p:cBhvr>
                                    </p:animEffect>
                                    <p:anim calcmode="lin" valueType="num">
                                      <p:cBhvr additive="base">
                                        <p:cTn id="15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8"/>
                                        </p:tgtEl>
                                        <p:attrNameLst>
                                          <p:attrName>ppt_y</p:attrName>
                                        </p:attrNameLst>
                                      </p:cBhvr>
                                      <p:tavLst>
                                        <p:tav tm="0">
                                          <p:val>
                                            <p:strVal val="#ppt_y+.03"/>
                                          </p:val>
                                        </p:tav>
                                        <p:tav tm="100000">
                                          <p:val>
                                            <p:strVal val="#ppt_y"/>
                                          </p:val>
                                        </p:tav>
                                      </p:tavLst>
                                    </p:anim>
                                  </p:childTnLst>
                                </p:cTn>
                              </p:par>
                              <p:par>
                                <p:cTn id="160" presetID="53" presetClass="entr" presetSubtype="16" fill="hold" grpId="0" nodeType="withEffect">
                                  <p:stCondLst>
                                    <p:cond delay="810"/>
                                  </p:stCondLst>
                                  <p:childTnLst>
                                    <p:set>
                                      <p:cBhvr>
                                        <p:cTn id="161" dur="1" fill="hold">
                                          <p:stCondLst>
                                            <p:cond delay="0"/>
                                          </p:stCondLst>
                                        </p:cTn>
                                        <p:tgtEl>
                                          <p:spTgt spid="30"/>
                                        </p:tgtEl>
                                        <p:attrNameLst>
                                          <p:attrName>style.visibility</p:attrName>
                                        </p:attrNameLst>
                                      </p:cBhvr>
                                      <p:to>
                                        <p:strVal val="visible"/>
                                      </p:to>
                                    </p:set>
                                    <p:anim calcmode="lin" valueType="num">
                                      <p:cBhvr additive="base">
                                        <p:cTn id="162" dur="450" decel="100000" fill="hold"/>
                                        <p:tgtEl>
                                          <p:spTgt spid="30"/>
                                        </p:tgtEl>
                                        <p:attrNameLst>
                                          <p:attrName>ppt_w</p:attrName>
                                        </p:attrNameLst>
                                      </p:cBhvr>
                                      <p:tavLst>
                                        <p:tav tm="0">
                                          <p:val>
                                            <p:strVal val="0"/>
                                          </p:val>
                                        </p:tav>
                                        <p:tav tm="100000">
                                          <p:val>
                                            <p:strVal val="#ppt_w"/>
                                          </p:val>
                                        </p:tav>
                                      </p:tavLst>
                                    </p:anim>
                                    <p:anim calcmode="lin" valueType="num">
                                      <p:cBhvr additive="base">
                                        <p:cTn id="163" dur="450" decel="100000" fill="hold"/>
                                        <p:tgtEl>
                                          <p:spTgt spid="30"/>
                                        </p:tgtEl>
                                        <p:attrNameLst>
                                          <p:attrName>ppt_h</p:attrName>
                                        </p:attrNameLst>
                                      </p:cBhvr>
                                      <p:tavLst>
                                        <p:tav tm="0">
                                          <p:val>
                                            <p:strVal val="0"/>
                                          </p:val>
                                        </p:tav>
                                        <p:tav tm="100000">
                                          <p:val>
                                            <p:strVal val="#ppt_h"/>
                                          </p:val>
                                        </p:tav>
                                      </p:tavLst>
                                    </p:anim>
                                    <p:animEffect transition="in" filter="fade">
                                      <p:cBhvr>
                                        <p:cTn id="164" dur="450"/>
                                        <p:tgtEl>
                                          <p:spTgt spid="30"/>
                                        </p:tgtEl>
                                      </p:cBhvr>
                                    </p:animEffect>
                                  </p:childTnLst>
                                </p:cTn>
                              </p:par>
                              <p:par>
                                <p:cTn id="165" presetID="53" presetClass="entr" presetSubtype="16" fill="hold" grpId="0" nodeType="withEffect">
                                  <p:stCondLst>
                                    <p:cond delay="910"/>
                                  </p:stCondLst>
                                  <p:childTnLst>
                                    <p:set>
                                      <p:cBhvr>
                                        <p:cTn id="166" dur="1" fill="hold">
                                          <p:stCondLst>
                                            <p:cond delay="0"/>
                                          </p:stCondLst>
                                        </p:cTn>
                                        <p:tgtEl>
                                          <p:spTgt spid="31"/>
                                        </p:tgtEl>
                                        <p:attrNameLst>
                                          <p:attrName>style.visibility</p:attrName>
                                        </p:attrNameLst>
                                      </p:cBhvr>
                                      <p:to>
                                        <p:strVal val="visible"/>
                                      </p:to>
                                    </p:set>
                                    <p:anim calcmode="lin" valueType="num">
                                      <p:cBhvr additive="base">
                                        <p:cTn id="167" dur="450" decel="100000" fill="hold"/>
                                        <p:tgtEl>
                                          <p:spTgt spid="31"/>
                                        </p:tgtEl>
                                        <p:attrNameLst>
                                          <p:attrName>ppt_w</p:attrName>
                                        </p:attrNameLst>
                                      </p:cBhvr>
                                      <p:tavLst>
                                        <p:tav tm="0">
                                          <p:val>
                                            <p:strVal val="0"/>
                                          </p:val>
                                        </p:tav>
                                        <p:tav tm="100000">
                                          <p:val>
                                            <p:strVal val="#ppt_w"/>
                                          </p:val>
                                        </p:tav>
                                      </p:tavLst>
                                    </p:anim>
                                    <p:anim calcmode="lin" valueType="num">
                                      <p:cBhvr additive="base">
                                        <p:cTn id="168" dur="450" decel="100000" fill="hold"/>
                                        <p:tgtEl>
                                          <p:spTgt spid="31"/>
                                        </p:tgtEl>
                                        <p:attrNameLst>
                                          <p:attrName>ppt_h</p:attrName>
                                        </p:attrNameLst>
                                      </p:cBhvr>
                                      <p:tavLst>
                                        <p:tav tm="0">
                                          <p:val>
                                            <p:strVal val="0"/>
                                          </p:val>
                                        </p:tav>
                                        <p:tav tm="100000">
                                          <p:val>
                                            <p:strVal val="#ppt_h"/>
                                          </p:val>
                                        </p:tav>
                                      </p:tavLst>
                                    </p:anim>
                                    <p:animEffect transition="in" filter="fade">
                                      <p:cBhvr>
                                        <p:cTn id="169" dur="450"/>
                                        <p:tgtEl>
                                          <p:spTgt spid="31"/>
                                        </p:tgtEl>
                                      </p:cBhvr>
                                    </p:animEffect>
                                  </p:childTnLst>
                                </p:cTn>
                              </p:par>
                              <p:par>
                                <p:cTn id="170" presetID="42" presetClass="entr" presetSubtype="0" fill="hold" grpId="0" nodeType="withEffect">
                                  <p:stCondLst>
                                    <p:cond delay="91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600"/>
                                        <p:tgtEl>
                                          <p:spTgt spid="39"/>
                                        </p:tgtEl>
                                      </p:cBhvr>
                                    </p:animEffect>
                                    <p:anim calcmode="lin" valueType="num">
                                      <p:cBhvr additive="base">
                                        <p:cTn id="17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74" dur="600" decel="100000" fill="hold"/>
                                        <p:tgtEl>
                                          <p:spTgt spid="39"/>
                                        </p:tgtEl>
                                        <p:attrNameLst>
                                          <p:attrName>ppt_y</p:attrName>
                                        </p:attrNameLst>
                                      </p:cBhvr>
                                      <p:tavLst>
                                        <p:tav tm="0">
                                          <p:val>
                                            <p:strVal val="#ppt_y+.03"/>
                                          </p:val>
                                        </p:tav>
                                        <p:tav tm="100000">
                                          <p:val>
                                            <p:strVal val="#ppt_y"/>
                                          </p:val>
                                        </p:tav>
                                      </p:tavLst>
                                    </p:anim>
                                  </p:childTnLst>
                                </p:cTn>
                              </p:par>
                              <p:par>
                                <p:cTn id="175" presetID="42" presetClass="entr" presetSubtype="0" fill="hold" grpId="0" nodeType="withEffect">
                                  <p:stCondLst>
                                    <p:cond delay="91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600"/>
                                        <p:tgtEl>
                                          <p:spTgt spid="40"/>
                                        </p:tgtEl>
                                      </p:cBhvr>
                                    </p:animEffect>
                                    <p:anim calcmode="lin" valueType="num">
                                      <p:cBhvr additive="base">
                                        <p:cTn id="178" dur="600" decel="100000" fill="hold"/>
                                        <p:tgtEl>
                                          <p:spTgt spid="40"/>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40"/>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910"/>
                                  </p:stCondLst>
                                  <p:childTnLst>
                                    <p:set>
                                      <p:cBhvr>
                                        <p:cTn id="181" dur="1" fill="hold">
                                          <p:stCondLst>
                                            <p:cond delay="0"/>
                                          </p:stCondLst>
                                        </p:cTn>
                                        <p:tgtEl>
                                          <p:spTgt spid="41"/>
                                        </p:tgtEl>
                                        <p:attrNameLst>
                                          <p:attrName>style.visibility</p:attrName>
                                        </p:attrNameLst>
                                      </p:cBhvr>
                                      <p:to>
                                        <p:strVal val="visible"/>
                                      </p:to>
                                    </p:set>
                                    <p:animEffect transition="in" filter="fade">
                                      <p:cBhvr>
                                        <p:cTn id="182" dur="600"/>
                                        <p:tgtEl>
                                          <p:spTgt spid="41"/>
                                        </p:tgtEl>
                                      </p:cBhvr>
                                    </p:animEffect>
                                    <p:anim calcmode="lin" valueType="num">
                                      <p:cBhvr additive="base">
                                        <p:cTn id="183" dur="600" decel="100000" fill="hold"/>
                                        <p:tgtEl>
                                          <p:spTgt spid="41"/>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41"/>
                                        </p:tgtEl>
                                        <p:attrNameLst>
                                          <p:attrName>ppt_y</p:attrName>
                                        </p:attrNameLst>
                                      </p:cBhvr>
                                      <p:tavLst>
                                        <p:tav tm="0">
                                          <p:val>
                                            <p:strVal val="#ppt_y+.03"/>
                                          </p:val>
                                        </p:tav>
                                        <p:tav tm="100000">
                                          <p:val>
                                            <p:strVal val="#ppt_y"/>
                                          </p:val>
                                        </p:tav>
                                      </p:tavLst>
                                    </p:anim>
                                  </p:childTnLst>
                                </p:cTn>
                              </p:par>
                              <p:par>
                                <p:cTn id="185" presetID="42" presetClass="entr" presetSubtype="0" fill="hold" grpId="0" nodeType="withEffect">
                                  <p:stCondLst>
                                    <p:cond delay="91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600"/>
                                        <p:tgtEl>
                                          <p:spTgt spid="42"/>
                                        </p:tgtEl>
                                      </p:cBhvr>
                                    </p:animEffect>
                                    <p:anim calcmode="lin" valueType="num">
                                      <p:cBhvr additive="base">
                                        <p:cTn id="188" dur="600" decel="100000" fill="hold"/>
                                        <p:tgtEl>
                                          <p:spTgt spid="42"/>
                                        </p:tgtEl>
                                        <p:attrNameLst>
                                          <p:attrName>ppt_x</p:attrName>
                                        </p:attrNameLst>
                                      </p:cBhvr>
                                      <p:tavLst>
                                        <p:tav tm="0">
                                          <p:val>
                                            <p:strVal val="#ppt_x"/>
                                          </p:val>
                                        </p:tav>
                                        <p:tav tm="100000">
                                          <p:val>
                                            <p:strVal val="#ppt_x"/>
                                          </p:val>
                                        </p:tav>
                                      </p:tavLst>
                                    </p:anim>
                                    <p:anim calcmode="lin" valueType="num">
                                      <p:cBhvr additive="base">
                                        <p:cTn id="189" dur="600" decel="100000" fill="hold"/>
                                        <p:tgtEl>
                                          <p:spTgt spid="42"/>
                                        </p:tgtEl>
                                        <p:attrNameLst>
                                          <p:attrName>ppt_y</p:attrName>
                                        </p:attrNameLst>
                                      </p:cBhvr>
                                      <p:tavLst>
                                        <p:tav tm="0">
                                          <p:val>
                                            <p:strVal val="#ppt_y+.03"/>
                                          </p:val>
                                        </p:tav>
                                        <p:tav tm="100000">
                                          <p:val>
                                            <p:strVal val="#ppt_y"/>
                                          </p:val>
                                        </p:tav>
                                      </p:tavLst>
                                    </p:anim>
                                  </p:childTnLst>
                                </p:cTn>
                              </p:par>
                              <p:par>
                                <p:cTn id="190" presetID="53" presetClass="entr" presetSubtype="16" fill="hold" grpId="0" nodeType="withEffect">
                                  <p:stCondLst>
                                    <p:cond delay="940"/>
                                  </p:stCondLst>
                                  <p:childTnLst>
                                    <p:set>
                                      <p:cBhvr>
                                        <p:cTn id="191" dur="1" fill="hold">
                                          <p:stCondLst>
                                            <p:cond delay="0"/>
                                          </p:stCondLst>
                                        </p:cTn>
                                        <p:tgtEl>
                                          <p:spTgt spid="35"/>
                                        </p:tgtEl>
                                        <p:attrNameLst>
                                          <p:attrName>style.visibility</p:attrName>
                                        </p:attrNameLst>
                                      </p:cBhvr>
                                      <p:to>
                                        <p:strVal val="visible"/>
                                      </p:to>
                                    </p:set>
                                    <p:anim calcmode="lin" valueType="num">
                                      <p:cBhvr additive="base">
                                        <p:cTn id="192" dur="450" decel="100000" fill="hold"/>
                                        <p:tgtEl>
                                          <p:spTgt spid="35"/>
                                        </p:tgtEl>
                                        <p:attrNameLst>
                                          <p:attrName>ppt_w</p:attrName>
                                        </p:attrNameLst>
                                      </p:cBhvr>
                                      <p:tavLst>
                                        <p:tav tm="0">
                                          <p:val>
                                            <p:strVal val="0"/>
                                          </p:val>
                                        </p:tav>
                                        <p:tav tm="100000">
                                          <p:val>
                                            <p:strVal val="#ppt_w"/>
                                          </p:val>
                                        </p:tav>
                                      </p:tavLst>
                                    </p:anim>
                                    <p:anim calcmode="lin" valueType="num">
                                      <p:cBhvr additive="base">
                                        <p:cTn id="193" dur="450" decel="100000" fill="hold"/>
                                        <p:tgtEl>
                                          <p:spTgt spid="35"/>
                                        </p:tgtEl>
                                        <p:attrNameLst>
                                          <p:attrName>ppt_h</p:attrName>
                                        </p:attrNameLst>
                                      </p:cBhvr>
                                      <p:tavLst>
                                        <p:tav tm="0">
                                          <p:val>
                                            <p:strVal val="0"/>
                                          </p:val>
                                        </p:tav>
                                        <p:tav tm="100000">
                                          <p:val>
                                            <p:strVal val="#ppt_h"/>
                                          </p:val>
                                        </p:tav>
                                      </p:tavLst>
                                    </p:anim>
                                    <p:animEffect transition="in" filter="fade">
                                      <p:cBhvr>
                                        <p:cTn id="194" dur="450"/>
                                        <p:tgtEl>
                                          <p:spTgt spid="35"/>
                                        </p:tgtEl>
                                      </p:cBhvr>
                                    </p:animEffect>
                                  </p:childTnLst>
                                </p:cTn>
                              </p:par>
                              <p:par>
                                <p:cTn id="195" presetID="53" presetClass="entr" presetSubtype="16" fill="hold" grpId="0" nodeType="withEffect">
                                  <p:stCondLst>
                                    <p:cond delay="1040"/>
                                  </p:stCondLst>
                                  <p:childTnLst>
                                    <p:set>
                                      <p:cBhvr>
                                        <p:cTn id="196" dur="1" fill="hold">
                                          <p:stCondLst>
                                            <p:cond delay="0"/>
                                          </p:stCondLst>
                                        </p:cTn>
                                        <p:tgtEl>
                                          <p:spTgt spid="36"/>
                                        </p:tgtEl>
                                        <p:attrNameLst>
                                          <p:attrName>style.visibility</p:attrName>
                                        </p:attrNameLst>
                                      </p:cBhvr>
                                      <p:to>
                                        <p:strVal val="visible"/>
                                      </p:to>
                                    </p:set>
                                    <p:anim calcmode="lin" valueType="num">
                                      <p:cBhvr additive="base">
                                        <p:cTn id="197" dur="450" decel="100000" fill="hold"/>
                                        <p:tgtEl>
                                          <p:spTgt spid="36"/>
                                        </p:tgtEl>
                                        <p:attrNameLst>
                                          <p:attrName>ppt_w</p:attrName>
                                        </p:attrNameLst>
                                      </p:cBhvr>
                                      <p:tavLst>
                                        <p:tav tm="0">
                                          <p:val>
                                            <p:strVal val="0"/>
                                          </p:val>
                                        </p:tav>
                                        <p:tav tm="100000">
                                          <p:val>
                                            <p:strVal val="#ppt_w"/>
                                          </p:val>
                                        </p:tav>
                                      </p:tavLst>
                                    </p:anim>
                                    <p:anim calcmode="lin" valueType="num">
                                      <p:cBhvr additive="base">
                                        <p:cTn id="198" dur="450" decel="100000" fill="hold"/>
                                        <p:tgtEl>
                                          <p:spTgt spid="36"/>
                                        </p:tgtEl>
                                        <p:attrNameLst>
                                          <p:attrName>ppt_h</p:attrName>
                                        </p:attrNameLst>
                                      </p:cBhvr>
                                      <p:tavLst>
                                        <p:tav tm="0">
                                          <p:val>
                                            <p:strVal val="0"/>
                                          </p:val>
                                        </p:tav>
                                        <p:tav tm="100000">
                                          <p:val>
                                            <p:strVal val="#ppt_h"/>
                                          </p:val>
                                        </p:tav>
                                      </p:tavLst>
                                    </p:anim>
                                    <p:animEffect transition="in" filter="fade">
                                      <p:cBhvr>
                                        <p:cTn id="199"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1" grpId="0" animBg="1"/>
      <p:bldP spid="4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03  |  التحليل الاستراتيجي</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تحليل SWOT للمشروع</a:t>
            </a:r>
            <a:endParaRPr lang="en-US" sz="3000" dirty="0"/>
          </a:p>
        </p:txBody>
      </p:sp>
      <p:sp>
        <p:nvSpPr>
          <p:cNvPr id="4" name="anim9_0"/>
          <p:cNvSpPr/>
          <p:nvPr/>
        </p:nvSpPr>
        <p:spPr>
          <a:xfrm>
            <a:off x="6210148" y="1554480"/>
            <a:ext cx="5432908" cy="1938528"/>
          </a:xfrm>
          <a:prstGeom prst="roundRect">
            <a:avLst>
              <a:gd name="adj" fmla="val 4717"/>
            </a:avLst>
          </a:prstGeom>
          <a:solidFill>
            <a:srgbClr val="EAF2FA"/>
          </a:solidFill>
          <a:ln w="12700">
            <a:solidFill>
              <a:srgbClr val="EAF2FA"/>
            </a:solidFill>
            <a:prstDash val="solid"/>
          </a:ln>
        </p:spPr>
      </p:sp>
      <p:sp>
        <p:nvSpPr>
          <p:cNvPr id="5" name="anim9_1"/>
          <p:cNvSpPr txBox="1"/>
          <p:nvPr/>
        </p:nvSpPr>
        <p:spPr>
          <a:xfrm>
            <a:off x="6393028" y="1600200"/>
            <a:ext cx="1280160" cy="1280160"/>
          </a:xfrm>
          <a:prstGeom prst="rect">
            <a:avLst/>
          </a:prstGeom>
          <a:noFill/>
          <a:ln/>
        </p:spPr>
        <p:txBody>
          <a:bodyPr wrap="square" lIns="0" tIns="0" rIns="0" bIns="0" rtlCol="0" anchor="t"/>
          <a:lstStyle/>
          <a:p>
            <a:pPr algn="l" indent="0" marL="0">
              <a:buNone/>
            </a:pPr>
            <a:r>
              <a:rPr lang="ar-SA" altLang="en-US" sz="8800" b="1" dirty="0">
                <a:solidFill>
                  <a:srgbClr val="00539B">
                    <a:alpha val="18000"/>
                  </a:srgbClr>
                </a:solidFill>
                <a:latin typeface="JF Flat" pitchFamily="34" charset="0"/>
                <a:ea typeface="JF Flat" pitchFamily="34" charset="-122"/>
                <a:cs typeface="JF Flat" pitchFamily="34" charset="-120"/>
              </a:rPr>
              <a:t>S</a:t>
            </a:r>
            <a:endParaRPr lang="ar-SA" sz="8800" dirty="0"/>
          </a:p>
        </p:txBody>
      </p:sp>
      <p:sp>
        <p:nvSpPr>
          <p:cNvPr id="6" name="anim9_2"/>
          <p:cNvSpPr/>
          <p:nvPr/>
        </p:nvSpPr>
        <p:spPr>
          <a:xfrm>
            <a:off x="9402775" y="1719072"/>
            <a:ext cx="2057400" cy="384048"/>
          </a:xfrm>
          <a:prstGeom prst="roundRect">
            <a:avLst>
              <a:gd name="adj" fmla="val 50000"/>
            </a:avLst>
          </a:prstGeom>
          <a:solidFill>
            <a:srgbClr val="00539B"/>
          </a:solidFill>
          <a:ln w="12700">
            <a:solidFill>
              <a:srgbClr val="00539B"/>
            </a:solidFill>
            <a:prstDash val="solid"/>
          </a:ln>
        </p:spPr>
      </p:sp>
      <p:sp>
        <p:nvSpPr>
          <p:cNvPr id="7" name="anim9_3"/>
          <p:cNvSpPr txBox="1"/>
          <p:nvPr/>
        </p:nvSpPr>
        <p:spPr>
          <a:xfrm>
            <a:off x="9402775" y="1719072"/>
            <a:ext cx="2057400" cy="384048"/>
          </a:xfrm>
          <a:prstGeom prst="rect">
            <a:avLst/>
          </a:prstGeom>
          <a:noFill/>
          <a:ln/>
        </p:spPr>
        <p:txBody>
          <a:bodyPr wrap="square" lIns="0" tIns="0" rIns="0" bIns="0" rtlCol="0" anchor="ctr"/>
          <a:lstStyle/>
          <a:p>
            <a:pPr algn="ctr" indent="0" marL="0">
              <a:buNone/>
            </a:pPr>
            <a:r>
              <a:rPr lang="ar-SA" altLang="en-US" sz="1400" b="1" dirty="0">
                <a:solidFill>
                  <a:srgbClr val="FFFFFF"/>
                </a:solidFill>
                <a:latin typeface="JF Flat" pitchFamily="34" charset="0"/>
                <a:ea typeface="JF Flat" pitchFamily="34" charset="-122"/>
                <a:cs typeface="JF Flat" pitchFamily="34" charset="-120"/>
              </a:rPr>
              <a:t>نقاط القوة</a:t>
            </a:r>
            <a:pPr algn="ctr" indent="0" marL="0">
              <a:buNone/>
            </a:pPr>
            <a:r>
              <a:rPr lang="ar-SA" altLang="en-US" sz="1000" dirty="0">
                <a:solidFill>
                  <a:srgbClr val="FFFFFF"/>
                </a:solidFill>
                <a:latin typeface="JF Flat" pitchFamily="34" charset="0"/>
                <a:ea typeface="JF Flat" pitchFamily="34" charset="-122"/>
                <a:cs typeface="JF Flat" pitchFamily="34" charset="-120"/>
              </a:rPr>
              <a:t>  Strengths</a:t>
            </a:r>
            <a:endParaRPr lang="ar-SA" sz="1400" dirty="0"/>
          </a:p>
        </p:txBody>
      </p:sp>
      <p:sp>
        <p:nvSpPr>
          <p:cNvPr id="8" name="anim9_4"/>
          <p:cNvSpPr txBox="1"/>
          <p:nvPr/>
        </p:nvSpPr>
        <p:spPr>
          <a:xfrm>
            <a:off x="6484468" y="2194560"/>
            <a:ext cx="4975708" cy="1207008"/>
          </a:xfrm>
          <a:prstGeom prst="rect">
            <a:avLst/>
          </a:prstGeom>
          <a:noFill/>
          <a:ln/>
        </p:spPr>
        <p:txBody>
          <a:bodyPr wrap="square" lIns="0" tIns="0" rIns="0" bIns="0" rtlCol="0" anchor="t"/>
          <a:lstStyle/>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بنية اتصالات واسعة وسعات ربط مرتفعة.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تكامل مع الشبكة الحكومية الآمنة.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توفر موقع وأصول وكوادر وخبرات تشغيلية.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إمكانية تقديم خدمات متكاملة للجهات الحكومية.</a:t>
            </a:r>
            <a:endParaRPr lang="ar-SA" sz="1300" dirty="0"/>
          </a:p>
        </p:txBody>
      </p:sp>
      <p:sp>
        <p:nvSpPr>
          <p:cNvPr id="9" name="anim9_5"/>
          <p:cNvSpPr/>
          <p:nvPr/>
        </p:nvSpPr>
        <p:spPr>
          <a:xfrm>
            <a:off x="548640" y="1554480"/>
            <a:ext cx="5432908" cy="1938528"/>
          </a:xfrm>
          <a:prstGeom prst="roundRect">
            <a:avLst>
              <a:gd name="adj" fmla="val 4717"/>
            </a:avLst>
          </a:prstGeom>
          <a:solidFill>
            <a:srgbClr val="F1F3F6"/>
          </a:solidFill>
          <a:ln w="12700">
            <a:solidFill>
              <a:srgbClr val="F1F3F6"/>
            </a:solidFill>
            <a:prstDash val="solid"/>
          </a:ln>
        </p:spPr>
      </p:sp>
      <p:sp>
        <p:nvSpPr>
          <p:cNvPr id="10" name="anim9_6"/>
          <p:cNvSpPr txBox="1"/>
          <p:nvPr/>
        </p:nvSpPr>
        <p:spPr>
          <a:xfrm>
            <a:off x="731520" y="1600200"/>
            <a:ext cx="1280160" cy="1280160"/>
          </a:xfrm>
          <a:prstGeom prst="rect">
            <a:avLst/>
          </a:prstGeom>
          <a:noFill/>
          <a:ln/>
        </p:spPr>
        <p:txBody>
          <a:bodyPr wrap="square" lIns="0" tIns="0" rIns="0" bIns="0" rtlCol="0" anchor="t"/>
          <a:lstStyle/>
          <a:p>
            <a:pPr algn="l" indent="0" marL="0">
              <a:buNone/>
            </a:pPr>
            <a:r>
              <a:rPr lang="ar-SA" altLang="en-US" sz="8800" b="1" dirty="0">
                <a:solidFill>
                  <a:srgbClr val="5B6B7F">
                    <a:alpha val="18000"/>
                  </a:srgbClr>
                </a:solidFill>
                <a:latin typeface="JF Flat" pitchFamily="34" charset="0"/>
                <a:ea typeface="JF Flat" pitchFamily="34" charset="-122"/>
                <a:cs typeface="JF Flat" pitchFamily="34" charset="-120"/>
              </a:rPr>
              <a:t>W</a:t>
            </a:r>
            <a:endParaRPr lang="ar-SA" sz="8800" dirty="0"/>
          </a:p>
        </p:txBody>
      </p:sp>
      <p:sp>
        <p:nvSpPr>
          <p:cNvPr id="11" name="anim9_7"/>
          <p:cNvSpPr/>
          <p:nvPr/>
        </p:nvSpPr>
        <p:spPr>
          <a:xfrm>
            <a:off x="3741268" y="1719072"/>
            <a:ext cx="2057400" cy="384048"/>
          </a:xfrm>
          <a:prstGeom prst="roundRect">
            <a:avLst>
              <a:gd name="adj" fmla="val 50000"/>
            </a:avLst>
          </a:prstGeom>
          <a:solidFill>
            <a:srgbClr val="5B6B7F"/>
          </a:solidFill>
          <a:ln w="12700">
            <a:solidFill>
              <a:srgbClr val="5B6B7F"/>
            </a:solidFill>
            <a:prstDash val="solid"/>
          </a:ln>
        </p:spPr>
      </p:sp>
      <p:sp>
        <p:nvSpPr>
          <p:cNvPr id="12" name="anim9_8"/>
          <p:cNvSpPr txBox="1"/>
          <p:nvPr/>
        </p:nvSpPr>
        <p:spPr>
          <a:xfrm>
            <a:off x="3741268" y="1719072"/>
            <a:ext cx="2057400" cy="384048"/>
          </a:xfrm>
          <a:prstGeom prst="rect">
            <a:avLst/>
          </a:prstGeom>
          <a:noFill/>
          <a:ln/>
        </p:spPr>
        <p:txBody>
          <a:bodyPr wrap="square" lIns="0" tIns="0" rIns="0" bIns="0" rtlCol="0" anchor="ctr"/>
          <a:lstStyle/>
          <a:p>
            <a:pPr algn="ctr" indent="0" marL="0">
              <a:buNone/>
            </a:pPr>
            <a:r>
              <a:rPr lang="ar-SA" altLang="en-US" sz="1400" b="1" dirty="0">
                <a:solidFill>
                  <a:srgbClr val="FFFFFF"/>
                </a:solidFill>
                <a:latin typeface="JF Flat" pitchFamily="34" charset="0"/>
                <a:ea typeface="JF Flat" pitchFamily="34" charset="-122"/>
                <a:cs typeface="JF Flat" pitchFamily="34" charset="-120"/>
              </a:rPr>
              <a:t>نقاط الضعف</a:t>
            </a:r>
            <a:pPr algn="ctr" indent="0" marL="0">
              <a:buNone/>
            </a:pPr>
            <a:r>
              <a:rPr lang="ar-SA" altLang="en-US" sz="1000" dirty="0">
                <a:solidFill>
                  <a:srgbClr val="FFFFFF"/>
                </a:solidFill>
                <a:latin typeface="JF Flat" pitchFamily="34" charset="0"/>
                <a:ea typeface="JF Flat" pitchFamily="34" charset="-122"/>
                <a:cs typeface="JF Flat" pitchFamily="34" charset="-120"/>
              </a:rPr>
              <a:t>  Weaknesses</a:t>
            </a:r>
            <a:endParaRPr lang="ar-SA" sz="1400" dirty="0"/>
          </a:p>
        </p:txBody>
      </p:sp>
      <p:sp>
        <p:nvSpPr>
          <p:cNvPr id="13" name="anim9_9"/>
          <p:cNvSpPr txBox="1"/>
          <p:nvPr/>
        </p:nvSpPr>
        <p:spPr>
          <a:xfrm>
            <a:off x="822960" y="2194560"/>
            <a:ext cx="4975708" cy="1207008"/>
          </a:xfrm>
          <a:prstGeom prst="rect">
            <a:avLst/>
          </a:prstGeom>
          <a:noFill/>
          <a:ln/>
        </p:spPr>
        <p:txBody>
          <a:bodyPr wrap="square" lIns="0" tIns="0" rIns="0" bIns="0" rtlCol="0" anchor="t"/>
          <a:lstStyle/>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ارتفاع التكلفة الاستثمارية والتشغيلية.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الحاجة إلى استثمارات مستمرة في الأمن والتحديث التقني.</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الحاجة إلى تعزيز الوعي المؤسسي بقيمة مركز البيانات ومعايير اعتماديته.</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تحديات المنافسة السعرية مع مقدمي الخدمات الأقل تكلفة.</a:t>
            </a:r>
            <a:endParaRPr lang="ar-SA" sz="1300" dirty="0"/>
          </a:p>
        </p:txBody>
      </p:sp>
      <p:sp>
        <p:nvSpPr>
          <p:cNvPr id="14" name="anim9_10"/>
          <p:cNvSpPr/>
          <p:nvPr/>
        </p:nvSpPr>
        <p:spPr>
          <a:xfrm>
            <a:off x="6210148" y="3657600"/>
            <a:ext cx="5432908" cy="1938528"/>
          </a:xfrm>
          <a:prstGeom prst="roundRect">
            <a:avLst>
              <a:gd name="adj" fmla="val 4717"/>
            </a:avLst>
          </a:prstGeom>
          <a:solidFill>
            <a:srgbClr val="FEF0EA"/>
          </a:solidFill>
          <a:ln w="12700">
            <a:solidFill>
              <a:srgbClr val="FEF0EA"/>
            </a:solidFill>
            <a:prstDash val="solid"/>
          </a:ln>
        </p:spPr>
      </p:sp>
      <p:sp>
        <p:nvSpPr>
          <p:cNvPr id="15" name="anim9_11"/>
          <p:cNvSpPr txBox="1"/>
          <p:nvPr/>
        </p:nvSpPr>
        <p:spPr>
          <a:xfrm>
            <a:off x="6393028" y="3703320"/>
            <a:ext cx="1280160" cy="1280160"/>
          </a:xfrm>
          <a:prstGeom prst="rect">
            <a:avLst/>
          </a:prstGeom>
          <a:noFill/>
          <a:ln/>
        </p:spPr>
        <p:txBody>
          <a:bodyPr wrap="square" lIns="0" tIns="0" rIns="0" bIns="0" rtlCol="0" anchor="t"/>
          <a:lstStyle/>
          <a:p>
            <a:pPr algn="l" indent="0" marL="0">
              <a:buNone/>
            </a:pPr>
            <a:r>
              <a:rPr lang="ar-SA" altLang="en-US" sz="8800" b="1" dirty="0">
                <a:solidFill>
                  <a:srgbClr val="F15524">
                    <a:alpha val="18000"/>
                  </a:srgbClr>
                </a:solidFill>
                <a:latin typeface="JF Flat" pitchFamily="34" charset="0"/>
                <a:ea typeface="JF Flat" pitchFamily="34" charset="-122"/>
                <a:cs typeface="JF Flat" pitchFamily="34" charset="-120"/>
              </a:rPr>
              <a:t>O</a:t>
            </a:r>
            <a:endParaRPr lang="ar-SA" sz="8800" dirty="0"/>
          </a:p>
        </p:txBody>
      </p:sp>
      <p:sp>
        <p:nvSpPr>
          <p:cNvPr id="16" name="anim9_12"/>
          <p:cNvSpPr/>
          <p:nvPr/>
        </p:nvSpPr>
        <p:spPr>
          <a:xfrm>
            <a:off x="9402775" y="3822192"/>
            <a:ext cx="2057400" cy="384048"/>
          </a:xfrm>
          <a:prstGeom prst="roundRect">
            <a:avLst>
              <a:gd name="adj" fmla="val 50000"/>
            </a:avLst>
          </a:prstGeom>
          <a:solidFill>
            <a:srgbClr val="F15524"/>
          </a:solidFill>
          <a:ln w="12700">
            <a:solidFill>
              <a:srgbClr val="F15524"/>
            </a:solidFill>
            <a:prstDash val="solid"/>
          </a:ln>
        </p:spPr>
      </p:sp>
      <p:sp>
        <p:nvSpPr>
          <p:cNvPr id="17" name="anim9_13"/>
          <p:cNvSpPr txBox="1"/>
          <p:nvPr/>
        </p:nvSpPr>
        <p:spPr>
          <a:xfrm>
            <a:off x="9402775" y="3822192"/>
            <a:ext cx="2057400" cy="384048"/>
          </a:xfrm>
          <a:prstGeom prst="rect">
            <a:avLst/>
          </a:prstGeom>
          <a:noFill/>
          <a:ln/>
        </p:spPr>
        <p:txBody>
          <a:bodyPr wrap="square" lIns="0" tIns="0" rIns="0" bIns="0" rtlCol="0" anchor="ctr"/>
          <a:lstStyle/>
          <a:p>
            <a:pPr algn="ctr" indent="0" marL="0">
              <a:buNone/>
            </a:pPr>
            <a:r>
              <a:rPr lang="ar-SA" altLang="en-US" sz="1400" b="1" dirty="0">
                <a:solidFill>
                  <a:srgbClr val="FFFFFF"/>
                </a:solidFill>
                <a:latin typeface="JF Flat" pitchFamily="34" charset="0"/>
                <a:ea typeface="JF Flat" pitchFamily="34" charset="-122"/>
                <a:cs typeface="JF Flat" pitchFamily="34" charset="-120"/>
              </a:rPr>
              <a:t>الفرص</a:t>
            </a:r>
            <a:pPr algn="ctr" indent="0" marL="0">
              <a:buNone/>
            </a:pPr>
            <a:r>
              <a:rPr lang="ar-SA" altLang="en-US" sz="1000" dirty="0">
                <a:solidFill>
                  <a:srgbClr val="FFFFFF"/>
                </a:solidFill>
                <a:latin typeface="JF Flat" pitchFamily="34" charset="0"/>
                <a:ea typeface="JF Flat" pitchFamily="34" charset="-122"/>
                <a:cs typeface="JF Flat" pitchFamily="34" charset="-120"/>
              </a:rPr>
              <a:t>  Opportunities</a:t>
            </a:r>
            <a:endParaRPr lang="ar-SA" sz="1400" dirty="0"/>
          </a:p>
        </p:txBody>
      </p:sp>
      <p:sp>
        <p:nvSpPr>
          <p:cNvPr id="18" name="anim9_14"/>
          <p:cNvSpPr txBox="1"/>
          <p:nvPr/>
        </p:nvSpPr>
        <p:spPr>
          <a:xfrm>
            <a:off x="6484468" y="4297680"/>
            <a:ext cx="4975708" cy="1207008"/>
          </a:xfrm>
          <a:prstGeom prst="rect">
            <a:avLst/>
          </a:prstGeom>
          <a:noFill/>
          <a:ln/>
        </p:spPr>
        <p:txBody>
          <a:bodyPr wrap="square" lIns="0" tIns="0" rIns="0" bIns="0" rtlCol="0" anchor="t"/>
          <a:lstStyle/>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تزايد الطلب على استضافة البيانات الحكومية محلياً.</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وجود فرصة للتميز بمعايير واعتمادات دولية.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التكامل مع الشبكة الحكومية الآمنة ونقطة تبادل الإنترنت (IXP).</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تقليل ازدواجية الاستثمار في مراكز منفصلة لدى الجهات العامة.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إمكانية التوسع التدريجي وبناء شراكات تقنية واستثمارية.</a:t>
            </a:r>
            <a:endParaRPr lang="ar-SA" sz="1300" dirty="0"/>
          </a:p>
        </p:txBody>
      </p:sp>
      <p:sp>
        <p:nvSpPr>
          <p:cNvPr id="19" name="anim9_15"/>
          <p:cNvSpPr/>
          <p:nvPr/>
        </p:nvSpPr>
        <p:spPr>
          <a:xfrm>
            <a:off x="548640" y="3657600"/>
            <a:ext cx="5432908" cy="1938528"/>
          </a:xfrm>
          <a:prstGeom prst="roundRect">
            <a:avLst>
              <a:gd name="adj" fmla="val 4717"/>
            </a:avLst>
          </a:prstGeom>
          <a:solidFill>
            <a:srgbClr val="FBEDEA"/>
          </a:solidFill>
          <a:ln w="12700">
            <a:solidFill>
              <a:srgbClr val="FBEDEA"/>
            </a:solidFill>
            <a:prstDash val="solid"/>
          </a:ln>
        </p:spPr>
      </p:sp>
      <p:sp>
        <p:nvSpPr>
          <p:cNvPr id="20" name="anim9_16"/>
          <p:cNvSpPr txBox="1"/>
          <p:nvPr/>
        </p:nvSpPr>
        <p:spPr>
          <a:xfrm>
            <a:off x="731520" y="3703320"/>
            <a:ext cx="1280160" cy="1280160"/>
          </a:xfrm>
          <a:prstGeom prst="rect">
            <a:avLst/>
          </a:prstGeom>
          <a:noFill/>
          <a:ln/>
        </p:spPr>
        <p:txBody>
          <a:bodyPr wrap="square" lIns="0" tIns="0" rIns="0" bIns="0" rtlCol="0" anchor="t"/>
          <a:lstStyle/>
          <a:p>
            <a:pPr algn="l" indent="0" marL="0">
              <a:buNone/>
            </a:pPr>
            <a:r>
              <a:rPr lang="ar-SA" altLang="en-US" sz="8800" b="1" dirty="0">
                <a:solidFill>
                  <a:srgbClr val="C8361B">
                    <a:alpha val="18000"/>
                  </a:srgbClr>
                </a:solidFill>
                <a:latin typeface="JF Flat" pitchFamily="34" charset="0"/>
                <a:ea typeface="JF Flat" pitchFamily="34" charset="-122"/>
                <a:cs typeface="JF Flat" pitchFamily="34" charset="-120"/>
              </a:rPr>
              <a:t>T</a:t>
            </a:r>
            <a:endParaRPr lang="ar-SA" sz="8800" dirty="0"/>
          </a:p>
        </p:txBody>
      </p:sp>
      <p:sp>
        <p:nvSpPr>
          <p:cNvPr id="21" name="anim9_17"/>
          <p:cNvSpPr/>
          <p:nvPr/>
        </p:nvSpPr>
        <p:spPr>
          <a:xfrm>
            <a:off x="3741268" y="3822192"/>
            <a:ext cx="2057400" cy="384048"/>
          </a:xfrm>
          <a:prstGeom prst="roundRect">
            <a:avLst>
              <a:gd name="adj" fmla="val 50000"/>
            </a:avLst>
          </a:prstGeom>
          <a:solidFill>
            <a:srgbClr val="C8361B"/>
          </a:solidFill>
          <a:ln w="12700">
            <a:solidFill>
              <a:srgbClr val="C8361B"/>
            </a:solidFill>
            <a:prstDash val="solid"/>
          </a:ln>
        </p:spPr>
      </p:sp>
      <p:sp>
        <p:nvSpPr>
          <p:cNvPr id="22" name="anim9_18"/>
          <p:cNvSpPr txBox="1"/>
          <p:nvPr/>
        </p:nvSpPr>
        <p:spPr>
          <a:xfrm>
            <a:off x="3741268" y="3822192"/>
            <a:ext cx="2057400" cy="384048"/>
          </a:xfrm>
          <a:prstGeom prst="rect">
            <a:avLst/>
          </a:prstGeom>
          <a:noFill/>
          <a:ln/>
        </p:spPr>
        <p:txBody>
          <a:bodyPr wrap="square" lIns="0" tIns="0" rIns="0" bIns="0" rtlCol="0" anchor="ctr"/>
          <a:lstStyle/>
          <a:p>
            <a:pPr algn="ctr" indent="0" marL="0">
              <a:buNone/>
            </a:pPr>
            <a:r>
              <a:rPr lang="ar-SA" altLang="en-US" sz="1400" b="1" dirty="0">
                <a:solidFill>
                  <a:srgbClr val="FFFFFF"/>
                </a:solidFill>
                <a:latin typeface="JF Flat" pitchFamily="34" charset="0"/>
                <a:ea typeface="JF Flat" pitchFamily="34" charset="-122"/>
                <a:cs typeface="JF Flat" pitchFamily="34" charset="-120"/>
              </a:rPr>
              <a:t>التهديدات</a:t>
            </a:r>
            <a:pPr algn="ctr" indent="0" marL="0">
              <a:buNone/>
            </a:pPr>
            <a:r>
              <a:rPr lang="ar-SA" altLang="en-US" sz="1000" dirty="0">
                <a:solidFill>
                  <a:srgbClr val="FFFFFF"/>
                </a:solidFill>
                <a:latin typeface="JF Flat" pitchFamily="34" charset="0"/>
                <a:ea typeface="JF Flat" pitchFamily="34" charset="-122"/>
                <a:cs typeface="JF Flat" pitchFamily="34" charset="-120"/>
              </a:rPr>
              <a:t>  Threats</a:t>
            </a:r>
            <a:endParaRPr lang="ar-SA" sz="1400" dirty="0"/>
          </a:p>
        </p:txBody>
      </p:sp>
      <p:sp>
        <p:nvSpPr>
          <p:cNvPr id="23" name="anim9_19"/>
          <p:cNvSpPr txBox="1"/>
          <p:nvPr/>
        </p:nvSpPr>
        <p:spPr>
          <a:xfrm>
            <a:off x="822960" y="4297680"/>
            <a:ext cx="4975708" cy="1207008"/>
          </a:xfrm>
          <a:prstGeom prst="rect">
            <a:avLst/>
          </a:prstGeom>
          <a:noFill/>
          <a:ln/>
        </p:spPr>
        <p:txBody>
          <a:bodyPr wrap="square" lIns="0" tIns="0" rIns="0" bIns="0" rtlCol="0" anchor="t"/>
          <a:lstStyle/>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عدم استقرار الكهرباء وارتفاع تكاليف الطاقة.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الهجمات السيبرانية ومخاطر فقدان البيانات.</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تقلبات سعر الصرف وتأخر توريد المعدات.</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عدم تحقق الطلب والإيرادات المستهدفة.</a:t>
            </a:r>
            <a:endParaRPr lang="ar-SA" sz="1300" dirty="0"/>
          </a:p>
          <a:p>
            <a:pPr algn="r" marL="177800" indent="-177800">
              <a:spcAft>
                <a:spcPts val="200"/>
              </a:spcAft>
              <a:buSzPct val="100000"/>
              <a:buChar char="•"/>
            </a:pPr>
            <a:r>
              <a:rPr lang="ar-SA" altLang="en-US" sz="1300" dirty="0">
                <a:solidFill>
                  <a:srgbClr val="1F2937"/>
                </a:solidFill>
                <a:latin typeface="JF Flat" pitchFamily="34" charset="0"/>
                <a:ea typeface="JF Flat" pitchFamily="34" charset="-122"/>
                <a:cs typeface="JF Flat" pitchFamily="34" charset="-120"/>
              </a:rPr>
              <a:t>مخاطر التمويل والتراخيص والتأخر في التنفيذ.</a:t>
            </a:r>
            <a:endParaRPr lang="ar-SA" sz="1300" dirty="0"/>
          </a:p>
        </p:txBody>
      </p:sp>
      <p:sp>
        <p:nvSpPr>
          <p:cNvPr id="24" name="anim9_20"/>
          <p:cNvSpPr/>
          <p:nvPr/>
        </p:nvSpPr>
        <p:spPr>
          <a:xfrm>
            <a:off x="548640" y="5577840"/>
            <a:ext cx="11094415" cy="658368"/>
          </a:xfrm>
          <a:prstGeom prst="roundRect">
            <a:avLst>
              <a:gd name="adj" fmla="val 13889"/>
            </a:avLst>
          </a:prstGeom>
          <a:solidFill>
            <a:srgbClr val="06305C"/>
          </a:solidFill>
          <a:ln w="12700">
            <a:solidFill>
              <a:srgbClr val="06305C"/>
            </a:solidFill>
            <a:prstDash val="solid"/>
          </a:ln>
        </p:spPr>
      </p:sp>
      <p:pic>
        <p:nvPicPr>
          <p:cNvPr id="25" name="anim9_21" descr="preencoded.png">    </p:cNvPr>
          <p:cNvPicPr>
            <a:picLocks noChangeAspect="1"/>
          </p:cNvPicPr>
          <p:nvPr/>
        </p:nvPicPr>
        <p:blipFill>
          <a:blip r:embed="rId1"/>
          <a:stretch>
            <a:fillRect/>
          </a:stretch>
        </p:blipFill>
        <p:spPr>
          <a:xfrm>
            <a:off x="11094415" y="5733288"/>
            <a:ext cx="347472" cy="347472"/>
          </a:xfrm>
          <a:prstGeom prst="rect">
            <a:avLst/>
          </a:prstGeom>
        </p:spPr>
      </p:pic>
      <p:sp>
        <p:nvSpPr>
          <p:cNvPr id="26" name="anim9_22"/>
          <p:cNvSpPr txBox="1"/>
          <p:nvPr/>
        </p:nvSpPr>
        <p:spPr>
          <a:xfrm>
            <a:off x="777240" y="5577840"/>
            <a:ext cx="10180015" cy="658368"/>
          </a:xfrm>
          <a:prstGeom prst="rect">
            <a:avLst/>
          </a:prstGeom>
          <a:noFill/>
          <a:ln/>
        </p:spPr>
        <p:txBody>
          <a:bodyPr wrap="square" lIns="0" tIns="0" rIns="0" bIns="0" rtlCol="0" anchor="ctr"/>
          <a:lstStyle/>
          <a:p>
            <a:pPr algn="r" indent="0" marL="0">
              <a:buNone/>
            </a:pPr>
            <a:r>
              <a:rPr lang="ar-SA" altLang="en-US" sz="1400" b="1" dirty="0">
                <a:solidFill>
                  <a:srgbClr val="F7941D"/>
                </a:solidFill>
                <a:latin typeface="JF Flat" pitchFamily="34" charset="0"/>
                <a:ea typeface="JF Flat" pitchFamily="34" charset="-122"/>
                <a:cs typeface="JF Flat" pitchFamily="34" charset="-120"/>
              </a:rPr>
              <a:t>الخلاصة الاستراتيجية: </a:t>
            </a:r>
            <a:pPr algn="r" indent="0" marL="0">
              <a:buNone/>
            </a:pPr>
            <a:r>
              <a:rPr lang="ar-SA" altLang="en-US" sz="1400" dirty="0">
                <a:solidFill>
                  <a:srgbClr val="FFFFFF"/>
                </a:solidFill>
                <a:latin typeface="JF Flat" pitchFamily="34" charset="0"/>
                <a:ea typeface="JF Flat" pitchFamily="34" charset="-122"/>
                <a:cs typeface="JF Flat" pitchFamily="34" charset="-120"/>
              </a:rPr>
              <a:t>يمتلك المشروع مقومات تنافسية واضحة، لكن نجاحه يتطلب ضمان الطلب الفعلي، وتأمين التمويل، ورفع الاعتمادية التشغيلية والأمنية.</a:t>
            </a:r>
            <a:endParaRPr lang="ar-SA" sz="14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additive="base">
                                        <p:cTn id="3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9"/>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additive="base">
                                        <p:cTn id="3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0"/>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additive="base">
                                        <p:cTn id="4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1"/>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1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additive="base">
                                        <p:cTn id="4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2"/>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1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additive="base">
                                        <p:cTn id="5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3"/>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26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4"/>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2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additive="base">
                                        <p:cTn id="6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5"/>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600"/>
                                        <p:tgtEl>
                                          <p:spTgt spid="16"/>
                                        </p:tgtEl>
                                      </p:cBhvr>
                                    </p:animEffect>
                                    <p:anim calcmode="lin" valueType="num">
                                      <p:cBhvr additive="base">
                                        <p:cTn id="6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16"/>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600"/>
                                        <p:tgtEl>
                                          <p:spTgt spid="17"/>
                                        </p:tgtEl>
                                      </p:cBhvr>
                                    </p:animEffect>
                                    <p:anim calcmode="lin" valueType="num">
                                      <p:cBhvr additive="base">
                                        <p:cTn id="7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7"/>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26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18"/>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39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19"/>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39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600"/>
                                        <p:tgtEl>
                                          <p:spTgt spid="20"/>
                                        </p:tgtEl>
                                      </p:cBhvr>
                                    </p:animEffect>
                                    <p:anim calcmode="lin" valueType="num">
                                      <p:cBhvr additive="base">
                                        <p:cTn id="8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0"/>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39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600"/>
                                        <p:tgtEl>
                                          <p:spTgt spid="21"/>
                                        </p:tgtEl>
                                      </p:cBhvr>
                                    </p:animEffect>
                                    <p:anim calcmode="lin" valueType="num">
                                      <p:cBhvr additive="base">
                                        <p:cTn id="9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1"/>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39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00"/>
                                        <p:tgtEl>
                                          <p:spTgt spid="22"/>
                                        </p:tgtEl>
                                      </p:cBhvr>
                                    </p:animEffect>
                                    <p:anim calcmode="lin" valueType="num">
                                      <p:cBhvr additive="base">
                                        <p:cTn id="9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2"/>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39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600"/>
                                        <p:tgtEl>
                                          <p:spTgt spid="23"/>
                                        </p:tgtEl>
                                      </p:cBhvr>
                                    </p:animEffect>
                                    <p:anim calcmode="lin" valueType="num">
                                      <p:cBhvr additive="base">
                                        <p:cTn id="10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3"/>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52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600"/>
                                        <p:tgtEl>
                                          <p:spTgt spid="24"/>
                                        </p:tgtEl>
                                      </p:cBhvr>
                                    </p:animEffect>
                                    <p:anim calcmode="lin" valueType="num">
                                      <p:cBhvr additive="base">
                                        <p:cTn id="10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4"/>
                                        </p:tgtEl>
                                        <p:attrNameLst>
                                          <p:attrName>ppt_y</p:attrName>
                                        </p:attrNameLst>
                                      </p:cBhvr>
                                      <p:tavLst>
                                        <p:tav tm="0">
                                          <p:val>
                                            <p:strVal val="#ppt_y+.03"/>
                                          </p:val>
                                        </p:tav>
                                        <p:tav tm="100000">
                                          <p:val>
                                            <p:strVal val="#ppt_y"/>
                                          </p:val>
                                        </p:tav>
                                      </p:tavLst>
                                    </p:anim>
                                  </p:childTnLst>
                                </p:cTn>
                              </p:par>
                              <p:par>
                                <p:cTn id="110" presetID="42" presetClass="entr" presetSubtype="0" fill="hold" grpId="0" nodeType="withEffect">
                                  <p:stCondLst>
                                    <p:cond delay="52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600"/>
                                        <p:tgtEl>
                                          <p:spTgt spid="25"/>
                                        </p:tgtEl>
                                      </p:cBhvr>
                                    </p:animEffect>
                                    <p:anim calcmode="lin" valueType="num">
                                      <p:cBhvr additive="base">
                                        <p:cTn id="11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5"/>
                                        </p:tgtEl>
                                        <p:attrNameLst>
                                          <p:attrName>ppt_y</p:attrName>
                                        </p:attrNameLst>
                                      </p:cBhvr>
                                      <p:tavLst>
                                        <p:tav tm="0">
                                          <p:val>
                                            <p:strVal val="#ppt_y+.03"/>
                                          </p:val>
                                        </p:tav>
                                        <p:tav tm="100000">
                                          <p:val>
                                            <p:strVal val="#ppt_y"/>
                                          </p:val>
                                        </p:tav>
                                      </p:tavLst>
                                    </p:anim>
                                  </p:childTnLst>
                                </p:cTn>
                              </p:par>
                              <p:par>
                                <p:cTn id="115" presetID="42" presetClass="entr" presetSubtype="0" fill="hold" grpId="0" nodeType="withEffect">
                                  <p:stCondLst>
                                    <p:cond delay="52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2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04  |  التكاليف الرأسمالية (CAPEX)</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حجم الاستثمار الرأسمالي للمشروع</a:t>
            </a:r>
            <a:endParaRPr lang="en-US" sz="3000" dirty="0"/>
          </a:p>
        </p:txBody>
      </p:sp>
      <p:sp>
        <p:nvSpPr>
          <p:cNvPr id="4" name="anim10_0"/>
          <p:cNvSpPr txBox="1"/>
          <p:nvPr/>
        </p:nvSpPr>
        <p:spPr>
          <a:xfrm>
            <a:off x="4754880" y="1554480"/>
            <a:ext cx="6888175" cy="68580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5B6B7F"/>
                </a:solidFill>
                <a:latin typeface="JF Flat" pitchFamily="34" charset="0"/>
                <a:ea typeface="JF Flat" pitchFamily="34" charset="-122"/>
                <a:cs typeface="JF Flat" pitchFamily="34" charset="-120"/>
              </a:rPr>
              <a:t>تمثل التكاليف الرأسمالية الاستثمارات اللازمة لإنشاء المركز وتجهيزه قبل التشغيل والتوسع، وفق تقديرات دراسة الجدوى.</a:t>
            </a:r>
            <a:endParaRPr lang="ar-SA" sz="1500" dirty="0"/>
          </a:p>
        </p:txBody>
      </p:sp>
      <p:graphicFrame>
        <p:nvGraphicFramePr>
          <p:cNvPr id="11" name="anim10_1"/>
          <p:cNvGraphicFramePr>
            <a:graphicFrameLocks noGrp="1"/>
          </p:cNvGraphicFramePr>
          <p:nvPr>
            <p:extLst>
              <p:ext uri="{D42A27DB-BD31-4B8C-83A1-F6EECF244321}">
                <p14:modId xmlns:p14="http://schemas.microsoft.com/office/powerpoint/2010/main" val="1579011935"/>
              </p:ext>
            </p:extLst>
          </p:nvPr>
        </p:nvGraphicFramePr>
        <p:xfrm>
          <a:off x="4754880" y="2377440"/>
          <a:ext cx="6888175" cy="914400"/>
        </p:xfrm>
        <a:graphic>
          <a:graphicData uri="http://schemas.openxmlformats.org/drawingml/2006/table">
            <a:tbl>
              <a:tblPr/>
              <a:tblGrid>
                <a:gridCol w="2270455"/>
                <a:gridCol w="2194560"/>
                <a:gridCol w="2423160"/>
              </a:tblGrid>
              <a:tr h="502920">
                <a:tc>
                  <a:txBody>
                    <a:bodyPr/>
                    <a:lstStyle/>
                    <a:p>
                      <a:pPr rtl="1" algn="ctr" indent="0" marL="0">
                        <a:buNone/>
                      </a:pPr>
                      <a:r>
                        <a:rPr lang="en-US" sz="1400" b="1" dirty="0">
                          <a:solidFill>
                            <a:srgbClr val="FFFFFF"/>
                          </a:solidFill>
                          <a:latin typeface="JF Flat" pitchFamily="34" charset="0"/>
                          <a:ea typeface="JF Flat" pitchFamily="34" charset="-122"/>
                          <a:cs typeface="JF Flat" pitchFamily="34" charset="-120"/>
                        </a:rPr>
                        <a:t>التكلفة بالدينار الليبي</a:t>
                      </a:r>
                      <a:endParaRPr lang="en-US" sz="1400" dirty="0">
                        <a:latin typeface="JF Flat" charset="0"/>
                        <a:ea typeface="JF Flat" charset="0"/>
                        <a:cs typeface="JF Flat" charset="0"/>
                      </a:endParaRPr>
                    </a:p>
                  </a:txBody>
                  <a:tcPr marL="45720" marR="45720" marT="27432" marB="27432" anchor="ctr">
                    <a:lnL w="9525" cap="flat" cmpd="sng" algn="ctr">
                      <a:solidFill>
                        <a:srgbClr val="06305C"/>
                      </a:solidFill>
                      <a:prstDash val="solid"/>
                      <a:round/>
                      <a:headEnd type="none" w="med" len="med"/>
                      <a:tailEnd type="none" w="med" len="med"/>
                    </a:lnL>
                    <a:lnR w="9525" cap="flat" cmpd="sng" algn="ctr">
                      <a:solidFill>
                        <a:srgbClr val="06305C"/>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400" b="1" dirty="0">
                          <a:solidFill>
                            <a:srgbClr val="FFFFFF"/>
                          </a:solidFill>
                          <a:latin typeface="JF Flat" pitchFamily="34" charset="0"/>
                          <a:ea typeface="JF Flat" pitchFamily="34" charset="-122"/>
                          <a:cs typeface="JF Flat" pitchFamily="34" charset="-120"/>
                        </a:rPr>
                        <a:t>التكلفة بالدولار</a:t>
                      </a:r>
                      <a:endParaRPr lang="en-US" sz="1400" dirty="0">
                        <a:latin typeface="JF Flat" charset="0"/>
                        <a:ea typeface="JF Flat" charset="0"/>
                        <a:cs typeface="JF Flat" charset="0"/>
                      </a:endParaRPr>
                    </a:p>
                  </a:txBody>
                  <a:tcPr marL="45720" marR="45720" marT="27432" marB="27432" anchor="ctr">
                    <a:lnL w="9525" cap="flat" cmpd="sng" algn="ctr">
                      <a:solidFill>
                        <a:srgbClr val="06305C"/>
                      </a:solidFill>
                      <a:prstDash val="solid"/>
                      <a:round/>
                      <a:headEnd type="none" w="med" len="med"/>
                      <a:tailEnd type="none" w="med" len="med"/>
                    </a:lnL>
                    <a:lnR w="9525" cap="flat" cmpd="sng" algn="ctr">
                      <a:solidFill>
                        <a:srgbClr val="06305C"/>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400" b="1" dirty="0">
                          <a:solidFill>
                            <a:srgbClr val="FFFFFF"/>
                          </a:solidFill>
                          <a:latin typeface="JF Flat" pitchFamily="34" charset="0"/>
                          <a:ea typeface="JF Flat" pitchFamily="34" charset="-122"/>
                          <a:cs typeface="JF Flat" pitchFamily="34" charset="-120"/>
                        </a:rPr>
                        <a:t>البند</a:t>
                      </a:r>
                      <a:endParaRPr lang="en-US" sz="1400" dirty="0">
                        <a:latin typeface="JF Flat" charset="0"/>
                        <a:ea typeface="JF Flat" charset="0"/>
                        <a:cs typeface="JF Flat" charset="0"/>
                      </a:endParaRPr>
                    </a:p>
                  </a:txBody>
                  <a:tcPr marL="45720" marR="45720" marT="27432" marB="27432" anchor="ctr">
                    <a:lnL w="9525" cap="flat" cmpd="sng" algn="ctr">
                      <a:solidFill>
                        <a:srgbClr val="06305C"/>
                      </a:solidFill>
                      <a:prstDash val="solid"/>
                      <a:round/>
                      <a:headEnd type="none" w="med" len="med"/>
                      <a:tailEnd type="none" w="med" len="med"/>
                    </a:lnL>
                    <a:lnR w="9525" cap="flat" cmpd="sng" algn="ctr">
                      <a:solidFill>
                        <a:srgbClr val="06305C"/>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r>
              <a:tr h="566928">
                <a:tc>
                  <a:txBody>
                    <a:bodyPr/>
                    <a:lstStyle/>
                    <a:p>
                      <a:pPr algn="ctr" indent="0" marL="0">
                        <a:buNone/>
                      </a:pPr>
                      <a:r>
                        <a:rPr lang="en-US" sz="1500" dirty="0">
                          <a:solidFill>
                            <a:srgbClr val="1F2937"/>
                          </a:solidFill>
                          <a:latin typeface="JF Flat" pitchFamily="34" charset="0"/>
                          <a:ea typeface="JF Flat" pitchFamily="34" charset="-122"/>
                          <a:cs typeface="JF Flat" pitchFamily="34" charset="-120"/>
                        </a:rPr>
                        <a:t>281,779,411</a:t>
                      </a:r>
                      <a:endParaRPr lang="en-US" sz="15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tcPr>
                </a:tc>
                <a:tc>
                  <a:txBody>
                    <a:bodyPr/>
                    <a:lstStyle/>
                    <a:p>
                      <a:pPr algn="ctr" indent="0" marL="0">
                        <a:buNone/>
                      </a:pPr>
                      <a:r>
                        <a:rPr lang="en-US" sz="1500" dirty="0">
                          <a:solidFill>
                            <a:srgbClr val="1F2937"/>
                          </a:solidFill>
                          <a:latin typeface="JF Flat" pitchFamily="34" charset="0"/>
                          <a:ea typeface="JF Flat" pitchFamily="34" charset="-122"/>
                          <a:cs typeface="JF Flat" pitchFamily="34" charset="-120"/>
                        </a:rPr>
                        <a:t>43,890,874</a:t>
                      </a:r>
                      <a:endParaRPr lang="en-US" sz="15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tcPr>
                </a:tc>
                <a:tc>
                  <a:txBody>
                    <a:bodyPr/>
                    <a:lstStyle/>
                    <a:p>
                      <a:pPr rtl="1" algn="r" indent="0" marL="0">
                        <a:buNone/>
                      </a:pPr>
                      <a:r>
                        <a:rPr lang="en-US" sz="1500" b="1" dirty="0">
                          <a:solidFill>
                            <a:srgbClr val="1F2937"/>
                          </a:solidFill>
                          <a:latin typeface="JF Flat" pitchFamily="34" charset="0"/>
                          <a:ea typeface="JF Flat" pitchFamily="34" charset="-122"/>
                          <a:cs typeface="JF Flat" pitchFamily="34" charset="-120"/>
                        </a:rPr>
                        <a:t>المرحلة الأولى</a:t>
                      </a:r>
                      <a:endParaRPr lang="en-US" sz="1500" dirty="0">
                        <a:latin typeface="JF Flat" charset="0"/>
                        <a:ea typeface="JF Flat" charset="0"/>
                        <a:cs typeface="JF Flat" charset="0"/>
                      </a:endParaRPr>
                    </a:p>
                  </a:txBody>
                  <a:tcPr marL="137160" marR="13716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tcPr>
                </a:tc>
              </a:tr>
              <a:tr h="566928">
                <a:tc>
                  <a:txBody>
                    <a:bodyPr/>
                    <a:lstStyle/>
                    <a:p>
                      <a:pPr algn="ctr" indent="0" marL="0">
                        <a:buNone/>
                      </a:pPr>
                      <a:r>
                        <a:rPr lang="en-US" sz="1500" dirty="0">
                          <a:solidFill>
                            <a:srgbClr val="1F2937"/>
                          </a:solidFill>
                          <a:latin typeface="JF Flat" pitchFamily="34" charset="0"/>
                          <a:ea typeface="JF Flat" pitchFamily="34" charset="-122"/>
                          <a:cs typeface="JF Flat" pitchFamily="34" charset="-120"/>
                        </a:rPr>
                        <a:t>90,021,240</a:t>
                      </a:r>
                      <a:endParaRPr lang="en-US" sz="15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500" dirty="0">
                          <a:solidFill>
                            <a:srgbClr val="1F2937"/>
                          </a:solidFill>
                          <a:latin typeface="JF Flat" pitchFamily="34" charset="0"/>
                          <a:ea typeface="JF Flat" pitchFamily="34" charset="-122"/>
                          <a:cs typeface="JF Flat" pitchFamily="34" charset="-120"/>
                        </a:rPr>
                        <a:t>14,022,000</a:t>
                      </a:r>
                      <a:endParaRPr lang="en-US" sz="15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500" b="1" dirty="0">
                          <a:solidFill>
                            <a:srgbClr val="1F2937"/>
                          </a:solidFill>
                          <a:latin typeface="JF Flat" pitchFamily="34" charset="0"/>
                          <a:ea typeface="JF Flat" pitchFamily="34" charset="-122"/>
                          <a:cs typeface="JF Flat" pitchFamily="34" charset="-120"/>
                        </a:rPr>
                        <a:t>المرحلة الثانية</a:t>
                      </a:r>
                      <a:endParaRPr lang="en-US" sz="1500" dirty="0">
                        <a:latin typeface="JF Flat" charset="0"/>
                        <a:ea typeface="JF Flat" charset="0"/>
                        <a:cs typeface="JF Flat" charset="0"/>
                      </a:endParaRPr>
                    </a:p>
                  </a:txBody>
                  <a:tcPr marL="137160" marR="13716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621792">
                <a:tc>
                  <a:txBody>
                    <a:bodyPr/>
                    <a:lstStyle/>
                    <a:p>
                      <a:pPr algn="ctr" indent="0" marL="0">
                        <a:buNone/>
                      </a:pPr>
                      <a:r>
                        <a:rPr lang="en-US" sz="1600" b="1" dirty="0">
                          <a:solidFill>
                            <a:srgbClr val="FFFFFF"/>
                          </a:solidFill>
                          <a:latin typeface="JF Flat" pitchFamily="34" charset="0"/>
                          <a:ea typeface="JF Flat" pitchFamily="34" charset="-122"/>
                          <a:cs typeface="JF Flat" pitchFamily="34" charset="-120"/>
                        </a:rPr>
                        <a:t>371,800,651</a:t>
                      </a:r>
                      <a:endParaRPr lang="en-US" sz="16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600" b="1" dirty="0">
                          <a:solidFill>
                            <a:srgbClr val="FFFFFF"/>
                          </a:solidFill>
                          <a:latin typeface="JF Flat" pitchFamily="34" charset="0"/>
                          <a:ea typeface="JF Flat" pitchFamily="34" charset="-122"/>
                          <a:cs typeface="JF Flat" pitchFamily="34" charset="-120"/>
                        </a:rPr>
                        <a:t>57,912,874</a:t>
                      </a:r>
                      <a:endParaRPr lang="en-US" sz="16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rtl="1" algn="r" indent="0" marL="0">
                        <a:buNone/>
                      </a:pPr>
                      <a:r>
                        <a:rPr lang="en-US" sz="1600" b="1" dirty="0">
                          <a:solidFill>
                            <a:srgbClr val="FFFFFF"/>
                          </a:solidFill>
                          <a:latin typeface="JF Flat" pitchFamily="34" charset="0"/>
                          <a:ea typeface="JF Flat" pitchFamily="34" charset="-122"/>
                          <a:cs typeface="JF Flat" pitchFamily="34" charset="-120"/>
                        </a:rPr>
                        <a:t>إجمالي المشروع</a:t>
                      </a:r>
                      <a:endParaRPr lang="en-US" sz="1600" dirty="0">
                        <a:latin typeface="JF Flat" charset="0"/>
                        <a:ea typeface="JF Flat" charset="0"/>
                        <a:cs typeface="JF Flat" charset="0"/>
                      </a:endParaRPr>
                    </a:p>
                  </a:txBody>
                  <a:tcPr marL="137160" marR="13716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r>
            </a:tbl>
          </a:graphicData>
        </a:graphic>
      </p:graphicFrame>
      <p:sp>
        <p:nvSpPr>
          <p:cNvPr id="6" name="anim10_2"/>
          <p:cNvSpPr/>
          <p:nvPr/>
        </p:nvSpPr>
        <p:spPr>
          <a:xfrm>
            <a:off x="4754880" y="4937760"/>
            <a:ext cx="3337560" cy="1188720"/>
          </a:xfrm>
          <a:prstGeom prst="roundRect">
            <a:avLst>
              <a:gd name="adj" fmla="val 7692"/>
            </a:avLst>
          </a:prstGeom>
          <a:solidFill>
            <a:srgbClr val="EAF2FA"/>
          </a:solidFill>
          <a:ln w="12700">
            <a:solidFill>
              <a:srgbClr val="EAF2FA"/>
            </a:solidFill>
            <a:prstDash val="solid"/>
          </a:ln>
        </p:spPr>
      </p:sp>
      <p:sp>
        <p:nvSpPr>
          <p:cNvPr id="7" name="anim10_3"/>
          <p:cNvSpPr/>
          <p:nvPr/>
        </p:nvSpPr>
        <p:spPr>
          <a:xfrm>
            <a:off x="7360920" y="5074920"/>
            <a:ext cx="502920" cy="502920"/>
          </a:xfrm>
          <a:prstGeom prst="ellipse">
            <a:avLst/>
          </a:prstGeom>
          <a:solidFill>
            <a:srgbClr val="00539B"/>
          </a:solidFill>
          <a:ln w="12700">
            <a:solidFill>
              <a:srgbClr val="00539B"/>
            </a:solidFill>
            <a:prstDash val="solid"/>
          </a:ln>
        </p:spPr>
      </p:sp>
      <p:pic>
        <p:nvPicPr>
          <p:cNvPr id="8" name="anim10_4" descr="preencoded.png">    </p:cNvPr>
          <p:cNvPicPr>
            <a:picLocks noChangeAspect="1"/>
          </p:cNvPicPr>
          <p:nvPr/>
        </p:nvPicPr>
        <p:blipFill>
          <a:blip r:embed="rId1"/>
          <a:stretch>
            <a:fillRect/>
          </a:stretch>
        </p:blipFill>
        <p:spPr>
          <a:xfrm>
            <a:off x="7496708" y="5210708"/>
            <a:ext cx="231343" cy="231343"/>
          </a:xfrm>
          <a:prstGeom prst="rect">
            <a:avLst/>
          </a:prstGeom>
        </p:spPr>
      </p:pic>
      <p:sp>
        <p:nvSpPr>
          <p:cNvPr id="9" name="anim10_5"/>
          <p:cNvSpPr txBox="1"/>
          <p:nvPr/>
        </p:nvSpPr>
        <p:spPr>
          <a:xfrm>
            <a:off x="4892040" y="5074920"/>
            <a:ext cx="2377440" cy="320040"/>
          </a:xfrm>
          <a:prstGeom prst="rect">
            <a:avLst/>
          </a:prstGeom>
          <a:noFill/>
          <a:ln/>
        </p:spPr>
        <p:txBody>
          <a:bodyPr wrap="square" lIns="0" tIns="0" rIns="0" bIns="0" rtlCol="0" anchor="t"/>
          <a:lstStyle/>
          <a:p>
            <a:pPr rtl="1" algn="r" indent="0" marL="0">
              <a:buNone/>
            </a:pPr>
            <a:r>
              <a:rPr lang="ar-SA" altLang="en-US" sz="1200" dirty="0">
                <a:solidFill>
                  <a:srgbClr val="5B6B7F"/>
                </a:solidFill>
                <a:latin typeface="JF Flat" pitchFamily="34" charset="0"/>
                <a:ea typeface="JF Flat" pitchFamily="34" charset="-122"/>
                <a:cs typeface="JF Flat" pitchFamily="34" charset="-120"/>
              </a:rPr>
              <a:t>سعر الصرف المستخدم في الدراسة</a:t>
            </a:r>
            <a:endParaRPr lang="ar-SA" sz="1200" dirty="0"/>
          </a:p>
        </p:txBody>
      </p:sp>
      <p:sp>
        <p:nvSpPr>
          <p:cNvPr id="10" name="anim10_6"/>
          <p:cNvSpPr txBox="1"/>
          <p:nvPr/>
        </p:nvSpPr>
        <p:spPr>
          <a:xfrm>
            <a:off x="4892040" y="5440680"/>
            <a:ext cx="2377440" cy="457200"/>
          </a:xfrm>
          <a:prstGeom prst="rect">
            <a:avLst/>
          </a:prstGeom>
          <a:noFill/>
          <a:ln/>
        </p:spPr>
        <p:txBody>
          <a:bodyPr wrap="square" lIns="0" tIns="0" rIns="0" bIns="0" rtlCol="0" anchor="t"/>
          <a:lstStyle/>
          <a:p>
            <a:pPr rtl="1" algn="r" indent="0" marL="0">
              <a:buNone/>
            </a:pPr>
            <a:r>
              <a:rPr lang="ar-SA" altLang="en-US" sz="2000" b="1" dirty="0">
                <a:solidFill>
                  <a:srgbClr val="00539B"/>
                </a:solidFill>
                <a:latin typeface="JF Flat" pitchFamily="34" charset="0"/>
                <a:ea typeface="JF Flat" pitchFamily="34" charset="-122"/>
                <a:cs typeface="JF Flat" pitchFamily="34" charset="-120"/>
              </a:rPr>
              <a:t>6.42 دينار للدولار</a:t>
            </a:r>
            <a:endParaRPr lang="ar-SA" sz="2000" dirty="0"/>
          </a:p>
        </p:txBody>
      </p:sp>
      <p:sp>
        <p:nvSpPr>
          <p:cNvPr id="11" name="anim10_7"/>
          <p:cNvSpPr/>
          <p:nvPr/>
        </p:nvSpPr>
        <p:spPr>
          <a:xfrm>
            <a:off x="8305495" y="4937760"/>
            <a:ext cx="3337560" cy="1188720"/>
          </a:xfrm>
          <a:prstGeom prst="roundRect">
            <a:avLst>
              <a:gd name="adj" fmla="val 7692"/>
            </a:avLst>
          </a:prstGeom>
          <a:solidFill>
            <a:srgbClr val="FEF0EA"/>
          </a:solidFill>
          <a:ln w="12700">
            <a:solidFill>
              <a:srgbClr val="FEF0EA"/>
            </a:solidFill>
            <a:prstDash val="solid"/>
          </a:ln>
        </p:spPr>
      </p:sp>
      <p:sp>
        <p:nvSpPr>
          <p:cNvPr id="12" name="anim10_8"/>
          <p:cNvSpPr/>
          <p:nvPr/>
        </p:nvSpPr>
        <p:spPr>
          <a:xfrm>
            <a:off x="10911535" y="5074920"/>
            <a:ext cx="502920" cy="502920"/>
          </a:xfrm>
          <a:prstGeom prst="ellipse">
            <a:avLst/>
          </a:prstGeom>
          <a:solidFill>
            <a:srgbClr val="F15524"/>
          </a:solidFill>
          <a:ln w="12700">
            <a:solidFill>
              <a:srgbClr val="F15524"/>
            </a:solidFill>
            <a:prstDash val="solid"/>
          </a:ln>
        </p:spPr>
      </p:sp>
      <p:pic>
        <p:nvPicPr>
          <p:cNvPr id="13" name="anim10_9" descr="preencoded.png">    </p:cNvPr>
          <p:cNvPicPr>
            <a:picLocks noChangeAspect="1"/>
          </p:cNvPicPr>
          <p:nvPr/>
        </p:nvPicPr>
        <p:blipFill>
          <a:blip r:embed="rId2"/>
          <a:stretch>
            <a:fillRect/>
          </a:stretch>
        </p:blipFill>
        <p:spPr>
          <a:xfrm>
            <a:off x="11047324" y="5210708"/>
            <a:ext cx="231343" cy="231343"/>
          </a:xfrm>
          <a:prstGeom prst="rect">
            <a:avLst/>
          </a:prstGeom>
        </p:spPr>
      </p:pic>
      <p:sp>
        <p:nvSpPr>
          <p:cNvPr id="14" name="anim10_10"/>
          <p:cNvSpPr txBox="1"/>
          <p:nvPr/>
        </p:nvSpPr>
        <p:spPr>
          <a:xfrm>
            <a:off x="8442655" y="5074920"/>
            <a:ext cx="2377440" cy="320040"/>
          </a:xfrm>
          <a:prstGeom prst="rect">
            <a:avLst/>
          </a:prstGeom>
          <a:noFill/>
          <a:ln/>
        </p:spPr>
        <p:txBody>
          <a:bodyPr wrap="square" lIns="0" tIns="0" rIns="0" bIns="0" rtlCol="0" anchor="t"/>
          <a:lstStyle/>
          <a:p>
            <a:pPr rtl="1" algn="r" indent="0" marL="0">
              <a:buNone/>
            </a:pPr>
            <a:r>
              <a:rPr lang="ar-SA" altLang="en-US" sz="1200" dirty="0">
                <a:solidFill>
                  <a:srgbClr val="5B6B7F"/>
                </a:solidFill>
                <a:latin typeface="JF Flat" pitchFamily="34" charset="0"/>
                <a:ea typeface="JF Flat" pitchFamily="34" charset="-122"/>
                <a:cs typeface="JF Flat" pitchFamily="34" charset="-120"/>
              </a:rPr>
              <a:t>حصة المرحلة الأولى من الإجمالي</a:t>
            </a:r>
            <a:endParaRPr lang="ar-SA" sz="1200" dirty="0"/>
          </a:p>
        </p:txBody>
      </p:sp>
      <p:sp>
        <p:nvSpPr>
          <p:cNvPr id="15" name="anim10_11"/>
          <p:cNvSpPr txBox="1"/>
          <p:nvPr/>
        </p:nvSpPr>
        <p:spPr>
          <a:xfrm>
            <a:off x="8442655" y="5440680"/>
            <a:ext cx="2377440" cy="457200"/>
          </a:xfrm>
          <a:prstGeom prst="rect">
            <a:avLst/>
          </a:prstGeom>
          <a:noFill/>
          <a:ln/>
        </p:spPr>
        <p:txBody>
          <a:bodyPr wrap="square" lIns="0" tIns="0" rIns="0" bIns="0" rtlCol="0" anchor="t"/>
          <a:lstStyle/>
          <a:p>
            <a:pPr algn="r" indent="0" marL="0">
              <a:buNone/>
            </a:pPr>
            <a:r>
              <a:rPr lang="ar-SA" altLang="en-US" sz="2000" b="1" dirty="0">
                <a:solidFill>
                  <a:srgbClr val="F15524"/>
                </a:solidFill>
                <a:latin typeface="JF Flat" pitchFamily="34" charset="0"/>
                <a:ea typeface="JF Flat" pitchFamily="34" charset="-122"/>
                <a:cs typeface="JF Flat" pitchFamily="34" charset="-120"/>
              </a:rPr>
              <a:t>75.8%</a:t>
            </a:r>
            <a:endParaRPr lang="ar-SA" sz="2000" dirty="0"/>
          </a:p>
        </p:txBody>
      </p:sp>
      <p:sp>
        <p:nvSpPr>
          <p:cNvPr id="16" name="anim10_12"/>
          <p:cNvSpPr/>
          <p:nvPr/>
        </p:nvSpPr>
        <p:spPr>
          <a:xfrm>
            <a:off x="548640" y="1554480"/>
            <a:ext cx="3931920" cy="4572000"/>
          </a:xfrm>
          <a:prstGeom prst="roundRect">
            <a:avLst>
              <a:gd name="adj" fmla="val 2326"/>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10_13"/>
          <p:cNvSpPr txBox="1"/>
          <p:nvPr/>
        </p:nvSpPr>
        <p:spPr>
          <a:xfrm>
            <a:off x="777240" y="1737360"/>
            <a:ext cx="3474720" cy="365760"/>
          </a:xfrm>
          <a:prstGeom prst="rect">
            <a:avLst/>
          </a:prstGeom>
          <a:noFill/>
          <a:ln/>
        </p:spPr>
        <p:txBody>
          <a:bodyPr wrap="square" lIns="0" tIns="0" rIns="0" bIns="0" rtlCol="0" anchor="t"/>
          <a:lstStyle/>
          <a:p>
            <a:pPr rtl="1" algn="ctr" indent="0" marL="0">
              <a:buNone/>
            </a:pPr>
            <a:r>
              <a:rPr lang="ar-SA" altLang="en-US" sz="1500" b="1" dirty="0">
                <a:solidFill>
                  <a:srgbClr val="06305C"/>
                </a:solidFill>
                <a:latin typeface="JF Flat" pitchFamily="34" charset="0"/>
                <a:ea typeface="JF Flat" pitchFamily="34" charset="-122"/>
                <a:cs typeface="JF Flat" pitchFamily="34" charset="-120"/>
              </a:rPr>
              <a:t>توزيع الاستثمار حسب المراحل</a:t>
            </a:r>
            <a:endParaRPr lang="ar-SA" sz="1500" dirty="0"/>
          </a:p>
        </p:txBody>
      </p:sp>
      <p:graphicFrame>
        <p:nvGraphicFramePr>
          <p:cNvPr id="18" name="anim10_14" descr=""/>
          <p:cNvGraphicFramePr/>
          <p:nvPr/>
        </p:nvGraphicFramePr>
        <p:xfrm>
          <a:off x="822960" y="2103120"/>
          <a:ext cx="3383280" cy="2926080"/>
        </p:xfrm>
        <a:graphic xmlns:a="http://schemas.openxmlformats.org/drawingml/2006/main">
          <a:graphicData uri="http://schemas.openxmlformats.org/drawingml/2006/chart">
            <c:chart xmlns:c="http://schemas.openxmlformats.org/drawingml/2006/chart" r:id="rId3"/>
          </a:graphicData>
        </a:graphic>
      </p:graphicFrame>
      <p:sp>
        <p:nvSpPr>
          <p:cNvPr id="19" name="anim10_15"/>
          <p:cNvSpPr txBox="1"/>
          <p:nvPr/>
        </p:nvSpPr>
        <p:spPr>
          <a:xfrm>
            <a:off x="1828800" y="3063240"/>
            <a:ext cx="1371600" cy="548640"/>
          </a:xfrm>
          <a:prstGeom prst="rect">
            <a:avLst/>
          </a:prstGeom>
          <a:noFill/>
          <a:ln/>
        </p:spPr>
        <p:txBody>
          <a:bodyPr wrap="square" lIns="0" tIns="0" rIns="0" bIns="0" rtlCol="0" anchor="ctr"/>
          <a:lstStyle/>
          <a:p>
            <a:pPr algn="ctr" indent="0" marL="0">
              <a:buNone/>
            </a:pPr>
            <a:r>
              <a:rPr lang="ar-SA" altLang="en-US" sz="3000" b="1" dirty="0">
                <a:solidFill>
                  <a:srgbClr val="06305C"/>
                </a:solidFill>
                <a:latin typeface="JF Flat" pitchFamily="34" charset="0"/>
                <a:ea typeface="JF Flat" pitchFamily="34" charset="-122"/>
                <a:cs typeface="JF Flat" pitchFamily="34" charset="-120"/>
              </a:rPr>
              <a:t>57.9</a:t>
            </a:r>
            <a:endParaRPr lang="ar-SA" sz="3000" dirty="0"/>
          </a:p>
        </p:txBody>
      </p:sp>
      <p:sp>
        <p:nvSpPr>
          <p:cNvPr id="20" name="anim10_16"/>
          <p:cNvSpPr txBox="1"/>
          <p:nvPr/>
        </p:nvSpPr>
        <p:spPr>
          <a:xfrm>
            <a:off x="1828800" y="3611880"/>
            <a:ext cx="1371600" cy="27432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مليون دولار</a:t>
            </a:r>
            <a:endParaRPr lang="ar-SA" sz="1200" dirty="0"/>
          </a:p>
        </p:txBody>
      </p:sp>
      <p:sp>
        <p:nvSpPr>
          <p:cNvPr id="21" name="anim10_17"/>
          <p:cNvSpPr/>
          <p:nvPr/>
        </p:nvSpPr>
        <p:spPr>
          <a:xfrm>
            <a:off x="3840480" y="5212080"/>
            <a:ext cx="164592" cy="164592"/>
          </a:xfrm>
          <a:prstGeom prst="ellipse">
            <a:avLst/>
          </a:prstGeom>
          <a:solidFill>
            <a:srgbClr val="F15524"/>
          </a:solidFill>
          <a:ln w="12700">
            <a:solidFill>
              <a:srgbClr val="F15524"/>
            </a:solidFill>
            <a:prstDash val="solid"/>
          </a:ln>
        </p:spPr>
      </p:sp>
      <p:sp>
        <p:nvSpPr>
          <p:cNvPr id="22" name="anim10_18"/>
          <p:cNvSpPr txBox="1"/>
          <p:nvPr/>
        </p:nvSpPr>
        <p:spPr>
          <a:xfrm>
            <a:off x="2377440" y="5120640"/>
            <a:ext cx="1371600" cy="347472"/>
          </a:xfrm>
          <a:prstGeom prst="rect">
            <a:avLst/>
          </a:prstGeom>
          <a:noFill/>
          <a:ln/>
        </p:spPr>
        <p:txBody>
          <a:bodyPr wrap="square" lIns="0" tIns="0" rIns="0" bIns="0" rtlCol="0" anchor="ctr"/>
          <a:lstStyle/>
          <a:p>
            <a:pPr rtl="1" algn="r" indent="0" marL="0">
              <a:buNone/>
            </a:pPr>
            <a:r>
              <a:rPr lang="ar-SA" altLang="en-US" sz="1300" b="1" dirty="0">
                <a:solidFill>
                  <a:srgbClr val="1F2937"/>
                </a:solidFill>
                <a:latin typeface="JF Flat" pitchFamily="34" charset="0"/>
                <a:ea typeface="JF Flat" pitchFamily="34" charset="-122"/>
                <a:cs typeface="JF Flat" pitchFamily="34" charset="-120"/>
              </a:rPr>
              <a:t>المرحلة الأولى</a:t>
            </a:r>
            <a:endParaRPr lang="ar-SA" sz="1300" dirty="0"/>
          </a:p>
        </p:txBody>
      </p:sp>
      <p:sp>
        <p:nvSpPr>
          <p:cNvPr id="23" name="anim10_19"/>
          <p:cNvSpPr txBox="1"/>
          <p:nvPr/>
        </p:nvSpPr>
        <p:spPr>
          <a:xfrm>
            <a:off x="914400" y="5120640"/>
            <a:ext cx="1417320" cy="347472"/>
          </a:xfrm>
          <a:prstGeom prst="rect">
            <a:avLst/>
          </a:prstGeom>
          <a:noFill/>
          <a:ln/>
        </p:spPr>
        <p:txBody>
          <a:bodyPr wrap="square" lIns="0" tIns="0" rIns="0" bIns="0" rtlCol="0" anchor="ctr"/>
          <a:lstStyle/>
          <a:p>
            <a:pPr rtl="1" algn="l" indent="0" marL="0">
              <a:buNone/>
            </a:pPr>
            <a:r>
              <a:rPr lang="ar-SA" altLang="en-US" sz="1300" dirty="0">
                <a:solidFill>
                  <a:srgbClr val="5B6B7F"/>
                </a:solidFill>
                <a:latin typeface="JF Flat" pitchFamily="34" charset="0"/>
                <a:ea typeface="JF Flat" pitchFamily="34" charset="-122"/>
                <a:cs typeface="JF Flat" pitchFamily="34" charset="-120"/>
              </a:rPr>
              <a:t>43.9 مليون $</a:t>
            </a:r>
            <a:endParaRPr lang="ar-SA" sz="1300" dirty="0"/>
          </a:p>
        </p:txBody>
      </p:sp>
      <p:sp>
        <p:nvSpPr>
          <p:cNvPr id="24" name="anim10_20"/>
          <p:cNvSpPr/>
          <p:nvPr/>
        </p:nvSpPr>
        <p:spPr>
          <a:xfrm>
            <a:off x="3840480" y="5623560"/>
            <a:ext cx="164592" cy="164592"/>
          </a:xfrm>
          <a:prstGeom prst="ellipse">
            <a:avLst/>
          </a:prstGeom>
          <a:solidFill>
            <a:srgbClr val="00539B"/>
          </a:solidFill>
          <a:ln w="12700">
            <a:solidFill>
              <a:srgbClr val="00539B"/>
            </a:solidFill>
            <a:prstDash val="solid"/>
          </a:ln>
        </p:spPr>
      </p:sp>
      <p:sp>
        <p:nvSpPr>
          <p:cNvPr id="25" name="anim10_21"/>
          <p:cNvSpPr txBox="1"/>
          <p:nvPr/>
        </p:nvSpPr>
        <p:spPr>
          <a:xfrm>
            <a:off x="2377440" y="5532120"/>
            <a:ext cx="1371600" cy="347472"/>
          </a:xfrm>
          <a:prstGeom prst="rect">
            <a:avLst/>
          </a:prstGeom>
          <a:noFill/>
          <a:ln/>
        </p:spPr>
        <p:txBody>
          <a:bodyPr wrap="square" lIns="0" tIns="0" rIns="0" bIns="0" rtlCol="0" anchor="ctr"/>
          <a:lstStyle/>
          <a:p>
            <a:pPr rtl="1" algn="r" indent="0" marL="0">
              <a:buNone/>
            </a:pPr>
            <a:r>
              <a:rPr lang="ar-SA" altLang="en-US" sz="1300" b="1" dirty="0">
                <a:solidFill>
                  <a:srgbClr val="1F2937"/>
                </a:solidFill>
                <a:latin typeface="JF Flat" pitchFamily="34" charset="0"/>
                <a:ea typeface="JF Flat" pitchFamily="34" charset="-122"/>
                <a:cs typeface="JF Flat" pitchFamily="34" charset="-120"/>
              </a:rPr>
              <a:t>المرحلة الثانية</a:t>
            </a:r>
            <a:endParaRPr lang="ar-SA" sz="1300" dirty="0"/>
          </a:p>
        </p:txBody>
      </p:sp>
      <p:sp>
        <p:nvSpPr>
          <p:cNvPr id="26" name="anim10_22"/>
          <p:cNvSpPr txBox="1"/>
          <p:nvPr/>
        </p:nvSpPr>
        <p:spPr>
          <a:xfrm>
            <a:off x="914400" y="5532120"/>
            <a:ext cx="1417320" cy="347472"/>
          </a:xfrm>
          <a:prstGeom prst="rect">
            <a:avLst/>
          </a:prstGeom>
          <a:noFill/>
          <a:ln/>
        </p:spPr>
        <p:txBody>
          <a:bodyPr wrap="square" lIns="0" tIns="0" rIns="0" bIns="0" rtlCol="0" anchor="ctr"/>
          <a:lstStyle/>
          <a:p>
            <a:pPr rtl="1" algn="l" indent="0" marL="0">
              <a:buNone/>
            </a:pPr>
            <a:r>
              <a:rPr lang="ar-SA" altLang="en-US" sz="1300" dirty="0">
                <a:solidFill>
                  <a:srgbClr val="5B6B7F"/>
                </a:solidFill>
                <a:latin typeface="JF Flat" pitchFamily="34" charset="0"/>
                <a:ea typeface="JF Flat" pitchFamily="34" charset="-122"/>
                <a:cs typeface="JF Flat" pitchFamily="34" charset="-120"/>
              </a:rPr>
              <a:t>14.0 مليون $</a:t>
            </a:r>
            <a:endParaRPr lang="ar-SA" sz="13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600"/>
                                        <p:tgtEl>
                                          <p:spTgt spid="11"/>
                                        </p:tgtEl>
                                      </p:cBhvr>
                                    </p:animEffect>
                                    <p:anim calcmode="lin" valueType="num">
                                      <p:cBhvr additive="base">
                                        <p:cTn id="1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1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26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2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26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3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39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39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42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450" decel="100000" fill="hold"/>
                                        <p:tgtEl>
                                          <p:spTgt spid="7"/>
                                        </p:tgtEl>
                                        <p:attrNameLst>
                                          <p:attrName>ppt_w</p:attrName>
                                        </p:attrNameLst>
                                      </p:cBhvr>
                                      <p:tavLst>
                                        <p:tav tm="0">
                                          <p:val>
                                            <p:strVal val="0"/>
                                          </p:val>
                                        </p:tav>
                                        <p:tav tm="100000">
                                          <p:val>
                                            <p:strVal val="#ppt_w"/>
                                          </p:val>
                                        </p:tav>
                                      </p:tavLst>
                                    </p:anim>
                                    <p:anim calcmode="lin" valueType="num">
                                      <p:cBhvr additive="base">
                                        <p:cTn id="48" dur="450" decel="100000" fill="hold"/>
                                        <p:tgtEl>
                                          <p:spTgt spid="7"/>
                                        </p:tgtEl>
                                        <p:attrNameLst>
                                          <p:attrName>ppt_h</p:attrName>
                                        </p:attrNameLst>
                                      </p:cBhvr>
                                      <p:tavLst>
                                        <p:tav tm="0">
                                          <p:val>
                                            <p:strVal val="0"/>
                                          </p:val>
                                        </p:tav>
                                        <p:tav tm="100000">
                                          <p:val>
                                            <p:strVal val="#ppt_h"/>
                                          </p:val>
                                        </p:tav>
                                      </p:tavLst>
                                    </p:anim>
                                    <p:animEffect transition="in" filter="fade">
                                      <p:cBhvr>
                                        <p:cTn id="49" dur="450"/>
                                        <p:tgtEl>
                                          <p:spTgt spid="7"/>
                                        </p:tgtEl>
                                      </p:cBhvr>
                                    </p:animEffect>
                                  </p:childTnLst>
                                </p:cTn>
                              </p:par>
                              <p:par>
                                <p:cTn id="50" presetID="53" presetClass="entr" presetSubtype="16" fill="hold" grpId="0" nodeType="withEffect">
                                  <p:stCondLst>
                                    <p:cond delay="52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450" decel="100000" fill="hold"/>
                                        <p:tgtEl>
                                          <p:spTgt spid="8"/>
                                        </p:tgtEl>
                                        <p:attrNameLst>
                                          <p:attrName>ppt_w</p:attrName>
                                        </p:attrNameLst>
                                      </p:cBhvr>
                                      <p:tavLst>
                                        <p:tav tm="0">
                                          <p:val>
                                            <p:strVal val="0"/>
                                          </p:val>
                                        </p:tav>
                                        <p:tav tm="100000">
                                          <p:val>
                                            <p:strVal val="#ppt_w"/>
                                          </p:val>
                                        </p:tav>
                                      </p:tavLst>
                                    </p:anim>
                                    <p:anim calcmode="lin" valueType="num">
                                      <p:cBhvr additive="base">
                                        <p:cTn id="53" dur="450" decel="100000" fill="hold"/>
                                        <p:tgtEl>
                                          <p:spTgt spid="8"/>
                                        </p:tgtEl>
                                        <p:attrNameLst>
                                          <p:attrName>ppt_h</p:attrName>
                                        </p:attrNameLst>
                                      </p:cBhvr>
                                      <p:tavLst>
                                        <p:tav tm="0">
                                          <p:val>
                                            <p:strVal val="0"/>
                                          </p:val>
                                        </p:tav>
                                        <p:tav tm="100000">
                                          <p:val>
                                            <p:strVal val="#ppt_h"/>
                                          </p:val>
                                        </p:tav>
                                      </p:tavLst>
                                    </p:anim>
                                    <p:animEffect transition="in" filter="fade">
                                      <p:cBhvr>
                                        <p:cTn id="54" dur="450"/>
                                        <p:tgtEl>
                                          <p:spTgt spid="8"/>
                                        </p:tgtEl>
                                      </p:cBhvr>
                                    </p:animEffect>
                                  </p:childTnLst>
                                </p:cTn>
                              </p:par>
                              <p:par>
                                <p:cTn id="55" presetID="42" presetClass="entr" presetSubtype="0" fill="hold" grpId="0" nodeType="withEffect">
                                  <p:stCondLst>
                                    <p:cond delay="52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52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7"/>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55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450" decel="100000" fill="hold"/>
                                        <p:tgtEl>
                                          <p:spTgt spid="12"/>
                                        </p:tgtEl>
                                        <p:attrNameLst>
                                          <p:attrName>ppt_w</p:attrName>
                                        </p:attrNameLst>
                                      </p:cBhvr>
                                      <p:tavLst>
                                        <p:tav tm="0">
                                          <p:val>
                                            <p:strVal val="0"/>
                                          </p:val>
                                        </p:tav>
                                        <p:tav tm="100000">
                                          <p:val>
                                            <p:strVal val="#ppt_w"/>
                                          </p:val>
                                        </p:tav>
                                      </p:tavLst>
                                    </p:anim>
                                    <p:anim calcmode="lin" valueType="num">
                                      <p:cBhvr additive="base">
                                        <p:cTn id="68" dur="450" decel="100000" fill="hold"/>
                                        <p:tgtEl>
                                          <p:spTgt spid="12"/>
                                        </p:tgtEl>
                                        <p:attrNameLst>
                                          <p:attrName>ppt_h</p:attrName>
                                        </p:attrNameLst>
                                      </p:cBhvr>
                                      <p:tavLst>
                                        <p:tav tm="0">
                                          <p:val>
                                            <p:strVal val="0"/>
                                          </p:val>
                                        </p:tav>
                                        <p:tav tm="100000">
                                          <p:val>
                                            <p:strVal val="#ppt_h"/>
                                          </p:val>
                                        </p:tav>
                                      </p:tavLst>
                                    </p:anim>
                                    <p:animEffect transition="in" filter="fade">
                                      <p:cBhvr>
                                        <p:cTn id="69" dur="450"/>
                                        <p:tgtEl>
                                          <p:spTgt spid="12"/>
                                        </p:tgtEl>
                                      </p:cBhvr>
                                    </p:animEffect>
                                  </p:childTnLst>
                                </p:cTn>
                              </p:par>
                              <p:par>
                                <p:cTn id="70" presetID="53" presetClass="entr" presetSubtype="16" fill="hold" grpId="0" nodeType="withEffect">
                                  <p:stCondLst>
                                    <p:cond delay="650"/>
                                  </p:stCondLst>
                                  <p:childTnLst>
                                    <p:set>
                                      <p:cBhvr>
                                        <p:cTn id="71" dur="1" fill="hold">
                                          <p:stCondLst>
                                            <p:cond delay="0"/>
                                          </p:stCondLst>
                                        </p:cTn>
                                        <p:tgtEl>
                                          <p:spTgt spid="13"/>
                                        </p:tgtEl>
                                        <p:attrNameLst>
                                          <p:attrName>style.visibility</p:attrName>
                                        </p:attrNameLst>
                                      </p:cBhvr>
                                      <p:to>
                                        <p:strVal val="visible"/>
                                      </p:to>
                                    </p:set>
                                    <p:anim calcmode="lin" valueType="num">
                                      <p:cBhvr additive="base">
                                        <p:cTn id="72" dur="450" decel="100000" fill="hold"/>
                                        <p:tgtEl>
                                          <p:spTgt spid="13"/>
                                        </p:tgtEl>
                                        <p:attrNameLst>
                                          <p:attrName>ppt_w</p:attrName>
                                        </p:attrNameLst>
                                      </p:cBhvr>
                                      <p:tavLst>
                                        <p:tav tm="0">
                                          <p:val>
                                            <p:strVal val="0"/>
                                          </p:val>
                                        </p:tav>
                                        <p:tav tm="100000">
                                          <p:val>
                                            <p:strVal val="#ppt_w"/>
                                          </p:val>
                                        </p:tav>
                                      </p:tavLst>
                                    </p:anim>
                                    <p:anim calcmode="lin" valueType="num">
                                      <p:cBhvr additive="base">
                                        <p:cTn id="73" dur="450" decel="100000" fill="hold"/>
                                        <p:tgtEl>
                                          <p:spTgt spid="13"/>
                                        </p:tgtEl>
                                        <p:attrNameLst>
                                          <p:attrName>ppt_h</p:attrName>
                                        </p:attrNameLst>
                                      </p:cBhvr>
                                      <p:tavLst>
                                        <p:tav tm="0">
                                          <p:val>
                                            <p:strVal val="0"/>
                                          </p:val>
                                        </p:tav>
                                        <p:tav tm="100000">
                                          <p:val>
                                            <p:strVal val="#ppt_h"/>
                                          </p:val>
                                        </p:tav>
                                      </p:tavLst>
                                    </p:anim>
                                    <p:animEffect transition="in" filter="fade">
                                      <p:cBhvr>
                                        <p:cTn id="74" dur="450"/>
                                        <p:tgtEl>
                                          <p:spTgt spid="13"/>
                                        </p:tgtEl>
                                      </p:cBhvr>
                                    </p:animEffect>
                                  </p:childTnLst>
                                </p:cTn>
                              </p:par>
                              <p:par>
                                <p:cTn id="75" presetID="10" presetClass="entr" presetSubtype="0" fill="hold" grpId="0" nodeType="withEffect">
                                  <p:stCondLst>
                                    <p:cond delay="650"/>
                                  </p:stCondLst>
                                  <p:childTnLst>
                                    <p:set>
                                      <p:cBhvr>
                                        <p:cTn id="76" dur="1" fill="hold">
                                          <p:stCondLst>
                                            <p:cond delay="0"/>
                                          </p:stCondLst>
                                        </p:cTn>
                                        <p:tgtEl>
                                          <p:spTgt spid="18">
                                            <p:graphicEl>
                                              <a:chart seriesIdx="-3" categoryIdx="-3" bldStep="gridLegend"/>
                                            </p:graphicEl>
                                          </p:spTgt>
                                        </p:tgtEl>
                                        <p:attrNameLst>
                                          <p:attrName>style.visibility</p:attrName>
                                        </p:attrNameLst>
                                      </p:cBhvr>
                                      <p:to>
                                        <p:strVal val="visible"/>
                                      </p:to>
                                    </p:set>
                                    <p:animEffect transition="in" filter="fade">
                                      <p:cBhvr>
                                        <p:cTn id="77" dur="500"/>
                                        <p:tgtEl>
                                          <p:spTgt spid="18">
                                            <p:graphicEl>
                                              <a:chart seriesIdx="-3" categoryIdx="-3" bldStep="gridLegend"/>
                                            </p:graphicEl>
                                          </p:spTgt>
                                        </p:tgtEl>
                                      </p:cBhvr>
                                    </p:animEffect>
                                  </p:childTnLst>
                                </p:cTn>
                              </p:par>
                              <p:par>
                                <p:cTn id="78" presetID="42" presetClass="entr" presetSubtype="0" fill="hold" grpId="0" nodeType="withEffect">
                                  <p:stCondLst>
                                    <p:cond delay="650"/>
                                  </p:stCondLst>
                                  <p:childTnLst>
                                    <p:set>
                                      <p:cBhvr>
                                        <p:cTn id="79" dur="1" fill="hold">
                                          <p:stCondLst>
                                            <p:cond delay="0"/>
                                          </p:stCondLst>
                                        </p:cTn>
                                        <p:tgtEl>
                                          <p:spTgt spid="19"/>
                                        </p:tgtEl>
                                        <p:attrNameLst>
                                          <p:attrName>style.visibility</p:attrName>
                                        </p:attrNameLst>
                                      </p:cBhvr>
                                      <p:to>
                                        <p:strVal val="visible"/>
                                      </p:to>
                                    </p:set>
                                    <p:animEffect transition="in" filter="fade">
                                      <p:cBhvr>
                                        <p:cTn id="80" dur="600"/>
                                        <p:tgtEl>
                                          <p:spTgt spid="19"/>
                                        </p:tgtEl>
                                      </p:cBhvr>
                                    </p:animEffect>
                                    <p:anim calcmode="lin" valueType="num">
                                      <p:cBhvr additive="base">
                                        <p:cTn id="81"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2" dur="600" decel="100000" fill="hold"/>
                                        <p:tgtEl>
                                          <p:spTgt spid="19"/>
                                        </p:tgtEl>
                                        <p:attrNameLst>
                                          <p:attrName>ppt_y</p:attrName>
                                        </p:attrNameLst>
                                      </p:cBhvr>
                                      <p:tavLst>
                                        <p:tav tm="0">
                                          <p:val>
                                            <p:strVal val="#ppt_y+.03"/>
                                          </p:val>
                                        </p:tav>
                                        <p:tav tm="100000">
                                          <p:val>
                                            <p:strVal val="#ppt_y"/>
                                          </p:val>
                                        </p:tav>
                                      </p:tavLst>
                                    </p:anim>
                                  </p:childTnLst>
                                </p:cTn>
                              </p:par>
                              <p:par>
                                <p:cTn id="83" presetID="42" presetClass="entr" presetSubtype="0" fill="hold" grpId="0" nodeType="withEffect">
                                  <p:stCondLst>
                                    <p:cond delay="65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600"/>
                                        <p:tgtEl>
                                          <p:spTgt spid="20"/>
                                        </p:tgtEl>
                                      </p:cBhvr>
                                    </p:animEffect>
                                    <p:anim calcmode="lin" valueType="num">
                                      <p:cBhvr additive="base">
                                        <p:cTn id="86"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87" dur="600" decel="100000" fill="hold"/>
                                        <p:tgtEl>
                                          <p:spTgt spid="20"/>
                                        </p:tgtEl>
                                        <p:attrNameLst>
                                          <p:attrName>ppt_y</p:attrName>
                                        </p:attrNameLst>
                                      </p:cBhvr>
                                      <p:tavLst>
                                        <p:tav tm="0">
                                          <p:val>
                                            <p:strVal val="#ppt_y+.03"/>
                                          </p:val>
                                        </p:tav>
                                        <p:tav tm="100000">
                                          <p:val>
                                            <p:strVal val="#ppt_y"/>
                                          </p:val>
                                        </p:tav>
                                      </p:tavLst>
                                    </p:anim>
                                  </p:childTnLst>
                                </p:cTn>
                              </p:par>
                              <p:par>
                                <p:cTn id="88" presetID="42" presetClass="entr" presetSubtype="0" fill="hold" grpId="0" nodeType="withEffect">
                                  <p:stCondLst>
                                    <p:cond delay="65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600"/>
                                        <p:tgtEl>
                                          <p:spTgt spid="21"/>
                                        </p:tgtEl>
                                      </p:cBhvr>
                                    </p:animEffect>
                                    <p:anim calcmode="lin" valueType="num">
                                      <p:cBhvr additive="base">
                                        <p:cTn id="91"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92" dur="600" decel="100000" fill="hold"/>
                                        <p:tgtEl>
                                          <p:spTgt spid="21"/>
                                        </p:tgtEl>
                                        <p:attrNameLst>
                                          <p:attrName>ppt_y</p:attrName>
                                        </p:attrNameLst>
                                      </p:cBhvr>
                                      <p:tavLst>
                                        <p:tav tm="0">
                                          <p:val>
                                            <p:strVal val="#ppt_y+.03"/>
                                          </p:val>
                                        </p:tav>
                                        <p:tav tm="100000">
                                          <p:val>
                                            <p:strVal val="#ppt_y"/>
                                          </p:val>
                                        </p:tav>
                                      </p:tavLst>
                                    </p:anim>
                                  </p:childTnLst>
                                </p:cTn>
                              </p:par>
                              <p:par>
                                <p:cTn id="93" presetID="42" presetClass="entr" presetSubtype="0" fill="hold" grpId="0" nodeType="withEffect">
                                  <p:stCondLst>
                                    <p:cond delay="650"/>
                                  </p:stCondLst>
                                  <p:childTnLst>
                                    <p:set>
                                      <p:cBhvr>
                                        <p:cTn id="94" dur="1" fill="hold">
                                          <p:stCondLst>
                                            <p:cond delay="0"/>
                                          </p:stCondLst>
                                        </p:cTn>
                                        <p:tgtEl>
                                          <p:spTgt spid="22"/>
                                        </p:tgtEl>
                                        <p:attrNameLst>
                                          <p:attrName>style.visibility</p:attrName>
                                        </p:attrNameLst>
                                      </p:cBhvr>
                                      <p:to>
                                        <p:strVal val="visible"/>
                                      </p:to>
                                    </p:set>
                                    <p:animEffect transition="in" filter="fade">
                                      <p:cBhvr>
                                        <p:cTn id="95" dur="600"/>
                                        <p:tgtEl>
                                          <p:spTgt spid="22"/>
                                        </p:tgtEl>
                                      </p:cBhvr>
                                    </p:animEffect>
                                    <p:anim calcmode="lin" valueType="num">
                                      <p:cBhvr additive="base">
                                        <p:cTn id="96"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97" dur="600" decel="100000" fill="hold"/>
                                        <p:tgtEl>
                                          <p:spTgt spid="22"/>
                                        </p:tgtEl>
                                        <p:attrNameLst>
                                          <p:attrName>ppt_y</p:attrName>
                                        </p:attrNameLst>
                                      </p:cBhvr>
                                      <p:tavLst>
                                        <p:tav tm="0">
                                          <p:val>
                                            <p:strVal val="#ppt_y+.03"/>
                                          </p:val>
                                        </p:tav>
                                        <p:tav tm="100000">
                                          <p:val>
                                            <p:strVal val="#ppt_y"/>
                                          </p:val>
                                        </p:tav>
                                      </p:tavLst>
                                    </p:anim>
                                  </p:childTnLst>
                                </p:cTn>
                              </p:par>
                              <p:par>
                                <p:cTn id="98" presetID="42" presetClass="entr" presetSubtype="0" fill="hold" grpId="0" nodeType="withEffect">
                                  <p:stCondLst>
                                    <p:cond delay="65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600"/>
                                        <p:tgtEl>
                                          <p:spTgt spid="23"/>
                                        </p:tgtEl>
                                      </p:cBhvr>
                                    </p:animEffect>
                                    <p:anim calcmode="lin" valueType="num">
                                      <p:cBhvr additive="base">
                                        <p:cTn id="101"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102" dur="600" decel="100000" fill="hold"/>
                                        <p:tgtEl>
                                          <p:spTgt spid="23"/>
                                        </p:tgtEl>
                                        <p:attrNameLst>
                                          <p:attrName>ppt_y</p:attrName>
                                        </p:attrNameLst>
                                      </p:cBhvr>
                                      <p:tavLst>
                                        <p:tav tm="0">
                                          <p:val>
                                            <p:strVal val="#ppt_y+.03"/>
                                          </p:val>
                                        </p:tav>
                                        <p:tav tm="100000">
                                          <p:val>
                                            <p:strVal val="#ppt_y"/>
                                          </p:val>
                                        </p:tav>
                                      </p:tavLst>
                                    </p:anim>
                                  </p:childTnLst>
                                </p:cTn>
                              </p:par>
                              <p:par>
                                <p:cTn id="103" presetID="42" presetClass="entr" presetSubtype="0" fill="hold" grpId="0" nodeType="withEffect">
                                  <p:stCondLst>
                                    <p:cond delay="65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600"/>
                                        <p:tgtEl>
                                          <p:spTgt spid="24"/>
                                        </p:tgtEl>
                                      </p:cBhvr>
                                    </p:animEffect>
                                    <p:anim calcmode="lin" valueType="num">
                                      <p:cBhvr additive="base">
                                        <p:cTn id="106"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107" dur="600" decel="100000" fill="hold"/>
                                        <p:tgtEl>
                                          <p:spTgt spid="24"/>
                                        </p:tgtEl>
                                        <p:attrNameLst>
                                          <p:attrName>ppt_y</p:attrName>
                                        </p:attrNameLst>
                                      </p:cBhvr>
                                      <p:tavLst>
                                        <p:tav tm="0">
                                          <p:val>
                                            <p:strVal val="#ppt_y+.03"/>
                                          </p:val>
                                        </p:tav>
                                        <p:tav tm="100000">
                                          <p:val>
                                            <p:strVal val="#ppt_y"/>
                                          </p:val>
                                        </p:tav>
                                      </p:tavLst>
                                    </p:anim>
                                  </p:childTnLst>
                                </p:cTn>
                              </p:par>
                              <p:par>
                                <p:cTn id="108" presetID="42" presetClass="entr" presetSubtype="0" fill="hold" grpId="0" nodeType="withEffect">
                                  <p:stCondLst>
                                    <p:cond delay="650"/>
                                  </p:stCondLst>
                                  <p:childTnLst>
                                    <p:set>
                                      <p:cBhvr>
                                        <p:cTn id="109" dur="1" fill="hold">
                                          <p:stCondLst>
                                            <p:cond delay="0"/>
                                          </p:stCondLst>
                                        </p:cTn>
                                        <p:tgtEl>
                                          <p:spTgt spid="25"/>
                                        </p:tgtEl>
                                        <p:attrNameLst>
                                          <p:attrName>style.visibility</p:attrName>
                                        </p:attrNameLst>
                                      </p:cBhvr>
                                      <p:to>
                                        <p:strVal val="visible"/>
                                      </p:to>
                                    </p:set>
                                    <p:animEffect transition="in" filter="fade">
                                      <p:cBhvr>
                                        <p:cTn id="110" dur="600"/>
                                        <p:tgtEl>
                                          <p:spTgt spid="25"/>
                                        </p:tgtEl>
                                      </p:cBhvr>
                                    </p:animEffect>
                                    <p:anim calcmode="lin" valueType="num">
                                      <p:cBhvr additive="base">
                                        <p:cTn id="111"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12" dur="600" decel="100000" fill="hold"/>
                                        <p:tgtEl>
                                          <p:spTgt spid="25"/>
                                        </p:tgtEl>
                                        <p:attrNameLst>
                                          <p:attrName>ppt_y</p:attrName>
                                        </p:attrNameLst>
                                      </p:cBhvr>
                                      <p:tavLst>
                                        <p:tav tm="0">
                                          <p:val>
                                            <p:strVal val="#ppt_y+.03"/>
                                          </p:val>
                                        </p:tav>
                                        <p:tav tm="100000">
                                          <p:val>
                                            <p:strVal val="#ppt_y"/>
                                          </p:val>
                                        </p:tav>
                                      </p:tavLst>
                                    </p:anim>
                                  </p:childTnLst>
                                </p:cTn>
                              </p:par>
                              <p:par>
                                <p:cTn id="113" presetID="42" presetClass="entr" presetSubtype="0" fill="hold" grpId="0" nodeType="withEffect">
                                  <p:stCondLst>
                                    <p:cond delay="650"/>
                                  </p:stCondLst>
                                  <p:childTnLst>
                                    <p:set>
                                      <p:cBhvr>
                                        <p:cTn id="114" dur="1" fill="hold">
                                          <p:stCondLst>
                                            <p:cond delay="0"/>
                                          </p:stCondLst>
                                        </p:cTn>
                                        <p:tgtEl>
                                          <p:spTgt spid="26"/>
                                        </p:tgtEl>
                                        <p:attrNameLst>
                                          <p:attrName>style.visibility</p:attrName>
                                        </p:attrNameLst>
                                      </p:cBhvr>
                                      <p:to>
                                        <p:strVal val="visible"/>
                                      </p:to>
                                    </p:set>
                                    <p:animEffect transition="in" filter="fade">
                                      <p:cBhvr>
                                        <p:cTn id="115" dur="600"/>
                                        <p:tgtEl>
                                          <p:spTgt spid="26"/>
                                        </p:tgtEl>
                                      </p:cBhvr>
                                    </p:animEffect>
                                    <p:anim calcmode="lin" valueType="num">
                                      <p:cBhvr additive="base">
                                        <p:cTn id="116"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117" dur="600" decel="100000" fill="hold"/>
                                        <p:tgtEl>
                                          <p:spTgt spid="26"/>
                                        </p:tgtEl>
                                        <p:attrNameLst>
                                          <p:attrName>ppt_y</p:attrName>
                                        </p:attrNameLst>
                                      </p:cBhvr>
                                      <p:tavLst>
                                        <p:tav tm="0">
                                          <p:val>
                                            <p:strVal val="#ppt_y+.03"/>
                                          </p:val>
                                        </p:tav>
                                        <p:tav tm="100000">
                                          <p:val>
                                            <p:strVal val="#ppt_y"/>
                                          </p:val>
                                        </p:tav>
                                      </p:tavLst>
                                    </p:anim>
                                  </p:childTnLst>
                                </p:cTn>
                              </p:par>
                              <p:par>
                                <p:cTn id="118" presetID="21" presetClass="entr" presetSubtype="1" fill="hold" grpId="0" nodeType="withEffect">
                                  <p:stCondLst>
                                    <p:cond delay="1000"/>
                                  </p:stCondLst>
                                  <p:childTnLst>
                                    <p:set>
                                      <p:cBhvr>
                                        <p:cTn id="119" dur="1" fill="hold">
                                          <p:stCondLst>
                                            <p:cond delay="0"/>
                                          </p:stCondLst>
                                        </p:cTn>
                                        <p:tgtEl>
                                          <p:spTgt spid="18">
                                            <p:graphicEl>
                                              <a:chart seriesIdx="-4" categoryIdx="0" bldStep="category"/>
                                            </p:graphicEl>
                                          </p:spTgt>
                                        </p:tgtEl>
                                        <p:attrNameLst>
                                          <p:attrName>style.visibility</p:attrName>
                                        </p:attrNameLst>
                                      </p:cBhvr>
                                      <p:to>
                                        <p:strVal val="visible"/>
                                      </p:to>
                                    </p:set>
                                    <p:animEffect transition="in" filter="wheel(1)">
                                      <p:cBhvr>
                                        <p:cTn id="120" dur="900"/>
                                        <p:tgtEl>
                                          <p:spTgt spid="18">
                                            <p:graphicEl>
                                              <a:chart seriesIdx="-4" categoryIdx="0" bldStep="category"/>
                                            </p:graphicEl>
                                          </p:spTgt>
                                        </p:tgtEl>
                                      </p:cBhvr>
                                    </p:animEffect>
                                  </p:childTnLst>
                                </p:cTn>
                              </p:par>
                              <p:par>
                                <p:cTn id="121" presetID="21" presetClass="entr" presetSubtype="1" fill="hold" grpId="0" nodeType="withEffect">
                                  <p:stCondLst>
                                    <p:cond delay="1700"/>
                                  </p:stCondLst>
                                  <p:childTnLst>
                                    <p:set>
                                      <p:cBhvr>
                                        <p:cTn id="122" dur="1" fill="hold">
                                          <p:stCondLst>
                                            <p:cond delay="0"/>
                                          </p:stCondLst>
                                        </p:cTn>
                                        <p:tgtEl>
                                          <p:spTgt spid="18">
                                            <p:graphicEl>
                                              <a:chart seriesIdx="-4" categoryIdx="1" bldStep="category"/>
                                            </p:graphicEl>
                                          </p:spTgt>
                                        </p:tgtEl>
                                        <p:attrNameLst>
                                          <p:attrName>style.visibility</p:attrName>
                                        </p:attrNameLst>
                                      </p:cBhvr>
                                      <p:to>
                                        <p:strVal val="visible"/>
                                      </p:to>
                                    </p:set>
                                    <p:animEffect transition="in" filter="wheel(1)">
                                      <p:cBhvr>
                                        <p:cTn id="123" dur="900"/>
                                        <p:tgtEl>
                                          <p:spTgt spid="18">
                                            <p:graphicEl>
                                              <a:chart seriesIdx="-4" categoryIdx="1"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11" grpId="0">
        <p:bldAsOne/>
      </p:bldGraphic>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Graphic spid="18" grpId="0">
        <p:bldSub>
          <a:bldChart bld="category"/>
        </p:bldSub>
      </p:bldGraphic>
      <p:bldP spid="19" grpId="0" animBg="1"/>
      <p:bldP spid="20" grpId="0" animBg="1"/>
      <p:bldP spid="21" grpId="0" animBg="1"/>
      <p:bldP spid="22" grpId="0" animBg="1"/>
      <p:bldP spid="23" grpId="0" animBg="1"/>
      <p:bldP spid="24" grpId="0" animBg="1"/>
      <p:bldP spid="25"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04  |  التكاليف الرأسمالية (CAPEX)</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أبرز مكونات الاستثمار الرأسمالي وخطة التنفيذ</a:t>
            </a:r>
            <a:endParaRPr lang="en-US" sz="3000" dirty="0"/>
          </a:p>
        </p:txBody>
      </p:sp>
      <p:sp>
        <p:nvSpPr>
          <p:cNvPr id="4" name="anim11_0"/>
          <p:cNvSpPr/>
          <p:nvPr/>
        </p:nvSpPr>
        <p:spPr>
          <a:xfrm>
            <a:off x="9316517" y="160020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11_1"/>
          <p:cNvSpPr/>
          <p:nvPr/>
        </p:nvSpPr>
        <p:spPr>
          <a:xfrm>
            <a:off x="11021263" y="1764792"/>
            <a:ext cx="457200" cy="457200"/>
          </a:xfrm>
          <a:prstGeom prst="ellipse">
            <a:avLst/>
          </a:prstGeom>
          <a:solidFill>
            <a:srgbClr val="00539B"/>
          </a:solidFill>
          <a:ln w="12700">
            <a:solidFill>
              <a:srgbClr val="00539B"/>
            </a:solidFill>
            <a:prstDash val="solid"/>
          </a:ln>
        </p:spPr>
      </p:sp>
      <p:pic>
        <p:nvPicPr>
          <p:cNvPr id="6" name="anim11_2" descr="preencoded.png">    </p:cNvPr>
          <p:cNvPicPr>
            <a:picLocks noChangeAspect="1"/>
          </p:cNvPicPr>
          <p:nvPr/>
        </p:nvPicPr>
        <p:blipFill>
          <a:blip r:embed="rId1"/>
          <a:stretch>
            <a:fillRect/>
          </a:stretch>
        </p:blipFill>
        <p:spPr>
          <a:xfrm>
            <a:off x="11144707" y="1888236"/>
            <a:ext cx="210312" cy="210312"/>
          </a:xfrm>
          <a:prstGeom prst="rect">
            <a:avLst/>
          </a:prstGeom>
        </p:spPr>
      </p:pic>
      <p:sp>
        <p:nvSpPr>
          <p:cNvPr id="7" name="anim11_3"/>
          <p:cNvSpPr txBox="1"/>
          <p:nvPr/>
        </p:nvSpPr>
        <p:spPr>
          <a:xfrm>
            <a:off x="9481109" y="176479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01</a:t>
            </a:r>
            <a:endParaRPr lang="ar-SA" sz="1800" dirty="0"/>
          </a:p>
        </p:txBody>
      </p:sp>
      <p:sp>
        <p:nvSpPr>
          <p:cNvPr id="8" name="anim11_4"/>
          <p:cNvSpPr txBox="1"/>
          <p:nvPr/>
        </p:nvSpPr>
        <p:spPr>
          <a:xfrm>
            <a:off x="9481109" y="228600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الدراسات والتصميم الهندسي واعتماد التصميم.</a:t>
            </a:r>
            <a:endParaRPr lang="ar-SA" sz="1300" dirty="0"/>
          </a:p>
        </p:txBody>
      </p:sp>
      <p:sp>
        <p:nvSpPr>
          <p:cNvPr id="9" name="anim11_5"/>
          <p:cNvSpPr/>
          <p:nvPr/>
        </p:nvSpPr>
        <p:spPr>
          <a:xfrm>
            <a:off x="6807098" y="160020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0" name="anim11_6"/>
          <p:cNvSpPr/>
          <p:nvPr/>
        </p:nvSpPr>
        <p:spPr>
          <a:xfrm>
            <a:off x="8511845" y="1764792"/>
            <a:ext cx="457200" cy="457200"/>
          </a:xfrm>
          <a:prstGeom prst="ellipse">
            <a:avLst/>
          </a:prstGeom>
          <a:solidFill>
            <a:srgbClr val="00539B"/>
          </a:solidFill>
          <a:ln w="12700">
            <a:solidFill>
              <a:srgbClr val="00539B"/>
            </a:solidFill>
            <a:prstDash val="solid"/>
          </a:ln>
        </p:spPr>
      </p:sp>
      <p:pic>
        <p:nvPicPr>
          <p:cNvPr id="11" name="anim11_7" descr="preencoded.png">    </p:cNvPr>
          <p:cNvPicPr>
            <a:picLocks noChangeAspect="1"/>
          </p:cNvPicPr>
          <p:nvPr/>
        </p:nvPicPr>
        <p:blipFill>
          <a:blip r:embed="rId2"/>
          <a:stretch>
            <a:fillRect/>
          </a:stretch>
        </p:blipFill>
        <p:spPr>
          <a:xfrm>
            <a:off x="8635289" y="1888236"/>
            <a:ext cx="210312" cy="210312"/>
          </a:xfrm>
          <a:prstGeom prst="rect">
            <a:avLst/>
          </a:prstGeom>
        </p:spPr>
      </p:pic>
      <p:sp>
        <p:nvSpPr>
          <p:cNvPr id="12" name="anim11_8"/>
          <p:cNvSpPr txBox="1"/>
          <p:nvPr/>
        </p:nvSpPr>
        <p:spPr>
          <a:xfrm>
            <a:off x="6971690" y="176479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02</a:t>
            </a:r>
            <a:endParaRPr lang="ar-SA" sz="1800" dirty="0"/>
          </a:p>
        </p:txBody>
      </p:sp>
      <p:sp>
        <p:nvSpPr>
          <p:cNvPr id="13" name="anim11_9"/>
          <p:cNvSpPr txBox="1"/>
          <p:nvPr/>
        </p:nvSpPr>
        <p:spPr>
          <a:xfrm>
            <a:off x="6971690" y="228600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المبنى والأعمال المدنية والمعمارية.</a:t>
            </a:r>
            <a:endParaRPr lang="ar-SA" sz="1300" dirty="0"/>
          </a:p>
        </p:txBody>
      </p:sp>
      <p:sp>
        <p:nvSpPr>
          <p:cNvPr id="14" name="anim11_10"/>
          <p:cNvSpPr/>
          <p:nvPr/>
        </p:nvSpPr>
        <p:spPr>
          <a:xfrm>
            <a:off x="4297680" y="160020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5" name="anim11_11"/>
          <p:cNvSpPr/>
          <p:nvPr/>
        </p:nvSpPr>
        <p:spPr>
          <a:xfrm>
            <a:off x="6002426" y="1764792"/>
            <a:ext cx="457200" cy="457200"/>
          </a:xfrm>
          <a:prstGeom prst="ellipse">
            <a:avLst/>
          </a:prstGeom>
          <a:solidFill>
            <a:srgbClr val="00539B"/>
          </a:solidFill>
          <a:ln w="12700">
            <a:solidFill>
              <a:srgbClr val="00539B"/>
            </a:solidFill>
            <a:prstDash val="solid"/>
          </a:ln>
        </p:spPr>
      </p:sp>
      <p:pic>
        <p:nvPicPr>
          <p:cNvPr id="16" name="anim11_12" descr="preencoded.png">    </p:cNvPr>
          <p:cNvPicPr>
            <a:picLocks noChangeAspect="1"/>
          </p:cNvPicPr>
          <p:nvPr/>
        </p:nvPicPr>
        <p:blipFill>
          <a:blip r:embed="rId3"/>
          <a:stretch>
            <a:fillRect/>
          </a:stretch>
        </p:blipFill>
        <p:spPr>
          <a:xfrm>
            <a:off x="6125870" y="1888236"/>
            <a:ext cx="210312" cy="210312"/>
          </a:xfrm>
          <a:prstGeom prst="rect">
            <a:avLst/>
          </a:prstGeom>
        </p:spPr>
      </p:pic>
      <p:sp>
        <p:nvSpPr>
          <p:cNvPr id="17" name="anim11_13"/>
          <p:cNvSpPr txBox="1"/>
          <p:nvPr/>
        </p:nvSpPr>
        <p:spPr>
          <a:xfrm>
            <a:off x="4462272" y="176479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03</a:t>
            </a:r>
            <a:endParaRPr lang="ar-SA" sz="1800" dirty="0"/>
          </a:p>
        </p:txBody>
      </p:sp>
      <p:sp>
        <p:nvSpPr>
          <p:cNvPr id="18" name="anim11_14"/>
          <p:cNvSpPr txBox="1"/>
          <p:nvPr/>
        </p:nvSpPr>
        <p:spPr>
          <a:xfrm>
            <a:off x="4462272" y="228600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الكهرباء والتوزيع وأنظمة الطاقة غير المنقطعة (UPS) والمولدات.</a:t>
            </a:r>
            <a:endParaRPr lang="ar-SA" sz="1300" dirty="0"/>
          </a:p>
        </p:txBody>
      </p:sp>
      <p:sp>
        <p:nvSpPr>
          <p:cNvPr id="19" name="anim11_15"/>
          <p:cNvSpPr/>
          <p:nvPr/>
        </p:nvSpPr>
        <p:spPr>
          <a:xfrm>
            <a:off x="9316517" y="316992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0" name="anim11_16"/>
          <p:cNvSpPr/>
          <p:nvPr/>
        </p:nvSpPr>
        <p:spPr>
          <a:xfrm>
            <a:off x="11021263" y="3334512"/>
            <a:ext cx="457200" cy="457200"/>
          </a:xfrm>
          <a:prstGeom prst="ellipse">
            <a:avLst/>
          </a:prstGeom>
          <a:solidFill>
            <a:srgbClr val="F15524"/>
          </a:solidFill>
          <a:ln w="12700">
            <a:solidFill>
              <a:srgbClr val="F15524"/>
            </a:solidFill>
            <a:prstDash val="solid"/>
          </a:ln>
        </p:spPr>
      </p:sp>
      <p:pic>
        <p:nvPicPr>
          <p:cNvPr id="21" name="anim11_17" descr="preencoded.png">    </p:cNvPr>
          <p:cNvPicPr>
            <a:picLocks noChangeAspect="1"/>
          </p:cNvPicPr>
          <p:nvPr/>
        </p:nvPicPr>
        <p:blipFill>
          <a:blip r:embed="rId4"/>
          <a:stretch>
            <a:fillRect/>
          </a:stretch>
        </p:blipFill>
        <p:spPr>
          <a:xfrm>
            <a:off x="11144707" y="3457956"/>
            <a:ext cx="210312" cy="210312"/>
          </a:xfrm>
          <a:prstGeom prst="rect">
            <a:avLst/>
          </a:prstGeom>
        </p:spPr>
      </p:pic>
      <p:sp>
        <p:nvSpPr>
          <p:cNvPr id="22" name="anim11_18"/>
          <p:cNvSpPr txBox="1"/>
          <p:nvPr/>
        </p:nvSpPr>
        <p:spPr>
          <a:xfrm>
            <a:off x="9481109" y="333451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04</a:t>
            </a:r>
            <a:endParaRPr lang="ar-SA" sz="1800" dirty="0"/>
          </a:p>
        </p:txBody>
      </p:sp>
      <p:sp>
        <p:nvSpPr>
          <p:cNvPr id="23" name="anim11_19"/>
          <p:cNvSpPr txBox="1"/>
          <p:nvPr/>
        </p:nvSpPr>
        <p:spPr>
          <a:xfrm>
            <a:off x="9481109" y="385572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أنظمة التبريد والحريق والأمن والمراقبة.</a:t>
            </a:r>
            <a:endParaRPr lang="ar-SA" sz="1300" dirty="0"/>
          </a:p>
        </p:txBody>
      </p:sp>
      <p:sp>
        <p:nvSpPr>
          <p:cNvPr id="24" name="anim11_20"/>
          <p:cNvSpPr/>
          <p:nvPr/>
        </p:nvSpPr>
        <p:spPr>
          <a:xfrm>
            <a:off x="6807098" y="316992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5" name="anim11_21"/>
          <p:cNvSpPr/>
          <p:nvPr/>
        </p:nvSpPr>
        <p:spPr>
          <a:xfrm>
            <a:off x="8511845" y="3334512"/>
            <a:ext cx="457200" cy="457200"/>
          </a:xfrm>
          <a:prstGeom prst="ellipse">
            <a:avLst/>
          </a:prstGeom>
          <a:solidFill>
            <a:srgbClr val="F15524"/>
          </a:solidFill>
          <a:ln w="12700">
            <a:solidFill>
              <a:srgbClr val="F15524"/>
            </a:solidFill>
            <a:prstDash val="solid"/>
          </a:ln>
        </p:spPr>
      </p:sp>
      <p:pic>
        <p:nvPicPr>
          <p:cNvPr id="26" name="anim11_22" descr="preencoded.png">    </p:cNvPr>
          <p:cNvPicPr>
            <a:picLocks noChangeAspect="1"/>
          </p:cNvPicPr>
          <p:nvPr/>
        </p:nvPicPr>
        <p:blipFill>
          <a:blip r:embed="rId5"/>
          <a:stretch>
            <a:fillRect/>
          </a:stretch>
        </p:blipFill>
        <p:spPr>
          <a:xfrm>
            <a:off x="8635289" y="3457956"/>
            <a:ext cx="210312" cy="210312"/>
          </a:xfrm>
          <a:prstGeom prst="rect">
            <a:avLst/>
          </a:prstGeom>
        </p:spPr>
      </p:pic>
      <p:sp>
        <p:nvSpPr>
          <p:cNvPr id="27" name="anim11_23"/>
          <p:cNvSpPr txBox="1"/>
          <p:nvPr/>
        </p:nvSpPr>
        <p:spPr>
          <a:xfrm>
            <a:off x="6971690" y="333451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05</a:t>
            </a:r>
            <a:endParaRPr lang="ar-SA" sz="1800" dirty="0"/>
          </a:p>
        </p:txBody>
      </p:sp>
      <p:sp>
        <p:nvSpPr>
          <p:cNvPr id="28" name="anim11_24"/>
          <p:cNvSpPr txBox="1"/>
          <p:nvPr/>
        </p:nvSpPr>
        <p:spPr>
          <a:xfrm>
            <a:off x="6971690" y="385572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أنظمة إدارة المبنى ومركز البيانات (BMS/DCIM).</a:t>
            </a:r>
            <a:endParaRPr lang="ar-SA" sz="1300" dirty="0"/>
          </a:p>
        </p:txBody>
      </p:sp>
      <p:sp>
        <p:nvSpPr>
          <p:cNvPr id="29" name="anim11_25"/>
          <p:cNvSpPr/>
          <p:nvPr/>
        </p:nvSpPr>
        <p:spPr>
          <a:xfrm>
            <a:off x="4297680" y="316992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0" name="anim11_26"/>
          <p:cNvSpPr/>
          <p:nvPr/>
        </p:nvSpPr>
        <p:spPr>
          <a:xfrm>
            <a:off x="6002426" y="3334512"/>
            <a:ext cx="457200" cy="457200"/>
          </a:xfrm>
          <a:prstGeom prst="ellipse">
            <a:avLst/>
          </a:prstGeom>
          <a:solidFill>
            <a:srgbClr val="F15524"/>
          </a:solidFill>
          <a:ln w="12700">
            <a:solidFill>
              <a:srgbClr val="F15524"/>
            </a:solidFill>
            <a:prstDash val="solid"/>
          </a:ln>
        </p:spPr>
      </p:sp>
      <p:pic>
        <p:nvPicPr>
          <p:cNvPr id="31" name="anim11_27" descr="preencoded.png">    </p:cNvPr>
          <p:cNvPicPr>
            <a:picLocks noChangeAspect="1"/>
          </p:cNvPicPr>
          <p:nvPr/>
        </p:nvPicPr>
        <p:blipFill>
          <a:blip r:embed="rId6"/>
          <a:stretch>
            <a:fillRect/>
          </a:stretch>
        </p:blipFill>
        <p:spPr>
          <a:xfrm>
            <a:off x="6125870" y="3457956"/>
            <a:ext cx="210312" cy="210312"/>
          </a:xfrm>
          <a:prstGeom prst="rect">
            <a:avLst/>
          </a:prstGeom>
        </p:spPr>
      </p:pic>
      <p:sp>
        <p:nvSpPr>
          <p:cNvPr id="32" name="anim11_28"/>
          <p:cNvSpPr txBox="1"/>
          <p:nvPr/>
        </p:nvSpPr>
        <p:spPr>
          <a:xfrm>
            <a:off x="4462272" y="333451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06</a:t>
            </a:r>
            <a:endParaRPr lang="ar-SA" sz="1800" dirty="0"/>
          </a:p>
        </p:txBody>
      </p:sp>
      <p:sp>
        <p:nvSpPr>
          <p:cNvPr id="33" name="anim11_29"/>
          <p:cNvSpPr txBox="1"/>
          <p:nvPr/>
        </p:nvSpPr>
        <p:spPr>
          <a:xfrm>
            <a:off x="4462272" y="385572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البنية الشبكية والألياف والرفوف والتوزيع الداخلي.</a:t>
            </a:r>
            <a:endParaRPr lang="ar-SA" sz="1300" dirty="0"/>
          </a:p>
        </p:txBody>
      </p:sp>
      <p:sp>
        <p:nvSpPr>
          <p:cNvPr id="34" name="anim11_30"/>
          <p:cNvSpPr/>
          <p:nvPr/>
        </p:nvSpPr>
        <p:spPr>
          <a:xfrm>
            <a:off x="9316517" y="473964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5" name="anim11_31"/>
          <p:cNvSpPr/>
          <p:nvPr/>
        </p:nvSpPr>
        <p:spPr>
          <a:xfrm>
            <a:off x="11021263" y="4904232"/>
            <a:ext cx="457200" cy="457200"/>
          </a:xfrm>
          <a:prstGeom prst="ellipse">
            <a:avLst/>
          </a:prstGeom>
          <a:solidFill>
            <a:srgbClr val="00539B"/>
          </a:solidFill>
          <a:ln w="12700">
            <a:solidFill>
              <a:srgbClr val="00539B"/>
            </a:solidFill>
            <a:prstDash val="solid"/>
          </a:ln>
        </p:spPr>
      </p:sp>
      <p:pic>
        <p:nvPicPr>
          <p:cNvPr id="36" name="anim11_32" descr="preencoded.png">    </p:cNvPr>
          <p:cNvPicPr>
            <a:picLocks noChangeAspect="1"/>
          </p:cNvPicPr>
          <p:nvPr/>
        </p:nvPicPr>
        <p:blipFill>
          <a:blip r:embed="rId7"/>
          <a:stretch>
            <a:fillRect/>
          </a:stretch>
        </p:blipFill>
        <p:spPr>
          <a:xfrm>
            <a:off x="11144707" y="5027676"/>
            <a:ext cx="210312" cy="210312"/>
          </a:xfrm>
          <a:prstGeom prst="rect">
            <a:avLst/>
          </a:prstGeom>
        </p:spPr>
      </p:pic>
      <p:sp>
        <p:nvSpPr>
          <p:cNvPr id="37" name="anim11_33"/>
          <p:cNvSpPr txBox="1"/>
          <p:nvPr/>
        </p:nvSpPr>
        <p:spPr>
          <a:xfrm>
            <a:off x="9481109" y="490423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07</a:t>
            </a:r>
            <a:endParaRPr lang="ar-SA" sz="1800" dirty="0"/>
          </a:p>
        </p:txBody>
      </p:sp>
      <p:sp>
        <p:nvSpPr>
          <p:cNvPr id="38" name="anim11_34"/>
          <p:cNvSpPr txBox="1"/>
          <p:nvPr/>
        </p:nvSpPr>
        <p:spPr>
          <a:xfrm>
            <a:off x="9481109" y="542544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أنظمة الأمن السيبراني والحوسبة السحابية.</a:t>
            </a:r>
            <a:endParaRPr lang="ar-SA" sz="1300" dirty="0"/>
          </a:p>
        </p:txBody>
      </p:sp>
      <p:sp>
        <p:nvSpPr>
          <p:cNvPr id="39" name="anim11_35"/>
          <p:cNvSpPr/>
          <p:nvPr/>
        </p:nvSpPr>
        <p:spPr>
          <a:xfrm>
            <a:off x="6807098" y="473964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40" name="anim11_36"/>
          <p:cNvSpPr/>
          <p:nvPr/>
        </p:nvSpPr>
        <p:spPr>
          <a:xfrm>
            <a:off x="8511845" y="4904232"/>
            <a:ext cx="457200" cy="457200"/>
          </a:xfrm>
          <a:prstGeom prst="ellipse">
            <a:avLst/>
          </a:prstGeom>
          <a:solidFill>
            <a:srgbClr val="00539B"/>
          </a:solidFill>
          <a:ln w="12700">
            <a:solidFill>
              <a:srgbClr val="00539B"/>
            </a:solidFill>
            <a:prstDash val="solid"/>
          </a:ln>
        </p:spPr>
      </p:sp>
      <p:pic>
        <p:nvPicPr>
          <p:cNvPr id="41" name="anim11_37" descr="preencoded.png">    </p:cNvPr>
          <p:cNvPicPr>
            <a:picLocks noChangeAspect="1"/>
          </p:cNvPicPr>
          <p:nvPr/>
        </p:nvPicPr>
        <p:blipFill>
          <a:blip r:embed="rId8"/>
          <a:stretch>
            <a:fillRect/>
          </a:stretch>
        </p:blipFill>
        <p:spPr>
          <a:xfrm>
            <a:off x="8635289" y="5027676"/>
            <a:ext cx="210312" cy="210312"/>
          </a:xfrm>
          <a:prstGeom prst="rect">
            <a:avLst/>
          </a:prstGeom>
        </p:spPr>
      </p:pic>
      <p:sp>
        <p:nvSpPr>
          <p:cNvPr id="42" name="anim11_38"/>
          <p:cNvSpPr txBox="1"/>
          <p:nvPr/>
        </p:nvSpPr>
        <p:spPr>
          <a:xfrm>
            <a:off x="6971690" y="490423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08</a:t>
            </a:r>
            <a:endParaRPr lang="ar-SA" sz="1800" dirty="0"/>
          </a:p>
        </p:txBody>
      </p:sp>
      <p:sp>
        <p:nvSpPr>
          <p:cNvPr id="43" name="anim11_39"/>
          <p:cNvSpPr txBox="1"/>
          <p:nvPr/>
        </p:nvSpPr>
        <p:spPr>
          <a:xfrm>
            <a:off x="6971690" y="542544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التراخيص والاعتمادات والتركيب والاختبارات والتدريب.</a:t>
            </a:r>
            <a:endParaRPr lang="ar-SA" sz="1300" dirty="0"/>
          </a:p>
        </p:txBody>
      </p:sp>
      <p:sp>
        <p:nvSpPr>
          <p:cNvPr id="44" name="anim11_40"/>
          <p:cNvSpPr/>
          <p:nvPr/>
        </p:nvSpPr>
        <p:spPr>
          <a:xfrm>
            <a:off x="4297680" y="4739640"/>
            <a:ext cx="2326538" cy="1386840"/>
          </a:xfrm>
          <a:prstGeom prst="roundRect">
            <a:avLst>
              <a:gd name="adj" fmla="val 6593"/>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45" name="anim11_41"/>
          <p:cNvSpPr/>
          <p:nvPr/>
        </p:nvSpPr>
        <p:spPr>
          <a:xfrm>
            <a:off x="6002426" y="4904232"/>
            <a:ext cx="457200" cy="457200"/>
          </a:xfrm>
          <a:prstGeom prst="ellipse">
            <a:avLst/>
          </a:prstGeom>
          <a:solidFill>
            <a:srgbClr val="00539B"/>
          </a:solidFill>
          <a:ln w="12700">
            <a:solidFill>
              <a:srgbClr val="00539B"/>
            </a:solidFill>
            <a:prstDash val="solid"/>
          </a:ln>
        </p:spPr>
      </p:sp>
      <p:pic>
        <p:nvPicPr>
          <p:cNvPr id="46" name="anim11_42" descr="preencoded.png">    </p:cNvPr>
          <p:cNvPicPr>
            <a:picLocks noChangeAspect="1"/>
          </p:cNvPicPr>
          <p:nvPr/>
        </p:nvPicPr>
        <p:blipFill>
          <a:blip r:embed="rId9"/>
          <a:stretch>
            <a:fillRect/>
          </a:stretch>
        </p:blipFill>
        <p:spPr>
          <a:xfrm>
            <a:off x="6125870" y="5027676"/>
            <a:ext cx="210312" cy="210312"/>
          </a:xfrm>
          <a:prstGeom prst="rect">
            <a:avLst/>
          </a:prstGeom>
        </p:spPr>
      </p:pic>
      <p:sp>
        <p:nvSpPr>
          <p:cNvPr id="47" name="anim11_43"/>
          <p:cNvSpPr txBox="1"/>
          <p:nvPr/>
        </p:nvSpPr>
        <p:spPr>
          <a:xfrm>
            <a:off x="4462272" y="4904232"/>
            <a:ext cx="731520" cy="457200"/>
          </a:xfrm>
          <a:prstGeom prst="rect">
            <a:avLst/>
          </a:prstGeom>
          <a:noFill/>
          <a:ln/>
        </p:spPr>
        <p:txBody>
          <a:bodyPr wrap="square" lIns="0" tIns="0" rIns="0" bIns="0" rtlCol="0" anchor="ctr"/>
          <a:lstStyle/>
          <a:p>
            <a:pPr algn="l" indent="0" marL="0">
              <a:buNone/>
            </a:pPr>
            <a:r>
              <a:rPr lang="ar-SA" altLang="en-US" sz="1800" b="1" dirty="0">
                <a:solidFill>
                  <a:srgbClr val="D9E3EF"/>
                </a:solidFill>
                <a:latin typeface="JF Flat" pitchFamily="34" charset="0"/>
                <a:ea typeface="JF Flat" pitchFamily="34" charset="-122"/>
                <a:cs typeface="JF Flat" pitchFamily="34" charset="-120"/>
              </a:rPr>
              <a:t>09</a:t>
            </a:r>
            <a:endParaRPr lang="ar-SA" sz="1800" dirty="0"/>
          </a:p>
        </p:txBody>
      </p:sp>
      <p:sp>
        <p:nvSpPr>
          <p:cNvPr id="48" name="anim11_44"/>
          <p:cNvSpPr txBox="1"/>
          <p:nvPr/>
        </p:nvSpPr>
        <p:spPr>
          <a:xfrm>
            <a:off x="4462272" y="5425440"/>
            <a:ext cx="1997354" cy="609600"/>
          </a:xfrm>
          <a:prstGeom prst="rect">
            <a:avLst/>
          </a:prstGeom>
          <a:noFill/>
          <a:ln/>
        </p:spPr>
        <p:txBody>
          <a:bodyPr wrap="square" lIns="0" tIns="0" rIns="0" bIns="0" rtlCol="0" anchor="ctr"/>
          <a:lstStyle/>
          <a:p>
            <a:pPr rtl="1" algn="r" indent="0" marL="0">
              <a:buNone/>
            </a:pPr>
            <a:r>
              <a:rPr lang="ar-SA" altLang="en-US" sz="1300" b="1" dirty="0">
                <a:solidFill>
                  <a:srgbClr val="06305C"/>
                </a:solidFill>
                <a:latin typeface="JF Flat" pitchFamily="34" charset="0"/>
                <a:ea typeface="JF Flat" pitchFamily="34" charset="-122"/>
                <a:cs typeface="JF Flat" pitchFamily="34" charset="-120"/>
              </a:rPr>
              <a:t>إدارة المشروع والاحتياطي المالي.</a:t>
            </a:r>
            <a:endParaRPr lang="ar-SA" sz="1300" dirty="0"/>
          </a:p>
        </p:txBody>
      </p:sp>
      <p:sp>
        <p:nvSpPr>
          <p:cNvPr id="49" name="anim11_45"/>
          <p:cNvSpPr/>
          <p:nvPr/>
        </p:nvSpPr>
        <p:spPr>
          <a:xfrm>
            <a:off x="548640" y="1600200"/>
            <a:ext cx="3474720" cy="4526280"/>
          </a:xfrm>
          <a:prstGeom prst="roundRect">
            <a:avLst>
              <a:gd name="adj" fmla="val 2632"/>
            </a:avLst>
          </a:prstGeom>
          <a:solidFill>
            <a:srgbClr val="06305C"/>
          </a:solidFill>
          <a:ln w="12700">
            <a:solidFill>
              <a:srgbClr val="06305C"/>
            </a:solidFill>
            <a:prstDash val="solid"/>
          </a:ln>
          <a:effectLst>
            <a:outerShdw sx="100000" sy="100000" kx="0" ky="0" algn="bl" rotWithShape="0" blurRad="127000" dist="38100" dir="5400000">
              <a:srgbClr val="1F3A5F">
                <a:alpha val="13000"/>
              </a:srgbClr>
            </a:outerShdw>
          </a:effectLst>
        </p:spPr>
      </p:sp>
      <p:pic>
        <p:nvPicPr>
          <p:cNvPr id="50" name="anim11_46" descr="preencoded.png">    </p:cNvPr>
          <p:cNvPicPr>
            <a:picLocks noChangeAspect="1"/>
          </p:cNvPicPr>
          <p:nvPr/>
        </p:nvPicPr>
        <p:blipFill>
          <a:blip r:embed="rId10"/>
          <a:stretch>
            <a:fillRect/>
          </a:stretch>
        </p:blipFill>
        <p:spPr>
          <a:xfrm>
            <a:off x="1920240" y="1874520"/>
            <a:ext cx="731520" cy="731520"/>
          </a:xfrm>
          <a:prstGeom prst="rect">
            <a:avLst/>
          </a:prstGeom>
        </p:spPr>
      </p:pic>
      <p:sp>
        <p:nvSpPr>
          <p:cNvPr id="51" name="anim11_47"/>
          <p:cNvSpPr txBox="1"/>
          <p:nvPr/>
        </p:nvSpPr>
        <p:spPr>
          <a:xfrm>
            <a:off x="822960" y="2743200"/>
            <a:ext cx="2926080" cy="365760"/>
          </a:xfrm>
          <a:prstGeom prst="rect">
            <a:avLst/>
          </a:prstGeom>
          <a:noFill/>
          <a:ln/>
        </p:spPr>
        <p:txBody>
          <a:bodyPr wrap="square" lIns="0" tIns="0" rIns="0" bIns="0" rtlCol="0" anchor="t"/>
          <a:lstStyle/>
          <a:p>
            <a:pPr rtl="1" algn="ctr" indent="0" marL="0">
              <a:buNone/>
            </a:pPr>
            <a:r>
              <a:rPr lang="ar-SA" altLang="en-US" sz="1800" b="1" dirty="0">
                <a:solidFill>
                  <a:srgbClr val="FFFFFF"/>
                </a:solidFill>
                <a:latin typeface="JF Flat" pitchFamily="34" charset="0"/>
                <a:ea typeface="JF Flat" pitchFamily="34" charset="-122"/>
                <a:cs typeface="JF Flat" pitchFamily="34" charset="-120"/>
              </a:rPr>
              <a:t>خطة التنفيذ</a:t>
            </a:r>
            <a:endParaRPr lang="ar-SA" sz="1800" dirty="0"/>
          </a:p>
        </p:txBody>
      </p:sp>
      <p:sp>
        <p:nvSpPr>
          <p:cNvPr id="52" name="anim11_48"/>
          <p:cNvSpPr txBox="1"/>
          <p:nvPr/>
        </p:nvSpPr>
        <p:spPr>
          <a:xfrm>
            <a:off x="822960" y="3108960"/>
            <a:ext cx="2926080" cy="822960"/>
          </a:xfrm>
          <a:prstGeom prst="rect">
            <a:avLst/>
          </a:prstGeom>
          <a:noFill/>
          <a:ln/>
        </p:spPr>
        <p:txBody>
          <a:bodyPr wrap="square" lIns="0" tIns="0" rIns="0" bIns="0" rtlCol="0" anchor="ctr"/>
          <a:lstStyle/>
          <a:p>
            <a:pPr algn="ctr" indent="0" marL="0">
              <a:buNone/>
            </a:pPr>
            <a:r>
              <a:rPr lang="ar-SA" altLang="en-US" sz="5200" b="1" dirty="0">
                <a:solidFill>
                  <a:srgbClr val="F15524"/>
                </a:solidFill>
                <a:latin typeface="JF Flat" pitchFamily="34" charset="0"/>
                <a:ea typeface="JF Flat" pitchFamily="34" charset="-122"/>
                <a:cs typeface="JF Flat" pitchFamily="34" charset="-120"/>
              </a:rPr>
              <a:t>18–24</a:t>
            </a:r>
            <a:endParaRPr lang="ar-SA" sz="5200" dirty="0"/>
          </a:p>
        </p:txBody>
      </p:sp>
      <p:sp>
        <p:nvSpPr>
          <p:cNvPr id="53" name="anim11_49"/>
          <p:cNvSpPr txBox="1"/>
          <p:nvPr/>
        </p:nvSpPr>
        <p:spPr>
          <a:xfrm>
            <a:off x="822960" y="3931920"/>
            <a:ext cx="2926080" cy="365760"/>
          </a:xfrm>
          <a:prstGeom prst="rect">
            <a:avLst/>
          </a:prstGeom>
          <a:noFill/>
          <a:ln/>
        </p:spPr>
        <p:txBody>
          <a:bodyPr wrap="square" lIns="0" tIns="0" rIns="0" bIns="0" rtlCol="0" anchor="t"/>
          <a:lstStyle/>
          <a:p>
            <a:pPr rtl="1" algn="ctr" indent="0" marL="0">
              <a:buNone/>
            </a:pPr>
            <a:r>
              <a:rPr lang="ar-SA" altLang="en-US" sz="1500" b="1" dirty="0">
                <a:solidFill>
                  <a:srgbClr val="FFFFFF"/>
                </a:solidFill>
                <a:latin typeface="JF Flat" pitchFamily="34" charset="0"/>
                <a:ea typeface="JF Flat" pitchFamily="34" charset="-122"/>
                <a:cs typeface="JF Flat" pitchFamily="34" charset="-120"/>
              </a:rPr>
              <a:t>شهراً لتشغيل المرحلة الأولى</a:t>
            </a:r>
            <a:endParaRPr lang="ar-SA" sz="1500" dirty="0"/>
          </a:p>
        </p:txBody>
      </p:sp>
      <p:sp>
        <p:nvSpPr>
          <p:cNvPr id="54" name="anim11_50"/>
          <p:cNvSpPr txBox="1"/>
          <p:nvPr/>
        </p:nvSpPr>
        <p:spPr>
          <a:xfrm>
            <a:off x="868680" y="4434840"/>
            <a:ext cx="2834640" cy="1463040"/>
          </a:xfrm>
          <a:prstGeom prst="rect">
            <a:avLst/>
          </a:prstGeom>
          <a:noFill/>
          <a:ln/>
        </p:spPr>
        <p:txBody>
          <a:bodyPr wrap="square" lIns="0" tIns="0" rIns="0" bIns="0" rtlCol="0" anchor="t"/>
          <a:lstStyle/>
          <a:p>
            <a:pPr rtl="1" algn="ctr" indent="0" marL="0">
              <a:lnSpc>
                <a:spcPct val="115000"/>
              </a:lnSpc>
              <a:buNone/>
            </a:pPr>
            <a:r>
              <a:rPr lang="ar-SA" altLang="en-US" sz="1300" dirty="0">
                <a:solidFill>
                  <a:srgbClr val="C9DAEE"/>
                </a:solidFill>
                <a:latin typeface="JF Flat" pitchFamily="34" charset="0"/>
                <a:ea typeface="JF Flat" pitchFamily="34" charset="-122"/>
                <a:cs typeface="JF Flat" pitchFamily="34" charset="-120"/>
              </a:rPr>
              <a:t>استهداف تشغيل المرحلة الأولى خلال 18–24 شهراً من بدء التنفيذ، ثم استكمال التوسعة وفق الطلب الفعلي والجاهزية والتمويل.</a:t>
            </a:r>
            <a:endParaRPr lang="ar-SA" sz="13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anim calcmode="lin" valueType="num">
                                      <p:cBhvr additive="base">
                                        <p:cTn id="2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2"/>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53" presetClass="entr" presetSubtype="16" fill="hold" grpId="0" nodeType="withEffect">
                                  <p:stCondLst>
                                    <p:cond delay="16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450" decel="100000" fill="hold"/>
                                        <p:tgtEl>
                                          <p:spTgt spid="5"/>
                                        </p:tgtEl>
                                        <p:attrNameLst>
                                          <p:attrName>ppt_w</p:attrName>
                                        </p:attrNameLst>
                                      </p:cBhvr>
                                      <p:tavLst>
                                        <p:tav tm="0">
                                          <p:val>
                                            <p:strVal val="0"/>
                                          </p:val>
                                        </p:tav>
                                        <p:tav tm="100000">
                                          <p:val>
                                            <p:strVal val="#ppt_w"/>
                                          </p:val>
                                        </p:tav>
                                      </p:tavLst>
                                    </p:anim>
                                    <p:anim calcmode="lin" valueType="num">
                                      <p:cBhvr additive="base">
                                        <p:cTn id="38" dur="450" decel="100000" fill="hold"/>
                                        <p:tgtEl>
                                          <p:spTgt spid="5"/>
                                        </p:tgtEl>
                                        <p:attrNameLst>
                                          <p:attrName>ppt_h</p:attrName>
                                        </p:attrNameLst>
                                      </p:cBhvr>
                                      <p:tavLst>
                                        <p:tav tm="0">
                                          <p:val>
                                            <p:strVal val="0"/>
                                          </p:val>
                                        </p:tav>
                                        <p:tav tm="100000">
                                          <p:val>
                                            <p:strVal val="#ppt_h"/>
                                          </p:val>
                                        </p:tav>
                                      </p:tavLst>
                                    </p:anim>
                                    <p:animEffect transition="in" filter="fade">
                                      <p:cBhvr>
                                        <p:cTn id="39" dur="450"/>
                                        <p:tgtEl>
                                          <p:spTgt spid="5"/>
                                        </p:tgtEl>
                                      </p:cBhvr>
                                    </p:animEffect>
                                  </p:childTnLst>
                                </p:cTn>
                              </p:par>
                              <p:par>
                                <p:cTn id="40" presetID="53" presetClass="entr" presetSubtype="16" fill="hold" grpId="0" nodeType="withEffect">
                                  <p:stCondLst>
                                    <p:cond delay="26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450" decel="100000" fill="hold"/>
                                        <p:tgtEl>
                                          <p:spTgt spid="6"/>
                                        </p:tgtEl>
                                        <p:attrNameLst>
                                          <p:attrName>ppt_w</p:attrName>
                                        </p:attrNameLst>
                                      </p:cBhvr>
                                      <p:tavLst>
                                        <p:tav tm="0">
                                          <p:val>
                                            <p:strVal val="0"/>
                                          </p:val>
                                        </p:tav>
                                        <p:tav tm="100000">
                                          <p:val>
                                            <p:strVal val="#ppt_w"/>
                                          </p:val>
                                        </p:tav>
                                      </p:tavLst>
                                    </p:anim>
                                    <p:anim calcmode="lin" valueType="num">
                                      <p:cBhvr additive="base">
                                        <p:cTn id="43" dur="450" decel="100000" fill="hold"/>
                                        <p:tgtEl>
                                          <p:spTgt spid="6"/>
                                        </p:tgtEl>
                                        <p:attrNameLst>
                                          <p:attrName>ppt_h</p:attrName>
                                        </p:attrNameLst>
                                      </p:cBhvr>
                                      <p:tavLst>
                                        <p:tav tm="0">
                                          <p:val>
                                            <p:strVal val="0"/>
                                          </p:val>
                                        </p:tav>
                                        <p:tav tm="100000">
                                          <p:val>
                                            <p:strVal val="#ppt_h"/>
                                          </p:val>
                                        </p:tav>
                                      </p:tavLst>
                                    </p:anim>
                                    <p:animEffect transition="in" filter="fade">
                                      <p:cBhvr>
                                        <p:cTn id="44" dur="450"/>
                                        <p:tgtEl>
                                          <p:spTgt spid="6"/>
                                        </p:tgtEl>
                                      </p:cBhvr>
                                    </p:animEffect>
                                  </p:childTnLst>
                                </p:cTn>
                              </p:par>
                              <p:par>
                                <p:cTn id="45" presetID="42" presetClass="entr" presetSubtype="0" fill="hold" grpId="0" nodeType="withEffect">
                                  <p:stCondLst>
                                    <p:cond delay="2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600"/>
                                        <p:tgtEl>
                                          <p:spTgt spid="14"/>
                                        </p:tgtEl>
                                      </p:cBhvr>
                                    </p:animEffect>
                                    <p:anim calcmode="lin" valueType="num">
                                      <p:cBhvr additive="base">
                                        <p:cTn id="4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4"/>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26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anim calcmode="lin" valueType="num">
                                      <p:cBhvr additive="base">
                                        <p:cTn id="5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7"/>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26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53" presetClass="entr" presetSubtype="16" fill="hold" grpId="0" nodeType="withEffect">
                                  <p:stCondLst>
                                    <p:cond delay="29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450" decel="100000" fill="hold"/>
                                        <p:tgtEl>
                                          <p:spTgt spid="10"/>
                                        </p:tgtEl>
                                        <p:attrNameLst>
                                          <p:attrName>ppt_w</p:attrName>
                                        </p:attrNameLst>
                                      </p:cBhvr>
                                      <p:tavLst>
                                        <p:tav tm="0">
                                          <p:val>
                                            <p:strVal val="0"/>
                                          </p:val>
                                        </p:tav>
                                        <p:tav tm="100000">
                                          <p:val>
                                            <p:strVal val="#ppt_w"/>
                                          </p:val>
                                        </p:tav>
                                      </p:tavLst>
                                    </p:anim>
                                    <p:anim calcmode="lin" valueType="num">
                                      <p:cBhvr additive="base">
                                        <p:cTn id="63" dur="450" decel="100000" fill="hold"/>
                                        <p:tgtEl>
                                          <p:spTgt spid="10"/>
                                        </p:tgtEl>
                                        <p:attrNameLst>
                                          <p:attrName>ppt_h</p:attrName>
                                        </p:attrNameLst>
                                      </p:cBhvr>
                                      <p:tavLst>
                                        <p:tav tm="0">
                                          <p:val>
                                            <p:strVal val="0"/>
                                          </p:val>
                                        </p:tav>
                                        <p:tav tm="100000">
                                          <p:val>
                                            <p:strVal val="#ppt_h"/>
                                          </p:val>
                                        </p:tav>
                                      </p:tavLst>
                                    </p:anim>
                                    <p:animEffect transition="in" filter="fade">
                                      <p:cBhvr>
                                        <p:cTn id="64" dur="450"/>
                                        <p:tgtEl>
                                          <p:spTgt spid="10"/>
                                        </p:tgtEl>
                                      </p:cBhvr>
                                    </p:animEffect>
                                  </p:childTnLst>
                                </p:cTn>
                              </p:par>
                              <p:par>
                                <p:cTn id="65" presetID="53" presetClass="entr" presetSubtype="16" fill="hold" grpId="0" nodeType="withEffect">
                                  <p:stCondLst>
                                    <p:cond delay="39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450" decel="100000" fill="hold"/>
                                        <p:tgtEl>
                                          <p:spTgt spid="11"/>
                                        </p:tgtEl>
                                        <p:attrNameLst>
                                          <p:attrName>ppt_w</p:attrName>
                                        </p:attrNameLst>
                                      </p:cBhvr>
                                      <p:tavLst>
                                        <p:tav tm="0">
                                          <p:val>
                                            <p:strVal val="0"/>
                                          </p:val>
                                        </p:tav>
                                        <p:tav tm="100000">
                                          <p:val>
                                            <p:strVal val="#ppt_w"/>
                                          </p:val>
                                        </p:tav>
                                      </p:tavLst>
                                    </p:anim>
                                    <p:anim calcmode="lin" valueType="num">
                                      <p:cBhvr additive="base">
                                        <p:cTn id="68" dur="450" decel="100000" fill="hold"/>
                                        <p:tgtEl>
                                          <p:spTgt spid="11"/>
                                        </p:tgtEl>
                                        <p:attrNameLst>
                                          <p:attrName>ppt_h</p:attrName>
                                        </p:attrNameLst>
                                      </p:cBhvr>
                                      <p:tavLst>
                                        <p:tav tm="0">
                                          <p:val>
                                            <p:strVal val="0"/>
                                          </p:val>
                                        </p:tav>
                                        <p:tav tm="100000">
                                          <p:val>
                                            <p:strVal val="#ppt_h"/>
                                          </p:val>
                                        </p:tav>
                                      </p:tavLst>
                                    </p:anim>
                                    <p:animEffect transition="in" filter="fade">
                                      <p:cBhvr>
                                        <p:cTn id="69" dur="450"/>
                                        <p:tgtEl>
                                          <p:spTgt spid="11"/>
                                        </p:tgtEl>
                                      </p:cBhvr>
                                    </p:animEffect>
                                  </p:childTnLst>
                                </p:cTn>
                              </p:par>
                              <p:par>
                                <p:cTn id="70" presetID="42" presetClass="entr" presetSubtype="0" fill="hold" grpId="0" nodeType="withEffect">
                                  <p:stCondLst>
                                    <p:cond delay="39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600"/>
                                        <p:tgtEl>
                                          <p:spTgt spid="19"/>
                                        </p:tgtEl>
                                      </p:cBhvr>
                                    </p:animEffect>
                                    <p:anim calcmode="lin" valueType="num">
                                      <p:cBhvr additive="base">
                                        <p:cTn id="7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9"/>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39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2"/>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3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53" presetClass="entr" presetSubtype="16" fill="hold" grpId="0" nodeType="withEffect">
                                  <p:stCondLst>
                                    <p:cond delay="420"/>
                                  </p:stCondLst>
                                  <p:childTnLst>
                                    <p:set>
                                      <p:cBhvr>
                                        <p:cTn id="86" dur="1" fill="hold">
                                          <p:stCondLst>
                                            <p:cond delay="0"/>
                                          </p:stCondLst>
                                        </p:cTn>
                                        <p:tgtEl>
                                          <p:spTgt spid="15"/>
                                        </p:tgtEl>
                                        <p:attrNameLst>
                                          <p:attrName>style.visibility</p:attrName>
                                        </p:attrNameLst>
                                      </p:cBhvr>
                                      <p:to>
                                        <p:strVal val="visible"/>
                                      </p:to>
                                    </p:set>
                                    <p:anim calcmode="lin" valueType="num">
                                      <p:cBhvr additive="base">
                                        <p:cTn id="87" dur="450" decel="100000" fill="hold"/>
                                        <p:tgtEl>
                                          <p:spTgt spid="15"/>
                                        </p:tgtEl>
                                        <p:attrNameLst>
                                          <p:attrName>ppt_w</p:attrName>
                                        </p:attrNameLst>
                                      </p:cBhvr>
                                      <p:tavLst>
                                        <p:tav tm="0">
                                          <p:val>
                                            <p:strVal val="0"/>
                                          </p:val>
                                        </p:tav>
                                        <p:tav tm="100000">
                                          <p:val>
                                            <p:strVal val="#ppt_w"/>
                                          </p:val>
                                        </p:tav>
                                      </p:tavLst>
                                    </p:anim>
                                    <p:anim calcmode="lin" valueType="num">
                                      <p:cBhvr additive="base">
                                        <p:cTn id="88" dur="450" decel="100000" fill="hold"/>
                                        <p:tgtEl>
                                          <p:spTgt spid="15"/>
                                        </p:tgtEl>
                                        <p:attrNameLst>
                                          <p:attrName>ppt_h</p:attrName>
                                        </p:attrNameLst>
                                      </p:cBhvr>
                                      <p:tavLst>
                                        <p:tav tm="0">
                                          <p:val>
                                            <p:strVal val="0"/>
                                          </p:val>
                                        </p:tav>
                                        <p:tav tm="100000">
                                          <p:val>
                                            <p:strVal val="#ppt_h"/>
                                          </p:val>
                                        </p:tav>
                                      </p:tavLst>
                                    </p:anim>
                                    <p:animEffect transition="in" filter="fade">
                                      <p:cBhvr>
                                        <p:cTn id="89" dur="450"/>
                                        <p:tgtEl>
                                          <p:spTgt spid="15"/>
                                        </p:tgtEl>
                                      </p:cBhvr>
                                    </p:animEffect>
                                  </p:childTnLst>
                                </p:cTn>
                              </p:par>
                              <p:par>
                                <p:cTn id="90" presetID="53" presetClass="entr" presetSubtype="16" fill="hold" grpId="0" nodeType="withEffect">
                                  <p:stCondLst>
                                    <p:cond delay="52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450" decel="100000" fill="hold"/>
                                        <p:tgtEl>
                                          <p:spTgt spid="16"/>
                                        </p:tgtEl>
                                        <p:attrNameLst>
                                          <p:attrName>ppt_w</p:attrName>
                                        </p:attrNameLst>
                                      </p:cBhvr>
                                      <p:tavLst>
                                        <p:tav tm="0">
                                          <p:val>
                                            <p:strVal val="0"/>
                                          </p:val>
                                        </p:tav>
                                        <p:tav tm="100000">
                                          <p:val>
                                            <p:strVal val="#ppt_w"/>
                                          </p:val>
                                        </p:tav>
                                      </p:tavLst>
                                    </p:anim>
                                    <p:anim calcmode="lin" valueType="num">
                                      <p:cBhvr additive="base">
                                        <p:cTn id="93" dur="450" decel="100000" fill="hold"/>
                                        <p:tgtEl>
                                          <p:spTgt spid="16"/>
                                        </p:tgtEl>
                                        <p:attrNameLst>
                                          <p:attrName>ppt_h</p:attrName>
                                        </p:attrNameLst>
                                      </p:cBhvr>
                                      <p:tavLst>
                                        <p:tav tm="0">
                                          <p:val>
                                            <p:strVal val="0"/>
                                          </p:val>
                                        </p:tav>
                                        <p:tav tm="100000">
                                          <p:val>
                                            <p:strVal val="#ppt_h"/>
                                          </p:val>
                                        </p:tav>
                                      </p:tavLst>
                                    </p:anim>
                                    <p:animEffect transition="in" filter="fade">
                                      <p:cBhvr>
                                        <p:cTn id="94" dur="450"/>
                                        <p:tgtEl>
                                          <p:spTgt spid="16"/>
                                        </p:tgtEl>
                                      </p:cBhvr>
                                    </p:animEffect>
                                  </p:childTnLst>
                                </p:cTn>
                              </p:par>
                              <p:par>
                                <p:cTn id="95" presetID="42" presetClass="entr" presetSubtype="0" fill="hold" grpId="0" nodeType="withEffect">
                                  <p:stCondLst>
                                    <p:cond delay="52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52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52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53" presetClass="entr" presetSubtype="16" fill="hold" grpId="0" nodeType="withEffect">
                                  <p:stCondLst>
                                    <p:cond delay="550"/>
                                  </p:stCondLst>
                                  <p:childTnLst>
                                    <p:set>
                                      <p:cBhvr>
                                        <p:cTn id="111" dur="1" fill="hold">
                                          <p:stCondLst>
                                            <p:cond delay="0"/>
                                          </p:stCondLst>
                                        </p:cTn>
                                        <p:tgtEl>
                                          <p:spTgt spid="20"/>
                                        </p:tgtEl>
                                        <p:attrNameLst>
                                          <p:attrName>style.visibility</p:attrName>
                                        </p:attrNameLst>
                                      </p:cBhvr>
                                      <p:to>
                                        <p:strVal val="visible"/>
                                      </p:to>
                                    </p:set>
                                    <p:anim calcmode="lin" valueType="num">
                                      <p:cBhvr additive="base">
                                        <p:cTn id="112" dur="450" decel="100000" fill="hold"/>
                                        <p:tgtEl>
                                          <p:spTgt spid="20"/>
                                        </p:tgtEl>
                                        <p:attrNameLst>
                                          <p:attrName>ppt_w</p:attrName>
                                        </p:attrNameLst>
                                      </p:cBhvr>
                                      <p:tavLst>
                                        <p:tav tm="0">
                                          <p:val>
                                            <p:strVal val="0"/>
                                          </p:val>
                                        </p:tav>
                                        <p:tav tm="100000">
                                          <p:val>
                                            <p:strVal val="#ppt_w"/>
                                          </p:val>
                                        </p:tav>
                                      </p:tavLst>
                                    </p:anim>
                                    <p:anim calcmode="lin" valueType="num">
                                      <p:cBhvr additive="base">
                                        <p:cTn id="113" dur="450" decel="100000" fill="hold"/>
                                        <p:tgtEl>
                                          <p:spTgt spid="20"/>
                                        </p:tgtEl>
                                        <p:attrNameLst>
                                          <p:attrName>ppt_h</p:attrName>
                                        </p:attrNameLst>
                                      </p:cBhvr>
                                      <p:tavLst>
                                        <p:tav tm="0">
                                          <p:val>
                                            <p:strVal val="0"/>
                                          </p:val>
                                        </p:tav>
                                        <p:tav tm="100000">
                                          <p:val>
                                            <p:strVal val="#ppt_h"/>
                                          </p:val>
                                        </p:tav>
                                      </p:tavLst>
                                    </p:anim>
                                    <p:animEffect transition="in" filter="fade">
                                      <p:cBhvr>
                                        <p:cTn id="114" dur="450"/>
                                        <p:tgtEl>
                                          <p:spTgt spid="20"/>
                                        </p:tgtEl>
                                      </p:cBhvr>
                                    </p:animEffect>
                                  </p:childTnLst>
                                </p:cTn>
                              </p:par>
                              <p:par>
                                <p:cTn id="115" presetID="53" presetClass="entr" presetSubtype="16" fill="hold" grpId="0" nodeType="withEffect">
                                  <p:stCondLst>
                                    <p:cond delay="650"/>
                                  </p:stCondLst>
                                  <p:childTnLst>
                                    <p:set>
                                      <p:cBhvr>
                                        <p:cTn id="116" dur="1" fill="hold">
                                          <p:stCondLst>
                                            <p:cond delay="0"/>
                                          </p:stCondLst>
                                        </p:cTn>
                                        <p:tgtEl>
                                          <p:spTgt spid="21"/>
                                        </p:tgtEl>
                                        <p:attrNameLst>
                                          <p:attrName>style.visibility</p:attrName>
                                        </p:attrNameLst>
                                      </p:cBhvr>
                                      <p:to>
                                        <p:strVal val="visible"/>
                                      </p:to>
                                    </p:set>
                                    <p:anim calcmode="lin" valueType="num">
                                      <p:cBhvr additive="base">
                                        <p:cTn id="117" dur="450" decel="100000" fill="hold"/>
                                        <p:tgtEl>
                                          <p:spTgt spid="21"/>
                                        </p:tgtEl>
                                        <p:attrNameLst>
                                          <p:attrName>ppt_w</p:attrName>
                                        </p:attrNameLst>
                                      </p:cBhvr>
                                      <p:tavLst>
                                        <p:tav tm="0">
                                          <p:val>
                                            <p:strVal val="0"/>
                                          </p:val>
                                        </p:tav>
                                        <p:tav tm="100000">
                                          <p:val>
                                            <p:strVal val="#ppt_w"/>
                                          </p:val>
                                        </p:tav>
                                      </p:tavLst>
                                    </p:anim>
                                    <p:anim calcmode="lin" valueType="num">
                                      <p:cBhvr additive="base">
                                        <p:cTn id="118" dur="450" decel="100000" fill="hold"/>
                                        <p:tgtEl>
                                          <p:spTgt spid="21"/>
                                        </p:tgtEl>
                                        <p:attrNameLst>
                                          <p:attrName>ppt_h</p:attrName>
                                        </p:attrNameLst>
                                      </p:cBhvr>
                                      <p:tavLst>
                                        <p:tav tm="0">
                                          <p:val>
                                            <p:strVal val="0"/>
                                          </p:val>
                                        </p:tav>
                                        <p:tav tm="100000">
                                          <p:val>
                                            <p:strVal val="#ppt_h"/>
                                          </p:val>
                                        </p:tav>
                                      </p:tavLst>
                                    </p:anim>
                                    <p:animEffect transition="in" filter="fade">
                                      <p:cBhvr>
                                        <p:cTn id="119" dur="450"/>
                                        <p:tgtEl>
                                          <p:spTgt spid="21"/>
                                        </p:tgtEl>
                                      </p:cBhvr>
                                    </p:animEffect>
                                  </p:childTnLst>
                                </p:cTn>
                              </p:par>
                              <p:par>
                                <p:cTn id="120" presetID="42" presetClass="entr" presetSubtype="0" fill="hold" grpId="0" nodeType="withEffect">
                                  <p:stCondLst>
                                    <p:cond delay="65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600"/>
                                        <p:tgtEl>
                                          <p:spTgt spid="29"/>
                                        </p:tgtEl>
                                      </p:cBhvr>
                                    </p:animEffect>
                                    <p:anim calcmode="lin" valueType="num">
                                      <p:cBhvr additive="base">
                                        <p:cTn id="12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29"/>
                                        </p:tgtEl>
                                        <p:attrNameLst>
                                          <p:attrName>ppt_y</p:attrName>
                                        </p:attrNameLst>
                                      </p:cBhvr>
                                      <p:tavLst>
                                        <p:tav tm="0">
                                          <p:val>
                                            <p:strVal val="#ppt_y+.03"/>
                                          </p:val>
                                        </p:tav>
                                        <p:tav tm="100000">
                                          <p:val>
                                            <p:strVal val="#ppt_y"/>
                                          </p:val>
                                        </p:tav>
                                      </p:tavLst>
                                    </p:anim>
                                  </p:childTnLst>
                                </p:cTn>
                              </p:par>
                              <p:par>
                                <p:cTn id="125" presetID="42" presetClass="entr" presetSubtype="0" fill="hold" grpId="0" nodeType="withEffect">
                                  <p:stCondLst>
                                    <p:cond delay="65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600"/>
                                        <p:tgtEl>
                                          <p:spTgt spid="32"/>
                                        </p:tgtEl>
                                      </p:cBhvr>
                                    </p:animEffect>
                                    <p:anim calcmode="lin" valueType="num">
                                      <p:cBhvr additive="base">
                                        <p:cTn id="12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2"/>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65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53" presetClass="entr" presetSubtype="16" fill="hold" grpId="0" nodeType="withEffect">
                                  <p:stCondLst>
                                    <p:cond delay="680"/>
                                  </p:stCondLst>
                                  <p:childTnLst>
                                    <p:set>
                                      <p:cBhvr>
                                        <p:cTn id="136" dur="1" fill="hold">
                                          <p:stCondLst>
                                            <p:cond delay="0"/>
                                          </p:stCondLst>
                                        </p:cTn>
                                        <p:tgtEl>
                                          <p:spTgt spid="25"/>
                                        </p:tgtEl>
                                        <p:attrNameLst>
                                          <p:attrName>style.visibility</p:attrName>
                                        </p:attrNameLst>
                                      </p:cBhvr>
                                      <p:to>
                                        <p:strVal val="visible"/>
                                      </p:to>
                                    </p:set>
                                    <p:anim calcmode="lin" valueType="num">
                                      <p:cBhvr additive="base">
                                        <p:cTn id="137" dur="450" decel="100000" fill="hold"/>
                                        <p:tgtEl>
                                          <p:spTgt spid="25"/>
                                        </p:tgtEl>
                                        <p:attrNameLst>
                                          <p:attrName>ppt_w</p:attrName>
                                        </p:attrNameLst>
                                      </p:cBhvr>
                                      <p:tavLst>
                                        <p:tav tm="0">
                                          <p:val>
                                            <p:strVal val="0"/>
                                          </p:val>
                                        </p:tav>
                                        <p:tav tm="100000">
                                          <p:val>
                                            <p:strVal val="#ppt_w"/>
                                          </p:val>
                                        </p:tav>
                                      </p:tavLst>
                                    </p:anim>
                                    <p:anim calcmode="lin" valueType="num">
                                      <p:cBhvr additive="base">
                                        <p:cTn id="138" dur="450" decel="100000" fill="hold"/>
                                        <p:tgtEl>
                                          <p:spTgt spid="25"/>
                                        </p:tgtEl>
                                        <p:attrNameLst>
                                          <p:attrName>ppt_h</p:attrName>
                                        </p:attrNameLst>
                                      </p:cBhvr>
                                      <p:tavLst>
                                        <p:tav tm="0">
                                          <p:val>
                                            <p:strVal val="0"/>
                                          </p:val>
                                        </p:tav>
                                        <p:tav tm="100000">
                                          <p:val>
                                            <p:strVal val="#ppt_h"/>
                                          </p:val>
                                        </p:tav>
                                      </p:tavLst>
                                    </p:anim>
                                    <p:animEffect transition="in" filter="fade">
                                      <p:cBhvr>
                                        <p:cTn id="139" dur="450"/>
                                        <p:tgtEl>
                                          <p:spTgt spid="25"/>
                                        </p:tgtEl>
                                      </p:cBhvr>
                                    </p:animEffect>
                                  </p:childTnLst>
                                </p:cTn>
                              </p:par>
                              <p:par>
                                <p:cTn id="140" presetID="53" presetClass="entr" presetSubtype="16" fill="hold" grpId="0" nodeType="withEffect">
                                  <p:stCondLst>
                                    <p:cond delay="780"/>
                                  </p:stCondLst>
                                  <p:childTnLst>
                                    <p:set>
                                      <p:cBhvr>
                                        <p:cTn id="141" dur="1" fill="hold">
                                          <p:stCondLst>
                                            <p:cond delay="0"/>
                                          </p:stCondLst>
                                        </p:cTn>
                                        <p:tgtEl>
                                          <p:spTgt spid="26"/>
                                        </p:tgtEl>
                                        <p:attrNameLst>
                                          <p:attrName>style.visibility</p:attrName>
                                        </p:attrNameLst>
                                      </p:cBhvr>
                                      <p:to>
                                        <p:strVal val="visible"/>
                                      </p:to>
                                    </p:set>
                                    <p:anim calcmode="lin" valueType="num">
                                      <p:cBhvr additive="base">
                                        <p:cTn id="142" dur="450" decel="100000" fill="hold"/>
                                        <p:tgtEl>
                                          <p:spTgt spid="26"/>
                                        </p:tgtEl>
                                        <p:attrNameLst>
                                          <p:attrName>ppt_w</p:attrName>
                                        </p:attrNameLst>
                                      </p:cBhvr>
                                      <p:tavLst>
                                        <p:tav tm="0">
                                          <p:val>
                                            <p:strVal val="0"/>
                                          </p:val>
                                        </p:tav>
                                        <p:tav tm="100000">
                                          <p:val>
                                            <p:strVal val="#ppt_w"/>
                                          </p:val>
                                        </p:tav>
                                      </p:tavLst>
                                    </p:anim>
                                    <p:anim calcmode="lin" valueType="num">
                                      <p:cBhvr additive="base">
                                        <p:cTn id="143" dur="450" decel="100000" fill="hold"/>
                                        <p:tgtEl>
                                          <p:spTgt spid="26"/>
                                        </p:tgtEl>
                                        <p:attrNameLst>
                                          <p:attrName>ppt_h</p:attrName>
                                        </p:attrNameLst>
                                      </p:cBhvr>
                                      <p:tavLst>
                                        <p:tav tm="0">
                                          <p:val>
                                            <p:strVal val="0"/>
                                          </p:val>
                                        </p:tav>
                                        <p:tav tm="100000">
                                          <p:val>
                                            <p:strVal val="#ppt_h"/>
                                          </p:val>
                                        </p:tav>
                                      </p:tavLst>
                                    </p:anim>
                                    <p:animEffect transition="in" filter="fade">
                                      <p:cBhvr>
                                        <p:cTn id="144" dur="450"/>
                                        <p:tgtEl>
                                          <p:spTgt spid="26"/>
                                        </p:tgtEl>
                                      </p:cBhvr>
                                    </p:animEffect>
                                  </p:childTnLst>
                                </p:cTn>
                              </p:par>
                              <p:par>
                                <p:cTn id="145" presetID="42" presetClass="entr" presetSubtype="0" fill="hold" grpId="0" nodeType="withEffect">
                                  <p:stCondLst>
                                    <p:cond delay="78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600"/>
                                        <p:tgtEl>
                                          <p:spTgt spid="34"/>
                                        </p:tgtEl>
                                      </p:cBhvr>
                                    </p:animEffect>
                                    <p:anim calcmode="lin" valueType="num">
                                      <p:cBhvr additive="base">
                                        <p:cTn id="14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49" dur="600" decel="100000" fill="hold"/>
                                        <p:tgtEl>
                                          <p:spTgt spid="34"/>
                                        </p:tgtEl>
                                        <p:attrNameLst>
                                          <p:attrName>ppt_y</p:attrName>
                                        </p:attrNameLst>
                                      </p:cBhvr>
                                      <p:tavLst>
                                        <p:tav tm="0">
                                          <p:val>
                                            <p:strVal val="#ppt_y+.03"/>
                                          </p:val>
                                        </p:tav>
                                        <p:tav tm="100000">
                                          <p:val>
                                            <p:strVal val="#ppt_y"/>
                                          </p:val>
                                        </p:tav>
                                      </p:tavLst>
                                    </p:anim>
                                  </p:childTnLst>
                                </p:cTn>
                              </p:par>
                              <p:par>
                                <p:cTn id="150" presetID="42" presetClass="entr" presetSubtype="0" fill="hold" grpId="0" nodeType="withEffect">
                                  <p:stCondLst>
                                    <p:cond delay="78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600"/>
                                        <p:tgtEl>
                                          <p:spTgt spid="37"/>
                                        </p:tgtEl>
                                      </p:cBhvr>
                                    </p:animEffect>
                                    <p:anim calcmode="lin" valueType="num">
                                      <p:cBhvr additive="base">
                                        <p:cTn id="153"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7"/>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78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600"/>
                                        <p:tgtEl>
                                          <p:spTgt spid="38"/>
                                        </p:tgtEl>
                                      </p:cBhvr>
                                    </p:animEffect>
                                    <p:anim calcmode="lin" valueType="num">
                                      <p:cBhvr additive="base">
                                        <p:cTn id="15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8"/>
                                        </p:tgtEl>
                                        <p:attrNameLst>
                                          <p:attrName>ppt_y</p:attrName>
                                        </p:attrNameLst>
                                      </p:cBhvr>
                                      <p:tavLst>
                                        <p:tav tm="0">
                                          <p:val>
                                            <p:strVal val="#ppt_y+.03"/>
                                          </p:val>
                                        </p:tav>
                                        <p:tav tm="100000">
                                          <p:val>
                                            <p:strVal val="#ppt_y"/>
                                          </p:val>
                                        </p:tav>
                                      </p:tavLst>
                                    </p:anim>
                                  </p:childTnLst>
                                </p:cTn>
                              </p:par>
                              <p:par>
                                <p:cTn id="160" presetID="53" presetClass="entr" presetSubtype="16" fill="hold" grpId="0" nodeType="withEffect">
                                  <p:stCondLst>
                                    <p:cond delay="810"/>
                                  </p:stCondLst>
                                  <p:childTnLst>
                                    <p:set>
                                      <p:cBhvr>
                                        <p:cTn id="161" dur="1" fill="hold">
                                          <p:stCondLst>
                                            <p:cond delay="0"/>
                                          </p:stCondLst>
                                        </p:cTn>
                                        <p:tgtEl>
                                          <p:spTgt spid="30"/>
                                        </p:tgtEl>
                                        <p:attrNameLst>
                                          <p:attrName>style.visibility</p:attrName>
                                        </p:attrNameLst>
                                      </p:cBhvr>
                                      <p:to>
                                        <p:strVal val="visible"/>
                                      </p:to>
                                    </p:set>
                                    <p:anim calcmode="lin" valueType="num">
                                      <p:cBhvr additive="base">
                                        <p:cTn id="162" dur="450" decel="100000" fill="hold"/>
                                        <p:tgtEl>
                                          <p:spTgt spid="30"/>
                                        </p:tgtEl>
                                        <p:attrNameLst>
                                          <p:attrName>ppt_w</p:attrName>
                                        </p:attrNameLst>
                                      </p:cBhvr>
                                      <p:tavLst>
                                        <p:tav tm="0">
                                          <p:val>
                                            <p:strVal val="0"/>
                                          </p:val>
                                        </p:tav>
                                        <p:tav tm="100000">
                                          <p:val>
                                            <p:strVal val="#ppt_w"/>
                                          </p:val>
                                        </p:tav>
                                      </p:tavLst>
                                    </p:anim>
                                    <p:anim calcmode="lin" valueType="num">
                                      <p:cBhvr additive="base">
                                        <p:cTn id="163" dur="450" decel="100000" fill="hold"/>
                                        <p:tgtEl>
                                          <p:spTgt spid="30"/>
                                        </p:tgtEl>
                                        <p:attrNameLst>
                                          <p:attrName>ppt_h</p:attrName>
                                        </p:attrNameLst>
                                      </p:cBhvr>
                                      <p:tavLst>
                                        <p:tav tm="0">
                                          <p:val>
                                            <p:strVal val="0"/>
                                          </p:val>
                                        </p:tav>
                                        <p:tav tm="100000">
                                          <p:val>
                                            <p:strVal val="#ppt_h"/>
                                          </p:val>
                                        </p:tav>
                                      </p:tavLst>
                                    </p:anim>
                                    <p:animEffect transition="in" filter="fade">
                                      <p:cBhvr>
                                        <p:cTn id="164" dur="450"/>
                                        <p:tgtEl>
                                          <p:spTgt spid="30"/>
                                        </p:tgtEl>
                                      </p:cBhvr>
                                    </p:animEffect>
                                  </p:childTnLst>
                                </p:cTn>
                              </p:par>
                              <p:par>
                                <p:cTn id="165" presetID="53" presetClass="entr" presetSubtype="16" fill="hold" grpId="0" nodeType="withEffect">
                                  <p:stCondLst>
                                    <p:cond delay="910"/>
                                  </p:stCondLst>
                                  <p:childTnLst>
                                    <p:set>
                                      <p:cBhvr>
                                        <p:cTn id="166" dur="1" fill="hold">
                                          <p:stCondLst>
                                            <p:cond delay="0"/>
                                          </p:stCondLst>
                                        </p:cTn>
                                        <p:tgtEl>
                                          <p:spTgt spid="31"/>
                                        </p:tgtEl>
                                        <p:attrNameLst>
                                          <p:attrName>style.visibility</p:attrName>
                                        </p:attrNameLst>
                                      </p:cBhvr>
                                      <p:to>
                                        <p:strVal val="visible"/>
                                      </p:to>
                                    </p:set>
                                    <p:anim calcmode="lin" valueType="num">
                                      <p:cBhvr additive="base">
                                        <p:cTn id="167" dur="450" decel="100000" fill="hold"/>
                                        <p:tgtEl>
                                          <p:spTgt spid="31"/>
                                        </p:tgtEl>
                                        <p:attrNameLst>
                                          <p:attrName>ppt_w</p:attrName>
                                        </p:attrNameLst>
                                      </p:cBhvr>
                                      <p:tavLst>
                                        <p:tav tm="0">
                                          <p:val>
                                            <p:strVal val="0"/>
                                          </p:val>
                                        </p:tav>
                                        <p:tav tm="100000">
                                          <p:val>
                                            <p:strVal val="#ppt_w"/>
                                          </p:val>
                                        </p:tav>
                                      </p:tavLst>
                                    </p:anim>
                                    <p:anim calcmode="lin" valueType="num">
                                      <p:cBhvr additive="base">
                                        <p:cTn id="168" dur="450" decel="100000" fill="hold"/>
                                        <p:tgtEl>
                                          <p:spTgt spid="31"/>
                                        </p:tgtEl>
                                        <p:attrNameLst>
                                          <p:attrName>ppt_h</p:attrName>
                                        </p:attrNameLst>
                                      </p:cBhvr>
                                      <p:tavLst>
                                        <p:tav tm="0">
                                          <p:val>
                                            <p:strVal val="0"/>
                                          </p:val>
                                        </p:tav>
                                        <p:tav tm="100000">
                                          <p:val>
                                            <p:strVal val="#ppt_h"/>
                                          </p:val>
                                        </p:tav>
                                      </p:tavLst>
                                    </p:anim>
                                    <p:animEffect transition="in" filter="fade">
                                      <p:cBhvr>
                                        <p:cTn id="169" dur="450"/>
                                        <p:tgtEl>
                                          <p:spTgt spid="31"/>
                                        </p:tgtEl>
                                      </p:cBhvr>
                                    </p:animEffect>
                                  </p:childTnLst>
                                </p:cTn>
                              </p:par>
                              <p:par>
                                <p:cTn id="170" presetID="42" presetClass="entr" presetSubtype="0" fill="hold" grpId="0" nodeType="withEffect">
                                  <p:stCondLst>
                                    <p:cond delay="910"/>
                                  </p:stCondLst>
                                  <p:childTnLst>
                                    <p:set>
                                      <p:cBhvr>
                                        <p:cTn id="171" dur="1" fill="hold">
                                          <p:stCondLst>
                                            <p:cond delay="0"/>
                                          </p:stCondLst>
                                        </p:cTn>
                                        <p:tgtEl>
                                          <p:spTgt spid="39"/>
                                        </p:tgtEl>
                                        <p:attrNameLst>
                                          <p:attrName>style.visibility</p:attrName>
                                        </p:attrNameLst>
                                      </p:cBhvr>
                                      <p:to>
                                        <p:strVal val="visible"/>
                                      </p:to>
                                    </p:set>
                                    <p:animEffect transition="in" filter="fade">
                                      <p:cBhvr>
                                        <p:cTn id="172" dur="600"/>
                                        <p:tgtEl>
                                          <p:spTgt spid="39"/>
                                        </p:tgtEl>
                                      </p:cBhvr>
                                    </p:animEffect>
                                    <p:anim calcmode="lin" valueType="num">
                                      <p:cBhvr additive="base">
                                        <p:cTn id="17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74" dur="600" decel="100000" fill="hold"/>
                                        <p:tgtEl>
                                          <p:spTgt spid="39"/>
                                        </p:tgtEl>
                                        <p:attrNameLst>
                                          <p:attrName>ppt_y</p:attrName>
                                        </p:attrNameLst>
                                      </p:cBhvr>
                                      <p:tavLst>
                                        <p:tav tm="0">
                                          <p:val>
                                            <p:strVal val="#ppt_y+.03"/>
                                          </p:val>
                                        </p:tav>
                                        <p:tav tm="100000">
                                          <p:val>
                                            <p:strVal val="#ppt_y"/>
                                          </p:val>
                                        </p:tav>
                                      </p:tavLst>
                                    </p:anim>
                                  </p:childTnLst>
                                </p:cTn>
                              </p:par>
                              <p:par>
                                <p:cTn id="175" presetID="42" presetClass="entr" presetSubtype="0" fill="hold" grpId="0" nodeType="withEffect">
                                  <p:stCondLst>
                                    <p:cond delay="91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7" dur="600"/>
                                        <p:tgtEl>
                                          <p:spTgt spid="42"/>
                                        </p:tgtEl>
                                      </p:cBhvr>
                                    </p:animEffect>
                                    <p:anim calcmode="lin" valueType="num">
                                      <p:cBhvr additive="base">
                                        <p:cTn id="178" dur="600" decel="100000" fill="hold"/>
                                        <p:tgtEl>
                                          <p:spTgt spid="42"/>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42"/>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91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2" dur="600"/>
                                        <p:tgtEl>
                                          <p:spTgt spid="43"/>
                                        </p:tgtEl>
                                      </p:cBhvr>
                                    </p:animEffect>
                                    <p:anim calcmode="lin" valueType="num">
                                      <p:cBhvr additive="base">
                                        <p:cTn id="183" dur="600" decel="100000" fill="hold"/>
                                        <p:tgtEl>
                                          <p:spTgt spid="43"/>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43"/>
                                        </p:tgtEl>
                                        <p:attrNameLst>
                                          <p:attrName>ppt_y</p:attrName>
                                        </p:attrNameLst>
                                      </p:cBhvr>
                                      <p:tavLst>
                                        <p:tav tm="0">
                                          <p:val>
                                            <p:strVal val="#ppt_y+.03"/>
                                          </p:val>
                                        </p:tav>
                                        <p:tav tm="100000">
                                          <p:val>
                                            <p:strVal val="#ppt_y"/>
                                          </p:val>
                                        </p:tav>
                                      </p:tavLst>
                                    </p:anim>
                                  </p:childTnLst>
                                </p:cTn>
                              </p:par>
                              <p:par>
                                <p:cTn id="185" presetID="53" presetClass="entr" presetSubtype="16" fill="hold" grpId="0" nodeType="withEffect">
                                  <p:stCondLst>
                                    <p:cond delay="940"/>
                                  </p:stCondLst>
                                  <p:childTnLst>
                                    <p:set>
                                      <p:cBhvr>
                                        <p:cTn id="186" dur="1" fill="hold">
                                          <p:stCondLst>
                                            <p:cond delay="0"/>
                                          </p:stCondLst>
                                        </p:cTn>
                                        <p:tgtEl>
                                          <p:spTgt spid="35"/>
                                        </p:tgtEl>
                                        <p:attrNameLst>
                                          <p:attrName>style.visibility</p:attrName>
                                        </p:attrNameLst>
                                      </p:cBhvr>
                                      <p:to>
                                        <p:strVal val="visible"/>
                                      </p:to>
                                    </p:set>
                                    <p:anim calcmode="lin" valueType="num">
                                      <p:cBhvr additive="base">
                                        <p:cTn id="187" dur="450" decel="100000" fill="hold"/>
                                        <p:tgtEl>
                                          <p:spTgt spid="35"/>
                                        </p:tgtEl>
                                        <p:attrNameLst>
                                          <p:attrName>ppt_w</p:attrName>
                                        </p:attrNameLst>
                                      </p:cBhvr>
                                      <p:tavLst>
                                        <p:tav tm="0">
                                          <p:val>
                                            <p:strVal val="0"/>
                                          </p:val>
                                        </p:tav>
                                        <p:tav tm="100000">
                                          <p:val>
                                            <p:strVal val="#ppt_w"/>
                                          </p:val>
                                        </p:tav>
                                      </p:tavLst>
                                    </p:anim>
                                    <p:anim calcmode="lin" valueType="num">
                                      <p:cBhvr additive="base">
                                        <p:cTn id="188" dur="450" decel="100000" fill="hold"/>
                                        <p:tgtEl>
                                          <p:spTgt spid="35"/>
                                        </p:tgtEl>
                                        <p:attrNameLst>
                                          <p:attrName>ppt_h</p:attrName>
                                        </p:attrNameLst>
                                      </p:cBhvr>
                                      <p:tavLst>
                                        <p:tav tm="0">
                                          <p:val>
                                            <p:strVal val="0"/>
                                          </p:val>
                                        </p:tav>
                                        <p:tav tm="100000">
                                          <p:val>
                                            <p:strVal val="#ppt_h"/>
                                          </p:val>
                                        </p:tav>
                                      </p:tavLst>
                                    </p:anim>
                                    <p:animEffect transition="in" filter="fade">
                                      <p:cBhvr>
                                        <p:cTn id="189" dur="450"/>
                                        <p:tgtEl>
                                          <p:spTgt spid="35"/>
                                        </p:tgtEl>
                                      </p:cBhvr>
                                    </p:animEffect>
                                  </p:childTnLst>
                                </p:cTn>
                              </p:par>
                              <p:par>
                                <p:cTn id="190" presetID="53" presetClass="entr" presetSubtype="16" fill="hold" grpId="0" nodeType="withEffect">
                                  <p:stCondLst>
                                    <p:cond delay="1040"/>
                                  </p:stCondLst>
                                  <p:childTnLst>
                                    <p:set>
                                      <p:cBhvr>
                                        <p:cTn id="191" dur="1" fill="hold">
                                          <p:stCondLst>
                                            <p:cond delay="0"/>
                                          </p:stCondLst>
                                        </p:cTn>
                                        <p:tgtEl>
                                          <p:spTgt spid="36"/>
                                        </p:tgtEl>
                                        <p:attrNameLst>
                                          <p:attrName>style.visibility</p:attrName>
                                        </p:attrNameLst>
                                      </p:cBhvr>
                                      <p:to>
                                        <p:strVal val="visible"/>
                                      </p:to>
                                    </p:set>
                                    <p:anim calcmode="lin" valueType="num">
                                      <p:cBhvr additive="base">
                                        <p:cTn id="192" dur="450" decel="100000" fill="hold"/>
                                        <p:tgtEl>
                                          <p:spTgt spid="36"/>
                                        </p:tgtEl>
                                        <p:attrNameLst>
                                          <p:attrName>ppt_w</p:attrName>
                                        </p:attrNameLst>
                                      </p:cBhvr>
                                      <p:tavLst>
                                        <p:tav tm="0">
                                          <p:val>
                                            <p:strVal val="0"/>
                                          </p:val>
                                        </p:tav>
                                        <p:tav tm="100000">
                                          <p:val>
                                            <p:strVal val="#ppt_w"/>
                                          </p:val>
                                        </p:tav>
                                      </p:tavLst>
                                    </p:anim>
                                    <p:anim calcmode="lin" valueType="num">
                                      <p:cBhvr additive="base">
                                        <p:cTn id="193" dur="450" decel="100000" fill="hold"/>
                                        <p:tgtEl>
                                          <p:spTgt spid="36"/>
                                        </p:tgtEl>
                                        <p:attrNameLst>
                                          <p:attrName>ppt_h</p:attrName>
                                        </p:attrNameLst>
                                      </p:cBhvr>
                                      <p:tavLst>
                                        <p:tav tm="0">
                                          <p:val>
                                            <p:strVal val="0"/>
                                          </p:val>
                                        </p:tav>
                                        <p:tav tm="100000">
                                          <p:val>
                                            <p:strVal val="#ppt_h"/>
                                          </p:val>
                                        </p:tav>
                                      </p:tavLst>
                                    </p:anim>
                                    <p:animEffect transition="in" filter="fade">
                                      <p:cBhvr>
                                        <p:cTn id="194" dur="450"/>
                                        <p:tgtEl>
                                          <p:spTgt spid="36"/>
                                        </p:tgtEl>
                                      </p:cBhvr>
                                    </p:animEffect>
                                  </p:childTnLst>
                                </p:cTn>
                              </p:par>
                              <p:par>
                                <p:cTn id="195" presetID="42" presetClass="entr" presetSubtype="0" fill="hold" grpId="0" nodeType="withEffect">
                                  <p:stCondLst>
                                    <p:cond delay="1040"/>
                                  </p:stCondLst>
                                  <p:childTnLst>
                                    <p:set>
                                      <p:cBhvr>
                                        <p:cTn id="196" dur="1" fill="hold">
                                          <p:stCondLst>
                                            <p:cond delay="0"/>
                                          </p:stCondLst>
                                        </p:cTn>
                                        <p:tgtEl>
                                          <p:spTgt spid="44"/>
                                        </p:tgtEl>
                                        <p:attrNameLst>
                                          <p:attrName>style.visibility</p:attrName>
                                        </p:attrNameLst>
                                      </p:cBhvr>
                                      <p:to>
                                        <p:strVal val="visible"/>
                                      </p:to>
                                    </p:set>
                                    <p:animEffect transition="in" filter="fade">
                                      <p:cBhvr>
                                        <p:cTn id="197" dur="600"/>
                                        <p:tgtEl>
                                          <p:spTgt spid="44"/>
                                        </p:tgtEl>
                                      </p:cBhvr>
                                    </p:animEffect>
                                    <p:anim calcmode="lin" valueType="num">
                                      <p:cBhvr additive="base">
                                        <p:cTn id="198" dur="600" decel="100000" fill="hold"/>
                                        <p:tgtEl>
                                          <p:spTgt spid="44"/>
                                        </p:tgtEl>
                                        <p:attrNameLst>
                                          <p:attrName>ppt_x</p:attrName>
                                        </p:attrNameLst>
                                      </p:cBhvr>
                                      <p:tavLst>
                                        <p:tav tm="0">
                                          <p:val>
                                            <p:strVal val="#ppt_x"/>
                                          </p:val>
                                        </p:tav>
                                        <p:tav tm="100000">
                                          <p:val>
                                            <p:strVal val="#ppt_x"/>
                                          </p:val>
                                        </p:tav>
                                      </p:tavLst>
                                    </p:anim>
                                    <p:anim calcmode="lin" valueType="num">
                                      <p:cBhvr additive="base">
                                        <p:cTn id="199" dur="600" decel="100000" fill="hold"/>
                                        <p:tgtEl>
                                          <p:spTgt spid="44"/>
                                        </p:tgtEl>
                                        <p:attrNameLst>
                                          <p:attrName>ppt_y</p:attrName>
                                        </p:attrNameLst>
                                      </p:cBhvr>
                                      <p:tavLst>
                                        <p:tav tm="0">
                                          <p:val>
                                            <p:strVal val="#ppt_y+.03"/>
                                          </p:val>
                                        </p:tav>
                                        <p:tav tm="100000">
                                          <p:val>
                                            <p:strVal val="#ppt_y"/>
                                          </p:val>
                                        </p:tav>
                                      </p:tavLst>
                                    </p:anim>
                                  </p:childTnLst>
                                </p:cTn>
                              </p:par>
                              <p:par>
                                <p:cTn id="200" presetID="42" presetClass="entr" presetSubtype="0" fill="hold" grpId="0" nodeType="withEffect">
                                  <p:stCondLst>
                                    <p:cond delay="1040"/>
                                  </p:stCondLst>
                                  <p:childTnLst>
                                    <p:set>
                                      <p:cBhvr>
                                        <p:cTn id="201" dur="1" fill="hold">
                                          <p:stCondLst>
                                            <p:cond delay="0"/>
                                          </p:stCondLst>
                                        </p:cTn>
                                        <p:tgtEl>
                                          <p:spTgt spid="47"/>
                                        </p:tgtEl>
                                        <p:attrNameLst>
                                          <p:attrName>style.visibility</p:attrName>
                                        </p:attrNameLst>
                                      </p:cBhvr>
                                      <p:to>
                                        <p:strVal val="visible"/>
                                      </p:to>
                                    </p:set>
                                    <p:animEffect transition="in" filter="fade">
                                      <p:cBhvr>
                                        <p:cTn id="202" dur="600"/>
                                        <p:tgtEl>
                                          <p:spTgt spid="47"/>
                                        </p:tgtEl>
                                      </p:cBhvr>
                                    </p:animEffect>
                                    <p:anim calcmode="lin" valueType="num">
                                      <p:cBhvr additive="base">
                                        <p:cTn id="203" dur="600" decel="100000" fill="hold"/>
                                        <p:tgtEl>
                                          <p:spTgt spid="47"/>
                                        </p:tgtEl>
                                        <p:attrNameLst>
                                          <p:attrName>ppt_x</p:attrName>
                                        </p:attrNameLst>
                                      </p:cBhvr>
                                      <p:tavLst>
                                        <p:tav tm="0">
                                          <p:val>
                                            <p:strVal val="#ppt_x"/>
                                          </p:val>
                                        </p:tav>
                                        <p:tav tm="100000">
                                          <p:val>
                                            <p:strVal val="#ppt_x"/>
                                          </p:val>
                                        </p:tav>
                                      </p:tavLst>
                                    </p:anim>
                                    <p:anim calcmode="lin" valueType="num">
                                      <p:cBhvr additive="base">
                                        <p:cTn id="204" dur="600" decel="100000" fill="hold"/>
                                        <p:tgtEl>
                                          <p:spTgt spid="47"/>
                                        </p:tgtEl>
                                        <p:attrNameLst>
                                          <p:attrName>ppt_y</p:attrName>
                                        </p:attrNameLst>
                                      </p:cBhvr>
                                      <p:tavLst>
                                        <p:tav tm="0">
                                          <p:val>
                                            <p:strVal val="#ppt_y+.03"/>
                                          </p:val>
                                        </p:tav>
                                        <p:tav tm="100000">
                                          <p:val>
                                            <p:strVal val="#ppt_y"/>
                                          </p:val>
                                        </p:tav>
                                      </p:tavLst>
                                    </p:anim>
                                  </p:childTnLst>
                                </p:cTn>
                              </p:par>
                              <p:par>
                                <p:cTn id="205" presetID="42" presetClass="entr" presetSubtype="0" fill="hold" grpId="0" nodeType="withEffect">
                                  <p:stCondLst>
                                    <p:cond delay="1040"/>
                                  </p:stCondLst>
                                  <p:childTnLst>
                                    <p:set>
                                      <p:cBhvr>
                                        <p:cTn id="206" dur="1" fill="hold">
                                          <p:stCondLst>
                                            <p:cond delay="0"/>
                                          </p:stCondLst>
                                        </p:cTn>
                                        <p:tgtEl>
                                          <p:spTgt spid="48"/>
                                        </p:tgtEl>
                                        <p:attrNameLst>
                                          <p:attrName>style.visibility</p:attrName>
                                        </p:attrNameLst>
                                      </p:cBhvr>
                                      <p:to>
                                        <p:strVal val="visible"/>
                                      </p:to>
                                    </p:set>
                                    <p:animEffect transition="in" filter="fade">
                                      <p:cBhvr>
                                        <p:cTn id="207" dur="600"/>
                                        <p:tgtEl>
                                          <p:spTgt spid="48"/>
                                        </p:tgtEl>
                                      </p:cBhvr>
                                    </p:animEffect>
                                    <p:anim calcmode="lin" valueType="num">
                                      <p:cBhvr additive="base">
                                        <p:cTn id="208" dur="600" decel="100000" fill="hold"/>
                                        <p:tgtEl>
                                          <p:spTgt spid="48"/>
                                        </p:tgtEl>
                                        <p:attrNameLst>
                                          <p:attrName>ppt_x</p:attrName>
                                        </p:attrNameLst>
                                      </p:cBhvr>
                                      <p:tavLst>
                                        <p:tav tm="0">
                                          <p:val>
                                            <p:strVal val="#ppt_x"/>
                                          </p:val>
                                        </p:tav>
                                        <p:tav tm="100000">
                                          <p:val>
                                            <p:strVal val="#ppt_x"/>
                                          </p:val>
                                        </p:tav>
                                      </p:tavLst>
                                    </p:anim>
                                    <p:anim calcmode="lin" valueType="num">
                                      <p:cBhvr additive="base">
                                        <p:cTn id="209" dur="600" decel="100000" fill="hold"/>
                                        <p:tgtEl>
                                          <p:spTgt spid="48"/>
                                        </p:tgtEl>
                                        <p:attrNameLst>
                                          <p:attrName>ppt_y</p:attrName>
                                        </p:attrNameLst>
                                      </p:cBhvr>
                                      <p:tavLst>
                                        <p:tav tm="0">
                                          <p:val>
                                            <p:strVal val="#ppt_y+.03"/>
                                          </p:val>
                                        </p:tav>
                                        <p:tav tm="100000">
                                          <p:val>
                                            <p:strVal val="#ppt_y"/>
                                          </p:val>
                                        </p:tav>
                                      </p:tavLst>
                                    </p:anim>
                                  </p:childTnLst>
                                </p:cTn>
                              </p:par>
                              <p:par>
                                <p:cTn id="210" presetID="53" presetClass="entr" presetSubtype="16" fill="hold" grpId="0" nodeType="withEffect">
                                  <p:stCondLst>
                                    <p:cond delay="1070"/>
                                  </p:stCondLst>
                                  <p:childTnLst>
                                    <p:set>
                                      <p:cBhvr>
                                        <p:cTn id="211" dur="1" fill="hold">
                                          <p:stCondLst>
                                            <p:cond delay="0"/>
                                          </p:stCondLst>
                                        </p:cTn>
                                        <p:tgtEl>
                                          <p:spTgt spid="40"/>
                                        </p:tgtEl>
                                        <p:attrNameLst>
                                          <p:attrName>style.visibility</p:attrName>
                                        </p:attrNameLst>
                                      </p:cBhvr>
                                      <p:to>
                                        <p:strVal val="visible"/>
                                      </p:to>
                                    </p:set>
                                    <p:anim calcmode="lin" valueType="num">
                                      <p:cBhvr additive="base">
                                        <p:cTn id="212" dur="450" decel="100000" fill="hold"/>
                                        <p:tgtEl>
                                          <p:spTgt spid="40"/>
                                        </p:tgtEl>
                                        <p:attrNameLst>
                                          <p:attrName>ppt_w</p:attrName>
                                        </p:attrNameLst>
                                      </p:cBhvr>
                                      <p:tavLst>
                                        <p:tav tm="0">
                                          <p:val>
                                            <p:strVal val="0"/>
                                          </p:val>
                                        </p:tav>
                                        <p:tav tm="100000">
                                          <p:val>
                                            <p:strVal val="#ppt_w"/>
                                          </p:val>
                                        </p:tav>
                                      </p:tavLst>
                                    </p:anim>
                                    <p:anim calcmode="lin" valueType="num">
                                      <p:cBhvr additive="base">
                                        <p:cTn id="213" dur="450" decel="100000" fill="hold"/>
                                        <p:tgtEl>
                                          <p:spTgt spid="40"/>
                                        </p:tgtEl>
                                        <p:attrNameLst>
                                          <p:attrName>ppt_h</p:attrName>
                                        </p:attrNameLst>
                                      </p:cBhvr>
                                      <p:tavLst>
                                        <p:tav tm="0">
                                          <p:val>
                                            <p:strVal val="0"/>
                                          </p:val>
                                        </p:tav>
                                        <p:tav tm="100000">
                                          <p:val>
                                            <p:strVal val="#ppt_h"/>
                                          </p:val>
                                        </p:tav>
                                      </p:tavLst>
                                    </p:anim>
                                    <p:animEffect transition="in" filter="fade">
                                      <p:cBhvr>
                                        <p:cTn id="214" dur="450"/>
                                        <p:tgtEl>
                                          <p:spTgt spid="40"/>
                                        </p:tgtEl>
                                      </p:cBhvr>
                                    </p:animEffect>
                                  </p:childTnLst>
                                </p:cTn>
                              </p:par>
                              <p:par>
                                <p:cTn id="215" presetID="53" presetClass="entr" presetSubtype="16" fill="hold" grpId="0" nodeType="withEffect">
                                  <p:stCondLst>
                                    <p:cond delay="1170"/>
                                  </p:stCondLst>
                                  <p:childTnLst>
                                    <p:set>
                                      <p:cBhvr>
                                        <p:cTn id="216" dur="1" fill="hold">
                                          <p:stCondLst>
                                            <p:cond delay="0"/>
                                          </p:stCondLst>
                                        </p:cTn>
                                        <p:tgtEl>
                                          <p:spTgt spid="41"/>
                                        </p:tgtEl>
                                        <p:attrNameLst>
                                          <p:attrName>style.visibility</p:attrName>
                                        </p:attrNameLst>
                                      </p:cBhvr>
                                      <p:to>
                                        <p:strVal val="visible"/>
                                      </p:to>
                                    </p:set>
                                    <p:anim calcmode="lin" valueType="num">
                                      <p:cBhvr additive="base">
                                        <p:cTn id="217" dur="450" decel="100000" fill="hold"/>
                                        <p:tgtEl>
                                          <p:spTgt spid="41"/>
                                        </p:tgtEl>
                                        <p:attrNameLst>
                                          <p:attrName>ppt_w</p:attrName>
                                        </p:attrNameLst>
                                      </p:cBhvr>
                                      <p:tavLst>
                                        <p:tav tm="0">
                                          <p:val>
                                            <p:strVal val="0"/>
                                          </p:val>
                                        </p:tav>
                                        <p:tav tm="100000">
                                          <p:val>
                                            <p:strVal val="#ppt_w"/>
                                          </p:val>
                                        </p:tav>
                                      </p:tavLst>
                                    </p:anim>
                                    <p:anim calcmode="lin" valueType="num">
                                      <p:cBhvr additive="base">
                                        <p:cTn id="218" dur="450" decel="100000" fill="hold"/>
                                        <p:tgtEl>
                                          <p:spTgt spid="41"/>
                                        </p:tgtEl>
                                        <p:attrNameLst>
                                          <p:attrName>ppt_h</p:attrName>
                                        </p:attrNameLst>
                                      </p:cBhvr>
                                      <p:tavLst>
                                        <p:tav tm="0">
                                          <p:val>
                                            <p:strVal val="0"/>
                                          </p:val>
                                        </p:tav>
                                        <p:tav tm="100000">
                                          <p:val>
                                            <p:strVal val="#ppt_h"/>
                                          </p:val>
                                        </p:tav>
                                      </p:tavLst>
                                    </p:anim>
                                    <p:animEffect transition="in" filter="fade">
                                      <p:cBhvr>
                                        <p:cTn id="219" dur="450"/>
                                        <p:tgtEl>
                                          <p:spTgt spid="41"/>
                                        </p:tgtEl>
                                      </p:cBhvr>
                                    </p:animEffect>
                                  </p:childTnLst>
                                </p:cTn>
                              </p:par>
                              <p:par>
                                <p:cTn id="220" presetID="42" presetClass="entr" presetSubtype="0" fill="hold" grpId="0" nodeType="withEffect">
                                  <p:stCondLst>
                                    <p:cond delay="1170"/>
                                  </p:stCondLst>
                                  <p:childTnLst>
                                    <p:set>
                                      <p:cBhvr>
                                        <p:cTn id="221" dur="1" fill="hold">
                                          <p:stCondLst>
                                            <p:cond delay="0"/>
                                          </p:stCondLst>
                                        </p:cTn>
                                        <p:tgtEl>
                                          <p:spTgt spid="49"/>
                                        </p:tgtEl>
                                        <p:attrNameLst>
                                          <p:attrName>style.visibility</p:attrName>
                                        </p:attrNameLst>
                                      </p:cBhvr>
                                      <p:to>
                                        <p:strVal val="visible"/>
                                      </p:to>
                                    </p:set>
                                    <p:animEffect transition="in" filter="fade">
                                      <p:cBhvr>
                                        <p:cTn id="222" dur="600"/>
                                        <p:tgtEl>
                                          <p:spTgt spid="49"/>
                                        </p:tgtEl>
                                      </p:cBhvr>
                                    </p:animEffect>
                                    <p:anim calcmode="lin" valueType="num">
                                      <p:cBhvr additive="base">
                                        <p:cTn id="223" dur="600" decel="100000" fill="hold"/>
                                        <p:tgtEl>
                                          <p:spTgt spid="49"/>
                                        </p:tgtEl>
                                        <p:attrNameLst>
                                          <p:attrName>ppt_x</p:attrName>
                                        </p:attrNameLst>
                                      </p:cBhvr>
                                      <p:tavLst>
                                        <p:tav tm="0">
                                          <p:val>
                                            <p:strVal val="#ppt_x"/>
                                          </p:val>
                                        </p:tav>
                                        <p:tav tm="100000">
                                          <p:val>
                                            <p:strVal val="#ppt_x"/>
                                          </p:val>
                                        </p:tav>
                                      </p:tavLst>
                                    </p:anim>
                                    <p:anim calcmode="lin" valueType="num">
                                      <p:cBhvr additive="base">
                                        <p:cTn id="224" dur="600" decel="100000" fill="hold"/>
                                        <p:tgtEl>
                                          <p:spTgt spid="49"/>
                                        </p:tgtEl>
                                        <p:attrNameLst>
                                          <p:attrName>ppt_y</p:attrName>
                                        </p:attrNameLst>
                                      </p:cBhvr>
                                      <p:tavLst>
                                        <p:tav tm="0">
                                          <p:val>
                                            <p:strVal val="#ppt_y+.03"/>
                                          </p:val>
                                        </p:tav>
                                        <p:tav tm="100000">
                                          <p:val>
                                            <p:strVal val="#ppt_y"/>
                                          </p:val>
                                        </p:tav>
                                      </p:tavLst>
                                    </p:anim>
                                  </p:childTnLst>
                                </p:cTn>
                              </p:par>
                              <p:par>
                                <p:cTn id="225" presetID="42" presetClass="entr" presetSubtype="0" fill="hold" grpId="0" nodeType="withEffect">
                                  <p:stCondLst>
                                    <p:cond delay="1170"/>
                                  </p:stCondLst>
                                  <p:childTnLst>
                                    <p:set>
                                      <p:cBhvr>
                                        <p:cTn id="226" dur="1" fill="hold">
                                          <p:stCondLst>
                                            <p:cond delay="0"/>
                                          </p:stCondLst>
                                        </p:cTn>
                                        <p:tgtEl>
                                          <p:spTgt spid="50"/>
                                        </p:tgtEl>
                                        <p:attrNameLst>
                                          <p:attrName>style.visibility</p:attrName>
                                        </p:attrNameLst>
                                      </p:cBhvr>
                                      <p:to>
                                        <p:strVal val="visible"/>
                                      </p:to>
                                    </p:set>
                                    <p:animEffect transition="in" filter="fade">
                                      <p:cBhvr>
                                        <p:cTn id="227" dur="600"/>
                                        <p:tgtEl>
                                          <p:spTgt spid="50"/>
                                        </p:tgtEl>
                                      </p:cBhvr>
                                    </p:animEffect>
                                    <p:anim calcmode="lin" valueType="num">
                                      <p:cBhvr additive="base">
                                        <p:cTn id="228" dur="600" decel="100000" fill="hold"/>
                                        <p:tgtEl>
                                          <p:spTgt spid="50"/>
                                        </p:tgtEl>
                                        <p:attrNameLst>
                                          <p:attrName>ppt_x</p:attrName>
                                        </p:attrNameLst>
                                      </p:cBhvr>
                                      <p:tavLst>
                                        <p:tav tm="0">
                                          <p:val>
                                            <p:strVal val="#ppt_x"/>
                                          </p:val>
                                        </p:tav>
                                        <p:tav tm="100000">
                                          <p:val>
                                            <p:strVal val="#ppt_x"/>
                                          </p:val>
                                        </p:tav>
                                      </p:tavLst>
                                    </p:anim>
                                    <p:anim calcmode="lin" valueType="num">
                                      <p:cBhvr additive="base">
                                        <p:cTn id="229" dur="600" decel="100000" fill="hold"/>
                                        <p:tgtEl>
                                          <p:spTgt spid="50"/>
                                        </p:tgtEl>
                                        <p:attrNameLst>
                                          <p:attrName>ppt_y</p:attrName>
                                        </p:attrNameLst>
                                      </p:cBhvr>
                                      <p:tavLst>
                                        <p:tav tm="0">
                                          <p:val>
                                            <p:strVal val="#ppt_y+.03"/>
                                          </p:val>
                                        </p:tav>
                                        <p:tav tm="100000">
                                          <p:val>
                                            <p:strVal val="#ppt_y"/>
                                          </p:val>
                                        </p:tav>
                                      </p:tavLst>
                                    </p:anim>
                                  </p:childTnLst>
                                </p:cTn>
                              </p:par>
                              <p:par>
                                <p:cTn id="230" presetID="42" presetClass="entr" presetSubtype="0" fill="hold" grpId="0" nodeType="withEffect">
                                  <p:stCondLst>
                                    <p:cond delay="1170"/>
                                  </p:stCondLst>
                                  <p:childTnLst>
                                    <p:set>
                                      <p:cBhvr>
                                        <p:cTn id="231" dur="1" fill="hold">
                                          <p:stCondLst>
                                            <p:cond delay="0"/>
                                          </p:stCondLst>
                                        </p:cTn>
                                        <p:tgtEl>
                                          <p:spTgt spid="51"/>
                                        </p:tgtEl>
                                        <p:attrNameLst>
                                          <p:attrName>style.visibility</p:attrName>
                                        </p:attrNameLst>
                                      </p:cBhvr>
                                      <p:to>
                                        <p:strVal val="visible"/>
                                      </p:to>
                                    </p:set>
                                    <p:animEffect transition="in" filter="fade">
                                      <p:cBhvr>
                                        <p:cTn id="232" dur="600"/>
                                        <p:tgtEl>
                                          <p:spTgt spid="51"/>
                                        </p:tgtEl>
                                      </p:cBhvr>
                                    </p:animEffect>
                                    <p:anim calcmode="lin" valueType="num">
                                      <p:cBhvr additive="base">
                                        <p:cTn id="233" dur="600" decel="100000" fill="hold"/>
                                        <p:tgtEl>
                                          <p:spTgt spid="51"/>
                                        </p:tgtEl>
                                        <p:attrNameLst>
                                          <p:attrName>ppt_x</p:attrName>
                                        </p:attrNameLst>
                                      </p:cBhvr>
                                      <p:tavLst>
                                        <p:tav tm="0">
                                          <p:val>
                                            <p:strVal val="#ppt_x"/>
                                          </p:val>
                                        </p:tav>
                                        <p:tav tm="100000">
                                          <p:val>
                                            <p:strVal val="#ppt_x"/>
                                          </p:val>
                                        </p:tav>
                                      </p:tavLst>
                                    </p:anim>
                                    <p:anim calcmode="lin" valueType="num">
                                      <p:cBhvr additive="base">
                                        <p:cTn id="234" dur="600" decel="100000" fill="hold"/>
                                        <p:tgtEl>
                                          <p:spTgt spid="51"/>
                                        </p:tgtEl>
                                        <p:attrNameLst>
                                          <p:attrName>ppt_y</p:attrName>
                                        </p:attrNameLst>
                                      </p:cBhvr>
                                      <p:tavLst>
                                        <p:tav tm="0">
                                          <p:val>
                                            <p:strVal val="#ppt_y+.03"/>
                                          </p:val>
                                        </p:tav>
                                        <p:tav tm="100000">
                                          <p:val>
                                            <p:strVal val="#ppt_y"/>
                                          </p:val>
                                        </p:tav>
                                      </p:tavLst>
                                    </p:anim>
                                  </p:childTnLst>
                                </p:cTn>
                              </p:par>
                              <p:par>
                                <p:cTn id="235" presetID="42" presetClass="entr" presetSubtype="0" fill="hold" grpId="0" nodeType="withEffect">
                                  <p:stCondLst>
                                    <p:cond delay="1170"/>
                                  </p:stCondLst>
                                  <p:childTnLst>
                                    <p:set>
                                      <p:cBhvr>
                                        <p:cTn id="236" dur="1" fill="hold">
                                          <p:stCondLst>
                                            <p:cond delay="0"/>
                                          </p:stCondLst>
                                        </p:cTn>
                                        <p:tgtEl>
                                          <p:spTgt spid="52"/>
                                        </p:tgtEl>
                                        <p:attrNameLst>
                                          <p:attrName>style.visibility</p:attrName>
                                        </p:attrNameLst>
                                      </p:cBhvr>
                                      <p:to>
                                        <p:strVal val="visible"/>
                                      </p:to>
                                    </p:set>
                                    <p:animEffect transition="in" filter="fade">
                                      <p:cBhvr>
                                        <p:cTn id="237" dur="600"/>
                                        <p:tgtEl>
                                          <p:spTgt spid="52"/>
                                        </p:tgtEl>
                                      </p:cBhvr>
                                    </p:animEffect>
                                    <p:anim calcmode="lin" valueType="num">
                                      <p:cBhvr additive="base">
                                        <p:cTn id="238" dur="600" decel="100000" fill="hold"/>
                                        <p:tgtEl>
                                          <p:spTgt spid="52"/>
                                        </p:tgtEl>
                                        <p:attrNameLst>
                                          <p:attrName>ppt_x</p:attrName>
                                        </p:attrNameLst>
                                      </p:cBhvr>
                                      <p:tavLst>
                                        <p:tav tm="0">
                                          <p:val>
                                            <p:strVal val="#ppt_x"/>
                                          </p:val>
                                        </p:tav>
                                        <p:tav tm="100000">
                                          <p:val>
                                            <p:strVal val="#ppt_x"/>
                                          </p:val>
                                        </p:tav>
                                      </p:tavLst>
                                    </p:anim>
                                    <p:anim calcmode="lin" valueType="num">
                                      <p:cBhvr additive="base">
                                        <p:cTn id="239" dur="600" decel="100000" fill="hold"/>
                                        <p:tgtEl>
                                          <p:spTgt spid="52"/>
                                        </p:tgtEl>
                                        <p:attrNameLst>
                                          <p:attrName>ppt_y</p:attrName>
                                        </p:attrNameLst>
                                      </p:cBhvr>
                                      <p:tavLst>
                                        <p:tav tm="0">
                                          <p:val>
                                            <p:strVal val="#ppt_y+.03"/>
                                          </p:val>
                                        </p:tav>
                                        <p:tav tm="100000">
                                          <p:val>
                                            <p:strVal val="#ppt_y"/>
                                          </p:val>
                                        </p:tav>
                                      </p:tavLst>
                                    </p:anim>
                                  </p:childTnLst>
                                </p:cTn>
                              </p:par>
                              <p:par>
                                <p:cTn id="240" presetID="42" presetClass="entr" presetSubtype="0" fill="hold" grpId="0" nodeType="withEffect">
                                  <p:stCondLst>
                                    <p:cond delay="1170"/>
                                  </p:stCondLst>
                                  <p:childTnLst>
                                    <p:set>
                                      <p:cBhvr>
                                        <p:cTn id="241" dur="1" fill="hold">
                                          <p:stCondLst>
                                            <p:cond delay="0"/>
                                          </p:stCondLst>
                                        </p:cTn>
                                        <p:tgtEl>
                                          <p:spTgt spid="53"/>
                                        </p:tgtEl>
                                        <p:attrNameLst>
                                          <p:attrName>style.visibility</p:attrName>
                                        </p:attrNameLst>
                                      </p:cBhvr>
                                      <p:to>
                                        <p:strVal val="visible"/>
                                      </p:to>
                                    </p:set>
                                    <p:animEffect transition="in" filter="fade">
                                      <p:cBhvr>
                                        <p:cTn id="242" dur="600"/>
                                        <p:tgtEl>
                                          <p:spTgt spid="53"/>
                                        </p:tgtEl>
                                      </p:cBhvr>
                                    </p:animEffect>
                                    <p:anim calcmode="lin" valueType="num">
                                      <p:cBhvr additive="base">
                                        <p:cTn id="243" dur="600" decel="100000" fill="hold"/>
                                        <p:tgtEl>
                                          <p:spTgt spid="53"/>
                                        </p:tgtEl>
                                        <p:attrNameLst>
                                          <p:attrName>ppt_x</p:attrName>
                                        </p:attrNameLst>
                                      </p:cBhvr>
                                      <p:tavLst>
                                        <p:tav tm="0">
                                          <p:val>
                                            <p:strVal val="#ppt_x"/>
                                          </p:val>
                                        </p:tav>
                                        <p:tav tm="100000">
                                          <p:val>
                                            <p:strVal val="#ppt_x"/>
                                          </p:val>
                                        </p:tav>
                                      </p:tavLst>
                                    </p:anim>
                                    <p:anim calcmode="lin" valueType="num">
                                      <p:cBhvr additive="base">
                                        <p:cTn id="244" dur="600" decel="100000" fill="hold"/>
                                        <p:tgtEl>
                                          <p:spTgt spid="53"/>
                                        </p:tgtEl>
                                        <p:attrNameLst>
                                          <p:attrName>ppt_y</p:attrName>
                                        </p:attrNameLst>
                                      </p:cBhvr>
                                      <p:tavLst>
                                        <p:tav tm="0">
                                          <p:val>
                                            <p:strVal val="#ppt_y+.03"/>
                                          </p:val>
                                        </p:tav>
                                        <p:tav tm="100000">
                                          <p:val>
                                            <p:strVal val="#ppt_y"/>
                                          </p:val>
                                        </p:tav>
                                      </p:tavLst>
                                    </p:anim>
                                  </p:childTnLst>
                                </p:cTn>
                              </p:par>
                              <p:par>
                                <p:cTn id="245" presetID="42" presetClass="entr" presetSubtype="0" fill="hold" grpId="0" nodeType="withEffect">
                                  <p:stCondLst>
                                    <p:cond delay="1170"/>
                                  </p:stCondLst>
                                  <p:childTnLst>
                                    <p:set>
                                      <p:cBhvr>
                                        <p:cTn id="246" dur="1" fill="hold">
                                          <p:stCondLst>
                                            <p:cond delay="0"/>
                                          </p:stCondLst>
                                        </p:cTn>
                                        <p:tgtEl>
                                          <p:spTgt spid="54"/>
                                        </p:tgtEl>
                                        <p:attrNameLst>
                                          <p:attrName>style.visibility</p:attrName>
                                        </p:attrNameLst>
                                      </p:cBhvr>
                                      <p:to>
                                        <p:strVal val="visible"/>
                                      </p:to>
                                    </p:set>
                                    <p:animEffect transition="in" filter="fade">
                                      <p:cBhvr>
                                        <p:cTn id="247" dur="600"/>
                                        <p:tgtEl>
                                          <p:spTgt spid="54"/>
                                        </p:tgtEl>
                                      </p:cBhvr>
                                    </p:animEffect>
                                    <p:anim calcmode="lin" valueType="num">
                                      <p:cBhvr additive="base">
                                        <p:cTn id="248" dur="600" decel="100000" fill="hold"/>
                                        <p:tgtEl>
                                          <p:spTgt spid="54"/>
                                        </p:tgtEl>
                                        <p:attrNameLst>
                                          <p:attrName>ppt_x</p:attrName>
                                        </p:attrNameLst>
                                      </p:cBhvr>
                                      <p:tavLst>
                                        <p:tav tm="0">
                                          <p:val>
                                            <p:strVal val="#ppt_x"/>
                                          </p:val>
                                        </p:tav>
                                        <p:tav tm="100000">
                                          <p:val>
                                            <p:strVal val="#ppt_x"/>
                                          </p:val>
                                        </p:tav>
                                      </p:tavLst>
                                    </p:anim>
                                    <p:anim calcmode="lin" valueType="num">
                                      <p:cBhvr additive="base">
                                        <p:cTn id="249" dur="600" decel="100000" fill="hold"/>
                                        <p:tgtEl>
                                          <p:spTgt spid="54"/>
                                        </p:tgtEl>
                                        <p:attrNameLst>
                                          <p:attrName>ppt_y</p:attrName>
                                        </p:attrNameLst>
                                      </p:cBhvr>
                                      <p:tavLst>
                                        <p:tav tm="0">
                                          <p:val>
                                            <p:strVal val="#ppt_y+.03"/>
                                          </p:val>
                                        </p:tav>
                                        <p:tav tm="100000">
                                          <p:val>
                                            <p:strVal val="#ppt_y"/>
                                          </p:val>
                                        </p:tav>
                                      </p:tavLst>
                                    </p:anim>
                                  </p:childTnLst>
                                </p:cTn>
                              </p:par>
                              <p:par>
                                <p:cTn id="250" presetID="53" presetClass="entr" presetSubtype="16" fill="hold" grpId="0" nodeType="withEffect">
                                  <p:stCondLst>
                                    <p:cond delay="1200"/>
                                  </p:stCondLst>
                                  <p:childTnLst>
                                    <p:set>
                                      <p:cBhvr>
                                        <p:cTn id="251" dur="1" fill="hold">
                                          <p:stCondLst>
                                            <p:cond delay="0"/>
                                          </p:stCondLst>
                                        </p:cTn>
                                        <p:tgtEl>
                                          <p:spTgt spid="45"/>
                                        </p:tgtEl>
                                        <p:attrNameLst>
                                          <p:attrName>style.visibility</p:attrName>
                                        </p:attrNameLst>
                                      </p:cBhvr>
                                      <p:to>
                                        <p:strVal val="visible"/>
                                      </p:to>
                                    </p:set>
                                    <p:anim calcmode="lin" valueType="num">
                                      <p:cBhvr additive="base">
                                        <p:cTn id="252" dur="450" decel="100000" fill="hold"/>
                                        <p:tgtEl>
                                          <p:spTgt spid="45"/>
                                        </p:tgtEl>
                                        <p:attrNameLst>
                                          <p:attrName>ppt_w</p:attrName>
                                        </p:attrNameLst>
                                      </p:cBhvr>
                                      <p:tavLst>
                                        <p:tav tm="0">
                                          <p:val>
                                            <p:strVal val="0"/>
                                          </p:val>
                                        </p:tav>
                                        <p:tav tm="100000">
                                          <p:val>
                                            <p:strVal val="#ppt_w"/>
                                          </p:val>
                                        </p:tav>
                                      </p:tavLst>
                                    </p:anim>
                                    <p:anim calcmode="lin" valueType="num">
                                      <p:cBhvr additive="base">
                                        <p:cTn id="253" dur="450" decel="100000" fill="hold"/>
                                        <p:tgtEl>
                                          <p:spTgt spid="45"/>
                                        </p:tgtEl>
                                        <p:attrNameLst>
                                          <p:attrName>ppt_h</p:attrName>
                                        </p:attrNameLst>
                                      </p:cBhvr>
                                      <p:tavLst>
                                        <p:tav tm="0">
                                          <p:val>
                                            <p:strVal val="0"/>
                                          </p:val>
                                        </p:tav>
                                        <p:tav tm="100000">
                                          <p:val>
                                            <p:strVal val="#ppt_h"/>
                                          </p:val>
                                        </p:tav>
                                      </p:tavLst>
                                    </p:anim>
                                    <p:animEffect transition="in" filter="fade">
                                      <p:cBhvr>
                                        <p:cTn id="254" dur="450"/>
                                        <p:tgtEl>
                                          <p:spTgt spid="45"/>
                                        </p:tgtEl>
                                      </p:cBhvr>
                                    </p:animEffect>
                                  </p:childTnLst>
                                </p:cTn>
                              </p:par>
                              <p:par>
                                <p:cTn id="255" presetID="53" presetClass="entr" presetSubtype="16" fill="hold" grpId="0" nodeType="withEffect">
                                  <p:stCondLst>
                                    <p:cond delay="1300"/>
                                  </p:stCondLst>
                                  <p:childTnLst>
                                    <p:set>
                                      <p:cBhvr>
                                        <p:cTn id="256" dur="1" fill="hold">
                                          <p:stCondLst>
                                            <p:cond delay="0"/>
                                          </p:stCondLst>
                                        </p:cTn>
                                        <p:tgtEl>
                                          <p:spTgt spid="46"/>
                                        </p:tgtEl>
                                        <p:attrNameLst>
                                          <p:attrName>style.visibility</p:attrName>
                                        </p:attrNameLst>
                                      </p:cBhvr>
                                      <p:to>
                                        <p:strVal val="visible"/>
                                      </p:to>
                                    </p:set>
                                    <p:anim calcmode="lin" valueType="num">
                                      <p:cBhvr additive="base">
                                        <p:cTn id="257" dur="450" decel="100000" fill="hold"/>
                                        <p:tgtEl>
                                          <p:spTgt spid="46"/>
                                        </p:tgtEl>
                                        <p:attrNameLst>
                                          <p:attrName>ppt_w</p:attrName>
                                        </p:attrNameLst>
                                      </p:cBhvr>
                                      <p:tavLst>
                                        <p:tav tm="0">
                                          <p:val>
                                            <p:strVal val="0"/>
                                          </p:val>
                                        </p:tav>
                                        <p:tav tm="100000">
                                          <p:val>
                                            <p:strVal val="#ppt_w"/>
                                          </p:val>
                                        </p:tav>
                                      </p:tavLst>
                                    </p:anim>
                                    <p:anim calcmode="lin" valueType="num">
                                      <p:cBhvr additive="base">
                                        <p:cTn id="258" dur="450" decel="100000" fill="hold"/>
                                        <p:tgtEl>
                                          <p:spTgt spid="46"/>
                                        </p:tgtEl>
                                        <p:attrNameLst>
                                          <p:attrName>ppt_h</p:attrName>
                                        </p:attrNameLst>
                                      </p:cBhvr>
                                      <p:tavLst>
                                        <p:tav tm="0">
                                          <p:val>
                                            <p:strVal val="0"/>
                                          </p:val>
                                        </p:tav>
                                        <p:tav tm="100000">
                                          <p:val>
                                            <p:strVal val="#ppt_h"/>
                                          </p:val>
                                        </p:tav>
                                      </p:tavLst>
                                    </p:anim>
                                    <p:animEffect transition="in" filter="fade">
                                      <p:cBhvr>
                                        <p:cTn id="259" dur="4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7" grpId="0" animBg="1"/>
      <p:bldP spid="48" grpId="0" animBg="1"/>
      <p:bldP spid="49" grpId="0" animBg="1"/>
      <p:bldP spid="51" grpId="0" animBg="1"/>
      <p:bldP spid="52" grpId="0" animBg="1"/>
      <p:bldP spid="53" grpId="0" animBg="1"/>
      <p:bldP spid="5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05  |  التكاليف التشغيلية (OPEX)</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بنود المصروفات التشغيلية</a:t>
            </a:r>
            <a:endParaRPr lang="en-US" sz="3000" dirty="0"/>
          </a:p>
        </p:txBody>
      </p:sp>
      <p:sp>
        <p:nvSpPr>
          <p:cNvPr id="4" name="anim12_0"/>
          <p:cNvSpPr txBox="1"/>
          <p:nvPr/>
        </p:nvSpPr>
        <p:spPr>
          <a:xfrm>
            <a:off x="548640" y="1508760"/>
            <a:ext cx="11094415" cy="365760"/>
          </a:xfrm>
          <a:prstGeom prst="rect">
            <a:avLst/>
          </a:prstGeom>
          <a:noFill/>
          <a:ln/>
        </p:spPr>
        <p:txBody>
          <a:bodyPr wrap="square" lIns="0" tIns="0" rIns="0" bIns="0" rtlCol="0" anchor="t"/>
          <a:lstStyle/>
          <a:p>
            <a:pPr rtl="1" algn="r" indent="0" marL="0">
              <a:buNone/>
            </a:pPr>
            <a:r>
              <a:rPr lang="ar-SA" altLang="en-US" sz="1500" dirty="0">
                <a:solidFill>
                  <a:srgbClr val="5B6B7F"/>
                </a:solidFill>
                <a:latin typeface="JF Flat" pitchFamily="34" charset="0"/>
                <a:ea typeface="JF Flat" pitchFamily="34" charset="-122"/>
                <a:cs typeface="JF Flat" pitchFamily="34" charset="-120"/>
              </a:rPr>
              <a:t>تشمل المصروفات اللازمة لاستمرار تشغيل مركز البيانات على مدى عشر سنوات.</a:t>
            </a:r>
            <a:endParaRPr lang="ar-SA" sz="1500" dirty="0"/>
          </a:p>
        </p:txBody>
      </p:sp>
      <p:sp>
        <p:nvSpPr>
          <p:cNvPr id="5" name="anim12_1"/>
          <p:cNvSpPr/>
          <p:nvPr/>
        </p:nvSpPr>
        <p:spPr>
          <a:xfrm>
            <a:off x="9570476" y="2011680"/>
            <a:ext cx="2072579" cy="1874520"/>
          </a:xfrm>
          <a:prstGeom prst="roundRect">
            <a:avLst>
              <a:gd name="adj" fmla="val 4878"/>
            </a:avLst>
          </a:prstGeom>
          <a:solidFill>
            <a:srgbClr val="FEF0EA"/>
          </a:solidFill>
          <a:ln w="9525">
            <a:solidFill>
              <a:srgbClr val="F8C9B5"/>
            </a:solidFill>
            <a:prstDash val="solid"/>
          </a:ln>
          <a:effectLst>
            <a:outerShdw sx="100000" sy="100000" kx="0" ky="0" algn="bl" rotWithShape="0" blurRad="127000" dist="38100" dir="5400000">
              <a:srgbClr val="1F3A5F">
                <a:alpha val="13000"/>
              </a:srgbClr>
            </a:outerShdw>
          </a:effectLst>
        </p:spPr>
      </p:sp>
      <p:sp>
        <p:nvSpPr>
          <p:cNvPr id="6" name="anim12_2"/>
          <p:cNvSpPr/>
          <p:nvPr/>
        </p:nvSpPr>
        <p:spPr>
          <a:xfrm>
            <a:off x="10286726" y="2240280"/>
            <a:ext cx="640080" cy="640080"/>
          </a:xfrm>
          <a:prstGeom prst="ellipse">
            <a:avLst/>
          </a:prstGeom>
          <a:solidFill>
            <a:srgbClr val="F15524"/>
          </a:solidFill>
          <a:ln w="12700">
            <a:solidFill>
              <a:srgbClr val="F15524"/>
            </a:solidFill>
            <a:prstDash val="solid"/>
          </a:ln>
        </p:spPr>
      </p:sp>
      <p:pic>
        <p:nvPicPr>
          <p:cNvPr id="7" name="anim12_3" descr="preencoded.png">    </p:cNvPr>
          <p:cNvPicPr>
            <a:picLocks noChangeAspect="1"/>
          </p:cNvPicPr>
          <p:nvPr/>
        </p:nvPicPr>
        <p:blipFill>
          <a:blip r:embed="rId1"/>
          <a:stretch>
            <a:fillRect/>
          </a:stretch>
        </p:blipFill>
        <p:spPr>
          <a:xfrm>
            <a:off x="10459547" y="2413102"/>
            <a:ext cx="294437" cy="294437"/>
          </a:xfrm>
          <a:prstGeom prst="rect">
            <a:avLst/>
          </a:prstGeom>
        </p:spPr>
      </p:pic>
      <p:sp>
        <p:nvSpPr>
          <p:cNvPr id="8" name="anim12_4"/>
          <p:cNvSpPr txBox="1"/>
          <p:nvPr/>
        </p:nvSpPr>
        <p:spPr>
          <a:xfrm>
            <a:off x="9661916" y="29260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الكهرباء</a:t>
            </a:r>
            <a:endParaRPr lang="ar-SA" sz="1400" dirty="0"/>
          </a:p>
        </p:txBody>
      </p:sp>
      <p:sp>
        <p:nvSpPr>
          <p:cNvPr id="9" name="anim12_5"/>
          <p:cNvSpPr txBox="1"/>
          <p:nvPr/>
        </p:nvSpPr>
        <p:spPr>
          <a:xfrm>
            <a:off x="9707636" y="32918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تشغيل الخوادم وأنظمة الطاقة والتبريد</a:t>
            </a:r>
            <a:endParaRPr lang="ar-SA" sz="1200" dirty="0"/>
          </a:p>
        </p:txBody>
      </p:sp>
      <p:sp>
        <p:nvSpPr>
          <p:cNvPr id="10" name="anim12_6"/>
          <p:cNvSpPr/>
          <p:nvPr/>
        </p:nvSpPr>
        <p:spPr>
          <a:xfrm>
            <a:off x="7315017" y="20116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1" name="anim12_7"/>
          <p:cNvSpPr/>
          <p:nvPr/>
        </p:nvSpPr>
        <p:spPr>
          <a:xfrm>
            <a:off x="8031267" y="2240280"/>
            <a:ext cx="640080" cy="640080"/>
          </a:xfrm>
          <a:prstGeom prst="ellipse">
            <a:avLst/>
          </a:prstGeom>
          <a:solidFill>
            <a:srgbClr val="00539B"/>
          </a:solidFill>
          <a:ln w="12700">
            <a:solidFill>
              <a:srgbClr val="00539B"/>
            </a:solidFill>
            <a:prstDash val="solid"/>
          </a:ln>
        </p:spPr>
      </p:sp>
      <p:pic>
        <p:nvPicPr>
          <p:cNvPr id="12" name="anim12_8" descr="preencoded.png">    </p:cNvPr>
          <p:cNvPicPr>
            <a:picLocks noChangeAspect="1"/>
          </p:cNvPicPr>
          <p:nvPr/>
        </p:nvPicPr>
        <p:blipFill>
          <a:blip r:embed="rId2"/>
          <a:stretch>
            <a:fillRect/>
          </a:stretch>
        </p:blipFill>
        <p:spPr>
          <a:xfrm>
            <a:off x="8204088" y="2413102"/>
            <a:ext cx="294437" cy="294437"/>
          </a:xfrm>
          <a:prstGeom prst="rect">
            <a:avLst/>
          </a:prstGeom>
        </p:spPr>
      </p:pic>
      <p:sp>
        <p:nvSpPr>
          <p:cNvPr id="13" name="anim12_9"/>
          <p:cNvSpPr txBox="1"/>
          <p:nvPr/>
        </p:nvSpPr>
        <p:spPr>
          <a:xfrm>
            <a:off x="7406457" y="29260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الوقود</a:t>
            </a:r>
            <a:endParaRPr lang="ar-SA" sz="1400" dirty="0"/>
          </a:p>
        </p:txBody>
      </p:sp>
      <p:sp>
        <p:nvSpPr>
          <p:cNvPr id="14" name="anim12_10"/>
          <p:cNvSpPr txBox="1"/>
          <p:nvPr/>
        </p:nvSpPr>
        <p:spPr>
          <a:xfrm>
            <a:off x="7452177" y="32918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تشغيل المولدات عند الحاجة</a:t>
            </a:r>
            <a:endParaRPr lang="ar-SA" sz="1200" dirty="0"/>
          </a:p>
        </p:txBody>
      </p:sp>
      <p:sp>
        <p:nvSpPr>
          <p:cNvPr id="15" name="anim12_11"/>
          <p:cNvSpPr/>
          <p:nvPr/>
        </p:nvSpPr>
        <p:spPr>
          <a:xfrm>
            <a:off x="5059558" y="20116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6" name="anim12_12"/>
          <p:cNvSpPr/>
          <p:nvPr/>
        </p:nvSpPr>
        <p:spPr>
          <a:xfrm>
            <a:off x="5775808" y="2240280"/>
            <a:ext cx="640080" cy="640080"/>
          </a:xfrm>
          <a:prstGeom prst="ellipse">
            <a:avLst/>
          </a:prstGeom>
          <a:solidFill>
            <a:srgbClr val="00539B"/>
          </a:solidFill>
          <a:ln w="12700">
            <a:solidFill>
              <a:srgbClr val="00539B"/>
            </a:solidFill>
            <a:prstDash val="solid"/>
          </a:ln>
        </p:spPr>
      </p:sp>
      <p:pic>
        <p:nvPicPr>
          <p:cNvPr id="17" name="anim12_13" descr="preencoded.png">    </p:cNvPr>
          <p:cNvPicPr>
            <a:picLocks noChangeAspect="1"/>
          </p:cNvPicPr>
          <p:nvPr/>
        </p:nvPicPr>
        <p:blipFill>
          <a:blip r:embed="rId3"/>
          <a:stretch>
            <a:fillRect/>
          </a:stretch>
        </p:blipFill>
        <p:spPr>
          <a:xfrm>
            <a:off x="5948629" y="2413102"/>
            <a:ext cx="294437" cy="294437"/>
          </a:xfrm>
          <a:prstGeom prst="rect">
            <a:avLst/>
          </a:prstGeom>
        </p:spPr>
      </p:pic>
      <p:sp>
        <p:nvSpPr>
          <p:cNvPr id="18" name="anim12_14"/>
          <p:cNvSpPr txBox="1"/>
          <p:nvPr/>
        </p:nvSpPr>
        <p:spPr>
          <a:xfrm>
            <a:off x="5150998" y="29260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المرتبات</a:t>
            </a:r>
            <a:endParaRPr lang="ar-SA" sz="1400" dirty="0"/>
          </a:p>
        </p:txBody>
      </p:sp>
      <p:sp>
        <p:nvSpPr>
          <p:cNvPr id="19" name="anim12_15"/>
          <p:cNvSpPr txBox="1"/>
          <p:nvPr/>
        </p:nvSpPr>
        <p:spPr>
          <a:xfrm>
            <a:off x="5196718" y="32918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الكوادر الفنية والتشغيلية والإدارية</a:t>
            </a:r>
            <a:endParaRPr lang="ar-SA" sz="1200" dirty="0"/>
          </a:p>
        </p:txBody>
      </p:sp>
      <p:sp>
        <p:nvSpPr>
          <p:cNvPr id="20" name="anim12_16"/>
          <p:cNvSpPr/>
          <p:nvPr/>
        </p:nvSpPr>
        <p:spPr>
          <a:xfrm>
            <a:off x="2804099" y="20116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1" name="anim12_17"/>
          <p:cNvSpPr/>
          <p:nvPr/>
        </p:nvSpPr>
        <p:spPr>
          <a:xfrm>
            <a:off x="3520349" y="2240280"/>
            <a:ext cx="640080" cy="640080"/>
          </a:xfrm>
          <a:prstGeom prst="ellipse">
            <a:avLst/>
          </a:prstGeom>
          <a:solidFill>
            <a:srgbClr val="00539B"/>
          </a:solidFill>
          <a:ln w="12700">
            <a:solidFill>
              <a:srgbClr val="00539B"/>
            </a:solidFill>
            <a:prstDash val="solid"/>
          </a:ln>
        </p:spPr>
      </p:sp>
      <p:pic>
        <p:nvPicPr>
          <p:cNvPr id="22" name="anim12_18" descr="preencoded.png">    </p:cNvPr>
          <p:cNvPicPr>
            <a:picLocks noChangeAspect="1"/>
          </p:cNvPicPr>
          <p:nvPr/>
        </p:nvPicPr>
        <p:blipFill>
          <a:blip r:embed="rId4"/>
          <a:stretch>
            <a:fillRect/>
          </a:stretch>
        </p:blipFill>
        <p:spPr>
          <a:xfrm>
            <a:off x="3693170" y="2413102"/>
            <a:ext cx="294437" cy="294437"/>
          </a:xfrm>
          <a:prstGeom prst="rect">
            <a:avLst/>
          </a:prstGeom>
        </p:spPr>
      </p:pic>
      <p:sp>
        <p:nvSpPr>
          <p:cNvPr id="23" name="anim12_19"/>
          <p:cNvSpPr txBox="1"/>
          <p:nvPr/>
        </p:nvSpPr>
        <p:spPr>
          <a:xfrm>
            <a:off x="2895539" y="29260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الرعاية الصحية</a:t>
            </a:r>
            <a:endParaRPr lang="ar-SA" sz="1400" dirty="0"/>
          </a:p>
        </p:txBody>
      </p:sp>
      <p:sp>
        <p:nvSpPr>
          <p:cNvPr id="24" name="anim12_20"/>
          <p:cNvSpPr txBox="1"/>
          <p:nvPr/>
        </p:nvSpPr>
        <p:spPr>
          <a:xfrm>
            <a:off x="2941259" y="32918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المخصصات الصحية للموظفين</a:t>
            </a:r>
            <a:endParaRPr lang="ar-SA" sz="1200" dirty="0"/>
          </a:p>
        </p:txBody>
      </p:sp>
      <p:sp>
        <p:nvSpPr>
          <p:cNvPr id="25" name="anim12_21"/>
          <p:cNvSpPr/>
          <p:nvPr/>
        </p:nvSpPr>
        <p:spPr>
          <a:xfrm>
            <a:off x="548640" y="2011680"/>
            <a:ext cx="2072579" cy="1874520"/>
          </a:xfrm>
          <a:prstGeom prst="roundRect">
            <a:avLst>
              <a:gd name="adj" fmla="val 4878"/>
            </a:avLst>
          </a:prstGeom>
          <a:solidFill>
            <a:srgbClr val="FEF0EA"/>
          </a:solidFill>
          <a:ln w="9525">
            <a:solidFill>
              <a:srgbClr val="F8C9B5"/>
            </a:solidFill>
            <a:prstDash val="solid"/>
          </a:ln>
          <a:effectLst>
            <a:outerShdw sx="100000" sy="100000" kx="0" ky="0" algn="bl" rotWithShape="0" blurRad="127000" dist="38100" dir="5400000">
              <a:srgbClr val="1F3A5F">
                <a:alpha val="13000"/>
              </a:srgbClr>
            </a:outerShdw>
          </a:effectLst>
        </p:spPr>
      </p:sp>
      <p:sp>
        <p:nvSpPr>
          <p:cNvPr id="26" name="anim12_22"/>
          <p:cNvSpPr/>
          <p:nvPr/>
        </p:nvSpPr>
        <p:spPr>
          <a:xfrm>
            <a:off x="1264890" y="2240280"/>
            <a:ext cx="640080" cy="640080"/>
          </a:xfrm>
          <a:prstGeom prst="ellipse">
            <a:avLst/>
          </a:prstGeom>
          <a:solidFill>
            <a:srgbClr val="F15524"/>
          </a:solidFill>
          <a:ln w="12700">
            <a:solidFill>
              <a:srgbClr val="F15524"/>
            </a:solidFill>
            <a:prstDash val="solid"/>
          </a:ln>
        </p:spPr>
      </p:sp>
      <p:pic>
        <p:nvPicPr>
          <p:cNvPr id="27" name="anim12_23" descr="preencoded.png">    </p:cNvPr>
          <p:cNvPicPr>
            <a:picLocks noChangeAspect="1"/>
          </p:cNvPicPr>
          <p:nvPr/>
        </p:nvPicPr>
        <p:blipFill>
          <a:blip r:embed="rId5"/>
          <a:stretch>
            <a:fillRect/>
          </a:stretch>
        </p:blipFill>
        <p:spPr>
          <a:xfrm>
            <a:off x="1437711" y="2413102"/>
            <a:ext cx="294437" cy="294437"/>
          </a:xfrm>
          <a:prstGeom prst="rect">
            <a:avLst/>
          </a:prstGeom>
        </p:spPr>
      </p:pic>
      <p:sp>
        <p:nvSpPr>
          <p:cNvPr id="28" name="anim12_24"/>
          <p:cNvSpPr txBox="1"/>
          <p:nvPr/>
        </p:nvSpPr>
        <p:spPr>
          <a:xfrm>
            <a:off x="640080" y="29260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التراخيص والبرمجيات</a:t>
            </a:r>
            <a:endParaRPr lang="ar-SA" sz="1400" dirty="0"/>
          </a:p>
        </p:txBody>
      </p:sp>
      <p:sp>
        <p:nvSpPr>
          <p:cNvPr id="29" name="anim12_25"/>
          <p:cNvSpPr txBox="1"/>
          <p:nvPr/>
        </p:nvSpPr>
        <p:spPr>
          <a:xfrm>
            <a:off x="685800" y="32918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الأنظمة والتراخيص التقنية</a:t>
            </a:r>
            <a:endParaRPr lang="ar-SA" sz="1200" dirty="0"/>
          </a:p>
        </p:txBody>
      </p:sp>
      <p:sp>
        <p:nvSpPr>
          <p:cNvPr id="30" name="anim12_26"/>
          <p:cNvSpPr/>
          <p:nvPr/>
        </p:nvSpPr>
        <p:spPr>
          <a:xfrm>
            <a:off x="9570476" y="4069080"/>
            <a:ext cx="2072579" cy="1874520"/>
          </a:xfrm>
          <a:prstGeom prst="roundRect">
            <a:avLst>
              <a:gd name="adj" fmla="val 4878"/>
            </a:avLst>
          </a:prstGeom>
          <a:solidFill>
            <a:srgbClr val="FEF0EA"/>
          </a:solidFill>
          <a:ln w="9525">
            <a:solidFill>
              <a:srgbClr val="F8C9B5"/>
            </a:solidFill>
            <a:prstDash val="solid"/>
          </a:ln>
          <a:effectLst>
            <a:outerShdw sx="100000" sy="100000" kx="0" ky="0" algn="bl" rotWithShape="0" blurRad="127000" dist="38100" dir="5400000">
              <a:srgbClr val="1F3A5F">
                <a:alpha val="13000"/>
              </a:srgbClr>
            </a:outerShdw>
          </a:effectLst>
        </p:spPr>
      </p:sp>
      <p:sp>
        <p:nvSpPr>
          <p:cNvPr id="31" name="anim12_27"/>
          <p:cNvSpPr/>
          <p:nvPr/>
        </p:nvSpPr>
        <p:spPr>
          <a:xfrm>
            <a:off x="10286726" y="4297680"/>
            <a:ext cx="640080" cy="640080"/>
          </a:xfrm>
          <a:prstGeom prst="ellipse">
            <a:avLst/>
          </a:prstGeom>
          <a:solidFill>
            <a:srgbClr val="F15524"/>
          </a:solidFill>
          <a:ln w="12700">
            <a:solidFill>
              <a:srgbClr val="F15524"/>
            </a:solidFill>
            <a:prstDash val="solid"/>
          </a:ln>
        </p:spPr>
      </p:sp>
      <p:pic>
        <p:nvPicPr>
          <p:cNvPr id="32" name="anim12_28" descr="preencoded.png">    </p:cNvPr>
          <p:cNvPicPr>
            <a:picLocks noChangeAspect="1"/>
          </p:cNvPicPr>
          <p:nvPr/>
        </p:nvPicPr>
        <p:blipFill>
          <a:blip r:embed="rId6"/>
          <a:stretch>
            <a:fillRect/>
          </a:stretch>
        </p:blipFill>
        <p:spPr>
          <a:xfrm>
            <a:off x="10459547" y="4470502"/>
            <a:ext cx="294437" cy="294437"/>
          </a:xfrm>
          <a:prstGeom prst="rect">
            <a:avLst/>
          </a:prstGeom>
        </p:spPr>
      </p:pic>
      <p:sp>
        <p:nvSpPr>
          <p:cNvPr id="33" name="anim12_29"/>
          <p:cNvSpPr txBox="1"/>
          <p:nvPr/>
        </p:nvSpPr>
        <p:spPr>
          <a:xfrm>
            <a:off x="9661916" y="49834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الاستهلاك المحاسبي</a:t>
            </a:r>
            <a:endParaRPr lang="ar-SA" sz="1400" dirty="0"/>
          </a:p>
        </p:txBody>
      </p:sp>
      <p:sp>
        <p:nvSpPr>
          <p:cNvPr id="34" name="anim12_30"/>
          <p:cNvSpPr txBox="1"/>
          <p:nvPr/>
        </p:nvSpPr>
        <p:spPr>
          <a:xfrm>
            <a:off x="9707636" y="53492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توزيع تكلفة الأصول على أعمارها الافتراضية</a:t>
            </a:r>
            <a:endParaRPr lang="ar-SA" sz="1200" dirty="0"/>
          </a:p>
        </p:txBody>
      </p:sp>
      <p:sp>
        <p:nvSpPr>
          <p:cNvPr id="35" name="anim12_31"/>
          <p:cNvSpPr/>
          <p:nvPr/>
        </p:nvSpPr>
        <p:spPr>
          <a:xfrm>
            <a:off x="7315017" y="40690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6" name="anim12_32"/>
          <p:cNvSpPr/>
          <p:nvPr/>
        </p:nvSpPr>
        <p:spPr>
          <a:xfrm>
            <a:off x="8031267" y="4297680"/>
            <a:ext cx="640080" cy="640080"/>
          </a:xfrm>
          <a:prstGeom prst="ellipse">
            <a:avLst/>
          </a:prstGeom>
          <a:solidFill>
            <a:srgbClr val="00539B"/>
          </a:solidFill>
          <a:ln w="12700">
            <a:solidFill>
              <a:srgbClr val="00539B"/>
            </a:solidFill>
            <a:prstDash val="solid"/>
          </a:ln>
        </p:spPr>
      </p:sp>
      <p:pic>
        <p:nvPicPr>
          <p:cNvPr id="37" name="anim12_33" descr="preencoded.png">    </p:cNvPr>
          <p:cNvPicPr>
            <a:picLocks noChangeAspect="1"/>
          </p:cNvPicPr>
          <p:nvPr/>
        </p:nvPicPr>
        <p:blipFill>
          <a:blip r:embed="rId7"/>
          <a:stretch>
            <a:fillRect/>
          </a:stretch>
        </p:blipFill>
        <p:spPr>
          <a:xfrm>
            <a:off x="8204088" y="4470502"/>
            <a:ext cx="294437" cy="294437"/>
          </a:xfrm>
          <a:prstGeom prst="rect">
            <a:avLst/>
          </a:prstGeom>
        </p:spPr>
      </p:pic>
      <p:sp>
        <p:nvSpPr>
          <p:cNvPr id="38" name="anim12_34"/>
          <p:cNvSpPr txBox="1"/>
          <p:nvPr/>
        </p:nvSpPr>
        <p:spPr>
          <a:xfrm>
            <a:off x="7406457" y="49834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الدعاية والإعلان</a:t>
            </a:r>
            <a:endParaRPr lang="ar-SA" sz="1400" dirty="0"/>
          </a:p>
        </p:txBody>
      </p:sp>
      <p:sp>
        <p:nvSpPr>
          <p:cNvPr id="39" name="anim12_35"/>
          <p:cNvSpPr txBox="1"/>
          <p:nvPr/>
        </p:nvSpPr>
        <p:spPr>
          <a:xfrm>
            <a:off x="7452177" y="53492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التسويق والترويج للخدمات</a:t>
            </a:r>
            <a:endParaRPr lang="ar-SA" sz="1200" dirty="0"/>
          </a:p>
        </p:txBody>
      </p:sp>
      <p:sp>
        <p:nvSpPr>
          <p:cNvPr id="40" name="anim12_36"/>
          <p:cNvSpPr/>
          <p:nvPr/>
        </p:nvSpPr>
        <p:spPr>
          <a:xfrm>
            <a:off x="5059558" y="40690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41" name="anim12_37"/>
          <p:cNvSpPr/>
          <p:nvPr/>
        </p:nvSpPr>
        <p:spPr>
          <a:xfrm>
            <a:off x="5775808" y="4297680"/>
            <a:ext cx="640080" cy="640080"/>
          </a:xfrm>
          <a:prstGeom prst="ellipse">
            <a:avLst/>
          </a:prstGeom>
          <a:solidFill>
            <a:srgbClr val="00539B"/>
          </a:solidFill>
          <a:ln w="12700">
            <a:solidFill>
              <a:srgbClr val="00539B"/>
            </a:solidFill>
            <a:prstDash val="solid"/>
          </a:ln>
        </p:spPr>
      </p:sp>
      <p:pic>
        <p:nvPicPr>
          <p:cNvPr id="42" name="anim12_38" descr="preencoded.png">    </p:cNvPr>
          <p:cNvPicPr>
            <a:picLocks noChangeAspect="1"/>
          </p:cNvPicPr>
          <p:nvPr/>
        </p:nvPicPr>
        <p:blipFill>
          <a:blip r:embed="rId8"/>
          <a:stretch>
            <a:fillRect/>
          </a:stretch>
        </p:blipFill>
        <p:spPr>
          <a:xfrm>
            <a:off x="5948629" y="4470502"/>
            <a:ext cx="294437" cy="294437"/>
          </a:xfrm>
          <a:prstGeom prst="rect">
            <a:avLst/>
          </a:prstGeom>
        </p:spPr>
      </p:pic>
      <p:sp>
        <p:nvSpPr>
          <p:cNvPr id="43" name="anim12_39"/>
          <p:cNvSpPr txBox="1"/>
          <p:nvPr/>
        </p:nvSpPr>
        <p:spPr>
          <a:xfrm>
            <a:off x="5150998" y="49834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البريد والهاتف</a:t>
            </a:r>
            <a:endParaRPr lang="ar-SA" sz="1400" dirty="0"/>
          </a:p>
        </p:txBody>
      </p:sp>
      <p:sp>
        <p:nvSpPr>
          <p:cNvPr id="44" name="anim12_40"/>
          <p:cNvSpPr txBox="1"/>
          <p:nvPr/>
        </p:nvSpPr>
        <p:spPr>
          <a:xfrm>
            <a:off x="5196718" y="53492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الاتصالات الإدارية والتشغيلية</a:t>
            </a:r>
            <a:endParaRPr lang="ar-SA" sz="1200" dirty="0"/>
          </a:p>
        </p:txBody>
      </p:sp>
      <p:sp>
        <p:nvSpPr>
          <p:cNvPr id="45" name="anim12_41"/>
          <p:cNvSpPr/>
          <p:nvPr/>
        </p:nvSpPr>
        <p:spPr>
          <a:xfrm>
            <a:off x="2804099" y="40690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46" name="anim12_42"/>
          <p:cNvSpPr/>
          <p:nvPr/>
        </p:nvSpPr>
        <p:spPr>
          <a:xfrm>
            <a:off x="3520349" y="4297680"/>
            <a:ext cx="640080" cy="640080"/>
          </a:xfrm>
          <a:prstGeom prst="ellipse">
            <a:avLst/>
          </a:prstGeom>
          <a:solidFill>
            <a:srgbClr val="00539B"/>
          </a:solidFill>
          <a:ln w="12700">
            <a:solidFill>
              <a:srgbClr val="00539B"/>
            </a:solidFill>
            <a:prstDash val="solid"/>
          </a:ln>
        </p:spPr>
      </p:sp>
      <p:pic>
        <p:nvPicPr>
          <p:cNvPr id="47" name="anim12_43" descr="preencoded.png">    </p:cNvPr>
          <p:cNvPicPr>
            <a:picLocks noChangeAspect="1"/>
          </p:cNvPicPr>
          <p:nvPr/>
        </p:nvPicPr>
        <p:blipFill>
          <a:blip r:embed="rId9"/>
          <a:stretch>
            <a:fillRect/>
          </a:stretch>
        </p:blipFill>
        <p:spPr>
          <a:xfrm>
            <a:off x="3693170" y="4470502"/>
            <a:ext cx="294437" cy="294437"/>
          </a:xfrm>
          <a:prstGeom prst="rect">
            <a:avLst/>
          </a:prstGeom>
        </p:spPr>
      </p:pic>
      <p:sp>
        <p:nvSpPr>
          <p:cNvPr id="48" name="anim12_44"/>
          <p:cNvSpPr txBox="1"/>
          <p:nvPr/>
        </p:nvSpPr>
        <p:spPr>
          <a:xfrm>
            <a:off x="2895539" y="49834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النظافة</a:t>
            </a:r>
            <a:endParaRPr lang="ar-SA" sz="1400" dirty="0"/>
          </a:p>
        </p:txBody>
      </p:sp>
      <p:sp>
        <p:nvSpPr>
          <p:cNvPr id="49" name="anim12_45"/>
          <p:cNvSpPr txBox="1"/>
          <p:nvPr/>
        </p:nvSpPr>
        <p:spPr>
          <a:xfrm>
            <a:off x="2941259" y="53492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خدمات النظافة والمحافظة على المنشأة</a:t>
            </a:r>
            <a:endParaRPr lang="ar-SA" sz="1200" dirty="0"/>
          </a:p>
        </p:txBody>
      </p:sp>
      <p:sp>
        <p:nvSpPr>
          <p:cNvPr id="50" name="anim12_46"/>
          <p:cNvSpPr/>
          <p:nvPr/>
        </p:nvSpPr>
        <p:spPr>
          <a:xfrm>
            <a:off x="548640" y="4069080"/>
            <a:ext cx="2072579"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1" name="anim12_47"/>
          <p:cNvSpPr/>
          <p:nvPr/>
        </p:nvSpPr>
        <p:spPr>
          <a:xfrm>
            <a:off x="1264890" y="4297680"/>
            <a:ext cx="640080" cy="640080"/>
          </a:xfrm>
          <a:prstGeom prst="ellipse">
            <a:avLst/>
          </a:prstGeom>
          <a:solidFill>
            <a:srgbClr val="00539B"/>
          </a:solidFill>
          <a:ln w="12700">
            <a:solidFill>
              <a:srgbClr val="00539B"/>
            </a:solidFill>
            <a:prstDash val="solid"/>
          </a:ln>
        </p:spPr>
      </p:sp>
      <p:pic>
        <p:nvPicPr>
          <p:cNvPr id="52" name="anim12_48" descr="preencoded.png">    </p:cNvPr>
          <p:cNvPicPr>
            <a:picLocks noChangeAspect="1"/>
          </p:cNvPicPr>
          <p:nvPr/>
        </p:nvPicPr>
        <p:blipFill>
          <a:blip r:embed="rId10"/>
          <a:stretch>
            <a:fillRect/>
          </a:stretch>
        </p:blipFill>
        <p:spPr>
          <a:xfrm>
            <a:off x="1437711" y="4470502"/>
            <a:ext cx="294437" cy="294437"/>
          </a:xfrm>
          <a:prstGeom prst="rect">
            <a:avLst/>
          </a:prstGeom>
        </p:spPr>
      </p:pic>
      <p:sp>
        <p:nvSpPr>
          <p:cNvPr id="53" name="anim12_49"/>
          <p:cNvSpPr txBox="1"/>
          <p:nvPr/>
        </p:nvSpPr>
        <p:spPr>
          <a:xfrm>
            <a:off x="640080" y="4983480"/>
            <a:ext cx="1889699" cy="365760"/>
          </a:xfrm>
          <a:prstGeom prst="rect">
            <a:avLst/>
          </a:prstGeom>
          <a:noFill/>
          <a:ln/>
        </p:spPr>
        <p:txBody>
          <a:bodyPr wrap="square" lIns="0" tIns="0" rIns="0" bIns="0" rtlCol="0" anchor="t"/>
          <a:lstStyle/>
          <a:p>
            <a:pPr rtl="1" algn="ctr" indent="0" marL="0">
              <a:buNone/>
            </a:pPr>
            <a:r>
              <a:rPr lang="ar-SA" altLang="en-US" sz="1400" b="1" dirty="0">
                <a:solidFill>
                  <a:srgbClr val="06305C"/>
                </a:solidFill>
                <a:latin typeface="JF Flat" pitchFamily="34" charset="0"/>
                <a:ea typeface="JF Flat" pitchFamily="34" charset="-122"/>
                <a:cs typeface="JF Flat" pitchFamily="34" charset="-120"/>
              </a:rPr>
              <a:t>ضريبة المبيعات</a:t>
            </a:r>
            <a:endParaRPr lang="ar-SA" sz="1400" dirty="0"/>
          </a:p>
        </p:txBody>
      </p:sp>
      <p:sp>
        <p:nvSpPr>
          <p:cNvPr id="54" name="anim12_50"/>
          <p:cNvSpPr txBox="1"/>
          <p:nvPr/>
        </p:nvSpPr>
        <p:spPr>
          <a:xfrm>
            <a:off x="685800" y="5349240"/>
            <a:ext cx="1798259" cy="548640"/>
          </a:xfrm>
          <a:prstGeom prst="rect">
            <a:avLst/>
          </a:prstGeom>
          <a:noFill/>
          <a:ln/>
        </p:spPr>
        <p:txBody>
          <a:bodyPr wrap="square" lIns="0" tIns="0" rIns="0" bIns="0" rtlCol="0" anchor="t"/>
          <a:lstStyle/>
          <a:p>
            <a:pPr rtl="1" algn="ctr" indent="0" marL="0">
              <a:buNone/>
            </a:pPr>
            <a:r>
              <a:rPr lang="ar-SA" altLang="en-US" sz="1200" dirty="0">
                <a:solidFill>
                  <a:srgbClr val="5B6B7F"/>
                </a:solidFill>
                <a:latin typeface="JF Flat" pitchFamily="34" charset="0"/>
                <a:ea typeface="JF Flat" pitchFamily="34" charset="-122"/>
                <a:cs typeface="JF Flat" pitchFamily="34" charset="-120"/>
              </a:rPr>
              <a:t>وفق الافتراضات الواردة بالدراسة</a:t>
            </a:r>
            <a:endParaRPr lang="ar-SA" sz="1200" dirty="0"/>
          </a:p>
        </p:txBody>
      </p:sp>
      <p:sp>
        <p:nvSpPr>
          <p:cNvPr id="55" name="anim12_51"/>
          <p:cNvSpPr/>
          <p:nvPr/>
        </p:nvSpPr>
        <p:spPr>
          <a:xfrm>
            <a:off x="11478463" y="6089904"/>
            <a:ext cx="128016" cy="128016"/>
          </a:xfrm>
          <a:prstGeom prst="ellipse">
            <a:avLst/>
          </a:prstGeom>
          <a:solidFill>
            <a:srgbClr val="F15524"/>
          </a:solidFill>
          <a:ln w="12700">
            <a:solidFill>
              <a:srgbClr val="F15524"/>
            </a:solidFill>
            <a:prstDash val="solid"/>
          </a:ln>
        </p:spPr>
      </p:sp>
      <p:sp>
        <p:nvSpPr>
          <p:cNvPr id="56" name="anim12_52"/>
          <p:cNvSpPr txBox="1"/>
          <p:nvPr/>
        </p:nvSpPr>
        <p:spPr>
          <a:xfrm>
            <a:off x="5882335" y="6016752"/>
            <a:ext cx="5486400" cy="274320"/>
          </a:xfrm>
          <a:prstGeom prst="rect">
            <a:avLst/>
          </a:prstGeom>
          <a:noFill/>
          <a:ln/>
        </p:spPr>
        <p:txBody>
          <a:bodyPr wrap="square" lIns="0" tIns="0" rIns="0" bIns="0" rtlCol="0" anchor="ctr"/>
          <a:lstStyle/>
          <a:p>
            <a:pPr rtl="1" algn="r" indent="0" marL="0">
              <a:buNone/>
            </a:pPr>
            <a:r>
              <a:rPr lang="ar-SA" altLang="en-US" sz="1000" dirty="0">
                <a:solidFill>
                  <a:srgbClr val="5B6B7F"/>
                </a:solidFill>
                <a:latin typeface="JF Flat" pitchFamily="34" charset="0"/>
                <a:ea typeface="JF Flat" pitchFamily="34" charset="-122"/>
                <a:cs typeface="JF Flat" pitchFamily="34" charset="-120"/>
              </a:rPr>
              <a:t>العناصر المميزة باللون البرتقالي تمثل البنود الرئيسية في التكلفة</a:t>
            </a:r>
            <a:endParaRPr lang="ar-SA" sz="1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26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26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53" presetClass="entr" presetSubtype="16" fill="hold" grpId="0" nodeType="withEffect">
                                  <p:stCondLst>
                                    <p:cond delay="29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450" decel="100000" fill="hold"/>
                                        <p:tgtEl>
                                          <p:spTgt spid="6"/>
                                        </p:tgtEl>
                                        <p:attrNameLst>
                                          <p:attrName>ppt_w</p:attrName>
                                        </p:attrNameLst>
                                      </p:cBhvr>
                                      <p:tavLst>
                                        <p:tav tm="0">
                                          <p:val>
                                            <p:strVal val="0"/>
                                          </p:val>
                                        </p:tav>
                                        <p:tav tm="100000">
                                          <p:val>
                                            <p:strVal val="#ppt_w"/>
                                          </p:val>
                                        </p:tav>
                                      </p:tavLst>
                                    </p:anim>
                                    <p:anim calcmode="lin" valueType="num">
                                      <p:cBhvr additive="base">
                                        <p:cTn id="43" dur="450" decel="100000" fill="hold"/>
                                        <p:tgtEl>
                                          <p:spTgt spid="6"/>
                                        </p:tgtEl>
                                        <p:attrNameLst>
                                          <p:attrName>ppt_h</p:attrName>
                                        </p:attrNameLst>
                                      </p:cBhvr>
                                      <p:tavLst>
                                        <p:tav tm="0">
                                          <p:val>
                                            <p:strVal val="0"/>
                                          </p:val>
                                        </p:tav>
                                        <p:tav tm="100000">
                                          <p:val>
                                            <p:strVal val="#ppt_h"/>
                                          </p:val>
                                        </p:tav>
                                      </p:tavLst>
                                    </p:anim>
                                    <p:animEffect transition="in" filter="fade">
                                      <p:cBhvr>
                                        <p:cTn id="44" dur="450"/>
                                        <p:tgtEl>
                                          <p:spTgt spid="6"/>
                                        </p:tgtEl>
                                      </p:cBhvr>
                                    </p:animEffect>
                                  </p:childTnLst>
                                </p:cTn>
                              </p:par>
                              <p:par>
                                <p:cTn id="45" presetID="53" presetClass="entr" presetSubtype="16" fill="hold" grpId="0" nodeType="withEffect">
                                  <p:stCondLst>
                                    <p:cond delay="39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450" decel="100000" fill="hold"/>
                                        <p:tgtEl>
                                          <p:spTgt spid="7"/>
                                        </p:tgtEl>
                                        <p:attrNameLst>
                                          <p:attrName>ppt_w</p:attrName>
                                        </p:attrNameLst>
                                      </p:cBhvr>
                                      <p:tavLst>
                                        <p:tav tm="0">
                                          <p:val>
                                            <p:strVal val="0"/>
                                          </p:val>
                                        </p:tav>
                                        <p:tav tm="100000">
                                          <p:val>
                                            <p:strVal val="#ppt_w"/>
                                          </p:val>
                                        </p:tav>
                                      </p:tavLst>
                                    </p:anim>
                                    <p:anim calcmode="lin" valueType="num">
                                      <p:cBhvr additive="base">
                                        <p:cTn id="48" dur="450" decel="100000" fill="hold"/>
                                        <p:tgtEl>
                                          <p:spTgt spid="7"/>
                                        </p:tgtEl>
                                        <p:attrNameLst>
                                          <p:attrName>ppt_h</p:attrName>
                                        </p:attrNameLst>
                                      </p:cBhvr>
                                      <p:tavLst>
                                        <p:tav tm="0">
                                          <p:val>
                                            <p:strVal val="0"/>
                                          </p:val>
                                        </p:tav>
                                        <p:tav tm="100000">
                                          <p:val>
                                            <p:strVal val="#ppt_h"/>
                                          </p:val>
                                        </p:tav>
                                      </p:tavLst>
                                    </p:anim>
                                    <p:animEffect transition="in" filter="fade">
                                      <p:cBhvr>
                                        <p:cTn id="49" dur="450"/>
                                        <p:tgtEl>
                                          <p:spTgt spid="7"/>
                                        </p:tgtEl>
                                      </p:cBhvr>
                                    </p:animEffect>
                                  </p:childTnLst>
                                </p:cTn>
                              </p:par>
                              <p:par>
                                <p:cTn id="50" presetID="42" presetClass="entr" presetSubtype="0" fill="hold" grpId="0" nodeType="withEffect">
                                  <p:stCondLst>
                                    <p:cond delay="39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600"/>
                                        <p:tgtEl>
                                          <p:spTgt spid="15"/>
                                        </p:tgtEl>
                                      </p:cBhvr>
                                    </p:animEffect>
                                    <p:anim calcmode="lin" valueType="num">
                                      <p:cBhvr additive="base">
                                        <p:cTn id="5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5"/>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39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3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42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450" decel="100000" fill="hold"/>
                                        <p:tgtEl>
                                          <p:spTgt spid="11"/>
                                        </p:tgtEl>
                                        <p:attrNameLst>
                                          <p:attrName>ppt_w</p:attrName>
                                        </p:attrNameLst>
                                      </p:cBhvr>
                                      <p:tavLst>
                                        <p:tav tm="0">
                                          <p:val>
                                            <p:strVal val="0"/>
                                          </p:val>
                                        </p:tav>
                                        <p:tav tm="100000">
                                          <p:val>
                                            <p:strVal val="#ppt_w"/>
                                          </p:val>
                                        </p:tav>
                                      </p:tavLst>
                                    </p:anim>
                                    <p:anim calcmode="lin" valueType="num">
                                      <p:cBhvr additive="base">
                                        <p:cTn id="68" dur="450" decel="100000" fill="hold"/>
                                        <p:tgtEl>
                                          <p:spTgt spid="11"/>
                                        </p:tgtEl>
                                        <p:attrNameLst>
                                          <p:attrName>ppt_h</p:attrName>
                                        </p:attrNameLst>
                                      </p:cBhvr>
                                      <p:tavLst>
                                        <p:tav tm="0">
                                          <p:val>
                                            <p:strVal val="0"/>
                                          </p:val>
                                        </p:tav>
                                        <p:tav tm="100000">
                                          <p:val>
                                            <p:strVal val="#ppt_h"/>
                                          </p:val>
                                        </p:tav>
                                      </p:tavLst>
                                    </p:anim>
                                    <p:animEffect transition="in" filter="fade">
                                      <p:cBhvr>
                                        <p:cTn id="69" dur="450"/>
                                        <p:tgtEl>
                                          <p:spTgt spid="11"/>
                                        </p:tgtEl>
                                      </p:cBhvr>
                                    </p:animEffect>
                                  </p:childTnLst>
                                </p:cTn>
                              </p:par>
                              <p:par>
                                <p:cTn id="70" presetID="53" presetClass="entr" presetSubtype="16" fill="hold" grpId="0" nodeType="withEffect">
                                  <p:stCondLst>
                                    <p:cond delay="520"/>
                                  </p:stCondLst>
                                  <p:childTnLst>
                                    <p:set>
                                      <p:cBhvr>
                                        <p:cTn id="71" dur="1" fill="hold">
                                          <p:stCondLst>
                                            <p:cond delay="0"/>
                                          </p:stCondLst>
                                        </p:cTn>
                                        <p:tgtEl>
                                          <p:spTgt spid="12"/>
                                        </p:tgtEl>
                                        <p:attrNameLst>
                                          <p:attrName>style.visibility</p:attrName>
                                        </p:attrNameLst>
                                      </p:cBhvr>
                                      <p:to>
                                        <p:strVal val="visible"/>
                                      </p:to>
                                    </p:set>
                                    <p:anim calcmode="lin" valueType="num">
                                      <p:cBhvr additive="base">
                                        <p:cTn id="72" dur="450" decel="100000" fill="hold"/>
                                        <p:tgtEl>
                                          <p:spTgt spid="12"/>
                                        </p:tgtEl>
                                        <p:attrNameLst>
                                          <p:attrName>ppt_w</p:attrName>
                                        </p:attrNameLst>
                                      </p:cBhvr>
                                      <p:tavLst>
                                        <p:tav tm="0">
                                          <p:val>
                                            <p:strVal val="0"/>
                                          </p:val>
                                        </p:tav>
                                        <p:tav tm="100000">
                                          <p:val>
                                            <p:strVal val="#ppt_w"/>
                                          </p:val>
                                        </p:tav>
                                      </p:tavLst>
                                    </p:anim>
                                    <p:anim calcmode="lin" valueType="num">
                                      <p:cBhvr additive="base">
                                        <p:cTn id="73" dur="450" decel="100000" fill="hold"/>
                                        <p:tgtEl>
                                          <p:spTgt spid="12"/>
                                        </p:tgtEl>
                                        <p:attrNameLst>
                                          <p:attrName>ppt_h</p:attrName>
                                        </p:attrNameLst>
                                      </p:cBhvr>
                                      <p:tavLst>
                                        <p:tav tm="0">
                                          <p:val>
                                            <p:strVal val="0"/>
                                          </p:val>
                                        </p:tav>
                                        <p:tav tm="100000">
                                          <p:val>
                                            <p:strVal val="#ppt_h"/>
                                          </p:val>
                                        </p:tav>
                                      </p:tavLst>
                                    </p:anim>
                                    <p:animEffect transition="in" filter="fade">
                                      <p:cBhvr>
                                        <p:cTn id="74" dur="450"/>
                                        <p:tgtEl>
                                          <p:spTgt spid="12"/>
                                        </p:tgtEl>
                                      </p:cBhvr>
                                    </p:animEffect>
                                  </p:childTnLst>
                                </p:cTn>
                              </p:par>
                              <p:par>
                                <p:cTn id="75" presetID="42" presetClass="entr" presetSubtype="0" fill="hold" grpId="0" nodeType="withEffect">
                                  <p:stCondLst>
                                    <p:cond delay="52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600"/>
                                        <p:tgtEl>
                                          <p:spTgt spid="20"/>
                                        </p:tgtEl>
                                      </p:cBhvr>
                                    </p:animEffect>
                                    <p:anim calcmode="lin" valueType="num">
                                      <p:cBhvr additive="base">
                                        <p:cTn id="7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0"/>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52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52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600"/>
                                        <p:tgtEl>
                                          <p:spTgt spid="24"/>
                                        </p:tgtEl>
                                      </p:cBhvr>
                                    </p:animEffect>
                                    <p:anim calcmode="lin" valueType="num">
                                      <p:cBhvr additive="base">
                                        <p:cTn id="8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4"/>
                                        </p:tgtEl>
                                        <p:attrNameLst>
                                          <p:attrName>ppt_y</p:attrName>
                                        </p:attrNameLst>
                                      </p:cBhvr>
                                      <p:tavLst>
                                        <p:tav tm="0">
                                          <p:val>
                                            <p:strVal val="#ppt_y+.03"/>
                                          </p:val>
                                        </p:tav>
                                        <p:tav tm="100000">
                                          <p:val>
                                            <p:strVal val="#ppt_y"/>
                                          </p:val>
                                        </p:tav>
                                      </p:tavLst>
                                    </p:anim>
                                  </p:childTnLst>
                                </p:cTn>
                              </p:par>
                              <p:par>
                                <p:cTn id="90" presetID="53" presetClass="entr" presetSubtype="16" fill="hold" grpId="0" nodeType="withEffect">
                                  <p:stCondLst>
                                    <p:cond delay="55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450" decel="100000" fill="hold"/>
                                        <p:tgtEl>
                                          <p:spTgt spid="16"/>
                                        </p:tgtEl>
                                        <p:attrNameLst>
                                          <p:attrName>ppt_w</p:attrName>
                                        </p:attrNameLst>
                                      </p:cBhvr>
                                      <p:tavLst>
                                        <p:tav tm="0">
                                          <p:val>
                                            <p:strVal val="0"/>
                                          </p:val>
                                        </p:tav>
                                        <p:tav tm="100000">
                                          <p:val>
                                            <p:strVal val="#ppt_w"/>
                                          </p:val>
                                        </p:tav>
                                      </p:tavLst>
                                    </p:anim>
                                    <p:anim calcmode="lin" valueType="num">
                                      <p:cBhvr additive="base">
                                        <p:cTn id="93" dur="450" decel="100000" fill="hold"/>
                                        <p:tgtEl>
                                          <p:spTgt spid="16"/>
                                        </p:tgtEl>
                                        <p:attrNameLst>
                                          <p:attrName>ppt_h</p:attrName>
                                        </p:attrNameLst>
                                      </p:cBhvr>
                                      <p:tavLst>
                                        <p:tav tm="0">
                                          <p:val>
                                            <p:strVal val="0"/>
                                          </p:val>
                                        </p:tav>
                                        <p:tav tm="100000">
                                          <p:val>
                                            <p:strVal val="#ppt_h"/>
                                          </p:val>
                                        </p:tav>
                                      </p:tavLst>
                                    </p:anim>
                                    <p:animEffect transition="in" filter="fade">
                                      <p:cBhvr>
                                        <p:cTn id="94" dur="450"/>
                                        <p:tgtEl>
                                          <p:spTgt spid="16"/>
                                        </p:tgtEl>
                                      </p:cBhvr>
                                    </p:animEffect>
                                  </p:childTnLst>
                                </p:cTn>
                              </p:par>
                              <p:par>
                                <p:cTn id="95" presetID="53" presetClass="entr" presetSubtype="16" fill="hold" grpId="0" nodeType="withEffect">
                                  <p:stCondLst>
                                    <p:cond delay="65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450" decel="100000" fill="hold"/>
                                        <p:tgtEl>
                                          <p:spTgt spid="17"/>
                                        </p:tgtEl>
                                        <p:attrNameLst>
                                          <p:attrName>ppt_w</p:attrName>
                                        </p:attrNameLst>
                                      </p:cBhvr>
                                      <p:tavLst>
                                        <p:tav tm="0">
                                          <p:val>
                                            <p:strVal val="0"/>
                                          </p:val>
                                        </p:tav>
                                        <p:tav tm="100000">
                                          <p:val>
                                            <p:strVal val="#ppt_w"/>
                                          </p:val>
                                        </p:tav>
                                      </p:tavLst>
                                    </p:anim>
                                    <p:anim calcmode="lin" valueType="num">
                                      <p:cBhvr additive="base">
                                        <p:cTn id="98" dur="450" decel="100000" fill="hold"/>
                                        <p:tgtEl>
                                          <p:spTgt spid="17"/>
                                        </p:tgtEl>
                                        <p:attrNameLst>
                                          <p:attrName>ppt_h</p:attrName>
                                        </p:attrNameLst>
                                      </p:cBhvr>
                                      <p:tavLst>
                                        <p:tav tm="0">
                                          <p:val>
                                            <p:strVal val="0"/>
                                          </p:val>
                                        </p:tav>
                                        <p:tav tm="100000">
                                          <p:val>
                                            <p:strVal val="#ppt_h"/>
                                          </p:val>
                                        </p:tav>
                                      </p:tavLst>
                                    </p:anim>
                                    <p:animEffect transition="in" filter="fade">
                                      <p:cBhvr>
                                        <p:cTn id="99" dur="450"/>
                                        <p:tgtEl>
                                          <p:spTgt spid="17"/>
                                        </p:tgtEl>
                                      </p:cBhvr>
                                    </p:animEffect>
                                  </p:childTnLst>
                                </p:cTn>
                              </p:par>
                              <p:par>
                                <p:cTn id="100" presetID="42" presetClass="entr" presetSubtype="0" fill="hold" grpId="0" nodeType="withEffect">
                                  <p:stCondLst>
                                    <p:cond delay="65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600"/>
                                        <p:tgtEl>
                                          <p:spTgt spid="25"/>
                                        </p:tgtEl>
                                      </p:cBhvr>
                                    </p:animEffect>
                                    <p:anim calcmode="lin" valueType="num">
                                      <p:cBhvr additive="base">
                                        <p:cTn id="10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5"/>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65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42" presetClass="entr" presetSubtype="0" fill="hold" grpId="0" nodeType="withEffect">
                                  <p:stCondLst>
                                    <p:cond delay="65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600"/>
                                        <p:tgtEl>
                                          <p:spTgt spid="29"/>
                                        </p:tgtEl>
                                      </p:cBhvr>
                                    </p:animEffect>
                                    <p:anim calcmode="lin" valueType="num">
                                      <p:cBhvr additive="base">
                                        <p:cTn id="11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9"/>
                                        </p:tgtEl>
                                        <p:attrNameLst>
                                          <p:attrName>ppt_y</p:attrName>
                                        </p:attrNameLst>
                                      </p:cBhvr>
                                      <p:tavLst>
                                        <p:tav tm="0">
                                          <p:val>
                                            <p:strVal val="#ppt_y+.03"/>
                                          </p:val>
                                        </p:tav>
                                        <p:tav tm="100000">
                                          <p:val>
                                            <p:strVal val="#ppt_y"/>
                                          </p:val>
                                        </p:tav>
                                      </p:tavLst>
                                    </p:anim>
                                  </p:childTnLst>
                                </p:cTn>
                              </p:par>
                              <p:par>
                                <p:cTn id="115" presetID="53" presetClass="entr" presetSubtype="16" fill="hold" grpId="0" nodeType="withEffect">
                                  <p:stCondLst>
                                    <p:cond delay="680"/>
                                  </p:stCondLst>
                                  <p:childTnLst>
                                    <p:set>
                                      <p:cBhvr>
                                        <p:cTn id="116" dur="1" fill="hold">
                                          <p:stCondLst>
                                            <p:cond delay="0"/>
                                          </p:stCondLst>
                                        </p:cTn>
                                        <p:tgtEl>
                                          <p:spTgt spid="21"/>
                                        </p:tgtEl>
                                        <p:attrNameLst>
                                          <p:attrName>style.visibility</p:attrName>
                                        </p:attrNameLst>
                                      </p:cBhvr>
                                      <p:to>
                                        <p:strVal val="visible"/>
                                      </p:to>
                                    </p:set>
                                    <p:anim calcmode="lin" valueType="num">
                                      <p:cBhvr additive="base">
                                        <p:cTn id="117" dur="450" decel="100000" fill="hold"/>
                                        <p:tgtEl>
                                          <p:spTgt spid="21"/>
                                        </p:tgtEl>
                                        <p:attrNameLst>
                                          <p:attrName>ppt_w</p:attrName>
                                        </p:attrNameLst>
                                      </p:cBhvr>
                                      <p:tavLst>
                                        <p:tav tm="0">
                                          <p:val>
                                            <p:strVal val="0"/>
                                          </p:val>
                                        </p:tav>
                                        <p:tav tm="100000">
                                          <p:val>
                                            <p:strVal val="#ppt_w"/>
                                          </p:val>
                                        </p:tav>
                                      </p:tavLst>
                                    </p:anim>
                                    <p:anim calcmode="lin" valueType="num">
                                      <p:cBhvr additive="base">
                                        <p:cTn id="118" dur="450" decel="100000" fill="hold"/>
                                        <p:tgtEl>
                                          <p:spTgt spid="21"/>
                                        </p:tgtEl>
                                        <p:attrNameLst>
                                          <p:attrName>ppt_h</p:attrName>
                                        </p:attrNameLst>
                                      </p:cBhvr>
                                      <p:tavLst>
                                        <p:tav tm="0">
                                          <p:val>
                                            <p:strVal val="0"/>
                                          </p:val>
                                        </p:tav>
                                        <p:tav tm="100000">
                                          <p:val>
                                            <p:strVal val="#ppt_h"/>
                                          </p:val>
                                        </p:tav>
                                      </p:tavLst>
                                    </p:anim>
                                    <p:animEffect transition="in" filter="fade">
                                      <p:cBhvr>
                                        <p:cTn id="119" dur="450"/>
                                        <p:tgtEl>
                                          <p:spTgt spid="21"/>
                                        </p:tgtEl>
                                      </p:cBhvr>
                                    </p:animEffect>
                                  </p:childTnLst>
                                </p:cTn>
                              </p:par>
                              <p:par>
                                <p:cTn id="120" presetID="53" presetClass="entr" presetSubtype="16" fill="hold" grpId="0" nodeType="withEffect">
                                  <p:stCondLst>
                                    <p:cond delay="780"/>
                                  </p:stCondLst>
                                  <p:childTnLst>
                                    <p:set>
                                      <p:cBhvr>
                                        <p:cTn id="121" dur="1" fill="hold">
                                          <p:stCondLst>
                                            <p:cond delay="0"/>
                                          </p:stCondLst>
                                        </p:cTn>
                                        <p:tgtEl>
                                          <p:spTgt spid="22"/>
                                        </p:tgtEl>
                                        <p:attrNameLst>
                                          <p:attrName>style.visibility</p:attrName>
                                        </p:attrNameLst>
                                      </p:cBhvr>
                                      <p:to>
                                        <p:strVal val="visible"/>
                                      </p:to>
                                    </p:set>
                                    <p:anim calcmode="lin" valueType="num">
                                      <p:cBhvr additive="base">
                                        <p:cTn id="122" dur="450" decel="100000" fill="hold"/>
                                        <p:tgtEl>
                                          <p:spTgt spid="22"/>
                                        </p:tgtEl>
                                        <p:attrNameLst>
                                          <p:attrName>ppt_w</p:attrName>
                                        </p:attrNameLst>
                                      </p:cBhvr>
                                      <p:tavLst>
                                        <p:tav tm="0">
                                          <p:val>
                                            <p:strVal val="0"/>
                                          </p:val>
                                        </p:tav>
                                        <p:tav tm="100000">
                                          <p:val>
                                            <p:strVal val="#ppt_w"/>
                                          </p:val>
                                        </p:tav>
                                      </p:tavLst>
                                    </p:anim>
                                    <p:anim calcmode="lin" valueType="num">
                                      <p:cBhvr additive="base">
                                        <p:cTn id="123" dur="450" decel="100000" fill="hold"/>
                                        <p:tgtEl>
                                          <p:spTgt spid="22"/>
                                        </p:tgtEl>
                                        <p:attrNameLst>
                                          <p:attrName>ppt_h</p:attrName>
                                        </p:attrNameLst>
                                      </p:cBhvr>
                                      <p:tavLst>
                                        <p:tav tm="0">
                                          <p:val>
                                            <p:strVal val="0"/>
                                          </p:val>
                                        </p:tav>
                                        <p:tav tm="100000">
                                          <p:val>
                                            <p:strVal val="#ppt_h"/>
                                          </p:val>
                                        </p:tav>
                                      </p:tavLst>
                                    </p:anim>
                                    <p:animEffect transition="in" filter="fade">
                                      <p:cBhvr>
                                        <p:cTn id="124" dur="450"/>
                                        <p:tgtEl>
                                          <p:spTgt spid="22"/>
                                        </p:tgtEl>
                                      </p:cBhvr>
                                    </p:animEffect>
                                  </p:childTnLst>
                                </p:cTn>
                              </p:par>
                              <p:par>
                                <p:cTn id="125" presetID="42" presetClass="entr" presetSubtype="0" fill="hold" grpId="0" nodeType="withEffect">
                                  <p:stCondLst>
                                    <p:cond delay="78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600"/>
                                        <p:tgtEl>
                                          <p:spTgt spid="30"/>
                                        </p:tgtEl>
                                      </p:cBhvr>
                                    </p:animEffect>
                                    <p:anim calcmode="lin" valueType="num">
                                      <p:cBhvr additive="base">
                                        <p:cTn id="128"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0"/>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78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42" presetClass="entr" presetSubtype="0" fill="hold" grpId="0" nodeType="withEffect">
                                  <p:stCondLst>
                                    <p:cond delay="78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600"/>
                                        <p:tgtEl>
                                          <p:spTgt spid="34"/>
                                        </p:tgtEl>
                                      </p:cBhvr>
                                    </p:animEffect>
                                    <p:anim calcmode="lin" valueType="num">
                                      <p:cBhvr additive="base">
                                        <p:cTn id="13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39" dur="600" decel="100000" fill="hold"/>
                                        <p:tgtEl>
                                          <p:spTgt spid="34"/>
                                        </p:tgtEl>
                                        <p:attrNameLst>
                                          <p:attrName>ppt_y</p:attrName>
                                        </p:attrNameLst>
                                      </p:cBhvr>
                                      <p:tavLst>
                                        <p:tav tm="0">
                                          <p:val>
                                            <p:strVal val="#ppt_y+.03"/>
                                          </p:val>
                                        </p:tav>
                                        <p:tav tm="100000">
                                          <p:val>
                                            <p:strVal val="#ppt_y"/>
                                          </p:val>
                                        </p:tav>
                                      </p:tavLst>
                                    </p:anim>
                                  </p:childTnLst>
                                </p:cTn>
                              </p:par>
                              <p:par>
                                <p:cTn id="140" presetID="53" presetClass="entr" presetSubtype="16" fill="hold" grpId="0" nodeType="withEffect">
                                  <p:stCondLst>
                                    <p:cond delay="810"/>
                                  </p:stCondLst>
                                  <p:childTnLst>
                                    <p:set>
                                      <p:cBhvr>
                                        <p:cTn id="141" dur="1" fill="hold">
                                          <p:stCondLst>
                                            <p:cond delay="0"/>
                                          </p:stCondLst>
                                        </p:cTn>
                                        <p:tgtEl>
                                          <p:spTgt spid="26"/>
                                        </p:tgtEl>
                                        <p:attrNameLst>
                                          <p:attrName>style.visibility</p:attrName>
                                        </p:attrNameLst>
                                      </p:cBhvr>
                                      <p:to>
                                        <p:strVal val="visible"/>
                                      </p:to>
                                    </p:set>
                                    <p:anim calcmode="lin" valueType="num">
                                      <p:cBhvr additive="base">
                                        <p:cTn id="142" dur="450" decel="100000" fill="hold"/>
                                        <p:tgtEl>
                                          <p:spTgt spid="26"/>
                                        </p:tgtEl>
                                        <p:attrNameLst>
                                          <p:attrName>ppt_w</p:attrName>
                                        </p:attrNameLst>
                                      </p:cBhvr>
                                      <p:tavLst>
                                        <p:tav tm="0">
                                          <p:val>
                                            <p:strVal val="0"/>
                                          </p:val>
                                        </p:tav>
                                        <p:tav tm="100000">
                                          <p:val>
                                            <p:strVal val="#ppt_w"/>
                                          </p:val>
                                        </p:tav>
                                      </p:tavLst>
                                    </p:anim>
                                    <p:anim calcmode="lin" valueType="num">
                                      <p:cBhvr additive="base">
                                        <p:cTn id="143" dur="450" decel="100000" fill="hold"/>
                                        <p:tgtEl>
                                          <p:spTgt spid="26"/>
                                        </p:tgtEl>
                                        <p:attrNameLst>
                                          <p:attrName>ppt_h</p:attrName>
                                        </p:attrNameLst>
                                      </p:cBhvr>
                                      <p:tavLst>
                                        <p:tav tm="0">
                                          <p:val>
                                            <p:strVal val="0"/>
                                          </p:val>
                                        </p:tav>
                                        <p:tav tm="100000">
                                          <p:val>
                                            <p:strVal val="#ppt_h"/>
                                          </p:val>
                                        </p:tav>
                                      </p:tavLst>
                                    </p:anim>
                                    <p:animEffect transition="in" filter="fade">
                                      <p:cBhvr>
                                        <p:cTn id="144" dur="450"/>
                                        <p:tgtEl>
                                          <p:spTgt spid="26"/>
                                        </p:tgtEl>
                                      </p:cBhvr>
                                    </p:animEffect>
                                  </p:childTnLst>
                                </p:cTn>
                              </p:par>
                              <p:par>
                                <p:cTn id="145" presetID="53" presetClass="entr" presetSubtype="16" fill="hold" grpId="0" nodeType="withEffect">
                                  <p:stCondLst>
                                    <p:cond delay="910"/>
                                  </p:stCondLst>
                                  <p:childTnLst>
                                    <p:set>
                                      <p:cBhvr>
                                        <p:cTn id="146" dur="1" fill="hold">
                                          <p:stCondLst>
                                            <p:cond delay="0"/>
                                          </p:stCondLst>
                                        </p:cTn>
                                        <p:tgtEl>
                                          <p:spTgt spid="27"/>
                                        </p:tgtEl>
                                        <p:attrNameLst>
                                          <p:attrName>style.visibility</p:attrName>
                                        </p:attrNameLst>
                                      </p:cBhvr>
                                      <p:to>
                                        <p:strVal val="visible"/>
                                      </p:to>
                                    </p:set>
                                    <p:anim calcmode="lin" valueType="num">
                                      <p:cBhvr additive="base">
                                        <p:cTn id="147" dur="450" decel="100000" fill="hold"/>
                                        <p:tgtEl>
                                          <p:spTgt spid="27"/>
                                        </p:tgtEl>
                                        <p:attrNameLst>
                                          <p:attrName>ppt_w</p:attrName>
                                        </p:attrNameLst>
                                      </p:cBhvr>
                                      <p:tavLst>
                                        <p:tav tm="0">
                                          <p:val>
                                            <p:strVal val="0"/>
                                          </p:val>
                                        </p:tav>
                                        <p:tav tm="100000">
                                          <p:val>
                                            <p:strVal val="#ppt_w"/>
                                          </p:val>
                                        </p:tav>
                                      </p:tavLst>
                                    </p:anim>
                                    <p:anim calcmode="lin" valueType="num">
                                      <p:cBhvr additive="base">
                                        <p:cTn id="148" dur="450" decel="100000" fill="hold"/>
                                        <p:tgtEl>
                                          <p:spTgt spid="27"/>
                                        </p:tgtEl>
                                        <p:attrNameLst>
                                          <p:attrName>ppt_h</p:attrName>
                                        </p:attrNameLst>
                                      </p:cBhvr>
                                      <p:tavLst>
                                        <p:tav tm="0">
                                          <p:val>
                                            <p:strVal val="0"/>
                                          </p:val>
                                        </p:tav>
                                        <p:tav tm="100000">
                                          <p:val>
                                            <p:strVal val="#ppt_h"/>
                                          </p:val>
                                        </p:tav>
                                      </p:tavLst>
                                    </p:anim>
                                    <p:animEffect transition="in" filter="fade">
                                      <p:cBhvr>
                                        <p:cTn id="149" dur="450"/>
                                        <p:tgtEl>
                                          <p:spTgt spid="27"/>
                                        </p:tgtEl>
                                      </p:cBhvr>
                                    </p:animEffect>
                                  </p:childTnLst>
                                </p:cTn>
                              </p:par>
                              <p:par>
                                <p:cTn id="150" presetID="42" presetClass="entr" presetSubtype="0" fill="hold" grpId="0" nodeType="withEffect">
                                  <p:stCondLst>
                                    <p:cond delay="91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600"/>
                                        <p:tgtEl>
                                          <p:spTgt spid="35"/>
                                        </p:tgtEl>
                                      </p:cBhvr>
                                    </p:animEffect>
                                    <p:anim calcmode="lin" valueType="num">
                                      <p:cBhvr additive="base">
                                        <p:cTn id="153" dur="600" decel="100000" fill="hold"/>
                                        <p:tgtEl>
                                          <p:spTgt spid="35"/>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5"/>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91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600"/>
                                        <p:tgtEl>
                                          <p:spTgt spid="38"/>
                                        </p:tgtEl>
                                      </p:cBhvr>
                                    </p:animEffect>
                                    <p:anim calcmode="lin" valueType="num">
                                      <p:cBhvr additive="base">
                                        <p:cTn id="15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8"/>
                                        </p:tgtEl>
                                        <p:attrNameLst>
                                          <p:attrName>ppt_y</p:attrName>
                                        </p:attrNameLst>
                                      </p:cBhvr>
                                      <p:tavLst>
                                        <p:tav tm="0">
                                          <p:val>
                                            <p:strVal val="#ppt_y+.03"/>
                                          </p:val>
                                        </p:tav>
                                        <p:tav tm="100000">
                                          <p:val>
                                            <p:strVal val="#ppt_y"/>
                                          </p:val>
                                        </p:tav>
                                      </p:tavLst>
                                    </p:anim>
                                  </p:childTnLst>
                                </p:cTn>
                              </p:par>
                              <p:par>
                                <p:cTn id="160" presetID="42" presetClass="entr" presetSubtype="0" fill="hold" grpId="0" nodeType="withEffect">
                                  <p:stCondLst>
                                    <p:cond delay="91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600"/>
                                        <p:tgtEl>
                                          <p:spTgt spid="39"/>
                                        </p:tgtEl>
                                      </p:cBhvr>
                                    </p:animEffect>
                                    <p:anim calcmode="lin" valueType="num">
                                      <p:cBhvr additive="base">
                                        <p:cTn id="16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64" dur="600" decel="100000" fill="hold"/>
                                        <p:tgtEl>
                                          <p:spTgt spid="39"/>
                                        </p:tgtEl>
                                        <p:attrNameLst>
                                          <p:attrName>ppt_y</p:attrName>
                                        </p:attrNameLst>
                                      </p:cBhvr>
                                      <p:tavLst>
                                        <p:tav tm="0">
                                          <p:val>
                                            <p:strVal val="#ppt_y+.03"/>
                                          </p:val>
                                        </p:tav>
                                        <p:tav tm="100000">
                                          <p:val>
                                            <p:strVal val="#ppt_y"/>
                                          </p:val>
                                        </p:tav>
                                      </p:tavLst>
                                    </p:anim>
                                  </p:childTnLst>
                                </p:cTn>
                              </p:par>
                              <p:par>
                                <p:cTn id="165" presetID="53" presetClass="entr" presetSubtype="16" fill="hold" grpId="0" nodeType="withEffect">
                                  <p:stCondLst>
                                    <p:cond delay="940"/>
                                  </p:stCondLst>
                                  <p:childTnLst>
                                    <p:set>
                                      <p:cBhvr>
                                        <p:cTn id="166" dur="1" fill="hold">
                                          <p:stCondLst>
                                            <p:cond delay="0"/>
                                          </p:stCondLst>
                                        </p:cTn>
                                        <p:tgtEl>
                                          <p:spTgt spid="31"/>
                                        </p:tgtEl>
                                        <p:attrNameLst>
                                          <p:attrName>style.visibility</p:attrName>
                                        </p:attrNameLst>
                                      </p:cBhvr>
                                      <p:to>
                                        <p:strVal val="visible"/>
                                      </p:to>
                                    </p:set>
                                    <p:anim calcmode="lin" valueType="num">
                                      <p:cBhvr additive="base">
                                        <p:cTn id="167" dur="450" decel="100000" fill="hold"/>
                                        <p:tgtEl>
                                          <p:spTgt spid="31"/>
                                        </p:tgtEl>
                                        <p:attrNameLst>
                                          <p:attrName>ppt_w</p:attrName>
                                        </p:attrNameLst>
                                      </p:cBhvr>
                                      <p:tavLst>
                                        <p:tav tm="0">
                                          <p:val>
                                            <p:strVal val="0"/>
                                          </p:val>
                                        </p:tav>
                                        <p:tav tm="100000">
                                          <p:val>
                                            <p:strVal val="#ppt_w"/>
                                          </p:val>
                                        </p:tav>
                                      </p:tavLst>
                                    </p:anim>
                                    <p:anim calcmode="lin" valueType="num">
                                      <p:cBhvr additive="base">
                                        <p:cTn id="168" dur="450" decel="100000" fill="hold"/>
                                        <p:tgtEl>
                                          <p:spTgt spid="31"/>
                                        </p:tgtEl>
                                        <p:attrNameLst>
                                          <p:attrName>ppt_h</p:attrName>
                                        </p:attrNameLst>
                                      </p:cBhvr>
                                      <p:tavLst>
                                        <p:tav tm="0">
                                          <p:val>
                                            <p:strVal val="0"/>
                                          </p:val>
                                        </p:tav>
                                        <p:tav tm="100000">
                                          <p:val>
                                            <p:strVal val="#ppt_h"/>
                                          </p:val>
                                        </p:tav>
                                      </p:tavLst>
                                    </p:anim>
                                    <p:animEffect transition="in" filter="fade">
                                      <p:cBhvr>
                                        <p:cTn id="169" dur="450"/>
                                        <p:tgtEl>
                                          <p:spTgt spid="31"/>
                                        </p:tgtEl>
                                      </p:cBhvr>
                                    </p:animEffect>
                                  </p:childTnLst>
                                </p:cTn>
                              </p:par>
                              <p:par>
                                <p:cTn id="170" presetID="53" presetClass="entr" presetSubtype="16" fill="hold" grpId="0" nodeType="withEffect">
                                  <p:stCondLst>
                                    <p:cond delay="1040"/>
                                  </p:stCondLst>
                                  <p:childTnLst>
                                    <p:set>
                                      <p:cBhvr>
                                        <p:cTn id="171" dur="1" fill="hold">
                                          <p:stCondLst>
                                            <p:cond delay="0"/>
                                          </p:stCondLst>
                                        </p:cTn>
                                        <p:tgtEl>
                                          <p:spTgt spid="32"/>
                                        </p:tgtEl>
                                        <p:attrNameLst>
                                          <p:attrName>style.visibility</p:attrName>
                                        </p:attrNameLst>
                                      </p:cBhvr>
                                      <p:to>
                                        <p:strVal val="visible"/>
                                      </p:to>
                                    </p:set>
                                    <p:anim calcmode="lin" valueType="num">
                                      <p:cBhvr additive="base">
                                        <p:cTn id="172" dur="450" decel="100000" fill="hold"/>
                                        <p:tgtEl>
                                          <p:spTgt spid="32"/>
                                        </p:tgtEl>
                                        <p:attrNameLst>
                                          <p:attrName>ppt_w</p:attrName>
                                        </p:attrNameLst>
                                      </p:cBhvr>
                                      <p:tavLst>
                                        <p:tav tm="0">
                                          <p:val>
                                            <p:strVal val="0"/>
                                          </p:val>
                                        </p:tav>
                                        <p:tav tm="100000">
                                          <p:val>
                                            <p:strVal val="#ppt_w"/>
                                          </p:val>
                                        </p:tav>
                                      </p:tavLst>
                                    </p:anim>
                                    <p:anim calcmode="lin" valueType="num">
                                      <p:cBhvr additive="base">
                                        <p:cTn id="173" dur="450" decel="100000" fill="hold"/>
                                        <p:tgtEl>
                                          <p:spTgt spid="32"/>
                                        </p:tgtEl>
                                        <p:attrNameLst>
                                          <p:attrName>ppt_h</p:attrName>
                                        </p:attrNameLst>
                                      </p:cBhvr>
                                      <p:tavLst>
                                        <p:tav tm="0">
                                          <p:val>
                                            <p:strVal val="0"/>
                                          </p:val>
                                        </p:tav>
                                        <p:tav tm="100000">
                                          <p:val>
                                            <p:strVal val="#ppt_h"/>
                                          </p:val>
                                        </p:tav>
                                      </p:tavLst>
                                    </p:anim>
                                    <p:animEffect transition="in" filter="fade">
                                      <p:cBhvr>
                                        <p:cTn id="174" dur="450"/>
                                        <p:tgtEl>
                                          <p:spTgt spid="32"/>
                                        </p:tgtEl>
                                      </p:cBhvr>
                                    </p:animEffect>
                                  </p:childTnLst>
                                </p:cTn>
                              </p:par>
                              <p:par>
                                <p:cTn id="175" presetID="42" presetClass="entr" presetSubtype="0" fill="hold" grpId="0" nodeType="withEffect">
                                  <p:stCondLst>
                                    <p:cond delay="1040"/>
                                  </p:stCondLst>
                                  <p:childTnLst>
                                    <p:set>
                                      <p:cBhvr>
                                        <p:cTn id="176" dur="1" fill="hold">
                                          <p:stCondLst>
                                            <p:cond delay="0"/>
                                          </p:stCondLst>
                                        </p:cTn>
                                        <p:tgtEl>
                                          <p:spTgt spid="40"/>
                                        </p:tgtEl>
                                        <p:attrNameLst>
                                          <p:attrName>style.visibility</p:attrName>
                                        </p:attrNameLst>
                                      </p:cBhvr>
                                      <p:to>
                                        <p:strVal val="visible"/>
                                      </p:to>
                                    </p:set>
                                    <p:animEffect transition="in" filter="fade">
                                      <p:cBhvr>
                                        <p:cTn id="177" dur="600"/>
                                        <p:tgtEl>
                                          <p:spTgt spid="40"/>
                                        </p:tgtEl>
                                      </p:cBhvr>
                                    </p:animEffect>
                                    <p:anim calcmode="lin" valueType="num">
                                      <p:cBhvr additive="base">
                                        <p:cTn id="178" dur="600" decel="100000" fill="hold"/>
                                        <p:tgtEl>
                                          <p:spTgt spid="40"/>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40"/>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104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2" dur="600"/>
                                        <p:tgtEl>
                                          <p:spTgt spid="43"/>
                                        </p:tgtEl>
                                      </p:cBhvr>
                                    </p:animEffect>
                                    <p:anim calcmode="lin" valueType="num">
                                      <p:cBhvr additive="base">
                                        <p:cTn id="183" dur="600" decel="100000" fill="hold"/>
                                        <p:tgtEl>
                                          <p:spTgt spid="43"/>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43"/>
                                        </p:tgtEl>
                                        <p:attrNameLst>
                                          <p:attrName>ppt_y</p:attrName>
                                        </p:attrNameLst>
                                      </p:cBhvr>
                                      <p:tavLst>
                                        <p:tav tm="0">
                                          <p:val>
                                            <p:strVal val="#ppt_y+.03"/>
                                          </p:val>
                                        </p:tav>
                                        <p:tav tm="100000">
                                          <p:val>
                                            <p:strVal val="#ppt_y"/>
                                          </p:val>
                                        </p:tav>
                                      </p:tavLst>
                                    </p:anim>
                                  </p:childTnLst>
                                </p:cTn>
                              </p:par>
                              <p:par>
                                <p:cTn id="185" presetID="42" presetClass="entr" presetSubtype="0" fill="hold" grpId="0" nodeType="withEffect">
                                  <p:stCondLst>
                                    <p:cond delay="1040"/>
                                  </p:stCondLst>
                                  <p:childTnLst>
                                    <p:set>
                                      <p:cBhvr>
                                        <p:cTn id="186" dur="1" fill="hold">
                                          <p:stCondLst>
                                            <p:cond delay="0"/>
                                          </p:stCondLst>
                                        </p:cTn>
                                        <p:tgtEl>
                                          <p:spTgt spid="44"/>
                                        </p:tgtEl>
                                        <p:attrNameLst>
                                          <p:attrName>style.visibility</p:attrName>
                                        </p:attrNameLst>
                                      </p:cBhvr>
                                      <p:to>
                                        <p:strVal val="visible"/>
                                      </p:to>
                                    </p:set>
                                    <p:animEffect transition="in" filter="fade">
                                      <p:cBhvr>
                                        <p:cTn id="187" dur="600"/>
                                        <p:tgtEl>
                                          <p:spTgt spid="44"/>
                                        </p:tgtEl>
                                      </p:cBhvr>
                                    </p:animEffect>
                                    <p:anim calcmode="lin" valueType="num">
                                      <p:cBhvr additive="base">
                                        <p:cTn id="188" dur="600" decel="100000" fill="hold"/>
                                        <p:tgtEl>
                                          <p:spTgt spid="44"/>
                                        </p:tgtEl>
                                        <p:attrNameLst>
                                          <p:attrName>ppt_x</p:attrName>
                                        </p:attrNameLst>
                                      </p:cBhvr>
                                      <p:tavLst>
                                        <p:tav tm="0">
                                          <p:val>
                                            <p:strVal val="#ppt_x"/>
                                          </p:val>
                                        </p:tav>
                                        <p:tav tm="100000">
                                          <p:val>
                                            <p:strVal val="#ppt_x"/>
                                          </p:val>
                                        </p:tav>
                                      </p:tavLst>
                                    </p:anim>
                                    <p:anim calcmode="lin" valueType="num">
                                      <p:cBhvr additive="base">
                                        <p:cTn id="189" dur="600" decel="100000" fill="hold"/>
                                        <p:tgtEl>
                                          <p:spTgt spid="44"/>
                                        </p:tgtEl>
                                        <p:attrNameLst>
                                          <p:attrName>ppt_y</p:attrName>
                                        </p:attrNameLst>
                                      </p:cBhvr>
                                      <p:tavLst>
                                        <p:tav tm="0">
                                          <p:val>
                                            <p:strVal val="#ppt_y+.03"/>
                                          </p:val>
                                        </p:tav>
                                        <p:tav tm="100000">
                                          <p:val>
                                            <p:strVal val="#ppt_y"/>
                                          </p:val>
                                        </p:tav>
                                      </p:tavLst>
                                    </p:anim>
                                  </p:childTnLst>
                                </p:cTn>
                              </p:par>
                              <p:par>
                                <p:cTn id="190" presetID="53" presetClass="entr" presetSubtype="16" fill="hold" grpId="0" nodeType="withEffect">
                                  <p:stCondLst>
                                    <p:cond delay="1070"/>
                                  </p:stCondLst>
                                  <p:childTnLst>
                                    <p:set>
                                      <p:cBhvr>
                                        <p:cTn id="191" dur="1" fill="hold">
                                          <p:stCondLst>
                                            <p:cond delay="0"/>
                                          </p:stCondLst>
                                        </p:cTn>
                                        <p:tgtEl>
                                          <p:spTgt spid="36"/>
                                        </p:tgtEl>
                                        <p:attrNameLst>
                                          <p:attrName>style.visibility</p:attrName>
                                        </p:attrNameLst>
                                      </p:cBhvr>
                                      <p:to>
                                        <p:strVal val="visible"/>
                                      </p:to>
                                    </p:set>
                                    <p:anim calcmode="lin" valueType="num">
                                      <p:cBhvr additive="base">
                                        <p:cTn id="192" dur="450" decel="100000" fill="hold"/>
                                        <p:tgtEl>
                                          <p:spTgt spid="36"/>
                                        </p:tgtEl>
                                        <p:attrNameLst>
                                          <p:attrName>ppt_w</p:attrName>
                                        </p:attrNameLst>
                                      </p:cBhvr>
                                      <p:tavLst>
                                        <p:tav tm="0">
                                          <p:val>
                                            <p:strVal val="0"/>
                                          </p:val>
                                        </p:tav>
                                        <p:tav tm="100000">
                                          <p:val>
                                            <p:strVal val="#ppt_w"/>
                                          </p:val>
                                        </p:tav>
                                      </p:tavLst>
                                    </p:anim>
                                    <p:anim calcmode="lin" valueType="num">
                                      <p:cBhvr additive="base">
                                        <p:cTn id="193" dur="450" decel="100000" fill="hold"/>
                                        <p:tgtEl>
                                          <p:spTgt spid="36"/>
                                        </p:tgtEl>
                                        <p:attrNameLst>
                                          <p:attrName>ppt_h</p:attrName>
                                        </p:attrNameLst>
                                      </p:cBhvr>
                                      <p:tavLst>
                                        <p:tav tm="0">
                                          <p:val>
                                            <p:strVal val="0"/>
                                          </p:val>
                                        </p:tav>
                                        <p:tav tm="100000">
                                          <p:val>
                                            <p:strVal val="#ppt_h"/>
                                          </p:val>
                                        </p:tav>
                                      </p:tavLst>
                                    </p:anim>
                                    <p:animEffect transition="in" filter="fade">
                                      <p:cBhvr>
                                        <p:cTn id="194" dur="450"/>
                                        <p:tgtEl>
                                          <p:spTgt spid="36"/>
                                        </p:tgtEl>
                                      </p:cBhvr>
                                    </p:animEffect>
                                  </p:childTnLst>
                                </p:cTn>
                              </p:par>
                              <p:par>
                                <p:cTn id="195" presetID="53" presetClass="entr" presetSubtype="16" fill="hold" grpId="0" nodeType="withEffect">
                                  <p:stCondLst>
                                    <p:cond delay="1170"/>
                                  </p:stCondLst>
                                  <p:childTnLst>
                                    <p:set>
                                      <p:cBhvr>
                                        <p:cTn id="196" dur="1" fill="hold">
                                          <p:stCondLst>
                                            <p:cond delay="0"/>
                                          </p:stCondLst>
                                        </p:cTn>
                                        <p:tgtEl>
                                          <p:spTgt spid="37"/>
                                        </p:tgtEl>
                                        <p:attrNameLst>
                                          <p:attrName>style.visibility</p:attrName>
                                        </p:attrNameLst>
                                      </p:cBhvr>
                                      <p:to>
                                        <p:strVal val="visible"/>
                                      </p:to>
                                    </p:set>
                                    <p:anim calcmode="lin" valueType="num">
                                      <p:cBhvr additive="base">
                                        <p:cTn id="197" dur="450" decel="100000" fill="hold"/>
                                        <p:tgtEl>
                                          <p:spTgt spid="37"/>
                                        </p:tgtEl>
                                        <p:attrNameLst>
                                          <p:attrName>ppt_w</p:attrName>
                                        </p:attrNameLst>
                                      </p:cBhvr>
                                      <p:tavLst>
                                        <p:tav tm="0">
                                          <p:val>
                                            <p:strVal val="0"/>
                                          </p:val>
                                        </p:tav>
                                        <p:tav tm="100000">
                                          <p:val>
                                            <p:strVal val="#ppt_w"/>
                                          </p:val>
                                        </p:tav>
                                      </p:tavLst>
                                    </p:anim>
                                    <p:anim calcmode="lin" valueType="num">
                                      <p:cBhvr additive="base">
                                        <p:cTn id="198" dur="450" decel="100000" fill="hold"/>
                                        <p:tgtEl>
                                          <p:spTgt spid="37"/>
                                        </p:tgtEl>
                                        <p:attrNameLst>
                                          <p:attrName>ppt_h</p:attrName>
                                        </p:attrNameLst>
                                      </p:cBhvr>
                                      <p:tavLst>
                                        <p:tav tm="0">
                                          <p:val>
                                            <p:strVal val="0"/>
                                          </p:val>
                                        </p:tav>
                                        <p:tav tm="100000">
                                          <p:val>
                                            <p:strVal val="#ppt_h"/>
                                          </p:val>
                                        </p:tav>
                                      </p:tavLst>
                                    </p:anim>
                                    <p:animEffect transition="in" filter="fade">
                                      <p:cBhvr>
                                        <p:cTn id="199" dur="450"/>
                                        <p:tgtEl>
                                          <p:spTgt spid="37"/>
                                        </p:tgtEl>
                                      </p:cBhvr>
                                    </p:animEffect>
                                  </p:childTnLst>
                                </p:cTn>
                              </p:par>
                              <p:par>
                                <p:cTn id="200" presetID="42" presetClass="entr" presetSubtype="0" fill="hold" grpId="0" nodeType="withEffect">
                                  <p:stCondLst>
                                    <p:cond delay="1170"/>
                                  </p:stCondLst>
                                  <p:childTnLst>
                                    <p:set>
                                      <p:cBhvr>
                                        <p:cTn id="201" dur="1" fill="hold">
                                          <p:stCondLst>
                                            <p:cond delay="0"/>
                                          </p:stCondLst>
                                        </p:cTn>
                                        <p:tgtEl>
                                          <p:spTgt spid="45"/>
                                        </p:tgtEl>
                                        <p:attrNameLst>
                                          <p:attrName>style.visibility</p:attrName>
                                        </p:attrNameLst>
                                      </p:cBhvr>
                                      <p:to>
                                        <p:strVal val="visible"/>
                                      </p:to>
                                    </p:set>
                                    <p:animEffect transition="in" filter="fade">
                                      <p:cBhvr>
                                        <p:cTn id="202" dur="600"/>
                                        <p:tgtEl>
                                          <p:spTgt spid="45"/>
                                        </p:tgtEl>
                                      </p:cBhvr>
                                    </p:animEffect>
                                    <p:anim calcmode="lin" valueType="num">
                                      <p:cBhvr additive="base">
                                        <p:cTn id="203" dur="600" decel="100000" fill="hold"/>
                                        <p:tgtEl>
                                          <p:spTgt spid="45"/>
                                        </p:tgtEl>
                                        <p:attrNameLst>
                                          <p:attrName>ppt_x</p:attrName>
                                        </p:attrNameLst>
                                      </p:cBhvr>
                                      <p:tavLst>
                                        <p:tav tm="0">
                                          <p:val>
                                            <p:strVal val="#ppt_x"/>
                                          </p:val>
                                        </p:tav>
                                        <p:tav tm="100000">
                                          <p:val>
                                            <p:strVal val="#ppt_x"/>
                                          </p:val>
                                        </p:tav>
                                      </p:tavLst>
                                    </p:anim>
                                    <p:anim calcmode="lin" valueType="num">
                                      <p:cBhvr additive="base">
                                        <p:cTn id="204" dur="600" decel="100000" fill="hold"/>
                                        <p:tgtEl>
                                          <p:spTgt spid="45"/>
                                        </p:tgtEl>
                                        <p:attrNameLst>
                                          <p:attrName>ppt_y</p:attrName>
                                        </p:attrNameLst>
                                      </p:cBhvr>
                                      <p:tavLst>
                                        <p:tav tm="0">
                                          <p:val>
                                            <p:strVal val="#ppt_y+.03"/>
                                          </p:val>
                                        </p:tav>
                                        <p:tav tm="100000">
                                          <p:val>
                                            <p:strVal val="#ppt_y"/>
                                          </p:val>
                                        </p:tav>
                                      </p:tavLst>
                                    </p:anim>
                                  </p:childTnLst>
                                </p:cTn>
                              </p:par>
                              <p:par>
                                <p:cTn id="205" presetID="42" presetClass="entr" presetSubtype="0" fill="hold" grpId="0" nodeType="withEffect">
                                  <p:stCondLst>
                                    <p:cond delay="1170"/>
                                  </p:stCondLst>
                                  <p:childTnLst>
                                    <p:set>
                                      <p:cBhvr>
                                        <p:cTn id="206" dur="1" fill="hold">
                                          <p:stCondLst>
                                            <p:cond delay="0"/>
                                          </p:stCondLst>
                                        </p:cTn>
                                        <p:tgtEl>
                                          <p:spTgt spid="48"/>
                                        </p:tgtEl>
                                        <p:attrNameLst>
                                          <p:attrName>style.visibility</p:attrName>
                                        </p:attrNameLst>
                                      </p:cBhvr>
                                      <p:to>
                                        <p:strVal val="visible"/>
                                      </p:to>
                                    </p:set>
                                    <p:animEffect transition="in" filter="fade">
                                      <p:cBhvr>
                                        <p:cTn id="207" dur="600"/>
                                        <p:tgtEl>
                                          <p:spTgt spid="48"/>
                                        </p:tgtEl>
                                      </p:cBhvr>
                                    </p:animEffect>
                                    <p:anim calcmode="lin" valueType="num">
                                      <p:cBhvr additive="base">
                                        <p:cTn id="208" dur="600" decel="100000" fill="hold"/>
                                        <p:tgtEl>
                                          <p:spTgt spid="48"/>
                                        </p:tgtEl>
                                        <p:attrNameLst>
                                          <p:attrName>ppt_x</p:attrName>
                                        </p:attrNameLst>
                                      </p:cBhvr>
                                      <p:tavLst>
                                        <p:tav tm="0">
                                          <p:val>
                                            <p:strVal val="#ppt_x"/>
                                          </p:val>
                                        </p:tav>
                                        <p:tav tm="100000">
                                          <p:val>
                                            <p:strVal val="#ppt_x"/>
                                          </p:val>
                                        </p:tav>
                                      </p:tavLst>
                                    </p:anim>
                                    <p:anim calcmode="lin" valueType="num">
                                      <p:cBhvr additive="base">
                                        <p:cTn id="209" dur="600" decel="100000" fill="hold"/>
                                        <p:tgtEl>
                                          <p:spTgt spid="48"/>
                                        </p:tgtEl>
                                        <p:attrNameLst>
                                          <p:attrName>ppt_y</p:attrName>
                                        </p:attrNameLst>
                                      </p:cBhvr>
                                      <p:tavLst>
                                        <p:tav tm="0">
                                          <p:val>
                                            <p:strVal val="#ppt_y+.03"/>
                                          </p:val>
                                        </p:tav>
                                        <p:tav tm="100000">
                                          <p:val>
                                            <p:strVal val="#ppt_y"/>
                                          </p:val>
                                        </p:tav>
                                      </p:tavLst>
                                    </p:anim>
                                  </p:childTnLst>
                                </p:cTn>
                              </p:par>
                              <p:par>
                                <p:cTn id="210" presetID="42" presetClass="entr" presetSubtype="0" fill="hold" grpId="0" nodeType="withEffect">
                                  <p:stCondLst>
                                    <p:cond delay="1170"/>
                                  </p:stCondLst>
                                  <p:childTnLst>
                                    <p:set>
                                      <p:cBhvr>
                                        <p:cTn id="211" dur="1" fill="hold">
                                          <p:stCondLst>
                                            <p:cond delay="0"/>
                                          </p:stCondLst>
                                        </p:cTn>
                                        <p:tgtEl>
                                          <p:spTgt spid="49"/>
                                        </p:tgtEl>
                                        <p:attrNameLst>
                                          <p:attrName>style.visibility</p:attrName>
                                        </p:attrNameLst>
                                      </p:cBhvr>
                                      <p:to>
                                        <p:strVal val="visible"/>
                                      </p:to>
                                    </p:set>
                                    <p:animEffect transition="in" filter="fade">
                                      <p:cBhvr>
                                        <p:cTn id="212" dur="600"/>
                                        <p:tgtEl>
                                          <p:spTgt spid="49"/>
                                        </p:tgtEl>
                                      </p:cBhvr>
                                    </p:animEffect>
                                    <p:anim calcmode="lin" valueType="num">
                                      <p:cBhvr additive="base">
                                        <p:cTn id="213" dur="600" decel="100000" fill="hold"/>
                                        <p:tgtEl>
                                          <p:spTgt spid="49"/>
                                        </p:tgtEl>
                                        <p:attrNameLst>
                                          <p:attrName>ppt_x</p:attrName>
                                        </p:attrNameLst>
                                      </p:cBhvr>
                                      <p:tavLst>
                                        <p:tav tm="0">
                                          <p:val>
                                            <p:strVal val="#ppt_x"/>
                                          </p:val>
                                        </p:tav>
                                        <p:tav tm="100000">
                                          <p:val>
                                            <p:strVal val="#ppt_x"/>
                                          </p:val>
                                        </p:tav>
                                      </p:tavLst>
                                    </p:anim>
                                    <p:anim calcmode="lin" valueType="num">
                                      <p:cBhvr additive="base">
                                        <p:cTn id="214" dur="600" decel="100000" fill="hold"/>
                                        <p:tgtEl>
                                          <p:spTgt spid="49"/>
                                        </p:tgtEl>
                                        <p:attrNameLst>
                                          <p:attrName>ppt_y</p:attrName>
                                        </p:attrNameLst>
                                      </p:cBhvr>
                                      <p:tavLst>
                                        <p:tav tm="0">
                                          <p:val>
                                            <p:strVal val="#ppt_y+.03"/>
                                          </p:val>
                                        </p:tav>
                                        <p:tav tm="100000">
                                          <p:val>
                                            <p:strVal val="#ppt_y"/>
                                          </p:val>
                                        </p:tav>
                                      </p:tavLst>
                                    </p:anim>
                                  </p:childTnLst>
                                </p:cTn>
                              </p:par>
                              <p:par>
                                <p:cTn id="215" presetID="53" presetClass="entr" presetSubtype="16" fill="hold" grpId="0" nodeType="withEffect">
                                  <p:stCondLst>
                                    <p:cond delay="1200"/>
                                  </p:stCondLst>
                                  <p:childTnLst>
                                    <p:set>
                                      <p:cBhvr>
                                        <p:cTn id="216" dur="1" fill="hold">
                                          <p:stCondLst>
                                            <p:cond delay="0"/>
                                          </p:stCondLst>
                                        </p:cTn>
                                        <p:tgtEl>
                                          <p:spTgt spid="41"/>
                                        </p:tgtEl>
                                        <p:attrNameLst>
                                          <p:attrName>style.visibility</p:attrName>
                                        </p:attrNameLst>
                                      </p:cBhvr>
                                      <p:to>
                                        <p:strVal val="visible"/>
                                      </p:to>
                                    </p:set>
                                    <p:anim calcmode="lin" valueType="num">
                                      <p:cBhvr additive="base">
                                        <p:cTn id="217" dur="450" decel="100000" fill="hold"/>
                                        <p:tgtEl>
                                          <p:spTgt spid="41"/>
                                        </p:tgtEl>
                                        <p:attrNameLst>
                                          <p:attrName>ppt_w</p:attrName>
                                        </p:attrNameLst>
                                      </p:cBhvr>
                                      <p:tavLst>
                                        <p:tav tm="0">
                                          <p:val>
                                            <p:strVal val="0"/>
                                          </p:val>
                                        </p:tav>
                                        <p:tav tm="100000">
                                          <p:val>
                                            <p:strVal val="#ppt_w"/>
                                          </p:val>
                                        </p:tav>
                                      </p:tavLst>
                                    </p:anim>
                                    <p:anim calcmode="lin" valueType="num">
                                      <p:cBhvr additive="base">
                                        <p:cTn id="218" dur="450" decel="100000" fill="hold"/>
                                        <p:tgtEl>
                                          <p:spTgt spid="41"/>
                                        </p:tgtEl>
                                        <p:attrNameLst>
                                          <p:attrName>ppt_h</p:attrName>
                                        </p:attrNameLst>
                                      </p:cBhvr>
                                      <p:tavLst>
                                        <p:tav tm="0">
                                          <p:val>
                                            <p:strVal val="0"/>
                                          </p:val>
                                        </p:tav>
                                        <p:tav tm="100000">
                                          <p:val>
                                            <p:strVal val="#ppt_h"/>
                                          </p:val>
                                        </p:tav>
                                      </p:tavLst>
                                    </p:anim>
                                    <p:animEffect transition="in" filter="fade">
                                      <p:cBhvr>
                                        <p:cTn id="219" dur="450"/>
                                        <p:tgtEl>
                                          <p:spTgt spid="41"/>
                                        </p:tgtEl>
                                      </p:cBhvr>
                                    </p:animEffect>
                                  </p:childTnLst>
                                </p:cTn>
                              </p:par>
                              <p:par>
                                <p:cTn id="220" presetID="53" presetClass="entr" presetSubtype="16" fill="hold" grpId="0" nodeType="withEffect">
                                  <p:stCondLst>
                                    <p:cond delay="1300"/>
                                  </p:stCondLst>
                                  <p:childTnLst>
                                    <p:set>
                                      <p:cBhvr>
                                        <p:cTn id="221" dur="1" fill="hold">
                                          <p:stCondLst>
                                            <p:cond delay="0"/>
                                          </p:stCondLst>
                                        </p:cTn>
                                        <p:tgtEl>
                                          <p:spTgt spid="42"/>
                                        </p:tgtEl>
                                        <p:attrNameLst>
                                          <p:attrName>style.visibility</p:attrName>
                                        </p:attrNameLst>
                                      </p:cBhvr>
                                      <p:to>
                                        <p:strVal val="visible"/>
                                      </p:to>
                                    </p:set>
                                    <p:anim calcmode="lin" valueType="num">
                                      <p:cBhvr additive="base">
                                        <p:cTn id="222" dur="450" decel="100000" fill="hold"/>
                                        <p:tgtEl>
                                          <p:spTgt spid="42"/>
                                        </p:tgtEl>
                                        <p:attrNameLst>
                                          <p:attrName>ppt_w</p:attrName>
                                        </p:attrNameLst>
                                      </p:cBhvr>
                                      <p:tavLst>
                                        <p:tav tm="0">
                                          <p:val>
                                            <p:strVal val="0"/>
                                          </p:val>
                                        </p:tav>
                                        <p:tav tm="100000">
                                          <p:val>
                                            <p:strVal val="#ppt_w"/>
                                          </p:val>
                                        </p:tav>
                                      </p:tavLst>
                                    </p:anim>
                                    <p:anim calcmode="lin" valueType="num">
                                      <p:cBhvr additive="base">
                                        <p:cTn id="223" dur="450" decel="100000" fill="hold"/>
                                        <p:tgtEl>
                                          <p:spTgt spid="42"/>
                                        </p:tgtEl>
                                        <p:attrNameLst>
                                          <p:attrName>ppt_h</p:attrName>
                                        </p:attrNameLst>
                                      </p:cBhvr>
                                      <p:tavLst>
                                        <p:tav tm="0">
                                          <p:val>
                                            <p:strVal val="0"/>
                                          </p:val>
                                        </p:tav>
                                        <p:tav tm="100000">
                                          <p:val>
                                            <p:strVal val="#ppt_h"/>
                                          </p:val>
                                        </p:tav>
                                      </p:tavLst>
                                    </p:anim>
                                    <p:animEffect transition="in" filter="fade">
                                      <p:cBhvr>
                                        <p:cTn id="224" dur="450"/>
                                        <p:tgtEl>
                                          <p:spTgt spid="42"/>
                                        </p:tgtEl>
                                      </p:cBhvr>
                                    </p:animEffect>
                                  </p:childTnLst>
                                </p:cTn>
                              </p:par>
                              <p:par>
                                <p:cTn id="225" presetID="42" presetClass="entr" presetSubtype="0" fill="hold" grpId="0" nodeType="withEffect">
                                  <p:stCondLst>
                                    <p:cond delay="1300"/>
                                  </p:stCondLst>
                                  <p:childTnLst>
                                    <p:set>
                                      <p:cBhvr>
                                        <p:cTn id="226" dur="1" fill="hold">
                                          <p:stCondLst>
                                            <p:cond delay="0"/>
                                          </p:stCondLst>
                                        </p:cTn>
                                        <p:tgtEl>
                                          <p:spTgt spid="50"/>
                                        </p:tgtEl>
                                        <p:attrNameLst>
                                          <p:attrName>style.visibility</p:attrName>
                                        </p:attrNameLst>
                                      </p:cBhvr>
                                      <p:to>
                                        <p:strVal val="visible"/>
                                      </p:to>
                                    </p:set>
                                    <p:animEffect transition="in" filter="fade">
                                      <p:cBhvr>
                                        <p:cTn id="227" dur="600"/>
                                        <p:tgtEl>
                                          <p:spTgt spid="50"/>
                                        </p:tgtEl>
                                      </p:cBhvr>
                                    </p:animEffect>
                                    <p:anim calcmode="lin" valueType="num">
                                      <p:cBhvr additive="base">
                                        <p:cTn id="228" dur="600" decel="100000" fill="hold"/>
                                        <p:tgtEl>
                                          <p:spTgt spid="50"/>
                                        </p:tgtEl>
                                        <p:attrNameLst>
                                          <p:attrName>ppt_x</p:attrName>
                                        </p:attrNameLst>
                                      </p:cBhvr>
                                      <p:tavLst>
                                        <p:tav tm="0">
                                          <p:val>
                                            <p:strVal val="#ppt_x"/>
                                          </p:val>
                                        </p:tav>
                                        <p:tav tm="100000">
                                          <p:val>
                                            <p:strVal val="#ppt_x"/>
                                          </p:val>
                                        </p:tav>
                                      </p:tavLst>
                                    </p:anim>
                                    <p:anim calcmode="lin" valueType="num">
                                      <p:cBhvr additive="base">
                                        <p:cTn id="229" dur="600" decel="100000" fill="hold"/>
                                        <p:tgtEl>
                                          <p:spTgt spid="50"/>
                                        </p:tgtEl>
                                        <p:attrNameLst>
                                          <p:attrName>ppt_y</p:attrName>
                                        </p:attrNameLst>
                                      </p:cBhvr>
                                      <p:tavLst>
                                        <p:tav tm="0">
                                          <p:val>
                                            <p:strVal val="#ppt_y+.03"/>
                                          </p:val>
                                        </p:tav>
                                        <p:tav tm="100000">
                                          <p:val>
                                            <p:strVal val="#ppt_y"/>
                                          </p:val>
                                        </p:tav>
                                      </p:tavLst>
                                    </p:anim>
                                  </p:childTnLst>
                                </p:cTn>
                              </p:par>
                              <p:par>
                                <p:cTn id="230" presetID="42" presetClass="entr" presetSubtype="0" fill="hold" grpId="0" nodeType="withEffect">
                                  <p:stCondLst>
                                    <p:cond delay="1300"/>
                                  </p:stCondLst>
                                  <p:childTnLst>
                                    <p:set>
                                      <p:cBhvr>
                                        <p:cTn id="231" dur="1" fill="hold">
                                          <p:stCondLst>
                                            <p:cond delay="0"/>
                                          </p:stCondLst>
                                        </p:cTn>
                                        <p:tgtEl>
                                          <p:spTgt spid="53"/>
                                        </p:tgtEl>
                                        <p:attrNameLst>
                                          <p:attrName>style.visibility</p:attrName>
                                        </p:attrNameLst>
                                      </p:cBhvr>
                                      <p:to>
                                        <p:strVal val="visible"/>
                                      </p:to>
                                    </p:set>
                                    <p:animEffect transition="in" filter="fade">
                                      <p:cBhvr>
                                        <p:cTn id="232" dur="600"/>
                                        <p:tgtEl>
                                          <p:spTgt spid="53"/>
                                        </p:tgtEl>
                                      </p:cBhvr>
                                    </p:animEffect>
                                    <p:anim calcmode="lin" valueType="num">
                                      <p:cBhvr additive="base">
                                        <p:cTn id="233" dur="600" decel="100000" fill="hold"/>
                                        <p:tgtEl>
                                          <p:spTgt spid="53"/>
                                        </p:tgtEl>
                                        <p:attrNameLst>
                                          <p:attrName>ppt_x</p:attrName>
                                        </p:attrNameLst>
                                      </p:cBhvr>
                                      <p:tavLst>
                                        <p:tav tm="0">
                                          <p:val>
                                            <p:strVal val="#ppt_x"/>
                                          </p:val>
                                        </p:tav>
                                        <p:tav tm="100000">
                                          <p:val>
                                            <p:strVal val="#ppt_x"/>
                                          </p:val>
                                        </p:tav>
                                      </p:tavLst>
                                    </p:anim>
                                    <p:anim calcmode="lin" valueType="num">
                                      <p:cBhvr additive="base">
                                        <p:cTn id="234" dur="600" decel="100000" fill="hold"/>
                                        <p:tgtEl>
                                          <p:spTgt spid="53"/>
                                        </p:tgtEl>
                                        <p:attrNameLst>
                                          <p:attrName>ppt_y</p:attrName>
                                        </p:attrNameLst>
                                      </p:cBhvr>
                                      <p:tavLst>
                                        <p:tav tm="0">
                                          <p:val>
                                            <p:strVal val="#ppt_y+.03"/>
                                          </p:val>
                                        </p:tav>
                                        <p:tav tm="100000">
                                          <p:val>
                                            <p:strVal val="#ppt_y"/>
                                          </p:val>
                                        </p:tav>
                                      </p:tavLst>
                                    </p:anim>
                                  </p:childTnLst>
                                </p:cTn>
                              </p:par>
                              <p:par>
                                <p:cTn id="235" presetID="42" presetClass="entr" presetSubtype="0" fill="hold" grpId="0" nodeType="withEffect">
                                  <p:stCondLst>
                                    <p:cond delay="1300"/>
                                  </p:stCondLst>
                                  <p:childTnLst>
                                    <p:set>
                                      <p:cBhvr>
                                        <p:cTn id="236" dur="1" fill="hold">
                                          <p:stCondLst>
                                            <p:cond delay="0"/>
                                          </p:stCondLst>
                                        </p:cTn>
                                        <p:tgtEl>
                                          <p:spTgt spid="54"/>
                                        </p:tgtEl>
                                        <p:attrNameLst>
                                          <p:attrName>style.visibility</p:attrName>
                                        </p:attrNameLst>
                                      </p:cBhvr>
                                      <p:to>
                                        <p:strVal val="visible"/>
                                      </p:to>
                                    </p:set>
                                    <p:animEffect transition="in" filter="fade">
                                      <p:cBhvr>
                                        <p:cTn id="237" dur="600"/>
                                        <p:tgtEl>
                                          <p:spTgt spid="54"/>
                                        </p:tgtEl>
                                      </p:cBhvr>
                                    </p:animEffect>
                                    <p:anim calcmode="lin" valueType="num">
                                      <p:cBhvr additive="base">
                                        <p:cTn id="238" dur="600" decel="100000" fill="hold"/>
                                        <p:tgtEl>
                                          <p:spTgt spid="54"/>
                                        </p:tgtEl>
                                        <p:attrNameLst>
                                          <p:attrName>ppt_x</p:attrName>
                                        </p:attrNameLst>
                                      </p:cBhvr>
                                      <p:tavLst>
                                        <p:tav tm="0">
                                          <p:val>
                                            <p:strVal val="#ppt_x"/>
                                          </p:val>
                                        </p:tav>
                                        <p:tav tm="100000">
                                          <p:val>
                                            <p:strVal val="#ppt_x"/>
                                          </p:val>
                                        </p:tav>
                                      </p:tavLst>
                                    </p:anim>
                                    <p:anim calcmode="lin" valueType="num">
                                      <p:cBhvr additive="base">
                                        <p:cTn id="239" dur="600" decel="100000" fill="hold"/>
                                        <p:tgtEl>
                                          <p:spTgt spid="54"/>
                                        </p:tgtEl>
                                        <p:attrNameLst>
                                          <p:attrName>ppt_y</p:attrName>
                                        </p:attrNameLst>
                                      </p:cBhvr>
                                      <p:tavLst>
                                        <p:tav tm="0">
                                          <p:val>
                                            <p:strVal val="#ppt_y+.03"/>
                                          </p:val>
                                        </p:tav>
                                        <p:tav tm="100000">
                                          <p:val>
                                            <p:strVal val="#ppt_y"/>
                                          </p:val>
                                        </p:tav>
                                      </p:tavLst>
                                    </p:anim>
                                  </p:childTnLst>
                                </p:cTn>
                              </p:par>
                              <p:par>
                                <p:cTn id="240" presetID="42" presetClass="entr" presetSubtype="0" fill="hold" grpId="0" nodeType="withEffect">
                                  <p:stCondLst>
                                    <p:cond delay="1300"/>
                                  </p:stCondLst>
                                  <p:childTnLst>
                                    <p:set>
                                      <p:cBhvr>
                                        <p:cTn id="241" dur="1" fill="hold">
                                          <p:stCondLst>
                                            <p:cond delay="0"/>
                                          </p:stCondLst>
                                        </p:cTn>
                                        <p:tgtEl>
                                          <p:spTgt spid="55"/>
                                        </p:tgtEl>
                                        <p:attrNameLst>
                                          <p:attrName>style.visibility</p:attrName>
                                        </p:attrNameLst>
                                      </p:cBhvr>
                                      <p:to>
                                        <p:strVal val="visible"/>
                                      </p:to>
                                    </p:set>
                                    <p:animEffect transition="in" filter="fade">
                                      <p:cBhvr>
                                        <p:cTn id="242" dur="600"/>
                                        <p:tgtEl>
                                          <p:spTgt spid="55"/>
                                        </p:tgtEl>
                                      </p:cBhvr>
                                    </p:animEffect>
                                    <p:anim calcmode="lin" valueType="num">
                                      <p:cBhvr additive="base">
                                        <p:cTn id="243" dur="600" decel="100000" fill="hold"/>
                                        <p:tgtEl>
                                          <p:spTgt spid="55"/>
                                        </p:tgtEl>
                                        <p:attrNameLst>
                                          <p:attrName>ppt_x</p:attrName>
                                        </p:attrNameLst>
                                      </p:cBhvr>
                                      <p:tavLst>
                                        <p:tav tm="0">
                                          <p:val>
                                            <p:strVal val="#ppt_x"/>
                                          </p:val>
                                        </p:tav>
                                        <p:tav tm="100000">
                                          <p:val>
                                            <p:strVal val="#ppt_x"/>
                                          </p:val>
                                        </p:tav>
                                      </p:tavLst>
                                    </p:anim>
                                    <p:anim calcmode="lin" valueType="num">
                                      <p:cBhvr additive="base">
                                        <p:cTn id="244" dur="600" decel="100000" fill="hold"/>
                                        <p:tgtEl>
                                          <p:spTgt spid="55"/>
                                        </p:tgtEl>
                                        <p:attrNameLst>
                                          <p:attrName>ppt_y</p:attrName>
                                        </p:attrNameLst>
                                      </p:cBhvr>
                                      <p:tavLst>
                                        <p:tav tm="0">
                                          <p:val>
                                            <p:strVal val="#ppt_y+.03"/>
                                          </p:val>
                                        </p:tav>
                                        <p:tav tm="100000">
                                          <p:val>
                                            <p:strVal val="#ppt_y"/>
                                          </p:val>
                                        </p:tav>
                                      </p:tavLst>
                                    </p:anim>
                                  </p:childTnLst>
                                </p:cTn>
                              </p:par>
                              <p:par>
                                <p:cTn id="245" presetID="42" presetClass="entr" presetSubtype="0" fill="hold" grpId="0" nodeType="withEffect">
                                  <p:stCondLst>
                                    <p:cond delay="1300"/>
                                  </p:stCondLst>
                                  <p:childTnLst>
                                    <p:set>
                                      <p:cBhvr>
                                        <p:cTn id="246" dur="1" fill="hold">
                                          <p:stCondLst>
                                            <p:cond delay="0"/>
                                          </p:stCondLst>
                                        </p:cTn>
                                        <p:tgtEl>
                                          <p:spTgt spid="56"/>
                                        </p:tgtEl>
                                        <p:attrNameLst>
                                          <p:attrName>style.visibility</p:attrName>
                                        </p:attrNameLst>
                                      </p:cBhvr>
                                      <p:to>
                                        <p:strVal val="visible"/>
                                      </p:to>
                                    </p:set>
                                    <p:animEffect transition="in" filter="fade">
                                      <p:cBhvr>
                                        <p:cTn id="247" dur="600"/>
                                        <p:tgtEl>
                                          <p:spTgt spid="56"/>
                                        </p:tgtEl>
                                      </p:cBhvr>
                                    </p:animEffect>
                                    <p:anim calcmode="lin" valueType="num">
                                      <p:cBhvr additive="base">
                                        <p:cTn id="248" dur="600" decel="100000" fill="hold"/>
                                        <p:tgtEl>
                                          <p:spTgt spid="56"/>
                                        </p:tgtEl>
                                        <p:attrNameLst>
                                          <p:attrName>ppt_x</p:attrName>
                                        </p:attrNameLst>
                                      </p:cBhvr>
                                      <p:tavLst>
                                        <p:tav tm="0">
                                          <p:val>
                                            <p:strVal val="#ppt_x"/>
                                          </p:val>
                                        </p:tav>
                                        <p:tav tm="100000">
                                          <p:val>
                                            <p:strVal val="#ppt_x"/>
                                          </p:val>
                                        </p:tav>
                                      </p:tavLst>
                                    </p:anim>
                                    <p:anim calcmode="lin" valueType="num">
                                      <p:cBhvr additive="base">
                                        <p:cTn id="249" dur="600" decel="100000" fill="hold"/>
                                        <p:tgtEl>
                                          <p:spTgt spid="56"/>
                                        </p:tgtEl>
                                        <p:attrNameLst>
                                          <p:attrName>ppt_y</p:attrName>
                                        </p:attrNameLst>
                                      </p:cBhvr>
                                      <p:tavLst>
                                        <p:tav tm="0">
                                          <p:val>
                                            <p:strVal val="#ppt_y+.03"/>
                                          </p:val>
                                        </p:tav>
                                        <p:tav tm="100000">
                                          <p:val>
                                            <p:strVal val="#ppt_y"/>
                                          </p:val>
                                        </p:tav>
                                      </p:tavLst>
                                    </p:anim>
                                  </p:childTnLst>
                                </p:cTn>
                              </p:par>
                              <p:par>
                                <p:cTn id="250" presetID="53" presetClass="entr" presetSubtype="16" fill="hold" grpId="0" nodeType="withEffect">
                                  <p:stCondLst>
                                    <p:cond delay="1330"/>
                                  </p:stCondLst>
                                  <p:childTnLst>
                                    <p:set>
                                      <p:cBhvr>
                                        <p:cTn id="251" dur="1" fill="hold">
                                          <p:stCondLst>
                                            <p:cond delay="0"/>
                                          </p:stCondLst>
                                        </p:cTn>
                                        <p:tgtEl>
                                          <p:spTgt spid="46"/>
                                        </p:tgtEl>
                                        <p:attrNameLst>
                                          <p:attrName>style.visibility</p:attrName>
                                        </p:attrNameLst>
                                      </p:cBhvr>
                                      <p:to>
                                        <p:strVal val="visible"/>
                                      </p:to>
                                    </p:set>
                                    <p:anim calcmode="lin" valueType="num">
                                      <p:cBhvr additive="base">
                                        <p:cTn id="252" dur="450" decel="100000" fill="hold"/>
                                        <p:tgtEl>
                                          <p:spTgt spid="46"/>
                                        </p:tgtEl>
                                        <p:attrNameLst>
                                          <p:attrName>ppt_w</p:attrName>
                                        </p:attrNameLst>
                                      </p:cBhvr>
                                      <p:tavLst>
                                        <p:tav tm="0">
                                          <p:val>
                                            <p:strVal val="0"/>
                                          </p:val>
                                        </p:tav>
                                        <p:tav tm="100000">
                                          <p:val>
                                            <p:strVal val="#ppt_w"/>
                                          </p:val>
                                        </p:tav>
                                      </p:tavLst>
                                    </p:anim>
                                    <p:anim calcmode="lin" valueType="num">
                                      <p:cBhvr additive="base">
                                        <p:cTn id="253" dur="450" decel="100000" fill="hold"/>
                                        <p:tgtEl>
                                          <p:spTgt spid="46"/>
                                        </p:tgtEl>
                                        <p:attrNameLst>
                                          <p:attrName>ppt_h</p:attrName>
                                        </p:attrNameLst>
                                      </p:cBhvr>
                                      <p:tavLst>
                                        <p:tav tm="0">
                                          <p:val>
                                            <p:strVal val="0"/>
                                          </p:val>
                                        </p:tav>
                                        <p:tav tm="100000">
                                          <p:val>
                                            <p:strVal val="#ppt_h"/>
                                          </p:val>
                                        </p:tav>
                                      </p:tavLst>
                                    </p:anim>
                                    <p:animEffect transition="in" filter="fade">
                                      <p:cBhvr>
                                        <p:cTn id="254" dur="450"/>
                                        <p:tgtEl>
                                          <p:spTgt spid="46"/>
                                        </p:tgtEl>
                                      </p:cBhvr>
                                    </p:animEffect>
                                  </p:childTnLst>
                                </p:cTn>
                              </p:par>
                              <p:par>
                                <p:cTn id="255" presetID="53" presetClass="entr" presetSubtype="16" fill="hold" grpId="0" nodeType="withEffect">
                                  <p:stCondLst>
                                    <p:cond delay="1430"/>
                                  </p:stCondLst>
                                  <p:childTnLst>
                                    <p:set>
                                      <p:cBhvr>
                                        <p:cTn id="256" dur="1" fill="hold">
                                          <p:stCondLst>
                                            <p:cond delay="0"/>
                                          </p:stCondLst>
                                        </p:cTn>
                                        <p:tgtEl>
                                          <p:spTgt spid="47"/>
                                        </p:tgtEl>
                                        <p:attrNameLst>
                                          <p:attrName>style.visibility</p:attrName>
                                        </p:attrNameLst>
                                      </p:cBhvr>
                                      <p:to>
                                        <p:strVal val="visible"/>
                                      </p:to>
                                    </p:set>
                                    <p:anim calcmode="lin" valueType="num">
                                      <p:cBhvr additive="base">
                                        <p:cTn id="257" dur="450" decel="100000" fill="hold"/>
                                        <p:tgtEl>
                                          <p:spTgt spid="47"/>
                                        </p:tgtEl>
                                        <p:attrNameLst>
                                          <p:attrName>ppt_w</p:attrName>
                                        </p:attrNameLst>
                                      </p:cBhvr>
                                      <p:tavLst>
                                        <p:tav tm="0">
                                          <p:val>
                                            <p:strVal val="0"/>
                                          </p:val>
                                        </p:tav>
                                        <p:tav tm="100000">
                                          <p:val>
                                            <p:strVal val="#ppt_w"/>
                                          </p:val>
                                        </p:tav>
                                      </p:tavLst>
                                    </p:anim>
                                    <p:anim calcmode="lin" valueType="num">
                                      <p:cBhvr additive="base">
                                        <p:cTn id="258" dur="450" decel="100000" fill="hold"/>
                                        <p:tgtEl>
                                          <p:spTgt spid="47"/>
                                        </p:tgtEl>
                                        <p:attrNameLst>
                                          <p:attrName>ppt_h</p:attrName>
                                        </p:attrNameLst>
                                      </p:cBhvr>
                                      <p:tavLst>
                                        <p:tav tm="0">
                                          <p:val>
                                            <p:strVal val="0"/>
                                          </p:val>
                                        </p:tav>
                                        <p:tav tm="100000">
                                          <p:val>
                                            <p:strVal val="#ppt_h"/>
                                          </p:val>
                                        </p:tav>
                                      </p:tavLst>
                                    </p:anim>
                                    <p:animEffect transition="in" filter="fade">
                                      <p:cBhvr>
                                        <p:cTn id="259" dur="450"/>
                                        <p:tgtEl>
                                          <p:spTgt spid="47"/>
                                        </p:tgtEl>
                                      </p:cBhvr>
                                    </p:animEffect>
                                  </p:childTnLst>
                                </p:cTn>
                              </p:par>
                              <p:par>
                                <p:cTn id="260" presetID="53" presetClass="entr" presetSubtype="16" fill="hold" grpId="0" nodeType="withEffect">
                                  <p:stCondLst>
                                    <p:cond delay="1460"/>
                                  </p:stCondLst>
                                  <p:childTnLst>
                                    <p:set>
                                      <p:cBhvr>
                                        <p:cTn id="261" dur="1" fill="hold">
                                          <p:stCondLst>
                                            <p:cond delay="0"/>
                                          </p:stCondLst>
                                        </p:cTn>
                                        <p:tgtEl>
                                          <p:spTgt spid="51"/>
                                        </p:tgtEl>
                                        <p:attrNameLst>
                                          <p:attrName>style.visibility</p:attrName>
                                        </p:attrNameLst>
                                      </p:cBhvr>
                                      <p:to>
                                        <p:strVal val="visible"/>
                                      </p:to>
                                    </p:set>
                                    <p:anim calcmode="lin" valueType="num">
                                      <p:cBhvr additive="base">
                                        <p:cTn id="262" dur="450" decel="100000" fill="hold"/>
                                        <p:tgtEl>
                                          <p:spTgt spid="51"/>
                                        </p:tgtEl>
                                        <p:attrNameLst>
                                          <p:attrName>ppt_w</p:attrName>
                                        </p:attrNameLst>
                                      </p:cBhvr>
                                      <p:tavLst>
                                        <p:tav tm="0">
                                          <p:val>
                                            <p:strVal val="0"/>
                                          </p:val>
                                        </p:tav>
                                        <p:tav tm="100000">
                                          <p:val>
                                            <p:strVal val="#ppt_w"/>
                                          </p:val>
                                        </p:tav>
                                      </p:tavLst>
                                    </p:anim>
                                    <p:anim calcmode="lin" valueType="num">
                                      <p:cBhvr additive="base">
                                        <p:cTn id="263" dur="450" decel="100000" fill="hold"/>
                                        <p:tgtEl>
                                          <p:spTgt spid="51"/>
                                        </p:tgtEl>
                                        <p:attrNameLst>
                                          <p:attrName>ppt_h</p:attrName>
                                        </p:attrNameLst>
                                      </p:cBhvr>
                                      <p:tavLst>
                                        <p:tav tm="0">
                                          <p:val>
                                            <p:strVal val="0"/>
                                          </p:val>
                                        </p:tav>
                                        <p:tav tm="100000">
                                          <p:val>
                                            <p:strVal val="#ppt_h"/>
                                          </p:val>
                                        </p:tav>
                                      </p:tavLst>
                                    </p:anim>
                                    <p:animEffect transition="in" filter="fade">
                                      <p:cBhvr>
                                        <p:cTn id="264" dur="450"/>
                                        <p:tgtEl>
                                          <p:spTgt spid="51"/>
                                        </p:tgtEl>
                                      </p:cBhvr>
                                    </p:animEffect>
                                  </p:childTnLst>
                                </p:cTn>
                              </p:par>
                              <p:par>
                                <p:cTn id="265" presetID="53" presetClass="entr" presetSubtype="16" fill="hold" grpId="0" nodeType="withEffect">
                                  <p:stCondLst>
                                    <p:cond delay="1560"/>
                                  </p:stCondLst>
                                  <p:childTnLst>
                                    <p:set>
                                      <p:cBhvr>
                                        <p:cTn id="266" dur="1" fill="hold">
                                          <p:stCondLst>
                                            <p:cond delay="0"/>
                                          </p:stCondLst>
                                        </p:cTn>
                                        <p:tgtEl>
                                          <p:spTgt spid="52"/>
                                        </p:tgtEl>
                                        <p:attrNameLst>
                                          <p:attrName>style.visibility</p:attrName>
                                        </p:attrNameLst>
                                      </p:cBhvr>
                                      <p:to>
                                        <p:strVal val="visible"/>
                                      </p:to>
                                    </p:set>
                                    <p:anim calcmode="lin" valueType="num">
                                      <p:cBhvr additive="base">
                                        <p:cTn id="267" dur="450" decel="100000" fill="hold"/>
                                        <p:tgtEl>
                                          <p:spTgt spid="52"/>
                                        </p:tgtEl>
                                        <p:attrNameLst>
                                          <p:attrName>ppt_w</p:attrName>
                                        </p:attrNameLst>
                                      </p:cBhvr>
                                      <p:tavLst>
                                        <p:tav tm="0">
                                          <p:val>
                                            <p:strVal val="0"/>
                                          </p:val>
                                        </p:tav>
                                        <p:tav tm="100000">
                                          <p:val>
                                            <p:strVal val="#ppt_w"/>
                                          </p:val>
                                        </p:tav>
                                      </p:tavLst>
                                    </p:anim>
                                    <p:anim calcmode="lin" valueType="num">
                                      <p:cBhvr additive="base">
                                        <p:cTn id="268" dur="450" decel="100000" fill="hold"/>
                                        <p:tgtEl>
                                          <p:spTgt spid="52"/>
                                        </p:tgtEl>
                                        <p:attrNameLst>
                                          <p:attrName>ppt_h</p:attrName>
                                        </p:attrNameLst>
                                      </p:cBhvr>
                                      <p:tavLst>
                                        <p:tav tm="0">
                                          <p:val>
                                            <p:strVal val="0"/>
                                          </p:val>
                                        </p:tav>
                                        <p:tav tm="100000">
                                          <p:val>
                                            <p:strVal val="#ppt_h"/>
                                          </p:val>
                                        </p:tav>
                                      </p:tavLst>
                                    </p:anim>
                                    <p:animEffect transition="in" filter="fade">
                                      <p:cBhvr>
                                        <p:cTn id="269" dur="4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P spid="50" grpId="0" animBg="1"/>
      <p:bldP spid="51" grpId="0" animBg="1"/>
      <p:bldP spid="53" grpId="0" animBg="1"/>
      <p:bldP spid="54" grpId="0" animBg="1"/>
      <p:bldP spid="55" grpId="0" animBg="1"/>
      <p:bldP spid="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05  |  التكاليف التشغيلية (OPEX)</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إجمالي المصروفات التشغيلية التقديرية (10 سنوات)</a:t>
            </a:r>
            <a:endParaRPr lang="en-US" sz="3000" dirty="0"/>
          </a:p>
        </p:txBody>
      </p:sp>
      <p:graphicFrame>
        <p:nvGraphicFramePr>
          <p:cNvPr id="14" name="anim13_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885414"/>
                <a:gridCol w="885414"/>
                <a:gridCol w="885414"/>
                <a:gridCol w="885414"/>
                <a:gridCol w="885414"/>
                <a:gridCol w="885414"/>
                <a:gridCol w="885414"/>
                <a:gridCol w="885414"/>
                <a:gridCol w="885414"/>
                <a:gridCol w="885414"/>
                <a:gridCol w="2240280"/>
              </a:tblGrid>
              <a:tr h="384048">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العاشرة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التاسعة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الثامنة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السابعة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السادسة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الخامسة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الرابعة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الثالثة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الثانية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 الأولى</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اسم المصروف</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5,679,289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5,125,005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4,411,098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3,641,299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2,919,618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2,149,819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1,435,750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884,265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495,657</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219,964</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مصروف الكهرباء (بالكيلو وات)</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1,200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1,200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1,500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1,800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2,100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2,880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مصروف وقود</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1,680,000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1,680,000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1,680,000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1,680,000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1,260,000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1,170,000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936,000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864,000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720,000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720,000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مرتبات</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2,520,000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1,890,000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1,800,000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1,440,000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1,368,000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1,080,000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1,080,000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رعاية صحية</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4,757,220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تراخيص وبرمجيات</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13,546,714</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17,114,629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17,114,629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17,114,629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17,114,629</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30,840,157</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37,913,392</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37,913,392</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37,913,392</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37,913,392</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مصروفات الاستهلاك</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250,000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مصروفات الدعاية والإعلان</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24,000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24,000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24,000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24,000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18,000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14,400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8,640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8,640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بريد وهاتف</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115,000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115,000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115,000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115,000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110,000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92,000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92,000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69,000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69,000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69,000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نظافة</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r>
              <a:tr h="324612">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1,689,758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1,249,761</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1,083,271</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900,737</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647,525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477,595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324,615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181,188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99,988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100" dirty="0">
                          <a:solidFill>
                            <a:srgbClr val="1F2937"/>
                          </a:solidFill>
                          <a:latin typeface="JF Flat" pitchFamily="34" charset="0"/>
                          <a:ea typeface="JF Flat" pitchFamily="34" charset="-122"/>
                          <a:cs typeface="JF Flat" pitchFamily="34" charset="-120"/>
                        </a:rPr>
                        <a:t>38,095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ضريبة المبيعات</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324612">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30,011,980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32,585,614</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31,705,218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30,752,885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28,718,191</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41,302,392</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46,909,118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46,297,505</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45,393,358</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algn="ctr" indent="0" marL="0">
                        <a:buNone/>
                      </a:pPr>
                      <a:r>
                        <a:rPr lang="en-US" sz="1100" b="1" dirty="0">
                          <a:solidFill>
                            <a:srgbClr val="FFFFFF"/>
                          </a:solidFill>
                          <a:latin typeface="JF Flat" pitchFamily="34" charset="0"/>
                          <a:ea typeface="JF Flat" pitchFamily="34" charset="-122"/>
                          <a:cs typeface="JF Flat" pitchFamily="34" charset="-120"/>
                        </a:rPr>
                        <a:t>45,056,550</a:t>
                      </a:r>
                      <a:endParaRPr lang="en-US" sz="1100" dirty="0">
                        <a:latin typeface="JF Flat" charset="0"/>
                        <a:ea typeface="JF Flat" charset="0"/>
                        <a:cs typeface="JF Flat" charset="0"/>
                      </a:endParaRPr>
                    </a:p>
                  </a:txBody>
                  <a:tcPr marL="45720" marR="45720" marT="27432" marB="27432"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c>
                  <a:txBody>
                    <a:bodyPr/>
                    <a:lstStyle/>
                    <a:p>
                      <a:pPr rtl="1" algn="r" indent="0" marL="0">
                        <a:buNone/>
                      </a:pPr>
                      <a:r>
                        <a:rPr lang="en-US" sz="1100" b="1" dirty="0">
                          <a:solidFill>
                            <a:srgbClr val="FFFFFF"/>
                          </a:solidFill>
                          <a:latin typeface="JF Flat" pitchFamily="34" charset="0"/>
                          <a:ea typeface="JF Flat" pitchFamily="34" charset="-122"/>
                          <a:cs typeface="JF Flat" pitchFamily="34" charset="-120"/>
                        </a:rPr>
                        <a:t>الإجمالي</a:t>
                      </a:r>
                      <a:endParaRPr lang="en-US" sz="1100" dirty="0">
                        <a:latin typeface="JF Flat" charset="0"/>
                        <a:ea typeface="JF Flat" charset="0"/>
                        <a:cs typeface="JF Flat" charset="0"/>
                      </a:endParaRPr>
                    </a:p>
                  </a:txBody>
                  <a:tcPr marL="91440" marR="91440"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15524"/>
                    </a:solidFill>
                  </a:tcPr>
                </a:tc>
              </a:tr>
            </a:tbl>
          </a:graphicData>
        </a:graphic>
      </p:graphicFrame>
      <p:sp>
        <p:nvSpPr>
          <p:cNvPr id="5" name="anim13_1"/>
          <p:cNvSpPr/>
          <p:nvPr/>
        </p:nvSpPr>
        <p:spPr>
          <a:xfrm>
            <a:off x="548640" y="5486400"/>
            <a:ext cx="11094415" cy="749808"/>
          </a:xfrm>
          <a:prstGeom prst="roundRect">
            <a:avLst>
              <a:gd name="adj" fmla="val 12195"/>
            </a:avLst>
          </a:prstGeom>
          <a:solidFill>
            <a:srgbClr val="EAF2FA"/>
          </a:solidFill>
          <a:ln w="12700">
            <a:solidFill>
              <a:srgbClr val="EAF2FA"/>
            </a:solidFill>
            <a:prstDash val="solid"/>
          </a:ln>
        </p:spPr>
      </p:sp>
      <p:pic>
        <p:nvPicPr>
          <p:cNvPr id="6" name="anim13_2" descr="preencoded.png">    </p:cNvPr>
          <p:cNvPicPr>
            <a:picLocks noChangeAspect="1"/>
          </p:cNvPicPr>
          <p:nvPr/>
        </p:nvPicPr>
        <p:blipFill>
          <a:blip r:embed="rId1"/>
          <a:stretch>
            <a:fillRect/>
          </a:stretch>
        </p:blipFill>
        <p:spPr>
          <a:xfrm>
            <a:off x="11140135" y="5705856"/>
            <a:ext cx="310896" cy="310896"/>
          </a:xfrm>
          <a:prstGeom prst="rect">
            <a:avLst/>
          </a:prstGeom>
        </p:spPr>
      </p:pic>
      <p:sp>
        <p:nvSpPr>
          <p:cNvPr id="7" name="anim13_3"/>
          <p:cNvSpPr txBox="1"/>
          <p:nvPr/>
        </p:nvSpPr>
        <p:spPr>
          <a:xfrm>
            <a:off x="731520" y="5486400"/>
            <a:ext cx="10225735" cy="749808"/>
          </a:xfrm>
          <a:prstGeom prst="rect">
            <a:avLst/>
          </a:prstGeom>
          <a:noFill/>
          <a:ln/>
        </p:spPr>
        <p:txBody>
          <a:bodyPr wrap="square" lIns="0" tIns="0" rIns="0" bIns="0" rtlCol="0" anchor="ctr"/>
          <a:lstStyle/>
          <a:p>
            <a:pPr rtl="1" algn="r" indent="0" marL="0">
              <a:buNone/>
            </a:pPr>
            <a:r>
              <a:rPr lang="ar-SA" altLang="en-US" sz="1200" dirty="0">
                <a:solidFill>
                  <a:srgbClr val="06305C"/>
                </a:solidFill>
                <a:latin typeface="JF Flat" pitchFamily="34" charset="0"/>
                <a:ea typeface="JF Flat" pitchFamily="34" charset="-122"/>
                <a:cs typeface="JF Flat" pitchFamily="34" charset="-120"/>
              </a:rPr>
              <a:t>تُظهر التقديرات أن الكهرباء والتراخيص والبرمجيات والاستهلاك المحاسبي تمثل عناصر رئيسية في التكلفة. ويجب التمييز عند تقييم الربحية بين المصروفات النقدية الفعلية والاستهلاك المحاسبي، لأنه يؤثر في الأرباح دون أن يمثل تدفقاً نقدياً مماثلاً في سنة احتسابه.</a:t>
            </a:r>
            <a:endParaRPr lang="ar-SA" sz="12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anim calcmode="lin" valueType="num">
                                      <p:cBhvr additive="base">
                                        <p:cTn id="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1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P spid="5"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06  |  الإيرادات المتوقعة</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الإيرادات السنوية المتوقعة وفق دراسة الجدوى</a:t>
            </a:r>
            <a:endParaRPr lang="en-US" sz="3000" dirty="0"/>
          </a:p>
        </p:txBody>
      </p:sp>
      <p:sp>
        <p:nvSpPr>
          <p:cNvPr id="4" name="anim14_0"/>
          <p:cNvSpPr txBox="1"/>
          <p:nvPr/>
        </p:nvSpPr>
        <p:spPr>
          <a:xfrm>
            <a:off x="548640" y="1508760"/>
            <a:ext cx="11094415" cy="365760"/>
          </a:xfrm>
          <a:prstGeom prst="rect">
            <a:avLst/>
          </a:prstGeom>
          <a:noFill/>
          <a:ln/>
        </p:spPr>
        <p:txBody>
          <a:bodyPr wrap="square" lIns="0" tIns="0" rIns="0" bIns="0" rtlCol="0" anchor="t"/>
          <a:lstStyle/>
          <a:p>
            <a:pPr rtl="1" algn="r" indent="0" marL="0">
              <a:buNone/>
            </a:pPr>
            <a:r>
              <a:rPr lang="ar-SA" altLang="en-US" sz="1500" dirty="0">
                <a:solidFill>
                  <a:srgbClr val="5B6B7F"/>
                </a:solidFill>
                <a:latin typeface="JF Flat" pitchFamily="34" charset="0"/>
                <a:ea typeface="JF Flat" pitchFamily="34" charset="-122"/>
                <a:cs typeface="JF Flat" pitchFamily="34" charset="-120"/>
              </a:rPr>
              <a:t>تعتمد الإيرادات على تقديم خدمات متعددة للجهات الحكومية والمؤسسات، مع التوسع التدريجي في عدد العملاء والخدمات المقدمة.</a:t>
            </a:r>
            <a:endParaRPr lang="ar-SA" sz="1500" dirty="0"/>
          </a:p>
        </p:txBody>
      </p:sp>
      <p:graphicFrame>
        <p:nvGraphicFramePr>
          <p:cNvPr id="15" name="anim14_1"/>
          <p:cNvGraphicFramePr>
            <a:graphicFrameLocks noGrp="1"/>
          </p:cNvGraphicFramePr>
          <p:nvPr>
            <p:extLst>
              <p:ext uri="{D42A27DB-BD31-4B8C-83A1-F6EECF244321}">
                <p14:modId xmlns:p14="http://schemas.microsoft.com/office/powerpoint/2010/main" val="1579011935"/>
              </p:ext>
            </p:extLst>
          </p:nvPr>
        </p:nvGraphicFramePr>
        <p:xfrm>
          <a:off x="548640" y="1938528"/>
          <a:ext cx="11094415" cy="914400"/>
        </p:xfrm>
        <a:graphic>
          <a:graphicData uri="http://schemas.openxmlformats.org/drawingml/2006/table">
            <a:tbl>
              <a:tblPr/>
              <a:tblGrid>
                <a:gridCol w="794995"/>
                <a:gridCol w="794995"/>
                <a:gridCol w="794995"/>
                <a:gridCol w="794995"/>
                <a:gridCol w="794995"/>
                <a:gridCol w="794995"/>
                <a:gridCol w="794995"/>
                <a:gridCol w="794995"/>
                <a:gridCol w="794995"/>
                <a:gridCol w="794995"/>
                <a:gridCol w="794995"/>
                <a:gridCol w="794995"/>
                <a:gridCol w="1554480"/>
              </a:tblGrid>
              <a:tr h="384048">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12</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11</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10</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9</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8</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7</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6</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5</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4</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3</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2</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سنة 1</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c>
                  <a:txBody>
                    <a:bodyPr/>
                    <a:lstStyle/>
                    <a:p>
                      <a:pPr rtl="1" algn="ctr" indent="0" marL="0">
                        <a:buNone/>
                      </a:pPr>
                      <a:r>
                        <a:rPr lang="en-US" sz="1100" b="1" dirty="0">
                          <a:solidFill>
                            <a:srgbClr val="FFFFFF"/>
                          </a:solidFill>
                          <a:latin typeface="JF Flat" pitchFamily="34" charset="0"/>
                          <a:ea typeface="JF Flat" pitchFamily="34" charset="-122"/>
                          <a:cs typeface="JF Flat" pitchFamily="34" charset="-120"/>
                        </a:rPr>
                        <a:t>السنة</a:t>
                      </a:r>
                      <a:endParaRPr lang="en-US" sz="1100" dirty="0">
                        <a:latin typeface="JF Flat" charset="0"/>
                        <a:ea typeface="JF Flat" charset="0"/>
                        <a:cs typeface="JF Flat" charset="0"/>
                      </a:endParaRPr>
                    </a:p>
                  </a:txBody>
                  <a:tcPr marL="45720" marR="45720" marT="27432" marB="27432" anchor="ctr">
                    <a:lnL w="9525" cap="flat" cmpd="sng" algn="ctr">
                      <a:solidFill>
                        <a:srgbClr val="3A5F88"/>
                      </a:solidFill>
                      <a:prstDash val="solid"/>
                      <a:round/>
                      <a:headEnd type="none" w="med" len="med"/>
                      <a:tailEnd type="none" w="med" len="med"/>
                    </a:lnL>
                    <a:lnR w="9525" cap="flat" cmpd="sng" algn="ctr">
                      <a:solidFill>
                        <a:srgbClr val="3A5F88"/>
                      </a:solidFill>
                      <a:prstDash val="solid"/>
                      <a:round/>
                      <a:headEnd type="none" w="med" len="med"/>
                      <a:tailEnd type="none" w="med" len="med"/>
                    </a:lnR>
                    <a:lnT w="9525" cap="flat" cmpd="sng" algn="ctr">
                      <a:solidFill>
                        <a:srgbClr val="06305C"/>
                      </a:solidFill>
                      <a:prstDash val="solid"/>
                      <a:round/>
                      <a:headEnd type="none" w="med" len="med"/>
                      <a:tailEnd type="none" w="med" len="med"/>
                    </a:lnT>
                    <a:lnB w="9525" cap="flat" cmpd="sng" algn="ctr">
                      <a:solidFill>
                        <a:srgbClr val="06305C"/>
                      </a:solidFill>
                      <a:prstDash val="solid"/>
                      <a:round/>
                      <a:headEnd type="none" w="med" len="med"/>
                      <a:tailEnd type="none" w="med" len="med"/>
                    </a:lnB>
                    <a:solidFill>
                      <a:srgbClr val="06305C"/>
                    </a:solidFill>
                  </a:tcPr>
                </a:tc>
              </a:tr>
              <a:tr h="402336">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168,135,118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168,135,118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168,135,118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124,354,318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107,788,160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89,625,600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64,430,322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47,521,927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32,300,030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18,028,692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9,949,104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algn="ctr" indent="0" marL="0">
                        <a:buNone/>
                      </a:pPr>
                      <a:r>
                        <a:rPr lang="en-US" sz="1000" b="1" dirty="0">
                          <a:solidFill>
                            <a:srgbClr val="00539B"/>
                          </a:solidFill>
                          <a:latin typeface="JF Flat" pitchFamily="34" charset="0"/>
                          <a:ea typeface="JF Flat" pitchFamily="34" charset="-122"/>
                          <a:cs typeface="JF Flat" pitchFamily="34" charset="-120"/>
                        </a:rPr>
                        <a:t>3,790,512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الإيرادات</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EAF2FA"/>
                    </a:solidFill>
                  </a:tcPr>
                </a:tc>
              </a:tr>
              <a:tr h="402336">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30,011,980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30,011,980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30,011,980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32,585,614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31,705,218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30,752,885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28,718,191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41,302,392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46,909,118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46,297,505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45,393,358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45,056,550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المصروفات</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402336">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138,123,138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138,123,138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138,123,138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91,768,704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76,082,942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58,872,715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35,712,131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1F2937"/>
                          </a:solidFill>
                          <a:latin typeface="JF Flat" pitchFamily="34" charset="0"/>
                          <a:ea typeface="JF Flat" pitchFamily="34" charset="-122"/>
                          <a:cs typeface="JF Flat" pitchFamily="34" charset="-120"/>
                        </a:rPr>
                        <a:t>6,219,535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C8361B"/>
                          </a:solidFill>
                          <a:latin typeface="JF Flat" pitchFamily="34" charset="0"/>
                          <a:ea typeface="JF Flat" pitchFamily="34" charset="-122"/>
                          <a:cs typeface="JF Flat" pitchFamily="34" charset="-120"/>
                        </a:rPr>
                        <a:t>-14,609,088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C8361B"/>
                          </a:solidFill>
                          <a:latin typeface="JF Flat" pitchFamily="34" charset="0"/>
                          <a:ea typeface="JF Flat" pitchFamily="34" charset="-122"/>
                          <a:cs typeface="JF Flat" pitchFamily="34" charset="-120"/>
                        </a:rPr>
                        <a:t>-28,268,813</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C8361B"/>
                          </a:solidFill>
                          <a:latin typeface="JF Flat" pitchFamily="34" charset="0"/>
                          <a:ea typeface="JF Flat" pitchFamily="34" charset="-122"/>
                          <a:cs typeface="JF Flat" pitchFamily="34" charset="-120"/>
                        </a:rPr>
                        <a:t>-35,444,254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algn="ctr" indent="0" marL="0">
                        <a:buNone/>
                      </a:pPr>
                      <a:r>
                        <a:rPr lang="en-US" sz="1000" b="1" dirty="0">
                          <a:solidFill>
                            <a:srgbClr val="C8361B"/>
                          </a:solidFill>
                          <a:latin typeface="JF Flat" pitchFamily="34" charset="0"/>
                          <a:ea typeface="JF Flat" pitchFamily="34" charset="-122"/>
                          <a:cs typeface="JF Flat" pitchFamily="34" charset="-120"/>
                        </a:rPr>
                        <a:t>-41,266,038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صافي (ربح / خسارة)</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EF0EA"/>
                    </a:solidFill>
                  </a:tcPr>
                </a:tc>
              </a:tr>
              <a:tr h="402336">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563,437,247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425,314,109</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287,190,972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149,067,834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57,299,130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-18,783,812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-77,656,527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-113,368,658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-119,588,194</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-104,979,106</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-76,710,292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-41,266,038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صافي الربح التراكمي</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r h="402336">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84,609,680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222,732,817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314,501,521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390,584,463</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449,457,178</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395,148,069</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401,367,605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386,758,517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358,489,703</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323,045,450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الرصيد المتبقي للاسترداد</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FFFFF"/>
                    </a:solidFill>
                  </a:tcPr>
                </a:tc>
              </a:tr>
              <a:tr h="402336">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37.1%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37.1%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37.1%</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24.7%</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20.5%</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16%</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9.6%</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1F2937"/>
                          </a:solidFill>
                          <a:latin typeface="JF Flat" pitchFamily="34" charset="0"/>
                          <a:ea typeface="JF Flat" pitchFamily="34" charset="-122"/>
                          <a:cs typeface="JF Flat" pitchFamily="34" charset="-120"/>
                        </a:rPr>
                        <a:t>2.2%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-5.2%</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-10.0%</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-12.6%</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algn="ctr" indent="0" marL="0">
                        <a:buNone/>
                      </a:pPr>
                      <a:r>
                        <a:rPr lang="en-US" sz="1000" dirty="0">
                          <a:solidFill>
                            <a:srgbClr val="C8361B"/>
                          </a:solidFill>
                          <a:latin typeface="JF Flat" pitchFamily="34" charset="0"/>
                          <a:ea typeface="JF Flat" pitchFamily="34" charset="-122"/>
                          <a:cs typeface="JF Flat" pitchFamily="34" charset="-120"/>
                        </a:rPr>
                        <a:t>-14.6%</a:t>
                      </a:r>
                      <a:endParaRPr lang="en-US" sz="1000" dirty="0">
                        <a:latin typeface="JF Flat" charset="0"/>
                        <a:ea typeface="JF Flat" charset="0"/>
                        <a:cs typeface="JF Flat" charset="0"/>
                      </a:endParaRPr>
                    </a:p>
                  </a:txBody>
                  <a:tcPr marL="9144" marR="9144" marT="18288" marB="18288"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c>
                  <a:txBody>
                    <a:bodyPr/>
                    <a:lstStyle/>
                    <a:p>
                      <a:pPr rtl="1" algn="r" indent="0" marL="0">
                        <a:buNone/>
                      </a:pPr>
                      <a:r>
                        <a:rPr lang="en-US" sz="1100" b="1" dirty="0">
                          <a:solidFill>
                            <a:srgbClr val="06305C"/>
                          </a:solidFill>
                          <a:latin typeface="JF Flat" pitchFamily="34" charset="0"/>
                          <a:ea typeface="JF Flat" pitchFamily="34" charset="-122"/>
                          <a:cs typeface="JF Flat" pitchFamily="34" charset="-120"/>
                        </a:rPr>
                        <a:t>العائد من الاستثمار</a:t>
                      </a:r>
                      <a:endParaRPr lang="en-US" sz="1100" dirty="0">
                        <a:latin typeface="JF Flat" charset="0"/>
                        <a:ea typeface="JF Flat" charset="0"/>
                        <a:cs typeface="JF Flat" charset="0"/>
                      </a:endParaRPr>
                    </a:p>
                  </a:txBody>
                  <a:tcPr marL="73152" marR="73152" marT="0" marB="0" anchor="ctr">
                    <a:lnL w="9525" cap="flat" cmpd="sng" algn="ctr">
                      <a:solidFill>
                        <a:srgbClr val="D6DFEA"/>
                      </a:solidFill>
                      <a:prstDash val="solid"/>
                      <a:round/>
                      <a:headEnd type="none" w="med" len="med"/>
                      <a:tailEnd type="none" w="med" len="med"/>
                    </a:lnL>
                    <a:lnR w="9525" cap="flat" cmpd="sng" algn="ctr">
                      <a:solidFill>
                        <a:srgbClr val="D6DFEA"/>
                      </a:solidFill>
                      <a:prstDash val="solid"/>
                      <a:round/>
                      <a:headEnd type="none" w="med" len="med"/>
                      <a:tailEnd type="none" w="med" len="med"/>
                    </a:lnR>
                    <a:lnT w="9525" cap="flat" cmpd="sng" algn="ctr">
                      <a:solidFill>
                        <a:srgbClr val="D6DFEA"/>
                      </a:solidFill>
                      <a:prstDash val="solid"/>
                      <a:round/>
                      <a:headEnd type="none" w="med" len="med"/>
                      <a:tailEnd type="none" w="med" len="med"/>
                    </a:lnT>
                    <a:lnB w="9525" cap="flat" cmpd="sng" algn="ctr">
                      <a:solidFill>
                        <a:srgbClr val="D6DFEA"/>
                      </a:solidFill>
                      <a:prstDash val="solid"/>
                      <a:round/>
                      <a:headEnd type="none" w="med" len="med"/>
                      <a:tailEnd type="none" w="med" len="med"/>
                    </a:lnB>
                    <a:solidFill>
                      <a:srgbClr val="F4F7FB"/>
                    </a:solidFill>
                  </a:tcPr>
                </a:tc>
              </a:tr>
            </a:tbl>
          </a:graphicData>
        </a:graphic>
      </p:graphicFrame>
      <p:sp>
        <p:nvSpPr>
          <p:cNvPr id="6" name="anim14_2"/>
          <p:cNvSpPr/>
          <p:nvPr/>
        </p:nvSpPr>
        <p:spPr>
          <a:xfrm>
            <a:off x="8097317" y="5029200"/>
            <a:ext cx="3545738" cy="841248"/>
          </a:xfrm>
          <a:prstGeom prst="roundRect">
            <a:avLst>
              <a:gd name="adj" fmla="val 10870"/>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7" name="anim14_3"/>
          <p:cNvSpPr/>
          <p:nvPr/>
        </p:nvSpPr>
        <p:spPr>
          <a:xfrm>
            <a:off x="10929823" y="5193792"/>
            <a:ext cx="512064" cy="512064"/>
          </a:xfrm>
          <a:prstGeom prst="ellipse">
            <a:avLst/>
          </a:prstGeom>
          <a:solidFill>
            <a:srgbClr val="00539B"/>
          </a:solidFill>
          <a:ln w="12700">
            <a:solidFill>
              <a:srgbClr val="00539B"/>
            </a:solidFill>
            <a:prstDash val="solid"/>
          </a:ln>
        </p:spPr>
      </p:sp>
      <p:pic>
        <p:nvPicPr>
          <p:cNvPr id="8" name="anim14_4" descr="preencoded.png">    </p:cNvPr>
          <p:cNvPicPr>
            <a:picLocks noChangeAspect="1"/>
          </p:cNvPicPr>
          <p:nvPr/>
        </p:nvPicPr>
        <p:blipFill>
          <a:blip r:embed="rId1"/>
          <a:stretch>
            <a:fillRect/>
          </a:stretch>
        </p:blipFill>
        <p:spPr>
          <a:xfrm>
            <a:off x="11068080" y="5332049"/>
            <a:ext cx="235549" cy="235549"/>
          </a:xfrm>
          <a:prstGeom prst="rect">
            <a:avLst/>
          </a:prstGeom>
        </p:spPr>
      </p:pic>
      <p:sp>
        <p:nvSpPr>
          <p:cNvPr id="9" name="anim14_5"/>
          <p:cNvSpPr txBox="1"/>
          <p:nvPr/>
        </p:nvSpPr>
        <p:spPr>
          <a:xfrm>
            <a:off x="8234477" y="5102352"/>
            <a:ext cx="2585618" cy="347472"/>
          </a:xfrm>
          <a:prstGeom prst="rect">
            <a:avLst/>
          </a:prstGeom>
          <a:noFill/>
          <a:ln/>
        </p:spPr>
        <p:txBody>
          <a:bodyPr wrap="square" lIns="0" tIns="0" rIns="0" bIns="0" rtlCol="0" anchor="t"/>
          <a:lstStyle/>
          <a:p>
            <a:pPr rtl="1" algn="r" indent="0" marL="0">
              <a:buNone/>
            </a:pPr>
            <a:r>
              <a:rPr lang="ar-SA" altLang="en-US" sz="1600" b="1" dirty="0">
                <a:solidFill>
                  <a:srgbClr val="06305C"/>
                </a:solidFill>
                <a:latin typeface="JF Flat" pitchFamily="34" charset="0"/>
                <a:ea typeface="JF Flat" pitchFamily="34" charset="-122"/>
                <a:cs typeface="JF Flat" pitchFamily="34" charset="-120"/>
              </a:rPr>
              <a:t>السنة الخامسة</a:t>
            </a:r>
            <a:endParaRPr lang="ar-SA" sz="1600" dirty="0"/>
          </a:p>
        </p:txBody>
      </p:sp>
      <p:sp>
        <p:nvSpPr>
          <p:cNvPr id="10" name="anim14_6"/>
          <p:cNvSpPr txBox="1"/>
          <p:nvPr/>
        </p:nvSpPr>
        <p:spPr>
          <a:xfrm>
            <a:off x="8234477" y="5449824"/>
            <a:ext cx="2585618" cy="320040"/>
          </a:xfrm>
          <a:prstGeom prst="rect">
            <a:avLst/>
          </a:prstGeom>
          <a:noFill/>
          <a:ln/>
        </p:spPr>
        <p:txBody>
          <a:bodyPr wrap="square" lIns="0" tIns="0" rIns="0" bIns="0" rtlCol="0" anchor="t"/>
          <a:lstStyle/>
          <a:p>
            <a:pPr rtl="1" algn="r" indent="0" marL="0">
              <a:buNone/>
            </a:pPr>
            <a:r>
              <a:rPr lang="ar-SA" altLang="en-US" sz="1200" dirty="0">
                <a:solidFill>
                  <a:srgbClr val="5B6B7F"/>
                </a:solidFill>
                <a:latin typeface="JF Flat" pitchFamily="34" charset="0"/>
                <a:ea typeface="JF Flat" pitchFamily="34" charset="-122"/>
                <a:cs typeface="JF Flat" pitchFamily="34" charset="-120"/>
              </a:rPr>
              <a:t>أول صافي ربح سنوي موجب وفق الجدول</a:t>
            </a:r>
            <a:endParaRPr lang="ar-SA" sz="1200" dirty="0"/>
          </a:p>
        </p:txBody>
      </p:sp>
      <p:sp>
        <p:nvSpPr>
          <p:cNvPr id="11" name="anim14_7"/>
          <p:cNvSpPr/>
          <p:nvPr/>
        </p:nvSpPr>
        <p:spPr>
          <a:xfrm>
            <a:off x="4322978" y="5029200"/>
            <a:ext cx="3545738" cy="841248"/>
          </a:xfrm>
          <a:prstGeom prst="roundRect">
            <a:avLst>
              <a:gd name="adj" fmla="val 10870"/>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2" name="anim14_8"/>
          <p:cNvSpPr/>
          <p:nvPr/>
        </p:nvSpPr>
        <p:spPr>
          <a:xfrm>
            <a:off x="7155485" y="5193792"/>
            <a:ext cx="512064" cy="512064"/>
          </a:xfrm>
          <a:prstGeom prst="ellipse">
            <a:avLst/>
          </a:prstGeom>
          <a:solidFill>
            <a:srgbClr val="00539B"/>
          </a:solidFill>
          <a:ln w="12700">
            <a:solidFill>
              <a:srgbClr val="00539B"/>
            </a:solidFill>
            <a:prstDash val="solid"/>
          </a:ln>
        </p:spPr>
      </p:sp>
      <p:pic>
        <p:nvPicPr>
          <p:cNvPr id="13" name="anim14_9" descr="preencoded.png">    </p:cNvPr>
          <p:cNvPicPr>
            <a:picLocks noChangeAspect="1"/>
          </p:cNvPicPr>
          <p:nvPr/>
        </p:nvPicPr>
        <p:blipFill>
          <a:blip r:embed="rId2"/>
          <a:stretch>
            <a:fillRect/>
          </a:stretch>
        </p:blipFill>
        <p:spPr>
          <a:xfrm>
            <a:off x="7293742" y="5332049"/>
            <a:ext cx="235549" cy="235549"/>
          </a:xfrm>
          <a:prstGeom prst="rect">
            <a:avLst/>
          </a:prstGeom>
        </p:spPr>
      </p:pic>
      <p:sp>
        <p:nvSpPr>
          <p:cNvPr id="14" name="anim14_10"/>
          <p:cNvSpPr txBox="1"/>
          <p:nvPr/>
        </p:nvSpPr>
        <p:spPr>
          <a:xfrm>
            <a:off x="4460138" y="5102352"/>
            <a:ext cx="2585618" cy="347472"/>
          </a:xfrm>
          <a:prstGeom prst="rect">
            <a:avLst/>
          </a:prstGeom>
          <a:noFill/>
          <a:ln/>
        </p:spPr>
        <p:txBody>
          <a:bodyPr wrap="square" lIns="0" tIns="0" rIns="0" bIns="0" rtlCol="0" anchor="t"/>
          <a:lstStyle/>
          <a:p>
            <a:pPr rtl="1" algn="r" indent="0" marL="0">
              <a:buNone/>
            </a:pPr>
            <a:r>
              <a:rPr lang="ar-SA" altLang="en-US" sz="1600" b="1" dirty="0">
                <a:solidFill>
                  <a:srgbClr val="06305C"/>
                </a:solidFill>
                <a:latin typeface="JF Flat" pitchFamily="34" charset="0"/>
                <a:ea typeface="JF Flat" pitchFamily="34" charset="-122"/>
                <a:cs typeface="JF Flat" pitchFamily="34" charset="-120"/>
              </a:rPr>
              <a:t>السنة الثامنة</a:t>
            </a:r>
            <a:endParaRPr lang="ar-SA" sz="1600" dirty="0"/>
          </a:p>
        </p:txBody>
      </p:sp>
      <p:sp>
        <p:nvSpPr>
          <p:cNvPr id="15" name="anim14_11"/>
          <p:cNvSpPr txBox="1"/>
          <p:nvPr/>
        </p:nvSpPr>
        <p:spPr>
          <a:xfrm>
            <a:off x="4460138" y="5449824"/>
            <a:ext cx="2585618" cy="320040"/>
          </a:xfrm>
          <a:prstGeom prst="rect">
            <a:avLst/>
          </a:prstGeom>
          <a:noFill/>
          <a:ln/>
        </p:spPr>
        <p:txBody>
          <a:bodyPr wrap="square" lIns="0" tIns="0" rIns="0" bIns="0" rtlCol="0" anchor="t"/>
          <a:lstStyle/>
          <a:p>
            <a:pPr rtl="1" algn="r" indent="0" marL="0">
              <a:buNone/>
            </a:pPr>
            <a:r>
              <a:rPr lang="ar-SA" altLang="en-US" sz="1200" dirty="0">
                <a:solidFill>
                  <a:srgbClr val="5B6B7F"/>
                </a:solidFill>
                <a:latin typeface="JF Flat" pitchFamily="34" charset="0"/>
                <a:ea typeface="JF Flat" pitchFamily="34" charset="-122"/>
                <a:cs typeface="JF Flat" pitchFamily="34" charset="-120"/>
              </a:rPr>
              <a:t>تحول صافي الربح التراكمي إلى الموجب</a:t>
            </a:r>
            <a:endParaRPr lang="ar-SA" sz="1200" dirty="0"/>
          </a:p>
        </p:txBody>
      </p:sp>
      <p:sp>
        <p:nvSpPr>
          <p:cNvPr id="16" name="anim14_12"/>
          <p:cNvSpPr/>
          <p:nvPr/>
        </p:nvSpPr>
        <p:spPr>
          <a:xfrm>
            <a:off x="548640" y="5029200"/>
            <a:ext cx="3545738" cy="841248"/>
          </a:xfrm>
          <a:prstGeom prst="roundRect">
            <a:avLst>
              <a:gd name="adj" fmla="val 10870"/>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14_13"/>
          <p:cNvSpPr/>
          <p:nvPr/>
        </p:nvSpPr>
        <p:spPr>
          <a:xfrm>
            <a:off x="3381146" y="5193792"/>
            <a:ext cx="512064" cy="512064"/>
          </a:xfrm>
          <a:prstGeom prst="ellipse">
            <a:avLst/>
          </a:prstGeom>
          <a:solidFill>
            <a:srgbClr val="F15524"/>
          </a:solidFill>
          <a:ln w="12700">
            <a:solidFill>
              <a:srgbClr val="F15524"/>
            </a:solidFill>
            <a:prstDash val="solid"/>
          </a:ln>
        </p:spPr>
      </p:sp>
      <p:pic>
        <p:nvPicPr>
          <p:cNvPr id="18" name="anim14_14" descr="preencoded.png">    </p:cNvPr>
          <p:cNvPicPr>
            <a:picLocks noChangeAspect="1"/>
          </p:cNvPicPr>
          <p:nvPr/>
        </p:nvPicPr>
        <p:blipFill>
          <a:blip r:embed="rId3"/>
          <a:stretch>
            <a:fillRect/>
          </a:stretch>
        </p:blipFill>
        <p:spPr>
          <a:xfrm>
            <a:off x="3519404" y="5332049"/>
            <a:ext cx="235549" cy="235549"/>
          </a:xfrm>
          <a:prstGeom prst="rect">
            <a:avLst/>
          </a:prstGeom>
        </p:spPr>
      </p:pic>
      <p:sp>
        <p:nvSpPr>
          <p:cNvPr id="19" name="anim14_15"/>
          <p:cNvSpPr txBox="1"/>
          <p:nvPr/>
        </p:nvSpPr>
        <p:spPr>
          <a:xfrm>
            <a:off x="685800" y="5102352"/>
            <a:ext cx="2585618" cy="347472"/>
          </a:xfrm>
          <a:prstGeom prst="rect">
            <a:avLst/>
          </a:prstGeom>
          <a:noFill/>
          <a:ln/>
        </p:spPr>
        <p:txBody>
          <a:bodyPr wrap="square" lIns="0" tIns="0" rIns="0" bIns="0" rtlCol="0" anchor="t"/>
          <a:lstStyle/>
          <a:p>
            <a:pPr rtl="1" algn="r" indent="0" marL="0">
              <a:buNone/>
            </a:pPr>
            <a:r>
              <a:rPr lang="ar-SA" altLang="en-US" sz="1600" b="1" dirty="0">
                <a:solidFill>
                  <a:srgbClr val="06305C"/>
                </a:solidFill>
                <a:latin typeface="JF Flat" pitchFamily="34" charset="0"/>
                <a:ea typeface="JF Flat" pitchFamily="34" charset="-122"/>
                <a:cs typeface="JF Flat" pitchFamily="34" charset="-120"/>
              </a:rPr>
              <a:t>37.1%</a:t>
            </a:r>
            <a:endParaRPr lang="ar-SA" sz="1600" dirty="0"/>
          </a:p>
        </p:txBody>
      </p:sp>
      <p:sp>
        <p:nvSpPr>
          <p:cNvPr id="20" name="anim14_16"/>
          <p:cNvSpPr txBox="1"/>
          <p:nvPr/>
        </p:nvSpPr>
        <p:spPr>
          <a:xfrm>
            <a:off x="685800" y="5449824"/>
            <a:ext cx="2585618" cy="320040"/>
          </a:xfrm>
          <a:prstGeom prst="rect">
            <a:avLst/>
          </a:prstGeom>
          <a:noFill/>
          <a:ln/>
        </p:spPr>
        <p:txBody>
          <a:bodyPr wrap="square" lIns="0" tIns="0" rIns="0" bIns="0" rtlCol="0" anchor="t"/>
          <a:lstStyle/>
          <a:p>
            <a:pPr rtl="1" algn="r" indent="0" marL="0">
              <a:buNone/>
            </a:pPr>
            <a:r>
              <a:rPr lang="ar-SA" altLang="en-US" sz="1200" dirty="0">
                <a:solidFill>
                  <a:srgbClr val="5B6B7F"/>
                </a:solidFill>
                <a:latin typeface="JF Flat" pitchFamily="34" charset="0"/>
                <a:ea typeface="JF Flat" pitchFamily="34" charset="-122"/>
                <a:cs typeface="JF Flat" pitchFamily="34" charset="-120"/>
              </a:rPr>
              <a:t>العائد من الاستثمار ابتداءً من السنة العاشرة</a:t>
            </a:r>
            <a:endParaRPr lang="ar-SA" sz="1200" dirty="0"/>
          </a:p>
        </p:txBody>
      </p:sp>
      <p:sp>
        <p:nvSpPr>
          <p:cNvPr id="21" name="anim14_17"/>
          <p:cNvSpPr txBox="1"/>
          <p:nvPr/>
        </p:nvSpPr>
        <p:spPr>
          <a:xfrm>
            <a:off x="1188720" y="5989320"/>
            <a:ext cx="10454335" cy="274320"/>
          </a:xfrm>
          <a:prstGeom prst="rect">
            <a:avLst/>
          </a:prstGeom>
          <a:noFill/>
          <a:ln/>
        </p:spPr>
        <p:txBody>
          <a:bodyPr wrap="square" lIns="0" tIns="0" rIns="0" bIns="0" rtlCol="0" anchor="t"/>
          <a:lstStyle/>
          <a:p>
            <a:pPr rtl="1" algn="r" indent="0" marL="0">
              <a:buNone/>
            </a:pPr>
            <a:r>
              <a:rPr lang="ar-SA" altLang="en-US" sz="1000" i="1" dirty="0">
                <a:solidFill>
                  <a:srgbClr val="5B6B7F"/>
                </a:solidFill>
                <a:latin typeface="JF Flat" pitchFamily="34" charset="0"/>
                <a:ea typeface="JF Flat" pitchFamily="34" charset="-122"/>
                <a:cs typeface="JF Flat" pitchFamily="34" charset="-120"/>
              </a:rPr>
              <a:t>ملاحظة: الإيرادات تقديرات تخطيطية مشروطة بتحقق الطلب والتعاقدات والتسعير والجاهزية التشغيلية، وليست إيرادات مضمونة.</a:t>
            </a:r>
            <a:endParaRPr lang="ar-SA" sz="1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600"/>
                                        <p:tgtEl>
                                          <p:spTgt spid="15"/>
                                        </p:tgtEl>
                                      </p:cBhvr>
                                    </p:animEffect>
                                    <p:anim calcmode="lin" valueType="num">
                                      <p:cBhvr additive="base">
                                        <p:cTn id="1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1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26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26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26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39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1"/>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39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39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42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450" decel="100000" fill="hold"/>
                                        <p:tgtEl>
                                          <p:spTgt spid="7"/>
                                        </p:tgtEl>
                                        <p:attrNameLst>
                                          <p:attrName>ppt_w</p:attrName>
                                        </p:attrNameLst>
                                      </p:cBhvr>
                                      <p:tavLst>
                                        <p:tav tm="0">
                                          <p:val>
                                            <p:strVal val="0"/>
                                          </p:val>
                                        </p:tav>
                                        <p:tav tm="100000">
                                          <p:val>
                                            <p:strVal val="#ppt_w"/>
                                          </p:val>
                                        </p:tav>
                                      </p:tavLst>
                                    </p:anim>
                                    <p:anim calcmode="lin" valueType="num">
                                      <p:cBhvr additive="base">
                                        <p:cTn id="48" dur="450" decel="100000" fill="hold"/>
                                        <p:tgtEl>
                                          <p:spTgt spid="7"/>
                                        </p:tgtEl>
                                        <p:attrNameLst>
                                          <p:attrName>ppt_h</p:attrName>
                                        </p:attrNameLst>
                                      </p:cBhvr>
                                      <p:tavLst>
                                        <p:tav tm="0">
                                          <p:val>
                                            <p:strVal val="0"/>
                                          </p:val>
                                        </p:tav>
                                        <p:tav tm="100000">
                                          <p:val>
                                            <p:strVal val="#ppt_h"/>
                                          </p:val>
                                        </p:tav>
                                      </p:tavLst>
                                    </p:anim>
                                    <p:animEffect transition="in" filter="fade">
                                      <p:cBhvr>
                                        <p:cTn id="49" dur="450"/>
                                        <p:tgtEl>
                                          <p:spTgt spid="7"/>
                                        </p:tgtEl>
                                      </p:cBhvr>
                                    </p:animEffect>
                                  </p:childTnLst>
                                </p:cTn>
                              </p:par>
                              <p:par>
                                <p:cTn id="50" presetID="53" presetClass="entr" presetSubtype="16" fill="hold" grpId="0" nodeType="withEffect">
                                  <p:stCondLst>
                                    <p:cond delay="520"/>
                                  </p:stCondLst>
                                  <p:childTnLst>
                                    <p:set>
                                      <p:cBhvr>
                                        <p:cTn id="51" dur="1" fill="hold">
                                          <p:stCondLst>
                                            <p:cond delay="0"/>
                                          </p:stCondLst>
                                        </p:cTn>
                                        <p:tgtEl>
                                          <p:spTgt spid="8"/>
                                        </p:tgtEl>
                                        <p:attrNameLst>
                                          <p:attrName>style.visibility</p:attrName>
                                        </p:attrNameLst>
                                      </p:cBhvr>
                                      <p:to>
                                        <p:strVal val="visible"/>
                                      </p:to>
                                    </p:set>
                                    <p:anim calcmode="lin" valueType="num">
                                      <p:cBhvr additive="base">
                                        <p:cTn id="52" dur="450" decel="100000" fill="hold"/>
                                        <p:tgtEl>
                                          <p:spTgt spid="8"/>
                                        </p:tgtEl>
                                        <p:attrNameLst>
                                          <p:attrName>ppt_w</p:attrName>
                                        </p:attrNameLst>
                                      </p:cBhvr>
                                      <p:tavLst>
                                        <p:tav tm="0">
                                          <p:val>
                                            <p:strVal val="0"/>
                                          </p:val>
                                        </p:tav>
                                        <p:tav tm="100000">
                                          <p:val>
                                            <p:strVal val="#ppt_w"/>
                                          </p:val>
                                        </p:tav>
                                      </p:tavLst>
                                    </p:anim>
                                    <p:anim calcmode="lin" valueType="num">
                                      <p:cBhvr additive="base">
                                        <p:cTn id="53" dur="450" decel="100000" fill="hold"/>
                                        <p:tgtEl>
                                          <p:spTgt spid="8"/>
                                        </p:tgtEl>
                                        <p:attrNameLst>
                                          <p:attrName>ppt_h</p:attrName>
                                        </p:attrNameLst>
                                      </p:cBhvr>
                                      <p:tavLst>
                                        <p:tav tm="0">
                                          <p:val>
                                            <p:strVal val="0"/>
                                          </p:val>
                                        </p:tav>
                                        <p:tav tm="100000">
                                          <p:val>
                                            <p:strVal val="#ppt_h"/>
                                          </p:val>
                                        </p:tav>
                                      </p:tavLst>
                                    </p:anim>
                                    <p:animEffect transition="in" filter="fade">
                                      <p:cBhvr>
                                        <p:cTn id="54" dur="450"/>
                                        <p:tgtEl>
                                          <p:spTgt spid="8"/>
                                        </p:tgtEl>
                                      </p:cBhvr>
                                    </p:animEffect>
                                  </p:childTnLst>
                                </p:cTn>
                              </p:par>
                              <p:par>
                                <p:cTn id="55" presetID="42" presetClass="entr" presetSubtype="0" fill="hold" grpId="0" nodeType="withEffect">
                                  <p:stCondLst>
                                    <p:cond delay="52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52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52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52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550"/>
                                  </p:stCondLst>
                                  <p:childTnLst>
                                    <p:set>
                                      <p:cBhvr>
                                        <p:cTn id="76" dur="1" fill="hold">
                                          <p:stCondLst>
                                            <p:cond delay="0"/>
                                          </p:stCondLst>
                                        </p:cTn>
                                        <p:tgtEl>
                                          <p:spTgt spid="12"/>
                                        </p:tgtEl>
                                        <p:attrNameLst>
                                          <p:attrName>style.visibility</p:attrName>
                                        </p:attrNameLst>
                                      </p:cBhvr>
                                      <p:to>
                                        <p:strVal val="visible"/>
                                      </p:to>
                                    </p:set>
                                    <p:anim calcmode="lin" valueType="num">
                                      <p:cBhvr additive="base">
                                        <p:cTn id="77" dur="450" decel="100000" fill="hold"/>
                                        <p:tgtEl>
                                          <p:spTgt spid="12"/>
                                        </p:tgtEl>
                                        <p:attrNameLst>
                                          <p:attrName>ppt_w</p:attrName>
                                        </p:attrNameLst>
                                      </p:cBhvr>
                                      <p:tavLst>
                                        <p:tav tm="0">
                                          <p:val>
                                            <p:strVal val="0"/>
                                          </p:val>
                                        </p:tav>
                                        <p:tav tm="100000">
                                          <p:val>
                                            <p:strVal val="#ppt_w"/>
                                          </p:val>
                                        </p:tav>
                                      </p:tavLst>
                                    </p:anim>
                                    <p:anim calcmode="lin" valueType="num">
                                      <p:cBhvr additive="base">
                                        <p:cTn id="78" dur="450" decel="100000" fill="hold"/>
                                        <p:tgtEl>
                                          <p:spTgt spid="12"/>
                                        </p:tgtEl>
                                        <p:attrNameLst>
                                          <p:attrName>ppt_h</p:attrName>
                                        </p:attrNameLst>
                                      </p:cBhvr>
                                      <p:tavLst>
                                        <p:tav tm="0">
                                          <p:val>
                                            <p:strVal val="0"/>
                                          </p:val>
                                        </p:tav>
                                        <p:tav tm="100000">
                                          <p:val>
                                            <p:strVal val="#ppt_h"/>
                                          </p:val>
                                        </p:tav>
                                      </p:tavLst>
                                    </p:anim>
                                    <p:animEffect transition="in" filter="fade">
                                      <p:cBhvr>
                                        <p:cTn id="79" dur="450"/>
                                        <p:tgtEl>
                                          <p:spTgt spid="12"/>
                                        </p:tgtEl>
                                      </p:cBhvr>
                                    </p:animEffect>
                                  </p:childTnLst>
                                </p:cTn>
                              </p:par>
                              <p:par>
                                <p:cTn id="80" presetID="53" presetClass="entr" presetSubtype="16" fill="hold" grpId="0" nodeType="withEffect">
                                  <p:stCondLst>
                                    <p:cond delay="650"/>
                                  </p:stCondLst>
                                  <p:childTnLst>
                                    <p:set>
                                      <p:cBhvr>
                                        <p:cTn id="81" dur="1" fill="hold">
                                          <p:stCondLst>
                                            <p:cond delay="0"/>
                                          </p:stCondLst>
                                        </p:cTn>
                                        <p:tgtEl>
                                          <p:spTgt spid="13"/>
                                        </p:tgtEl>
                                        <p:attrNameLst>
                                          <p:attrName>style.visibility</p:attrName>
                                        </p:attrNameLst>
                                      </p:cBhvr>
                                      <p:to>
                                        <p:strVal val="visible"/>
                                      </p:to>
                                    </p:set>
                                    <p:anim calcmode="lin" valueType="num">
                                      <p:cBhvr additive="base">
                                        <p:cTn id="82" dur="450" decel="100000" fill="hold"/>
                                        <p:tgtEl>
                                          <p:spTgt spid="13"/>
                                        </p:tgtEl>
                                        <p:attrNameLst>
                                          <p:attrName>ppt_w</p:attrName>
                                        </p:attrNameLst>
                                      </p:cBhvr>
                                      <p:tavLst>
                                        <p:tav tm="0">
                                          <p:val>
                                            <p:strVal val="0"/>
                                          </p:val>
                                        </p:tav>
                                        <p:tav tm="100000">
                                          <p:val>
                                            <p:strVal val="#ppt_w"/>
                                          </p:val>
                                        </p:tav>
                                      </p:tavLst>
                                    </p:anim>
                                    <p:anim calcmode="lin" valueType="num">
                                      <p:cBhvr additive="base">
                                        <p:cTn id="83" dur="450" decel="100000" fill="hold"/>
                                        <p:tgtEl>
                                          <p:spTgt spid="13"/>
                                        </p:tgtEl>
                                        <p:attrNameLst>
                                          <p:attrName>ppt_h</p:attrName>
                                        </p:attrNameLst>
                                      </p:cBhvr>
                                      <p:tavLst>
                                        <p:tav tm="0">
                                          <p:val>
                                            <p:strVal val="0"/>
                                          </p:val>
                                        </p:tav>
                                        <p:tav tm="100000">
                                          <p:val>
                                            <p:strVal val="#ppt_h"/>
                                          </p:val>
                                        </p:tav>
                                      </p:tavLst>
                                    </p:anim>
                                    <p:animEffect transition="in" filter="fade">
                                      <p:cBhvr>
                                        <p:cTn id="84" dur="450"/>
                                        <p:tgtEl>
                                          <p:spTgt spid="13"/>
                                        </p:tgtEl>
                                      </p:cBhvr>
                                    </p:animEffect>
                                  </p:childTnLst>
                                </p:cTn>
                              </p:par>
                              <p:par>
                                <p:cTn id="85" presetID="53" presetClass="entr" presetSubtype="16" fill="hold" grpId="0" nodeType="withEffect">
                                  <p:stCondLst>
                                    <p:cond delay="68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decel="100000" fill="hold"/>
                                        <p:tgtEl>
                                          <p:spTgt spid="17"/>
                                        </p:tgtEl>
                                        <p:attrNameLst>
                                          <p:attrName>ppt_w</p:attrName>
                                        </p:attrNameLst>
                                      </p:cBhvr>
                                      <p:tavLst>
                                        <p:tav tm="0">
                                          <p:val>
                                            <p:strVal val="0"/>
                                          </p:val>
                                        </p:tav>
                                        <p:tav tm="100000">
                                          <p:val>
                                            <p:strVal val="#ppt_w"/>
                                          </p:val>
                                        </p:tav>
                                      </p:tavLst>
                                    </p:anim>
                                    <p:anim calcmode="lin" valueType="num">
                                      <p:cBhvr additive="base">
                                        <p:cTn id="88" dur="450" decel="100000" fill="hold"/>
                                        <p:tgtEl>
                                          <p:spTgt spid="17"/>
                                        </p:tgtEl>
                                        <p:attrNameLst>
                                          <p:attrName>ppt_h</p:attrName>
                                        </p:attrNameLst>
                                      </p:cBhvr>
                                      <p:tavLst>
                                        <p:tav tm="0">
                                          <p:val>
                                            <p:strVal val="0"/>
                                          </p:val>
                                        </p:tav>
                                        <p:tav tm="100000">
                                          <p:val>
                                            <p:strVal val="#ppt_h"/>
                                          </p:val>
                                        </p:tav>
                                      </p:tavLst>
                                    </p:anim>
                                    <p:animEffect transition="in" filter="fade">
                                      <p:cBhvr>
                                        <p:cTn id="89" dur="450"/>
                                        <p:tgtEl>
                                          <p:spTgt spid="17"/>
                                        </p:tgtEl>
                                      </p:cBhvr>
                                    </p:animEffect>
                                  </p:childTnLst>
                                </p:cTn>
                              </p:par>
                              <p:par>
                                <p:cTn id="90" presetID="53" presetClass="entr" presetSubtype="16" fill="hold" grpId="0" nodeType="withEffect">
                                  <p:stCondLst>
                                    <p:cond delay="780"/>
                                  </p:stCondLst>
                                  <p:childTnLst>
                                    <p:set>
                                      <p:cBhvr>
                                        <p:cTn id="91" dur="1" fill="hold">
                                          <p:stCondLst>
                                            <p:cond delay="0"/>
                                          </p:stCondLst>
                                        </p:cTn>
                                        <p:tgtEl>
                                          <p:spTgt spid="18"/>
                                        </p:tgtEl>
                                        <p:attrNameLst>
                                          <p:attrName>style.visibility</p:attrName>
                                        </p:attrNameLst>
                                      </p:cBhvr>
                                      <p:to>
                                        <p:strVal val="visible"/>
                                      </p:to>
                                    </p:set>
                                    <p:anim calcmode="lin" valueType="num">
                                      <p:cBhvr additive="base">
                                        <p:cTn id="92" dur="450" decel="100000" fill="hold"/>
                                        <p:tgtEl>
                                          <p:spTgt spid="18"/>
                                        </p:tgtEl>
                                        <p:attrNameLst>
                                          <p:attrName>ppt_w</p:attrName>
                                        </p:attrNameLst>
                                      </p:cBhvr>
                                      <p:tavLst>
                                        <p:tav tm="0">
                                          <p:val>
                                            <p:strVal val="0"/>
                                          </p:val>
                                        </p:tav>
                                        <p:tav tm="100000">
                                          <p:val>
                                            <p:strVal val="#ppt_w"/>
                                          </p:val>
                                        </p:tav>
                                      </p:tavLst>
                                    </p:anim>
                                    <p:anim calcmode="lin" valueType="num">
                                      <p:cBhvr additive="base">
                                        <p:cTn id="93" dur="450" decel="100000" fill="hold"/>
                                        <p:tgtEl>
                                          <p:spTgt spid="18"/>
                                        </p:tgtEl>
                                        <p:attrNameLst>
                                          <p:attrName>ppt_h</p:attrName>
                                        </p:attrNameLst>
                                      </p:cBhvr>
                                      <p:tavLst>
                                        <p:tav tm="0">
                                          <p:val>
                                            <p:strVal val="0"/>
                                          </p:val>
                                        </p:tav>
                                        <p:tav tm="100000">
                                          <p:val>
                                            <p:strVal val="#ppt_h"/>
                                          </p:val>
                                        </p:tav>
                                      </p:tavLst>
                                    </p:anim>
                                    <p:animEffect transition="in" filter="fade">
                                      <p:cBhvr>
                                        <p:cTn id="94"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15" grpId="0">
        <p:bldAsOne/>
      </p:bldGraphic>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06  |  الإيرادات المتوقعة</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نمو الإيرادات ومصادرها الرئيسية</a:t>
            </a:r>
            <a:endParaRPr lang="en-US" sz="3000" dirty="0"/>
          </a:p>
        </p:txBody>
      </p:sp>
      <p:sp>
        <p:nvSpPr>
          <p:cNvPr id="4" name="anim15_0"/>
          <p:cNvSpPr/>
          <p:nvPr/>
        </p:nvSpPr>
        <p:spPr>
          <a:xfrm>
            <a:off x="548640" y="1554480"/>
            <a:ext cx="6309360" cy="4572000"/>
          </a:xfrm>
          <a:prstGeom prst="roundRect">
            <a:avLst>
              <a:gd name="adj" fmla="val 2000"/>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15_1"/>
          <p:cNvSpPr txBox="1"/>
          <p:nvPr/>
        </p:nvSpPr>
        <p:spPr>
          <a:xfrm>
            <a:off x="777240" y="1691640"/>
            <a:ext cx="5852160" cy="365760"/>
          </a:xfrm>
          <a:prstGeom prst="rect">
            <a:avLst/>
          </a:prstGeom>
          <a:noFill/>
          <a:ln/>
        </p:spPr>
        <p:txBody>
          <a:bodyPr wrap="square" lIns="0" tIns="0" rIns="0" bIns="0" rtlCol="0" anchor="t"/>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الإيرادات مقابل المصروفات (مليون دينار ليبي)</a:t>
            </a:r>
            <a:endParaRPr lang="ar-SA" sz="1500" dirty="0"/>
          </a:p>
        </p:txBody>
      </p:sp>
      <p:graphicFrame>
        <p:nvGraphicFramePr>
          <p:cNvPr id="6" name="anim15_2" descr=""/>
          <p:cNvGraphicFramePr/>
          <p:nvPr/>
        </p:nvGraphicFramePr>
        <p:xfrm>
          <a:off x="685800" y="210312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7" name="anim15_3"/>
          <p:cNvSpPr txBox="1"/>
          <p:nvPr/>
        </p:nvSpPr>
        <p:spPr>
          <a:xfrm>
            <a:off x="7132320" y="1554480"/>
            <a:ext cx="4510735" cy="365760"/>
          </a:xfrm>
          <a:prstGeom prst="rect">
            <a:avLst/>
          </a:prstGeom>
          <a:noFill/>
          <a:ln/>
        </p:spPr>
        <p:txBody>
          <a:bodyPr wrap="square" lIns="0" tIns="0" rIns="0" bIns="0" rtlCol="0" anchor="t"/>
          <a:lstStyle/>
          <a:p>
            <a:pPr rtl="1" algn="r" indent="0" marL="0">
              <a:buNone/>
            </a:pPr>
            <a:r>
              <a:rPr lang="ar-SA" altLang="en-US" sz="1700" b="1" dirty="0">
                <a:solidFill>
                  <a:srgbClr val="06305C"/>
                </a:solidFill>
                <a:latin typeface="JF Flat" pitchFamily="34" charset="0"/>
                <a:ea typeface="JF Flat" pitchFamily="34" charset="-122"/>
                <a:cs typeface="JF Flat" pitchFamily="34" charset="-120"/>
              </a:rPr>
              <a:t>مصادر الإيرادات الرئيسية</a:t>
            </a:r>
            <a:endParaRPr lang="ar-SA" sz="1700" dirty="0"/>
          </a:p>
        </p:txBody>
      </p:sp>
      <p:sp>
        <p:nvSpPr>
          <p:cNvPr id="8" name="anim15_4"/>
          <p:cNvSpPr/>
          <p:nvPr/>
        </p:nvSpPr>
        <p:spPr>
          <a:xfrm>
            <a:off x="11277295" y="2048256"/>
            <a:ext cx="347472" cy="347472"/>
          </a:xfrm>
          <a:prstGeom prst="ellipse">
            <a:avLst/>
          </a:prstGeom>
          <a:solidFill>
            <a:srgbClr val="00539B"/>
          </a:solidFill>
          <a:ln w="12700">
            <a:solidFill>
              <a:srgbClr val="00539B"/>
            </a:solidFill>
            <a:prstDash val="solid"/>
          </a:ln>
        </p:spPr>
      </p:sp>
      <p:pic>
        <p:nvPicPr>
          <p:cNvPr id="9" name="anim15_5" descr="preencoded.png">    </p:cNvPr>
          <p:cNvPicPr>
            <a:picLocks noChangeAspect="1"/>
          </p:cNvPicPr>
          <p:nvPr/>
        </p:nvPicPr>
        <p:blipFill>
          <a:blip r:embed="rId2"/>
          <a:stretch>
            <a:fillRect/>
          </a:stretch>
        </p:blipFill>
        <p:spPr>
          <a:xfrm>
            <a:off x="11371113" y="2142073"/>
            <a:ext cx="159837" cy="159837"/>
          </a:xfrm>
          <a:prstGeom prst="rect">
            <a:avLst/>
          </a:prstGeom>
        </p:spPr>
      </p:pic>
      <p:sp>
        <p:nvSpPr>
          <p:cNvPr id="10" name="anim15_6"/>
          <p:cNvSpPr txBox="1"/>
          <p:nvPr/>
        </p:nvSpPr>
        <p:spPr>
          <a:xfrm>
            <a:off x="7132320" y="20116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إيواء المعدات والخوادم (Colocation).</a:t>
            </a:r>
            <a:endParaRPr lang="ar-SA" sz="1250" dirty="0"/>
          </a:p>
        </p:txBody>
      </p:sp>
      <p:sp>
        <p:nvSpPr>
          <p:cNvPr id="11" name="anim15_7"/>
          <p:cNvSpPr/>
          <p:nvPr/>
        </p:nvSpPr>
        <p:spPr>
          <a:xfrm>
            <a:off x="11277295" y="2505456"/>
            <a:ext cx="347472" cy="347472"/>
          </a:xfrm>
          <a:prstGeom prst="ellipse">
            <a:avLst/>
          </a:prstGeom>
          <a:solidFill>
            <a:srgbClr val="F15524"/>
          </a:solidFill>
          <a:ln w="12700">
            <a:solidFill>
              <a:srgbClr val="F15524"/>
            </a:solidFill>
            <a:prstDash val="solid"/>
          </a:ln>
        </p:spPr>
      </p:sp>
      <p:pic>
        <p:nvPicPr>
          <p:cNvPr id="12" name="anim15_8" descr="preencoded.png">    </p:cNvPr>
          <p:cNvPicPr>
            <a:picLocks noChangeAspect="1"/>
          </p:cNvPicPr>
          <p:nvPr/>
        </p:nvPicPr>
        <p:blipFill>
          <a:blip r:embed="rId3"/>
          <a:stretch>
            <a:fillRect/>
          </a:stretch>
        </p:blipFill>
        <p:spPr>
          <a:xfrm>
            <a:off x="11371113" y="2599273"/>
            <a:ext cx="159837" cy="159837"/>
          </a:xfrm>
          <a:prstGeom prst="rect">
            <a:avLst/>
          </a:prstGeom>
        </p:spPr>
      </p:pic>
      <p:sp>
        <p:nvSpPr>
          <p:cNvPr id="13" name="anim15_9"/>
          <p:cNvSpPr txBox="1"/>
          <p:nvPr/>
        </p:nvSpPr>
        <p:spPr>
          <a:xfrm>
            <a:off x="7132320" y="24688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الحوسبة السحابية (Cloud Computing / IaaS).</a:t>
            </a:r>
            <a:endParaRPr lang="ar-SA" sz="1250" dirty="0"/>
          </a:p>
        </p:txBody>
      </p:sp>
      <p:sp>
        <p:nvSpPr>
          <p:cNvPr id="14" name="anim15_10"/>
          <p:cNvSpPr/>
          <p:nvPr/>
        </p:nvSpPr>
        <p:spPr>
          <a:xfrm>
            <a:off x="11277295" y="2962656"/>
            <a:ext cx="347472" cy="347472"/>
          </a:xfrm>
          <a:prstGeom prst="ellipse">
            <a:avLst/>
          </a:prstGeom>
          <a:solidFill>
            <a:srgbClr val="00539B"/>
          </a:solidFill>
          <a:ln w="12700">
            <a:solidFill>
              <a:srgbClr val="00539B"/>
            </a:solidFill>
            <a:prstDash val="solid"/>
          </a:ln>
        </p:spPr>
      </p:sp>
      <p:pic>
        <p:nvPicPr>
          <p:cNvPr id="15" name="anim15_11" descr="preencoded.png">    </p:cNvPr>
          <p:cNvPicPr>
            <a:picLocks noChangeAspect="1"/>
          </p:cNvPicPr>
          <p:nvPr/>
        </p:nvPicPr>
        <p:blipFill>
          <a:blip r:embed="rId4"/>
          <a:stretch>
            <a:fillRect/>
          </a:stretch>
        </p:blipFill>
        <p:spPr>
          <a:xfrm>
            <a:off x="11371113" y="3056473"/>
            <a:ext cx="159837" cy="159837"/>
          </a:xfrm>
          <a:prstGeom prst="rect">
            <a:avLst/>
          </a:prstGeom>
        </p:spPr>
      </p:pic>
      <p:sp>
        <p:nvSpPr>
          <p:cNvPr id="16" name="anim15_12"/>
          <p:cNvSpPr txBox="1"/>
          <p:nvPr/>
        </p:nvSpPr>
        <p:spPr>
          <a:xfrm>
            <a:off x="7132320" y="29260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البريد الإلكتروني والتخزين السحابي.</a:t>
            </a:r>
            <a:endParaRPr lang="ar-SA" sz="1250" dirty="0"/>
          </a:p>
        </p:txBody>
      </p:sp>
      <p:sp>
        <p:nvSpPr>
          <p:cNvPr id="17" name="anim15_13"/>
          <p:cNvSpPr/>
          <p:nvPr/>
        </p:nvSpPr>
        <p:spPr>
          <a:xfrm>
            <a:off x="11277295" y="3419856"/>
            <a:ext cx="347472" cy="347472"/>
          </a:xfrm>
          <a:prstGeom prst="ellipse">
            <a:avLst/>
          </a:prstGeom>
          <a:solidFill>
            <a:srgbClr val="F15524"/>
          </a:solidFill>
          <a:ln w="12700">
            <a:solidFill>
              <a:srgbClr val="F15524"/>
            </a:solidFill>
            <a:prstDash val="solid"/>
          </a:ln>
        </p:spPr>
      </p:sp>
      <p:pic>
        <p:nvPicPr>
          <p:cNvPr id="18" name="anim15_14" descr="preencoded.png">    </p:cNvPr>
          <p:cNvPicPr>
            <a:picLocks noChangeAspect="1"/>
          </p:cNvPicPr>
          <p:nvPr/>
        </p:nvPicPr>
        <p:blipFill>
          <a:blip r:embed="rId5"/>
          <a:stretch>
            <a:fillRect/>
          </a:stretch>
        </p:blipFill>
        <p:spPr>
          <a:xfrm>
            <a:off x="11371113" y="3513673"/>
            <a:ext cx="159837" cy="159837"/>
          </a:xfrm>
          <a:prstGeom prst="rect">
            <a:avLst/>
          </a:prstGeom>
        </p:spPr>
      </p:pic>
      <p:sp>
        <p:nvSpPr>
          <p:cNvPr id="19" name="anim15_15"/>
          <p:cNvSpPr txBox="1"/>
          <p:nvPr/>
        </p:nvSpPr>
        <p:spPr>
          <a:xfrm>
            <a:off x="7132320" y="33832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النسخ الاحتياطي والتعافي من الكوارث.</a:t>
            </a:r>
            <a:endParaRPr lang="ar-SA" sz="1250" dirty="0"/>
          </a:p>
        </p:txBody>
      </p:sp>
      <p:sp>
        <p:nvSpPr>
          <p:cNvPr id="20" name="anim15_16"/>
          <p:cNvSpPr/>
          <p:nvPr/>
        </p:nvSpPr>
        <p:spPr>
          <a:xfrm>
            <a:off x="11277295" y="3877056"/>
            <a:ext cx="347472" cy="347472"/>
          </a:xfrm>
          <a:prstGeom prst="ellipse">
            <a:avLst/>
          </a:prstGeom>
          <a:solidFill>
            <a:srgbClr val="00539B"/>
          </a:solidFill>
          <a:ln w="12700">
            <a:solidFill>
              <a:srgbClr val="00539B"/>
            </a:solidFill>
            <a:prstDash val="solid"/>
          </a:ln>
        </p:spPr>
      </p:sp>
      <p:pic>
        <p:nvPicPr>
          <p:cNvPr id="21" name="anim15_17" descr="preencoded.png">    </p:cNvPr>
          <p:cNvPicPr>
            <a:picLocks noChangeAspect="1"/>
          </p:cNvPicPr>
          <p:nvPr/>
        </p:nvPicPr>
        <p:blipFill>
          <a:blip r:embed="rId6"/>
          <a:stretch>
            <a:fillRect/>
          </a:stretch>
        </p:blipFill>
        <p:spPr>
          <a:xfrm>
            <a:off x="11371113" y="3970873"/>
            <a:ext cx="159837" cy="159837"/>
          </a:xfrm>
          <a:prstGeom prst="rect">
            <a:avLst/>
          </a:prstGeom>
        </p:spPr>
      </p:pic>
      <p:sp>
        <p:nvSpPr>
          <p:cNvPr id="22" name="anim15_18"/>
          <p:cNvSpPr txBox="1"/>
          <p:nvPr/>
        </p:nvSpPr>
        <p:spPr>
          <a:xfrm>
            <a:off x="7132320" y="38404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خدمات الأمن السيبراني المدارة (SOCaaS وFirewall).</a:t>
            </a:r>
            <a:endParaRPr lang="ar-SA" sz="1250" dirty="0"/>
          </a:p>
        </p:txBody>
      </p:sp>
      <p:sp>
        <p:nvSpPr>
          <p:cNvPr id="23" name="anim15_19"/>
          <p:cNvSpPr/>
          <p:nvPr/>
        </p:nvSpPr>
        <p:spPr>
          <a:xfrm>
            <a:off x="11277295" y="4334256"/>
            <a:ext cx="347472" cy="347472"/>
          </a:xfrm>
          <a:prstGeom prst="ellipse">
            <a:avLst/>
          </a:prstGeom>
          <a:solidFill>
            <a:srgbClr val="F15524"/>
          </a:solidFill>
          <a:ln w="12700">
            <a:solidFill>
              <a:srgbClr val="F15524"/>
            </a:solidFill>
            <a:prstDash val="solid"/>
          </a:ln>
        </p:spPr>
      </p:sp>
      <p:pic>
        <p:nvPicPr>
          <p:cNvPr id="24" name="anim15_20" descr="preencoded.png">    </p:cNvPr>
          <p:cNvPicPr>
            <a:picLocks noChangeAspect="1"/>
          </p:cNvPicPr>
          <p:nvPr/>
        </p:nvPicPr>
        <p:blipFill>
          <a:blip r:embed="rId7"/>
          <a:stretch>
            <a:fillRect/>
          </a:stretch>
        </p:blipFill>
        <p:spPr>
          <a:xfrm>
            <a:off x="11371113" y="4428073"/>
            <a:ext cx="159837" cy="159837"/>
          </a:xfrm>
          <a:prstGeom prst="rect">
            <a:avLst/>
          </a:prstGeom>
        </p:spPr>
      </p:pic>
      <p:sp>
        <p:nvSpPr>
          <p:cNvPr id="25" name="anim15_21"/>
          <p:cNvSpPr txBox="1"/>
          <p:nvPr/>
        </p:nvSpPr>
        <p:spPr>
          <a:xfrm>
            <a:off x="7132320" y="42976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خدمات مراقبة الشبكات والأنظمة (NOCaaS).</a:t>
            </a:r>
            <a:endParaRPr lang="ar-SA" sz="1250" dirty="0"/>
          </a:p>
        </p:txBody>
      </p:sp>
      <p:sp>
        <p:nvSpPr>
          <p:cNvPr id="26" name="anim15_22"/>
          <p:cNvSpPr/>
          <p:nvPr/>
        </p:nvSpPr>
        <p:spPr>
          <a:xfrm>
            <a:off x="11277295" y="4791456"/>
            <a:ext cx="347472" cy="347472"/>
          </a:xfrm>
          <a:prstGeom prst="ellipse">
            <a:avLst/>
          </a:prstGeom>
          <a:solidFill>
            <a:srgbClr val="00539B"/>
          </a:solidFill>
          <a:ln w="12700">
            <a:solidFill>
              <a:srgbClr val="00539B"/>
            </a:solidFill>
            <a:prstDash val="solid"/>
          </a:ln>
        </p:spPr>
      </p:sp>
      <p:pic>
        <p:nvPicPr>
          <p:cNvPr id="27" name="anim15_23" descr="preencoded.png">    </p:cNvPr>
          <p:cNvPicPr>
            <a:picLocks noChangeAspect="1"/>
          </p:cNvPicPr>
          <p:nvPr/>
        </p:nvPicPr>
        <p:blipFill>
          <a:blip r:embed="rId8"/>
          <a:stretch>
            <a:fillRect/>
          </a:stretch>
        </p:blipFill>
        <p:spPr>
          <a:xfrm>
            <a:off x="11371113" y="4885273"/>
            <a:ext cx="159837" cy="159837"/>
          </a:xfrm>
          <a:prstGeom prst="rect">
            <a:avLst/>
          </a:prstGeom>
        </p:spPr>
      </p:pic>
      <p:sp>
        <p:nvSpPr>
          <p:cNvPr id="28" name="anim15_24"/>
          <p:cNvSpPr txBox="1"/>
          <p:nvPr/>
        </p:nvSpPr>
        <p:spPr>
          <a:xfrm>
            <a:off x="7132320" y="4754880"/>
            <a:ext cx="4007815" cy="420624"/>
          </a:xfrm>
          <a:prstGeom prst="rect">
            <a:avLst/>
          </a:prstGeom>
          <a:noFill/>
          <a:ln/>
        </p:spPr>
        <p:txBody>
          <a:bodyPr wrap="square" lIns="0" tIns="0" rIns="0" bIns="0" rtlCol="0" anchor="ctr"/>
          <a:lstStyle/>
          <a:p>
            <a:pPr rtl="1" algn="r" indent="0" marL="0">
              <a:buNone/>
            </a:pPr>
            <a:r>
              <a:rPr lang="ar-SA" altLang="en-US" sz="1250" dirty="0">
                <a:solidFill>
                  <a:srgbClr val="1F2937"/>
                </a:solidFill>
                <a:latin typeface="JF Flat" pitchFamily="34" charset="0"/>
                <a:ea typeface="JF Flat" pitchFamily="34" charset="-122"/>
                <a:cs typeface="JF Flat" pitchFamily="34" charset="-120"/>
              </a:rPr>
              <a:t>الوصلة الآمنة وحماية حركة الإنترنت من هجمات حجب الخدمة (Clean Pipe).</a:t>
            </a:r>
            <a:endParaRPr lang="ar-SA" sz="1250" dirty="0"/>
          </a:p>
        </p:txBody>
      </p:sp>
      <p:sp>
        <p:nvSpPr>
          <p:cNvPr id="29" name="anim15_25"/>
          <p:cNvSpPr/>
          <p:nvPr/>
        </p:nvSpPr>
        <p:spPr>
          <a:xfrm>
            <a:off x="7132320" y="5303520"/>
            <a:ext cx="4510735" cy="822960"/>
          </a:xfrm>
          <a:prstGeom prst="roundRect">
            <a:avLst>
              <a:gd name="adj" fmla="val 11111"/>
            </a:avLst>
          </a:prstGeom>
          <a:solidFill>
            <a:srgbClr val="06305C"/>
          </a:solidFill>
          <a:ln w="12700">
            <a:solidFill>
              <a:srgbClr val="06305C"/>
            </a:solidFill>
            <a:prstDash val="solid"/>
          </a:ln>
        </p:spPr>
      </p:sp>
      <p:sp>
        <p:nvSpPr>
          <p:cNvPr id="30" name="anim15_26"/>
          <p:cNvSpPr txBox="1"/>
          <p:nvPr/>
        </p:nvSpPr>
        <p:spPr>
          <a:xfrm>
            <a:off x="7269480" y="5303520"/>
            <a:ext cx="1188720" cy="822960"/>
          </a:xfrm>
          <a:prstGeom prst="rect">
            <a:avLst/>
          </a:prstGeom>
          <a:noFill/>
          <a:ln/>
        </p:spPr>
        <p:txBody>
          <a:bodyPr wrap="square" lIns="0" tIns="0" rIns="0" bIns="0" rtlCol="0" anchor="ctr"/>
          <a:lstStyle/>
          <a:p>
            <a:pPr algn="ctr" indent="0" marL="0">
              <a:buNone/>
            </a:pPr>
            <a:r>
              <a:rPr lang="ar-SA" altLang="en-US" sz="3600" b="1" dirty="0">
                <a:solidFill>
                  <a:srgbClr val="F15524"/>
                </a:solidFill>
                <a:latin typeface="JF Flat" pitchFamily="34" charset="0"/>
                <a:ea typeface="JF Flat" pitchFamily="34" charset="-122"/>
                <a:cs typeface="JF Flat" pitchFamily="34" charset="-120"/>
              </a:rPr>
              <a:t>412</a:t>
            </a:r>
            <a:endParaRPr lang="ar-SA" sz="3600" dirty="0"/>
          </a:p>
        </p:txBody>
      </p:sp>
      <p:sp>
        <p:nvSpPr>
          <p:cNvPr id="31" name="anim15_27"/>
          <p:cNvSpPr txBox="1"/>
          <p:nvPr/>
        </p:nvSpPr>
        <p:spPr>
          <a:xfrm>
            <a:off x="8458200" y="5303520"/>
            <a:ext cx="3047695" cy="822960"/>
          </a:xfrm>
          <a:prstGeom prst="rect">
            <a:avLst/>
          </a:prstGeom>
          <a:noFill/>
          <a:ln/>
        </p:spPr>
        <p:txBody>
          <a:bodyPr wrap="square" lIns="0" tIns="0" rIns="0" bIns="0" rtlCol="0" anchor="ctr"/>
          <a:lstStyle/>
          <a:p>
            <a:pPr algn="r" indent="0" marL="0">
              <a:buNone/>
            </a:pPr>
            <a:r>
              <a:rPr lang="ar-SA" altLang="en-US" sz="1100" b="1" dirty="0">
                <a:solidFill>
                  <a:srgbClr val="F7941D"/>
                </a:solidFill>
                <a:latin typeface="JF Flat" pitchFamily="34" charset="0"/>
                <a:ea typeface="JF Flat" pitchFamily="34" charset="-122"/>
                <a:cs typeface="JF Flat" pitchFamily="34" charset="-120"/>
              </a:rPr>
              <a:t>افتراض السوق: </a:t>
            </a:r>
            <a:pPr algn="r" indent="0" marL="0">
              <a:buNone/>
            </a:pPr>
            <a:r>
              <a:rPr lang="ar-SA" altLang="en-US" sz="1100" dirty="0">
                <a:solidFill>
                  <a:srgbClr val="FFFFFF"/>
                </a:solidFill>
                <a:latin typeface="JF Flat" pitchFamily="34" charset="0"/>
                <a:ea typeface="JF Flat" pitchFamily="34" charset="-122"/>
                <a:cs typeface="JF Flat" pitchFamily="34" charset="-120"/>
              </a:rPr>
              <a:t>استهداف 412 جهة خلال عشر سنوات، بدءاً من 15 جهة في السنة الأولى، وصولاً إلى تغطية الجهات المستهدفة في السنة العاشرة.</a:t>
            </a:r>
            <a:endParaRPr lang="ar-SA" sz="11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10" presetClass="entr" presetSubtype="0" fill="hold" grpId="0" nodeType="withEffect">
                                  <p:stCondLst>
                                    <p:cond delay="130"/>
                                  </p:stCondLst>
                                  <p:childTnLst>
                                    <p:set>
                                      <p:cBhvr>
                                        <p:cTn id="16" dur="1" fill="hold">
                                          <p:stCondLst>
                                            <p:cond delay="0"/>
                                          </p:stCondLst>
                                        </p:cTn>
                                        <p:tgtEl>
                                          <p:spTgt spid="6">
                                            <p:graphicEl>
                                              <a:chart seriesIdx="-3" categoryIdx="-3" bldStep="gridLegend"/>
                                            </p:graphicEl>
                                          </p:spTgt>
                                        </p:tgtEl>
                                        <p:attrNameLst>
                                          <p:attrName>style.visibility</p:attrName>
                                        </p:attrNameLst>
                                      </p:cBhvr>
                                      <p:to>
                                        <p:strVal val="visible"/>
                                      </p:to>
                                    </p:set>
                                    <p:animEffect transition="in" filter="fade">
                                      <p:cBhvr>
                                        <p:cTn id="17" dur="500"/>
                                        <p:tgtEl>
                                          <p:spTgt spid="6">
                                            <p:graphicEl>
                                              <a:chart seriesIdx="-3" categoryIdx="-3" bldStep="gridLegend"/>
                                            </p:graphicEl>
                                          </p:spTgt>
                                        </p:tgtEl>
                                      </p:cBhvr>
                                    </p:animEffect>
                                  </p:childTnLst>
                                </p:cTn>
                              </p:par>
                              <p:par>
                                <p:cTn id="18" presetID="42" presetClass="entr" presetSubtype="0" fill="hold" grpId="0" nodeType="withEffect">
                                  <p:stCondLst>
                                    <p:cond delay="13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anim calcmode="lin" valueType="num">
                                      <p:cBhvr additive="base">
                                        <p:cTn id="21"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2" dur="600" decel="100000" fill="hold"/>
                                        <p:tgtEl>
                                          <p:spTgt spid="7"/>
                                        </p:tgtEl>
                                        <p:attrNameLst>
                                          <p:attrName>ppt_y</p:attrName>
                                        </p:attrNameLst>
                                      </p:cBhvr>
                                      <p:tavLst>
                                        <p:tav tm="0">
                                          <p:val>
                                            <p:strVal val="#ppt_y+.03"/>
                                          </p:val>
                                        </p:tav>
                                        <p:tav tm="100000">
                                          <p:val>
                                            <p:strVal val="#ppt_y"/>
                                          </p:val>
                                        </p:tav>
                                      </p:tavLst>
                                    </p:anim>
                                  </p:childTnLst>
                                </p:cTn>
                              </p:par>
                              <p:par>
                                <p:cTn id="23" presetID="42" presetClass="entr" presetSubtype="0" fill="hold" grpId="0" nodeType="withEffect">
                                  <p:stCondLst>
                                    <p:cond delay="2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anim calcmode="lin" valueType="num">
                                      <p:cBhvr additive="base">
                                        <p:cTn id="26"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7" dur="600" decel="100000" fill="hold"/>
                                        <p:tgtEl>
                                          <p:spTgt spid="10"/>
                                        </p:tgtEl>
                                        <p:attrNameLst>
                                          <p:attrName>ppt_y</p:attrName>
                                        </p:attrNameLst>
                                      </p:cBhvr>
                                      <p:tavLst>
                                        <p:tav tm="0">
                                          <p:val>
                                            <p:strVal val="#ppt_y+.03"/>
                                          </p:val>
                                        </p:tav>
                                        <p:tav tm="100000">
                                          <p:val>
                                            <p:strVal val="#ppt_y"/>
                                          </p:val>
                                        </p:tav>
                                      </p:tavLst>
                                    </p:anim>
                                  </p:childTnLst>
                                </p:cTn>
                              </p:par>
                              <p:par>
                                <p:cTn id="28" presetID="42" presetClass="entr" presetSubtype="0" fill="hold" grpId="0" nodeType="withEffect">
                                  <p:stCondLst>
                                    <p:cond delay="39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600"/>
                                        <p:tgtEl>
                                          <p:spTgt spid="13"/>
                                        </p:tgtEl>
                                      </p:cBhvr>
                                    </p:animEffect>
                                    <p:anim calcmode="lin" valueType="num">
                                      <p:cBhvr additive="base">
                                        <p:cTn id="31"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2" dur="600" decel="100000" fill="hold"/>
                                        <p:tgtEl>
                                          <p:spTgt spid="13"/>
                                        </p:tgtEl>
                                        <p:attrNameLst>
                                          <p:attrName>ppt_y</p:attrName>
                                        </p:attrNameLst>
                                      </p:cBhvr>
                                      <p:tavLst>
                                        <p:tav tm="0">
                                          <p:val>
                                            <p:strVal val="#ppt_y+.03"/>
                                          </p:val>
                                        </p:tav>
                                        <p:tav tm="100000">
                                          <p:val>
                                            <p:strVal val="#ppt_y"/>
                                          </p:val>
                                        </p:tav>
                                      </p:tavLst>
                                    </p:anim>
                                  </p:childTnLst>
                                </p:cTn>
                              </p:par>
                              <p:par>
                                <p:cTn id="33" presetID="53" presetClass="entr" presetSubtype="16" fill="hold" grpId="0" nodeType="withEffect">
                                  <p:stCondLst>
                                    <p:cond delay="42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450" decel="100000" fill="hold"/>
                                        <p:tgtEl>
                                          <p:spTgt spid="8"/>
                                        </p:tgtEl>
                                        <p:attrNameLst>
                                          <p:attrName>ppt_w</p:attrName>
                                        </p:attrNameLst>
                                      </p:cBhvr>
                                      <p:tavLst>
                                        <p:tav tm="0">
                                          <p:val>
                                            <p:strVal val="0"/>
                                          </p:val>
                                        </p:tav>
                                        <p:tav tm="100000">
                                          <p:val>
                                            <p:strVal val="#ppt_w"/>
                                          </p:val>
                                        </p:tav>
                                      </p:tavLst>
                                    </p:anim>
                                    <p:anim calcmode="lin" valueType="num">
                                      <p:cBhvr additive="base">
                                        <p:cTn id="36" dur="450" decel="100000" fill="hold"/>
                                        <p:tgtEl>
                                          <p:spTgt spid="8"/>
                                        </p:tgtEl>
                                        <p:attrNameLst>
                                          <p:attrName>ppt_h</p:attrName>
                                        </p:attrNameLst>
                                      </p:cBhvr>
                                      <p:tavLst>
                                        <p:tav tm="0">
                                          <p:val>
                                            <p:strVal val="0"/>
                                          </p:val>
                                        </p:tav>
                                        <p:tav tm="100000">
                                          <p:val>
                                            <p:strVal val="#ppt_h"/>
                                          </p:val>
                                        </p:tav>
                                      </p:tavLst>
                                    </p:anim>
                                    <p:animEffect transition="in" filter="fade">
                                      <p:cBhvr>
                                        <p:cTn id="37" dur="450"/>
                                        <p:tgtEl>
                                          <p:spTgt spid="8"/>
                                        </p:tgtEl>
                                      </p:cBhvr>
                                    </p:animEffect>
                                  </p:childTnLst>
                                </p:cTn>
                              </p:par>
                              <p:par>
                                <p:cTn id="38" presetID="22" presetClass="entr" presetSubtype="4" fill="hold" grpId="0" nodeType="withEffect">
                                  <p:stCondLst>
                                    <p:cond delay="480"/>
                                  </p:stCondLst>
                                  <p:childTnLst>
                                    <p:set>
                                      <p:cBhvr>
                                        <p:cTn id="39" dur="1" fill="hold">
                                          <p:stCondLst>
                                            <p:cond delay="0"/>
                                          </p:stCondLst>
                                        </p:cTn>
                                        <p:tgtEl>
                                          <p:spTgt spid="6">
                                            <p:graphicEl>
                                              <a:chart seriesIdx="-4" categoryIdx="0" bldStep="category"/>
                                            </p:graphicEl>
                                          </p:spTgt>
                                        </p:tgtEl>
                                        <p:attrNameLst>
                                          <p:attrName>style.visibility</p:attrName>
                                        </p:attrNameLst>
                                      </p:cBhvr>
                                      <p:to>
                                        <p:strVal val="visible"/>
                                      </p:to>
                                    </p:set>
                                    <p:animEffect transition="in" filter="wipe(up)">
                                      <p:cBhvr>
                                        <p:cTn id="40" dur="450"/>
                                        <p:tgtEl>
                                          <p:spTgt spid="6">
                                            <p:graphicEl>
                                              <a:chart seriesIdx="-4" categoryIdx="0" bldStep="category"/>
                                            </p:graphicEl>
                                          </p:spTgt>
                                        </p:tgtEl>
                                      </p:cBhvr>
                                    </p:animEffect>
                                  </p:childTnLst>
                                </p:cTn>
                              </p:par>
                              <p:par>
                                <p:cTn id="41" presetID="53" presetClass="entr" presetSubtype="16" fill="hold" grpId="0" nodeType="withEffect">
                                  <p:stCondLst>
                                    <p:cond delay="52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450" decel="100000" fill="hold"/>
                                        <p:tgtEl>
                                          <p:spTgt spid="9"/>
                                        </p:tgtEl>
                                        <p:attrNameLst>
                                          <p:attrName>ppt_w</p:attrName>
                                        </p:attrNameLst>
                                      </p:cBhvr>
                                      <p:tavLst>
                                        <p:tav tm="0">
                                          <p:val>
                                            <p:strVal val="0"/>
                                          </p:val>
                                        </p:tav>
                                        <p:tav tm="100000">
                                          <p:val>
                                            <p:strVal val="#ppt_w"/>
                                          </p:val>
                                        </p:tav>
                                      </p:tavLst>
                                    </p:anim>
                                    <p:anim calcmode="lin" valueType="num">
                                      <p:cBhvr additive="base">
                                        <p:cTn id="44" dur="450" decel="100000" fill="hold"/>
                                        <p:tgtEl>
                                          <p:spTgt spid="9"/>
                                        </p:tgtEl>
                                        <p:attrNameLst>
                                          <p:attrName>ppt_h</p:attrName>
                                        </p:attrNameLst>
                                      </p:cBhvr>
                                      <p:tavLst>
                                        <p:tav tm="0">
                                          <p:val>
                                            <p:strVal val="0"/>
                                          </p:val>
                                        </p:tav>
                                        <p:tav tm="100000">
                                          <p:val>
                                            <p:strVal val="#ppt_h"/>
                                          </p:val>
                                        </p:tav>
                                      </p:tavLst>
                                    </p:anim>
                                    <p:animEffect transition="in" filter="fade">
                                      <p:cBhvr>
                                        <p:cTn id="45" dur="450"/>
                                        <p:tgtEl>
                                          <p:spTgt spid="9"/>
                                        </p:tgtEl>
                                      </p:cBhvr>
                                    </p:animEffect>
                                  </p:childTnLst>
                                </p:cTn>
                              </p:par>
                              <p:par>
                                <p:cTn id="46" presetID="42" presetClass="entr" presetSubtype="0" fill="hold" grpId="0" nodeType="withEffect">
                                  <p:stCondLst>
                                    <p:cond delay="52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600"/>
                                        <p:tgtEl>
                                          <p:spTgt spid="16"/>
                                        </p:tgtEl>
                                      </p:cBhvr>
                                    </p:animEffect>
                                    <p:anim calcmode="lin" valueType="num">
                                      <p:cBhvr additive="base">
                                        <p:cTn id="49"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0" dur="600" decel="100000" fill="hold"/>
                                        <p:tgtEl>
                                          <p:spTgt spid="16"/>
                                        </p:tgtEl>
                                        <p:attrNameLst>
                                          <p:attrName>ppt_y</p:attrName>
                                        </p:attrNameLst>
                                      </p:cBhvr>
                                      <p:tavLst>
                                        <p:tav tm="0">
                                          <p:val>
                                            <p:strVal val="#ppt_y+.03"/>
                                          </p:val>
                                        </p:tav>
                                        <p:tav tm="100000">
                                          <p:val>
                                            <p:strVal val="#ppt_y"/>
                                          </p:val>
                                        </p:tav>
                                      </p:tavLst>
                                    </p:anim>
                                  </p:childTnLst>
                                </p:cTn>
                              </p:par>
                              <p:par>
                                <p:cTn id="51" presetID="53" presetClass="entr" presetSubtype="16" fill="hold" grpId="0" nodeType="withEffect">
                                  <p:stCondLst>
                                    <p:cond delay="550"/>
                                  </p:stCondLst>
                                  <p:childTnLst>
                                    <p:set>
                                      <p:cBhvr>
                                        <p:cTn id="52" dur="1" fill="hold">
                                          <p:stCondLst>
                                            <p:cond delay="0"/>
                                          </p:stCondLst>
                                        </p:cTn>
                                        <p:tgtEl>
                                          <p:spTgt spid="11"/>
                                        </p:tgtEl>
                                        <p:attrNameLst>
                                          <p:attrName>style.visibility</p:attrName>
                                        </p:attrNameLst>
                                      </p:cBhvr>
                                      <p:to>
                                        <p:strVal val="visible"/>
                                      </p:to>
                                    </p:set>
                                    <p:anim calcmode="lin" valueType="num">
                                      <p:cBhvr additive="base">
                                        <p:cTn id="53" dur="450" decel="100000" fill="hold"/>
                                        <p:tgtEl>
                                          <p:spTgt spid="11"/>
                                        </p:tgtEl>
                                        <p:attrNameLst>
                                          <p:attrName>ppt_w</p:attrName>
                                        </p:attrNameLst>
                                      </p:cBhvr>
                                      <p:tavLst>
                                        <p:tav tm="0">
                                          <p:val>
                                            <p:strVal val="0"/>
                                          </p:val>
                                        </p:tav>
                                        <p:tav tm="100000">
                                          <p:val>
                                            <p:strVal val="#ppt_w"/>
                                          </p:val>
                                        </p:tav>
                                      </p:tavLst>
                                    </p:anim>
                                    <p:anim calcmode="lin" valueType="num">
                                      <p:cBhvr additive="base">
                                        <p:cTn id="54" dur="450" decel="100000" fill="hold"/>
                                        <p:tgtEl>
                                          <p:spTgt spid="11"/>
                                        </p:tgtEl>
                                        <p:attrNameLst>
                                          <p:attrName>ppt_h</p:attrName>
                                        </p:attrNameLst>
                                      </p:cBhvr>
                                      <p:tavLst>
                                        <p:tav tm="0">
                                          <p:val>
                                            <p:strVal val="0"/>
                                          </p:val>
                                        </p:tav>
                                        <p:tav tm="100000">
                                          <p:val>
                                            <p:strVal val="#ppt_h"/>
                                          </p:val>
                                        </p:tav>
                                      </p:tavLst>
                                    </p:anim>
                                    <p:animEffect transition="in" filter="fade">
                                      <p:cBhvr>
                                        <p:cTn id="55" dur="450"/>
                                        <p:tgtEl>
                                          <p:spTgt spid="11"/>
                                        </p:tgtEl>
                                      </p:cBhvr>
                                    </p:animEffect>
                                  </p:childTnLst>
                                </p:cTn>
                              </p:par>
                              <p:par>
                                <p:cTn id="56" presetID="22" presetClass="entr" presetSubtype="4" fill="hold" grpId="0" nodeType="withEffect">
                                  <p:stCondLst>
                                    <p:cond delay="640"/>
                                  </p:stCondLst>
                                  <p:childTnLst>
                                    <p:set>
                                      <p:cBhvr>
                                        <p:cTn id="57" dur="1" fill="hold">
                                          <p:stCondLst>
                                            <p:cond delay="0"/>
                                          </p:stCondLst>
                                        </p:cTn>
                                        <p:tgtEl>
                                          <p:spTgt spid="6">
                                            <p:graphicEl>
                                              <a:chart seriesIdx="-4" categoryIdx="1" bldStep="category"/>
                                            </p:graphicEl>
                                          </p:spTgt>
                                        </p:tgtEl>
                                        <p:attrNameLst>
                                          <p:attrName>style.visibility</p:attrName>
                                        </p:attrNameLst>
                                      </p:cBhvr>
                                      <p:to>
                                        <p:strVal val="visible"/>
                                      </p:to>
                                    </p:set>
                                    <p:animEffect transition="in" filter="wipe(up)">
                                      <p:cBhvr>
                                        <p:cTn id="58" dur="450"/>
                                        <p:tgtEl>
                                          <p:spTgt spid="6">
                                            <p:graphicEl>
                                              <a:chart seriesIdx="-4" categoryIdx="1" bldStep="category"/>
                                            </p:graphicEl>
                                          </p:spTgt>
                                        </p:tgtEl>
                                      </p:cBhvr>
                                    </p:animEffect>
                                  </p:childTnLst>
                                </p:cTn>
                              </p:par>
                              <p:par>
                                <p:cTn id="59" presetID="53" presetClass="entr" presetSubtype="16" fill="hold" grpId="0" nodeType="withEffect">
                                  <p:stCondLst>
                                    <p:cond delay="650"/>
                                  </p:stCondLst>
                                  <p:childTnLst>
                                    <p:set>
                                      <p:cBhvr>
                                        <p:cTn id="60" dur="1" fill="hold">
                                          <p:stCondLst>
                                            <p:cond delay="0"/>
                                          </p:stCondLst>
                                        </p:cTn>
                                        <p:tgtEl>
                                          <p:spTgt spid="12"/>
                                        </p:tgtEl>
                                        <p:attrNameLst>
                                          <p:attrName>style.visibility</p:attrName>
                                        </p:attrNameLst>
                                      </p:cBhvr>
                                      <p:to>
                                        <p:strVal val="visible"/>
                                      </p:to>
                                    </p:set>
                                    <p:anim calcmode="lin" valueType="num">
                                      <p:cBhvr additive="base">
                                        <p:cTn id="61" dur="450" decel="100000" fill="hold"/>
                                        <p:tgtEl>
                                          <p:spTgt spid="12"/>
                                        </p:tgtEl>
                                        <p:attrNameLst>
                                          <p:attrName>ppt_w</p:attrName>
                                        </p:attrNameLst>
                                      </p:cBhvr>
                                      <p:tavLst>
                                        <p:tav tm="0">
                                          <p:val>
                                            <p:strVal val="0"/>
                                          </p:val>
                                        </p:tav>
                                        <p:tav tm="100000">
                                          <p:val>
                                            <p:strVal val="#ppt_w"/>
                                          </p:val>
                                        </p:tav>
                                      </p:tavLst>
                                    </p:anim>
                                    <p:anim calcmode="lin" valueType="num">
                                      <p:cBhvr additive="base">
                                        <p:cTn id="62" dur="450" decel="100000" fill="hold"/>
                                        <p:tgtEl>
                                          <p:spTgt spid="12"/>
                                        </p:tgtEl>
                                        <p:attrNameLst>
                                          <p:attrName>ppt_h</p:attrName>
                                        </p:attrNameLst>
                                      </p:cBhvr>
                                      <p:tavLst>
                                        <p:tav tm="0">
                                          <p:val>
                                            <p:strVal val="0"/>
                                          </p:val>
                                        </p:tav>
                                        <p:tav tm="100000">
                                          <p:val>
                                            <p:strVal val="#ppt_h"/>
                                          </p:val>
                                        </p:tav>
                                      </p:tavLst>
                                    </p:anim>
                                    <p:animEffect transition="in" filter="fade">
                                      <p:cBhvr>
                                        <p:cTn id="63" dur="450"/>
                                        <p:tgtEl>
                                          <p:spTgt spid="12"/>
                                        </p:tgtEl>
                                      </p:cBhvr>
                                    </p:animEffect>
                                  </p:childTnLst>
                                </p:cTn>
                              </p:par>
                              <p:par>
                                <p:cTn id="64" presetID="42" presetClass="entr" presetSubtype="0" fill="hold" grpId="0" nodeType="withEffect">
                                  <p:stCondLst>
                                    <p:cond delay="65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600"/>
                                        <p:tgtEl>
                                          <p:spTgt spid="19"/>
                                        </p:tgtEl>
                                      </p:cBhvr>
                                    </p:animEffect>
                                    <p:anim calcmode="lin" valueType="num">
                                      <p:cBhvr additive="base">
                                        <p:cTn id="67"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8" dur="600" decel="100000" fill="hold"/>
                                        <p:tgtEl>
                                          <p:spTgt spid="19"/>
                                        </p:tgtEl>
                                        <p:attrNameLst>
                                          <p:attrName>ppt_y</p:attrName>
                                        </p:attrNameLst>
                                      </p:cBhvr>
                                      <p:tavLst>
                                        <p:tav tm="0">
                                          <p:val>
                                            <p:strVal val="#ppt_y+.03"/>
                                          </p:val>
                                        </p:tav>
                                        <p:tav tm="100000">
                                          <p:val>
                                            <p:strVal val="#ppt_y"/>
                                          </p:val>
                                        </p:tav>
                                      </p:tavLst>
                                    </p:anim>
                                  </p:childTnLst>
                                </p:cTn>
                              </p:par>
                              <p:par>
                                <p:cTn id="69" presetID="53" presetClass="entr" presetSubtype="16" fill="hold" grpId="0" nodeType="withEffect">
                                  <p:stCondLst>
                                    <p:cond delay="68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450" decel="100000" fill="hold"/>
                                        <p:tgtEl>
                                          <p:spTgt spid="14"/>
                                        </p:tgtEl>
                                        <p:attrNameLst>
                                          <p:attrName>ppt_w</p:attrName>
                                        </p:attrNameLst>
                                      </p:cBhvr>
                                      <p:tavLst>
                                        <p:tav tm="0">
                                          <p:val>
                                            <p:strVal val="0"/>
                                          </p:val>
                                        </p:tav>
                                        <p:tav tm="100000">
                                          <p:val>
                                            <p:strVal val="#ppt_w"/>
                                          </p:val>
                                        </p:tav>
                                      </p:tavLst>
                                    </p:anim>
                                    <p:anim calcmode="lin" valueType="num">
                                      <p:cBhvr additive="base">
                                        <p:cTn id="72" dur="450" decel="100000" fill="hold"/>
                                        <p:tgtEl>
                                          <p:spTgt spid="14"/>
                                        </p:tgtEl>
                                        <p:attrNameLst>
                                          <p:attrName>ppt_h</p:attrName>
                                        </p:attrNameLst>
                                      </p:cBhvr>
                                      <p:tavLst>
                                        <p:tav tm="0">
                                          <p:val>
                                            <p:strVal val="0"/>
                                          </p:val>
                                        </p:tav>
                                        <p:tav tm="100000">
                                          <p:val>
                                            <p:strVal val="#ppt_h"/>
                                          </p:val>
                                        </p:tav>
                                      </p:tavLst>
                                    </p:anim>
                                    <p:animEffect transition="in" filter="fade">
                                      <p:cBhvr>
                                        <p:cTn id="73" dur="450"/>
                                        <p:tgtEl>
                                          <p:spTgt spid="14"/>
                                        </p:tgtEl>
                                      </p:cBhvr>
                                    </p:animEffect>
                                  </p:childTnLst>
                                </p:cTn>
                              </p:par>
                              <p:par>
                                <p:cTn id="74" presetID="53" presetClass="entr" presetSubtype="16" fill="hold" grpId="0" nodeType="withEffect">
                                  <p:stCondLst>
                                    <p:cond delay="780"/>
                                  </p:stCondLst>
                                  <p:childTnLst>
                                    <p:set>
                                      <p:cBhvr>
                                        <p:cTn id="75" dur="1" fill="hold">
                                          <p:stCondLst>
                                            <p:cond delay="0"/>
                                          </p:stCondLst>
                                        </p:cTn>
                                        <p:tgtEl>
                                          <p:spTgt spid="15"/>
                                        </p:tgtEl>
                                        <p:attrNameLst>
                                          <p:attrName>style.visibility</p:attrName>
                                        </p:attrNameLst>
                                      </p:cBhvr>
                                      <p:to>
                                        <p:strVal val="visible"/>
                                      </p:to>
                                    </p:set>
                                    <p:anim calcmode="lin" valueType="num">
                                      <p:cBhvr additive="base">
                                        <p:cTn id="76" dur="450" decel="100000" fill="hold"/>
                                        <p:tgtEl>
                                          <p:spTgt spid="15"/>
                                        </p:tgtEl>
                                        <p:attrNameLst>
                                          <p:attrName>ppt_w</p:attrName>
                                        </p:attrNameLst>
                                      </p:cBhvr>
                                      <p:tavLst>
                                        <p:tav tm="0">
                                          <p:val>
                                            <p:strVal val="0"/>
                                          </p:val>
                                        </p:tav>
                                        <p:tav tm="100000">
                                          <p:val>
                                            <p:strVal val="#ppt_w"/>
                                          </p:val>
                                        </p:tav>
                                      </p:tavLst>
                                    </p:anim>
                                    <p:anim calcmode="lin" valueType="num">
                                      <p:cBhvr additive="base">
                                        <p:cTn id="77" dur="450" decel="100000" fill="hold"/>
                                        <p:tgtEl>
                                          <p:spTgt spid="15"/>
                                        </p:tgtEl>
                                        <p:attrNameLst>
                                          <p:attrName>ppt_h</p:attrName>
                                        </p:attrNameLst>
                                      </p:cBhvr>
                                      <p:tavLst>
                                        <p:tav tm="0">
                                          <p:val>
                                            <p:strVal val="0"/>
                                          </p:val>
                                        </p:tav>
                                        <p:tav tm="100000">
                                          <p:val>
                                            <p:strVal val="#ppt_h"/>
                                          </p:val>
                                        </p:tav>
                                      </p:tavLst>
                                    </p:anim>
                                    <p:animEffect transition="in" filter="fade">
                                      <p:cBhvr>
                                        <p:cTn id="78" dur="450"/>
                                        <p:tgtEl>
                                          <p:spTgt spid="15"/>
                                        </p:tgtEl>
                                      </p:cBhvr>
                                    </p:animEffect>
                                  </p:childTnLst>
                                </p:cTn>
                              </p:par>
                              <p:par>
                                <p:cTn id="79" presetID="42" presetClass="entr" presetSubtype="0" fill="hold" grpId="0" nodeType="withEffect">
                                  <p:stCondLst>
                                    <p:cond delay="78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600"/>
                                        <p:tgtEl>
                                          <p:spTgt spid="22"/>
                                        </p:tgtEl>
                                      </p:cBhvr>
                                    </p:animEffect>
                                    <p:anim calcmode="lin" valueType="num">
                                      <p:cBhvr additive="base">
                                        <p:cTn id="82"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3" dur="600" decel="100000" fill="hold"/>
                                        <p:tgtEl>
                                          <p:spTgt spid="22"/>
                                        </p:tgtEl>
                                        <p:attrNameLst>
                                          <p:attrName>ppt_y</p:attrName>
                                        </p:attrNameLst>
                                      </p:cBhvr>
                                      <p:tavLst>
                                        <p:tav tm="0">
                                          <p:val>
                                            <p:strVal val="#ppt_y+.03"/>
                                          </p:val>
                                        </p:tav>
                                        <p:tav tm="100000">
                                          <p:val>
                                            <p:strVal val="#ppt_y"/>
                                          </p:val>
                                        </p:tav>
                                      </p:tavLst>
                                    </p:anim>
                                  </p:childTnLst>
                                </p:cTn>
                              </p:par>
                              <p:par>
                                <p:cTn id="84" presetID="22" presetClass="entr" presetSubtype="4" fill="hold" grpId="0" nodeType="withEffect">
                                  <p:stCondLst>
                                    <p:cond delay="800"/>
                                  </p:stCondLst>
                                  <p:childTnLst>
                                    <p:set>
                                      <p:cBhvr>
                                        <p:cTn id="85" dur="1" fill="hold">
                                          <p:stCondLst>
                                            <p:cond delay="0"/>
                                          </p:stCondLst>
                                        </p:cTn>
                                        <p:tgtEl>
                                          <p:spTgt spid="6">
                                            <p:graphicEl>
                                              <a:chart seriesIdx="-4" categoryIdx="2" bldStep="category"/>
                                            </p:graphicEl>
                                          </p:spTgt>
                                        </p:tgtEl>
                                        <p:attrNameLst>
                                          <p:attrName>style.visibility</p:attrName>
                                        </p:attrNameLst>
                                      </p:cBhvr>
                                      <p:to>
                                        <p:strVal val="visible"/>
                                      </p:to>
                                    </p:set>
                                    <p:animEffect transition="in" filter="wipe(up)">
                                      <p:cBhvr>
                                        <p:cTn id="86" dur="450"/>
                                        <p:tgtEl>
                                          <p:spTgt spid="6">
                                            <p:graphicEl>
                                              <a:chart seriesIdx="-4" categoryIdx="2" bldStep="category"/>
                                            </p:graphicEl>
                                          </p:spTgt>
                                        </p:tgtEl>
                                      </p:cBhvr>
                                    </p:animEffect>
                                  </p:childTnLst>
                                </p:cTn>
                              </p:par>
                              <p:par>
                                <p:cTn id="87" presetID="53" presetClass="entr" presetSubtype="16" fill="hold" grpId="0" nodeType="withEffect">
                                  <p:stCondLst>
                                    <p:cond delay="810"/>
                                  </p:stCondLst>
                                  <p:childTnLst>
                                    <p:set>
                                      <p:cBhvr>
                                        <p:cTn id="88" dur="1" fill="hold">
                                          <p:stCondLst>
                                            <p:cond delay="0"/>
                                          </p:stCondLst>
                                        </p:cTn>
                                        <p:tgtEl>
                                          <p:spTgt spid="17"/>
                                        </p:tgtEl>
                                        <p:attrNameLst>
                                          <p:attrName>style.visibility</p:attrName>
                                        </p:attrNameLst>
                                      </p:cBhvr>
                                      <p:to>
                                        <p:strVal val="visible"/>
                                      </p:to>
                                    </p:set>
                                    <p:anim calcmode="lin" valueType="num">
                                      <p:cBhvr additive="base">
                                        <p:cTn id="89" dur="450" decel="100000" fill="hold"/>
                                        <p:tgtEl>
                                          <p:spTgt spid="17"/>
                                        </p:tgtEl>
                                        <p:attrNameLst>
                                          <p:attrName>ppt_w</p:attrName>
                                        </p:attrNameLst>
                                      </p:cBhvr>
                                      <p:tavLst>
                                        <p:tav tm="0">
                                          <p:val>
                                            <p:strVal val="0"/>
                                          </p:val>
                                        </p:tav>
                                        <p:tav tm="100000">
                                          <p:val>
                                            <p:strVal val="#ppt_w"/>
                                          </p:val>
                                        </p:tav>
                                      </p:tavLst>
                                    </p:anim>
                                    <p:anim calcmode="lin" valueType="num">
                                      <p:cBhvr additive="base">
                                        <p:cTn id="90" dur="450" decel="100000" fill="hold"/>
                                        <p:tgtEl>
                                          <p:spTgt spid="17"/>
                                        </p:tgtEl>
                                        <p:attrNameLst>
                                          <p:attrName>ppt_h</p:attrName>
                                        </p:attrNameLst>
                                      </p:cBhvr>
                                      <p:tavLst>
                                        <p:tav tm="0">
                                          <p:val>
                                            <p:strVal val="0"/>
                                          </p:val>
                                        </p:tav>
                                        <p:tav tm="100000">
                                          <p:val>
                                            <p:strVal val="#ppt_h"/>
                                          </p:val>
                                        </p:tav>
                                      </p:tavLst>
                                    </p:anim>
                                    <p:animEffect transition="in" filter="fade">
                                      <p:cBhvr>
                                        <p:cTn id="91" dur="450"/>
                                        <p:tgtEl>
                                          <p:spTgt spid="17"/>
                                        </p:tgtEl>
                                      </p:cBhvr>
                                    </p:animEffect>
                                  </p:childTnLst>
                                </p:cTn>
                              </p:par>
                              <p:par>
                                <p:cTn id="92" presetID="53" presetClass="entr" presetSubtype="16" fill="hold" grpId="0" nodeType="withEffect">
                                  <p:stCondLst>
                                    <p:cond delay="910"/>
                                  </p:stCondLst>
                                  <p:childTnLst>
                                    <p:set>
                                      <p:cBhvr>
                                        <p:cTn id="93" dur="1" fill="hold">
                                          <p:stCondLst>
                                            <p:cond delay="0"/>
                                          </p:stCondLst>
                                        </p:cTn>
                                        <p:tgtEl>
                                          <p:spTgt spid="18"/>
                                        </p:tgtEl>
                                        <p:attrNameLst>
                                          <p:attrName>style.visibility</p:attrName>
                                        </p:attrNameLst>
                                      </p:cBhvr>
                                      <p:to>
                                        <p:strVal val="visible"/>
                                      </p:to>
                                    </p:set>
                                    <p:anim calcmode="lin" valueType="num">
                                      <p:cBhvr additive="base">
                                        <p:cTn id="94" dur="450" decel="100000" fill="hold"/>
                                        <p:tgtEl>
                                          <p:spTgt spid="18"/>
                                        </p:tgtEl>
                                        <p:attrNameLst>
                                          <p:attrName>ppt_w</p:attrName>
                                        </p:attrNameLst>
                                      </p:cBhvr>
                                      <p:tavLst>
                                        <p:tav tm="0">
                                          <p:val>
                                            <p:strVal val="0"/>
                                          </p:val>
                                        </p:tav>
                                        <p:tav tm="100000">
                                          <p:val>
                                            <p:strVal val="#ppt_w"/>
                                          </p:val>
                                        </p:tav>
                                      </p:tavLst>
                                    </p:anim>
                                    <p:anim calcmode="lin" valueType="num">
                                      <p:cBhvr additive="base">
                                        <p:cTn id="95" dur="450" decel="100000" fill="hold"/>
                                        <p:tgtEl>
                                          <p:spTgt spid="18"/>
                                        </p:tgtEl>
                                        <p:attrNameLst>
                                          <p:attrName>ppt_h</p:attrName>
                                        </p:attrNameLst>
                                      </p:cBhvr>
                                      <p:tavLst>
                                        <p:tav tm="0">
                                          <p:val>
                                            <p:strVal val="0"/>
                                          </p:val>
                                        </p:tav>
                                        <p:tav tm="100000">
                                          <p:val>
                                            <p:strVal val="#ppt_h"/>
                                          </p:val>
                                        </p:tav>
                                      </p:tavLst>
                                    </p:anim>
                                    <p:animEffect transition="in" filter="fade">
                                      <p:cBhvr>
                                        <p:cTn id="96" dur="450"/>
                                        <p:tgtEl>
                                          <p:spTgt spid="18"/>
                                        </p:tgtEl>
                                      </p:cBhvr>
                                    </p:animEffect>
                                  </p:childTnLst>
                                </p:cTn>
                              </p:par>
                              <p:par>
                                <p:cTn id="97" presetID="42" presetClass="entr" presetSubtype="0" fill="hold" grpId="0" nodeType="withEffect">
                                  <p:stCondLst>
                                    <p:cond delay="91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600"/>
                                        <p:tgtEl>
                                          <p:spTgt spid="25"/>
                                        </p:tgtEl>
                                      </p:cBhvr>
                                    </p:animEffect>
                                    <p:anim calcmode="lin" valueType="num">
                                      <p:cBhvr additive="base">
                                        <p:cTn id="100"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01" dur="600" decel="100000" fill="hold"/>
                                        <p:tgtEl>
                                          <p:spTgt spid="25"/>
                                        </p:tgtEl>
                                        <p:attrNameLst>
                                          <p:attrName>ppt_y</p:attrName>
                                        </p:attrNameLst>
                                      </p:cBhvr>
                                      <p:tavLst>
                                        <p:tav tm="0">
                                          <p:val>
                                            <p:strVal val="#ppt_y+.03"/>
                                          </p:val>
                                        </p:tav>
                                        <p:tav tm="100000">
                                          <p:val>
                                            <p:strVal val="#ppt_y"/>
                                          </p:val>
                                        </p:tav>
                                      </p:tavLst>
                                    </p:anim>
                                  </p:childTnLst>
                                </p:cTn>
                              </p:par>
                              <p:par>
                                <p:cTn id="102" presetID="53" presetClass="entr" presetSubtype="16" fill="hold" grpId="0" nodeType="withEffect">
                                  <p:stCondLst>
                                    <p:cond delay="940"/>
                                  </p:stCondLst>
                                  <p:childTnLst>
                                    <p:set>
                                      <p:cBhvr>
                                        <p:cTn id="103" dur="1" fill="hold">
                                          <p:stCondLst>
                                            <p:cond delay="0"/>
                                          </p:stCondLst>
                                        </p:cTn>
                                        <p:tgtEl>
                                          <p:spTgt spid="20"/>
                                        </p:tgtEl>
                                        <p:attrNameLst>
                                          <p:attrName>style.visibility</p:attrName>
                                        </p:attrNameLst>
                                      </p:cBhvr>
                                      <p:to>
                                        <p:strVal val="visible"/>
                                      </p:to>
                                    </p:set>
                                    <p:anim calcmode="lin" valueType="num">
                                      <p:cBhvr additive="base">
                                        <p:cTn id="104" dur="450" decel="100000" fill="hold"/>
                                        <p:tgtEl>
                                          <p:spTgt spid="20"/>
                                        </p:tgtEl>
                                        <p:attrNameLst>
                                          <p:attrName>ppt_w</p:attrName>
                                        </p:attrNameLst>
                                      </p:cBhvr>
                                      <p:tavLst>
                                        <p:tav tm="0">
                                          <p:val>
                                            <p:strVal val="0"/>
                                          </p:val>
                                        </p:tav>
                                        <p:tav tm="100000">
                                          <p:val>
                                            <p:strVal val="#ppt_w"/>
                                          </p:val>
                                        </p:tav>
                                      </p:tavLst>
                                    </p:anim>
                                    <p:anim calcmode="lin" valueType="num">
                                      <p:cBhvr additive="base">
                                        <p:cTn id="105" dur="450" decel="100000" fill="hold"/>
                                        <p:tgtEl>
                                          <p:spTgt spid="20"/>
                                        </p:tgtEl>
                                        <p:attrNameLst>
                                          <p:attrName>ppt_h</p:attrName>
                                        </p:attrNameLst>
                                      </p:cBhvr>
                                      <p:tavLst>
                                        <p:tav tm="0">
                                          <p:val>
                                            <p:strVal val="0"/>
                                          </p:val>
                                        </p:tav>
                                        <p:tav tm="100000">
                                          <p:val>
                                            <p:strVal val="#ppt_h"/>
                                          </p:val>
                                        </p:tav>
                                      </p:tavLst>
                                    </p:anim>
                                    <p:animEffect transition="in" filter="fade">
                                      <p:cBhvr>
                                        <p:cTn id="106" dur="450"/>
                                        <p:tgtEl>
                                          <p:spTgt spid="20"/>
                                        </p:tgtEl>
                                      </p:cBhvr>
                                    </p:animEffect>
                                  </p:childTnLst>
                                </p:cTn>
                              </p:par>
                              <p:par>
                                <p:cTn id="107" presetID="22" presetClass="entr" presetSubtype="4" fill="hold" grpId="0" nodeType="withEffect">
                                  <p:stCondLst>
                                    <p:cond delay="960"/>
                                  </p:stCondLst>
                                  <p:childTnLst>
                                    <p:set>
                                      <p:cBhvr>
                                        <p:cTn id="108" dur="1" fill="hold">
                                          <p:stCondLst>
                                            <p:cond delay="0"/>
                                          </p:stCondLst>
                                        </p:cTn>
                                        <p:tgtEl>
                                          <p:spTgt spid="6">
                                            <p:graphicEl>
                                              <a:chart seriesIdx="-4" categoryIdx="3" bldStep="category"/>
                                            </p:graphicEl>
                                          </p:spTgt>
                                        </p:tgtEl>
                                        <p:attrNameLst>
                                          <p:attrName>style.visibility</p:attrName>
                                        </p:attrNameLst>
                                      </p:cBhvr>
                                      <p:to>
                                        <p:strVal val="visible"/>
                                      </p:to>
                                    </p:set>
                                    <p:animEffect transition="in" filter="wipe(up)">
                                      <p:cBhvr>
                                        <p:cTn id="109" dur="450"/>
                                        <p:tgtEl>
                                          <p:spTgt spid="6">
                                            <p:graphicEl>
                                              <a:chart seriesIdx="-4" categoryIdx="3" bldStep="category"/>
                                            </p:graphicEl>
                                          </p:spTgt>
                                        </p:tgtEl>
                                      </p:cBhvr>
                                    </p:animEffect>
                                  </p:childTnLst>
                                </p:cTn>
                              </p:par>
                              <p:par>
                                <p:cTn id="110" presetID="53" presetClass="entr" presetSubtype="16" fill="hold" grpId="0" nodeType="withEffect">
                                  <p:stCondLst>
                                    <p:cond delay="1040"/>
                                  </p:stCondLst>
                                  <p:childTnLst>
                                    <p:set>
                                      <p:cBhvr>
                                        <p:cTn id="111" dur="1" fill="hold">
                                          <p:stCondLst>
                                            <p:cond delay="0"/>
                                          </p:stCondLst>
                                        </p:cTn>
                                        <p:tgtEl>
                                          <p:spTgt spid="21"/>
                                        </p:tgtEl>
                                        <p:attrNameLst>
                                          <p:attrName>style.visibility</p:attrName>
                                        </p:attrNameLst>
                                      </p:cBhvr>
                                      <p:to>
                                        <p:strVal val="visible"/>
                                      </p:to>
                                    </p:set>
                                    <p:anim calcmode="lin" valueType="num">
                                      <p:cBhvr additive="base">
                                        <p:cTn id="112" dur="450" decel="100000" fill="hold"/>
                                        <p:tgtEl>
                                          <p:spTgt spid="21"/>
                                        </p:tgtEl>
                                        <p:attrNameLst>
                                          <p:attrName>ppt_w</p:attrName>
                                        </p:attrNameLst>
                                      </p:cBhvr>
                                      <p:tavLst>
                                        <p:tav tm="0">
                                          <p:val>
                                            <p:strVal val="0"/>
                                          </p:val>
                                        </p:tav>
                                        <p:tav tm="100000">
                                          <p:val>
                                            <p:strVal val="#ppt_w"/>
                                          </p:val>
                                        </p:tav>
                                      </p:tavLst>
                                    </p:anim>
                                    <p:anim calcmode="lin" valueType="num">
                                      <p:cBhvr additive="base">
                                        <p:cTn id="113" dur="450" decel="100000" fill="hold"/>
                                        <p:tgtEl>
                                          <p:spTgt spid="21"/>
                                        </p:tgtEl>
                                        <p:attrNameLst>
                                          <p:attrName>ppt_h</p:attrName>
                                        </p:attrNameLst>
                                      </p:cBhvr>
                                      <p:tavLst>
                                        <p:tav tm="0">
                                          <p:val>
                                            <p:strVal val="0"/>
                                          </p:val>
                                        </p:tav>
                                        <p:tav tm="100000">
                                          <p:val>
                                            <p:strVal val="#ppt_h"/>
                                          </p:val>
                                        </p:tav>
                                      </p:tavLst>
                                    </p:anim>
                                    <p:animEffect transition="in" filter="fade">
                                      <p:cBhvr>
                                        <p:cTn id="114" dur="450"/>
                                        <p:tgtEl>
                                          <p:spTgt spid="21"/>
                                        </p:tgtEl>
                                      </p:cBhvr>
                                    </p:animEffect>
                                  </p:childTnLst>
                                </p:cTn>
                              </p:par>
                              <p:par>
                                <p:cTn id="115" presetID="42" presetClass="entr" presetSubtype="0" fill="hold" grpId="0" nodeType="withEffect">
                                  <p:stCondLst>
                                    <p:cond delay="104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600"/>
                                        <p:tgtEl>
                                          <p:spTgt spid="28"/>
                                        </p:tgtEl>
                                      </p:cBhvr>
                                    </p:animEffect>
                                    <p:anim calcmode="lin" valueType="num">
                                      <p:cBhvr additive="base">
                                        <p:cTn id="11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28"/>
                                        </p:tgtEl>
                                        <p:attrNameLst>
                                          <p:attrName>ppt_y</p:attrName>
                                        </p:attrNameLst>
                                      </p:cBhvr>
                                      <p:tavLst>
                                        <p:tav tm="0">
                                          <p:val>
                                            <p:strVal val="#ppt_y+.03"/>
                                          </p:val>
                                        </p:tav>
                                        <p:tav tm="100000">
                                          <p:val>
                                            <p:strVal val="#ppt_y"/>
                                          </p:val>
                                        </p:tav>
                                      </p:tavLst>
                                    </p:anim>
                                  </p:childTnLst>
                                </p:cTn>
                              </p:par>
                              <p:par>
                                <p:cTn id="120" presetID="53" presetClass="entr" presetSubtype="16" fill="hold" grpId="0" nodeType="withEffect">
                                  <p:stCondLst>
                                    <p:cond delay="1070"/>
                                  </p:stCondLst>
                                  <p:childTnLst>
                                    <p:set>
                                      <p:cBhvr>
                                        <p:cTn id="121" dur="1" fill="hold">
                                          <p:stCondLst>
                                            <p:cond delay="0"/>
                                          </p:stCondLst>
                                        </p:cTn>
                                        <p:tgtEl>
                                          <p:spTgt spid="23"/>
                                        </p:tgtEl>
                                        <p:attrNameLst>
                                          <p:attrName>style.visibility</p:attrName>
                                        </p:attrNameLst>
                                      </p:cBhvr>
                                      <p:to>
                                        <p:strVal val="visible"/>
                                      </p:to>
                                    </p:set>
                                    <p:anim calcmode="lin" valueType="num">
                                      <p:cBhvr additive="base">
                                        <p:cTn id="122" dur="450" decel="100000" fill="hold"/>
                                        <p:tgtEl>
                                          <p:spTgt spid="23"/>
                                        </p:tgtEl>
                                        <p:attrNameLst>
                                          <p:attrName>ppt_w</p:attrName>
                                        </p:attrNameLst>
                                      </p:cBhvr>
                                      <p:tavLst>
                                        <p:tav tm="0">
                                          <p:val>
                                            <p:strVal val="0"/>
                                          </p:val>
                                        </p:tav>
                                        <p:tav tm="100000">
                                          <p:val>
                                            <p:strVal val="#ppt_w"/>
                                          </p:val>
                                        </p:tav>
                                      </p:tavLst>
                                    </p:anim>
                                    <p:anim calcmode="lin" valueType="num">
                                      <p:cBhvr additive="base">
                                        <p:cTn id="123" dur="450" decel="100000" fill="hold"/>
                                        <p:tgtEl>
                                          <p:spTgt spid="23"/>
                                        </p:tgtEl>
                                        <p:attrNameLst>
                                          <p:attrName>ppt_h</p:attrName>
                                        </p:attrNameLst>
                                      </p:cBhvr>
                                      <p:tavLst>
                                        <p:tav tm="0">
                                          <p:val>
                                            <p:strVal val="0"/>
                                          </p:val>
                                        </p:tav>
                                        <p:tav tm="100000">
                                          <p:val>
                                            <p:strVal val="#ppt_h"/>
                                          </p:val>
                                        </p:tav>
                                      </p:tavLst>
                                    </p:anim>
                                    <p:animEffect transition="in" filter="fade">
                                      <p:cBhvr>
                                        <p:cTn id="124" dur="450"/>
                                        <p:tgtEl>
                                          <p:spTgt spid="23"/>
                                        </p:tgtEl>
                                      </p:cBhvr>
                                    </p:animEffect>
                                  </p:childTnLst>
                                </p:cTn>
                              </p:par>
                              <p:par>
                                <p:cTn id="125" presetID="22" presetClass="entr" presetSubtype="4" fill="hold" grpId="0" nodeType="withEffect">
                                  <p:stCondLst>
                                    <p:cond delay="1120"/>
                                  </p:stCondLst>
                                  <p:childTnLst>
                                    <p:set>
                                      <p:cBhvr>
                                        <p:cTn id="126" dur="1" fill="hold">
                                          <p:stCondLst>
                                            <p:cond delay="0"/>
                                          </p:stCondLst>
                                        </p:cTn>
                                        <p:tgtEl>
                                          <p:spTgt spid="6">
                                            <p:graphicEl>
                                              <a:chart seriesIdx="-4" categoryIdx="4" bldStep="category"/>
                                            </p:graphicEl>
                                          </p:spTgt>
                                        </p:tgtEl>
                                        <p:attrNameLst>
                                          <p:attrName>style.visibility</p:attrName>
                                        </p:attrNameLst>
                                      </p:cBhvr>
                                      <p:to>
                                        <p:strVal val="visible"/>
                                      </p:to>
                                    </p:set>
                                    <p:animEffect transition="in" filter="wipe(up)">
                                      <p:cBhvr>
                                        <p:cTn id="127" dur="450"/>
                                        <p:tgtEl>
                                          <p:spTgt spid="6">
                                            <p:graphicEl>
                                              <a:chart seriesIdx="-4" categoryIdx="4" bldStep="category"/>
                                            </p:graphicEl>
                                          </p:spTgt>
                                        </p:tgtEl>
                                      </p:cBhvr>
                                    </p:animEffect>
                                  </p:childTnLst>
                                </p:cTn>
                              </p:par>
                              <p:par>
                                <p:cTn id="128" presetID="53" presetClass="entr" presetSubtype="16" fill="hold" grpId="0" nodeType="withEffect">
                                  <p:stCondLst>
                                    <p:cond delay="1170"/>
                                  </p:stCondLst>
                                  <p:childTnLst>
                                    <p:set>
                                      <p:cBhvr>
                                        <p:cTn id="129" dur="1" fill="hold">
                                          <p:stCondLst>
                                            <p:cond delay="0"/>
                                          </p:stCondLst>
                                        </p:cTn>
                                        <p:tgtEl>
                                          <p:spTgt spid="24"/>
                                        </p:tgtEl>
                                        <p:attrNameLst>
                                          <p:attrName>style.visibility</p:attrName>
                                        </p:attrNameLst>
                                      </p:cBhvr>
                                      <p:to>
                                        <p:strVal val="visible"/>
                                      </p:to>
                                    </p:set>
                                    <p:anim calcmode="lin" valueType="num">
                                      <p:cBhvr additive="base">
                                        <p:cTn id="130" dur="450" decel="100000" fill="hold"/>
                                        <p:tgtEl>
                                          <p:spTgt spid="24"/>
                                        </p:tgtEl>
                                        <p:attrNameLst>
                                          <p:attrName>ppt_w</p:attrName>
                                        </p:attrNameLst>
                                      </p:cBhvr>
                                      <p:tavLst>
                                        <p:tav tm="0">
                                          <p:val>
                                            <p:strVal val="0"/>
                                          </p:val>
                                        </p:tav>
                                        <p:tav tm="100000">
                                          <p:val>
                                            <p:strVal val="#ppt_w"/>
                                          </p:val>
                                        </p:tav>
                                      </p:tavLst>
                                    </p:anim>
                                    <p:anim calcmode="lin" valueType="num">
                                      <p:cBhvr additive="base">
                                        <p:cTn id="131" dur="450" decel="100000" fill="hold"/>
                                        <p:tgtEl>
                                          <p:spTgt spid="24"/>
                                        </p:tgtEl>
                                        <p:attrNameLst>
                                          <p:attrName>ppt_h</p:attrName>
                                        </p:attrNameLst>
                                      </p:cBhvr>
                                      <p:tavLst>
                                        <p:tav tm="0">
                                          <p:val>
                                            <p:strVal val="0"/>
                                          </p:val>
                                        </p:tav>
                                        <p:tav tm="100000">
                                          <p:val>
                                            <p:strVal val="#ppt_h"/>
                                          </p:val>
                                        </p:tav>
                                      </p:tavLst>
                                    </p:anim>
                                    <p:animEffect transition="in" filter="fade">
                                      <p:cBhvr>
                                        <p:cTn id="132" dur="450"/>
                                        <p:tgtEl>
                                          <p:spTgt spid="24"/>
                                        </p:tgtEl>
                                      </p:cBhvr>
                                    </p:animEffect>
                                  </p:childTnLst>
                                </p:cTn>
                              </p:par>
                              <p:par>
                                <p:cTn id="133" presetID="42" presetClass="entr" presetSubtype="0" fill="hold" grpId="0" nodeType="withEffect">
                                  <p:stCondLst>
                                    <p:cond delay="117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600"/>
                                        <p:tgtEl>
                                          <p:spTgt spid="29"/>
                                        </p:tgtEl>
                                      </p:cBhvr>
                                    </p:animEffect>
                                    <p:anim calcmode="lin" valueType="num">
                                      <p:cBhvr additive="base">
                                        <p:cTn id="136"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37" dur="600" decel="100000" fill="hold"/>
                                        <p:tgtEl>
                                          <p:spTgt spid="29"/>
                                        </p:tgtEl>
                                        <p:attrNameLst>
                                          <p:attrName>ppt_y</p:attrName>
                                        </p:attrNameLst>
                                      </p:cBhvr>
                                      <p:tavLst>
                                        <p:tav tm="0">
                                          <p:val>
                                            <p:strVal val="#ppt_y+.03"/>
                                          </p:val>
                                        </p:tav>
                                        <p:tav tm="100000">
                                          <p:val>
                                            <p:strVal val="#ppt_y"/>
                                          </p:val>
                                        </p:tav>
                                      </p:tavLst>
                                    </p:anim>
                                  </p:childTnLst>
                                </p:cTn>
                              </p:par>
                              <p:par>
                                <p:cTn id="138" presetID="42" presetClass="entr" presetSubtype="0" fill="hold" grpId="0" nodeType="withEffect">
                                  <p:stCondLst>
                                    <p:cond delay="117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600"/>
                                        <p:tgtEl>
                                          <p:spTgt spid="30"/>
                                        </p:tgtEl>
                                      </p:cBhvr>
                                    </p:animEffect>
                                    <p:anim calcmode="lin" valueType="num">
                                      <p:cBhvr additive="base">
                                        <p:cTn id="141"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142" dur="600" decel="100000" fill="hold"/>
                                        <p:tgtEl>
                                          <p:spTgt spid="30"/>
                                        </p:tgtEl>
                                        <p:attrNameLst>
                                          <p:attrName>ppt_y</p:attrName>
                                        </p:attrNameLst>
                                      </p:cBhvr>
                                      <p:tavLst>
                                        <p:tav tm="0">
                                          <p:val>
                                            <p:strVal val="#ppt_y+.03"/>
                                          </p:val>
                                        </p:tav>
                                        <p:tav tm="100000">
                                          <p:val>
                                            <p:strVal val="#ppt_y"/>
                                          </p:val>
                                        </p:tav>
                                      </p:tavLst>
                                    </p:anim>
                                  </p:childTnLst>
                                </p:cTn>
                              </p:par>
                              <p:par>
                                <p:cTn id="143" presetID="42" presetClass="entr" presetSubtype="0" fill="hold" grpId="0" nodeType="withEffect">
                                  <p:stCondLst>
                                    <p:cond delay="117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600"/>
                                        <p:tgtEl>
                                          <p:spTgt spid="31"/>
                                        </p:tgtEl>
                                      </p:cBhvr>
                                    </p:animEffect>
                                    <p:anim calcmode="lin" valueType="num">
                                      <p:cBhvr additive="base">
                                        <p:cTn id="146" dur="600" decel="100000" fill="hold"/>
                                        <p:tgtEl>
                                          <p:spTgt spid="31"/>
                                        </p:tgtEl>
                                        <p:attrNameLst>
                                          <p:attrName>ppt_x</p:attrName>
                                        </p:attrNameLst>
                                      </p:cBhvr>
                                      <p:tavLst>
                                        <p:tav tm="0">
                                          <p:val>
                                            <p:strVal val="#ppt_x"/>
                                          </p:val>
                                        </p:tav>
                                        <p:tav tm="100000">
                                          <p:val>
                                            <p:strVal val="#ppt_x"/>
                                          </p:val>
                                        </p:tav>
                                      </p:tavLst>
                                    </p:anim>
                                    <p:anim calcmode="lin" valueType="num">
                                      <p:cBhvr additive="base">
                                        <p:cTn id="147" dur="600" decel="100000" fill="hold"/>
                                        <p:tgtEl>
                                          <p:spTgt spid="31"/>
                                        </p:tgtEl>
                                        <p:attrNameLst>
                                          <p:attrName>ppt_y</p:attrName>
                                        </p:attrNameLst>
                                      </p:cBhvr>
                                      <p:tavLst>
                                        <p:tav tm="0">
                                          <p:val>
                                            <p:strVal val="#ppt_y+.03"/>
                                          </p:val>
                                        </p:tav>
                                        <p:tav tm="100000">
                                          <p:val>
                                            <p:strVal val="#ppt_y"/>
                                          </p:val>
                                        </p:tav>
                                      </p:tavLst>
                                    </p:anim>
                                  </p:childTnLst>
                                </p:cTn>
                              </p:par>
                              <p:par>
                                <p:cTn id="148" presetID="53" presetClass="entr" presetSubtype="16" fill="hold" grpId="0" nodeType="withEffect">
                                  <p:stCondLst>
                                    <p:cond delay="1200"/>
                                  </p:stCondLst>
                                  <p:childTnLst>
                                    <p:set>
                                      <p:cBhvr>
                                        <p:cTn id="149" dur="1" fill="hold">
                                          <p:stCondLst>
                                            <p:cond delay="0"/>
                                          </p:stCondLst>
                                        </p:cTn>
                                        <p:tgtEl>
                                          <p:spTgt spid="26"/>
                                        </p:tgtEl>
                                        <p:attrNameLst>
                                          <p:attrName>style.visibility</p:attrName>
                                        </p:attrNameLst>
                                      </p:cBhvr>
                                      <p:to>
                                        <p:strVal val="visible"/>
                                      </p:to>
                                    </p:set>
                                    <p:anim calcmode="lin" valueType="num">
                                      <p:cBhvr additive="base">
                                        <p:cTn id="150" dur="450" decel="100000" fill="hold"/>
                                        <p:tgtEl>
                                          <p:spTgt spid="26"/>
                                        </p:tgtEl>
                                        <p:attrNameLst>
                                          <p:attrName>ppt_w</p:attrName>
                                        </p:attrNameLst>
                                      </p:cBhvr>
                                      <p:tavLst>
                                        <p:tav tm="0">
                                          <p:val>
                                            <p:strVal val="0"/>
                                          </p:val>
                                        </p:tav>
                                        <p:tav tm="100000">
                                          <p:val>
                                            <p:strVal val="#ppt_w"/>
                                          </p:val>
                                        </p:tav>
                                      </p:tavLst>
                                    </p:anim>
                                    <p:anim calcmode="lin" valueType="num">
                                      <p:cBhvr additive="base">
                                        <p:cTn id="151" dur="450" decel="100000" fill="hold"/>
                                        <p:tgtEl>
                                          <p:spTgt spid="26"/>
                                        </p:tgtEl>
                                        <p:attrNameLst>
                                          <p:attrName>ppt_h</p:attrName>
                                        </p:attrNameLst>
                                      </p:cBhvr>
                                      <p:tavLst>
                                        <p:tav tm="0">
                                          <p:val>
                                            <p:strVal val="0"/>
                                          </p:val>
                                        </p:tav>
                                        <p:tav tm="100000">
                                          <p:val>
                                            <p:strVal val="#ppt_h"/>
                                          </p:val>
                                        </p:tav>
                                      </p:tavLst>
                                    </p:anim>
                                    <p:animEffect transition="in" filter="fade">
                                      <p:cBhvr>
                                        <p:cTn id="152" dur="450"/>
                                        <p:tgtEl>
                                          <p:spTgt spid="26"/>
                                        </p:tgtEl>
                                      </p:cBhvr>
                                    </p:animEffect>
                                  </p:childTnLst>
                                </p:cTn>
                              </p:par>
                              <p:par>
                                <p:cTn id="153" presetID="22" presetClass="entr" presetSubtype="4" fill="hold" grpId="0" nodeType="withEffect">
                                  <p:stCondLst>
                                    <p:cond delay="1280"/>
                                  </p:stCondLst>
                                  <p:childTnLst>
                                    <p:set>
                                      <p:cBhvr>
                                        <p:cTn id="154" dur="1" fill="hold">
                                          <p:stCondLst>
                                            <p:cond delay="0"/>
                                          </p:stCondLst>
                                        </p:cTn>
                                        <p:tgtEl>
                                          <p:spTgt spid="6">
                                            <p:graphicEl>
                                              <a:chart seriesIdx="-4" categoryIdx="5" bldStep="category"/>
                                            </p:graphicEl>
                                          </p:spTgt>
                                        </p:tgtEl>
                                        <p:attrNameLst>
                                          <p:attrName>style.visibility</p:attrName>
                                        </p:attrNameLst>
                                      </p:cBhvr>
                                      <p:to>
                                        <p:strVal val="visible"/>
                                      </p:to>
                                    </p:set>
                                    <p:animEffect transition="in" filter="wipe(up)">
                                      <p:cBhvr>
                                        <p:cTn id="155" dur="450"/>
                                        <p:tgtEl>
                                          <p:spTgt spid="6">
                                            <p:graphicEl>
                                              <a:chart seriesIdx="-4" categoryIdx="5" bldStep="category"/>
                                            </p:graphicEl>
                                          </p:spTgt>
                                        </p:tgtEl>
                                      </p:cBhvr>
                                    </p:animEffect>
                                  </p:childTnLst>
                                </p:cTn>
                              </p:par>
                              <p:par>
                                <p:cTn id="156" presetID="53" presetClass="entr" presetSubtype="16" fill="hold" grpId="0" nodeType="withEffect">
                                  <p:stCondLst>
                                    <p:cond delay="1300"/>
                                  </p:stCondLst>
                                  <p:childTnLst>
                                    <p:set>
                                      <p:cBhvr>
                                        <p:cTn id="157" dur="1" fill="hold">
                                          <p:stCondLst>
                                            <p:cond delay="0"/>
                                          </p:stCondLst>
                                        </p:cTn>
                                        <p:tgtEl>
                                          <p:spTgt spid="27"/>
                                        </p:tgtEl>
                                        <p:attrNameLst>
                                          <p:attrName>style.visibility</p:attrName>
                                        </p:attrNameLst>
                                      </p:cBhvr>
                                      <p:to>
                                        <p:strVal val="visible"/>
                                      </p:to>
                                    </p:set>
                                    <p:anim calcmode="lin" valueType="num">
                                      <p:cBhvr additive="base">
                                        <p:cTn id="158" dur="450" decel="100000" fill="hold"/>
                                        <p:tgtEl>
                                          <p:spTgt spid="27"/>
                                        </p:tgtEl>
                                        <p:attrNameLst>
                                          <p:attrName>ppt_w</p:attrName>
                                        </p:attrNameLst>
                                      </p:cBhvr>
                                      <p:tavLst>
                                        <p:tav tm="0">
                                          <p:val>
                                            <p:strVal val="0"/>
                                          </p:val>
                                        </p:tav>
                                        <p:tav tm="100000">
                                          <p:val>
                                            <p:strVal val="#ppt_w"/>
                                          </p:val>
                                        </p:tav>
                                      </p:tavLst>
                                    </p:anim>
                                    <p:anim calcmode="lin" valueType="num">
                                      <p:cBhvr additive="base">
                                        <p:cTn id="159" dur="450" decel="100000" fill="hold"/>
                                        <p:tgtEl>
                                          <p:spTgt spid="27"/>
                                        </p:tgtEl>
                                        <p:attrNameLst>
                                          <p:attrName>ppt_h</p:attrName>
                                        </p:attrNameLst>
                                      </p:cBhvr>
                                      <p:tavLst>
                                        <p:tav tm="0">
                                          <p:val>
                                            <p:strVal val="0"/>
                                          </p:val>
                                        </p:tav>
                                        <p:tav tm="100000">
                                          <p:val>
                                            <p:strVal val="#ppt_h"/>
                                          </p:val>
                                        </p:tav>
                                      </p:tavLst>
                                    </p:anim>
                                    <p:animEffect transition="in" filter="fade">
                                      <p:cBhvr>
                                        <p:cTn id="160" dur="450"/>
                                        <p:tgtEl>
                                          <p:spTgt spid="27"/>
                                        </p:tgtEl>
                                      </p:cBhvr>
                                    </p:animEffect>
                                  </p:childTnLst>
                                </p:cTn>
                              </p:par>
                              <p:par>
                                <p:cTn id="161" presetID="22" presetClass="entr" presetSubtype="4" fill="hold" grpId="0" nodeType="withEffect">
                                  <p:stCondLst>
                                    <p:cond delay="1440"/>
                                  </p:stCondLst>
                                  <p:childTnLst>
                                    <p:set>
                                      <p:cBhvr>
                                        <p:cTn id="162" dur="1" fill="hold">
                                          <p:stCondLst>
                                            <p:cond delay="0"/>
                                          </p:stCondLst>
                                        </p:cTn>
                                        <p:tgtEl>
                                          <p:spTgt spid="6">
                                            <p:graphicEl>
                                              <a:chart seriesIdx="-4" categoryIdx="6" bldStep="category"/>
                                            </p:graphicEl>
                                          </p:spTgt>
                                        </p:tgtEl>
                                        <p:attrNameLst>
                                          <p:attrName>style.visibility</p:attrName>
                                        </p:attrNameLst>
                                      </p:cBhvr>
                                      <p:to>
                                        <p:strVal val="visible"/>
                                      </p:to>
                                    </p:set>
                                    <p:animEffect transition="in" filter="wipe(up)">
                                      <p:cBhvr>
                                        <p:cTn id="163" dur="450"/>
                                        <p:tgtEl>
                                          <p:spTgt spid="6">
                                            <p:graphicEl>
                                              <a:chart seriesIdx="-4" categoryIdx="6" bldStep="category"/>
                                            </p:graphicEl>
                                          </p:spTgt>
                                        </p:tgtEl>
                                      </p:cBhvr>
                                    </p:animEffect>
                                  </p:childTnLst>
                                </p:cTn>
                              </p:par>
                              <p:par>
                                <p:cTn id="164" presetID="22" presetClass="entr" presetSubtype="4" fill="hold" grpId="0" nodeType="withEffect">
                                  <p:stCondLst>
                                    <p:cond delay="1600"/>
                                  </p:stCondLst>
                                  <p:childTnLst>
                                    <p:set>
                                      <p:cBhvr>
                                        <p:cTn id="165" dur="1" fill="hold">
                                          <p:stCondLst>
                                            <p:cond delay="0"/>
                                          </p:stCondLst>
                                        </p:cTn>
                                        <p:tgtEl>
                                          <p:spTgt spid="6">
                                            <p:graphicEl>
                                              <a:chart seriesIdx="-4" categoryIdx="7" bldStep="category"/>
                                            </p:graphicEl>
                                          </p:spTgt>
                                        </p:tgtEl>
                                        <p:attrNameLst>
                                          <p:attrName>style.visibility</p:attrName>
                                        </p:attrNameLst>
                                      </p:cBhvr>
                                      <p:to>
                                        <p:strVal val="visible"/>
                                      </p:to>
                                    </p:set>
                                    <p:animEffect transition="in" filter="wipe(up)">
                                      <p:cBhvr>
                                        <p:cTn id="166" dur="450"/>
                                        <p:tgtEl>
                                          <p:spTgt spid="6">
                                            <p:graphicEl>
                                              <a:chart seriesIdx="-4" categoryIdx="7" bldStep="category"/>
                                            </p:graphicEl>
                                          </p:spTgt>
                                        </p:tgtEl>
                                      </p:cBhvr>
                                    </p:animEffect>
                                  </p:childTnLst>
                                </p:cTn>
                              </p:par>
                              <p:par>
                                <p:cTn id="167" presetID="22" presetClass="entr" presetSubtype="4" fill="hold" grpId="0" nodeType="withEffect">
                                  <p:stCondLst>
                                    <p:cond delay="1760"/>
                                  </p:stCondLst>
                                  <p:childTnLst>
                                    <p:set>
                                      <p:cBhvr>
                                        <p:cTn id="168" dur="1" fill="hold">
                                          <p:stCondLst>
                                            <p:cond delay="0"/>
                                          </p:stCondLst>
                                        </p:cTn>
                                        <p:tgtEl>
                                          <p:spTgt spid="6">
                                            <p:graphicEl>
                                              <a:chart seriesIdx="-4" categoryIdx="8" bldStep="category"/>
                                            </p:graphicEl>
                                          </p:spTgt>
                                        </p:tgtEl>
                                        <p:attrNameLst>
                                          <p:attrName>style.visibility</p:attrName>
                                        </p:attrNameLst>
                                      </p:cBhvr>
                                      <p:to>
                                        <p:strVal val="visible"/>
                                      </p:to>
                                    </p:set>
                                    <p:animEffect transition="in" filter="wipe(up)">
                                      <p:cBhvr>
                                        <p:cTn id="169" dur="450"/>
                                        <p:tgtEl>
                                          <p:spTgt spid="6">
                                            <p:graphicEl>
                                              <a:chart seriesIdx="-4" categoryIdx="8" bldStep="category"/>
                                            </p:graphicEl>
                                          </p:spTgt>
                                        </p:tgtEl>
                                      </p:cBhvr>
                                    </p:animEffect>
                                  </p:childTnLst>
                                </p:cTn>
                              </p:par>
                              <p:par>
                                <p:cTn id="170" presetID="22" presetClass="entr" presetSubtype="4" fill="hold" grpId="0" nodeType="withEffect">
                                  <p:stCondLst>
                                    <p:cond delay="1920"/>
                                  </p:stCondLst>
                                  <p:childTnLst>
                                    <p:set>
                                      <p:cBhvr>
                                        <p:cTn id="171" dur="1" fill="hold">
                                          <p:stCondLst>
                                            <p:cond delay="0"/>
                                          </p:stCondLst>
                                        </p:cTn>
                                        <p:tgtEl>
                                          <p:spTgt spid="6">
                                            <p:graphicEl>
                                              <a:chart seriesIdx="-4" categoryIdx="9" bldStep="category"/>
                                            </p:graphicEl>
                                          </p:spTgt>
                                        </p:tgtEl>
                                        <p:attrNameLst>
                                          <p:attrName>style.visibility</p:attrName>
                                        </p:attrNameLst>
                                      </p:cBhvr>
                                      <p:to>
                                        <p:strVal val="visible"/>
                                      </p:to>
                                    </p:set>
                                    <p:animEffect transition="in" filter="wipe(up)">
                                      <p:cBhvr>
                                        <p:cTn id="172" dur="450"/>
                                        <p:tgtEl>
                                          <p:spTgt spid="6">
                                            <p:graphicEl>
                                              <a:chart seriesIdx="-4" categoryIdx="9" bldStep="category"/>
                                            </p:graphicEl>
                                          </p:spTgt>
                                        </p:tgtEl>
                                      </p:cBhvr>
                                    </p:animEffect>
                                  </p:childTnLst>
                                </p:cTn>
                              </p:par>
                              <p:par>
                                <p:cTn id="173" presetID="22" presetClass="entr" presetSubtype="4" fill="hold" grpId="0" nodeType="withEffect">
                                  <p:stCondLst>
                                    <p:cond delay="2080"/>
                                  </p:stCondLst>
                                  <p:childTnLst>
                                    <p:set>
                                      <p:cBhvr>
                                        <p:cTn id="174" dur="1" fill="hold">
                                          <p:stCondLst>
                                            <p:cond delay="0"/>
                                          </p:stCondLst>
                                        </p:cTn>
                                        <p:tgtEl>
                                          <p:spTgt spid="6">
                                            <p:graphicEl>
                                              <a:chart seriesIdx="-4" categoryIdx="10" bldStep="category"/>
                                            </p:graphicEl>
                                          </p:spTgt>
                                        </p:tgtEl>
                                        <p:attrNameLst>
                                          <p:attrName>style.visibility</p:attrName>
                                        </p:attrNameLst>
                                      </p:cBhvr>
                                      <p:to>
                                        <p:strVal val="visible"/>
                                      </p:to>
                                    </p:set>
                                    <p:animEffect transition="in" filter="wipe(up)">
                                      <p:cBhvr>
                                        <p:cTn id="175" dur="450"/>
                                        <p:tgtEl>
                                          <p:spTgt spid="6">
                                            <p:graphicEl>
                                              <a:chart seriesIdx="-4" categoryIdx="10" bldStep="category"/>
                                            </p:graphicEl>
                                          </p:spTgt>
                                        </p:tgtEl>
                                      </p:cBhvr>
                                    </p:animEffect>
                                  </p:childTnLst>
                                </p:cTn>
                              </p:par>
                              <p:par>
                                <p:cTn id="176" presetID="22" presetClass="entr" presetSubtype="4" fill="hold" grpId="0" nodeType="withEffect">
                                  <p:stCondLst>
                                    <p:cond delay="2240"/>
                                  </p:stCondLst>
                                  <p:childTnLst>
                                    <p:set>
                                      <p:cBhvr>
                                        <p:cTn id="177" dur="1" fill="hold">
                                          <p:stCondLst>
                                            <p:cond delay="0"/>
                                          </p:stCondLst>
                                        </p:cTn>
                                        <p:tgtEl>
                                          <p:spTgt spid="6">
                                            <p:graphicEl>
                                              <a:chart seriesIdx="-4" categoryIdx="11" bldStep="category"/>
                                            </p:graphicEl>
                                          </p:spTgt>
                                        </p:tgtEl>
                                        <p:attrNameLst>
                                          <p:attrName>style.visibility</p:attrName>
                                        </p:attrNameLst>
                                      </p:cBhvr>
                                      <p:to>
                                        <p:strVal val="visible"/>
                                      </p:to>
                                    </p:set>
                                    <p:animEffect transition="in" filter="wipe(up)">
                                      <p:cBhvr>
                                        <p:cTn id="178" dur="450"/>
                                        <p:tgtEl>
                                          <p:spTgt spid="6">
                                            <p:graphicEl>
                                              <a:chart seriesIdx="-4" categoryIdx="11"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Graphic spid="6" grpId="0">
        <p:bldSub>
          <a:bldChart bld="category"/>
        </p:bldSub>
      </p:bldGraphic>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2" grpId="0" animBg="1"/>
      <p:bldP spid="23" grpId="0" animBg="1"/>
      <p:bldP spid="25" grpId="0" animBg="1"/>
      <p:bldP spid="26" grpId="0" animBg="1"/>
      <p:bldP spid="28" grpId="0" animBg="1"/>
      <p:bldP spid="29" grpId="0" animBg="1"/>
      <p:bldP spid="30"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07  |  النماذج المالية ومؤشرات الاستثمار</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المؤشرات الرئيسية للاستثمار (أساس نقدي)</a:t>
            </a:r>
            <a:endParaRPr lang="en-US" sz="3000" dirty="0"/>
          </a:p>
        </p:txBody>
      </p:sp>
      <p:sp>
        <p:nvSpPr>
          <p:cNvPr id="4" name="anim16_0"/>
          <p:cNvSpPr txBox="1"/>
          <p:nvPr/>
        </p:nvSpPr>
        <p:spPr>
          <a:xfrm>
            <a:off x="548640" y="1508760"/>
            <a:ext cx="11094415" cy="365760"/>
          </a:xfrm>
          <a:prstGeom prst="rect">
            <a:avLst/>
          </a:prstGeom>
          <a:noFill/>
          <a:ln/>
        </p:spPr>
        <p:txBody>
          <a:bodyPr wrap="square" lIns="0" tIns="0" rIns="0" bIns="0" rtlCol="0" anchor="t"/>
          <a:lstStyle/>
          <a:p>
            <a:pPr rtl="1" algn="r" indent="0" marL="0">
              <a:buNone/>
            </a:pPr>
            <a:r>
              <a:rPr lang="ar-SA" altLang="en-US" sz="1500" dirty="0">
                <a:solidFill>
                  <a:srgbClr val="5B6B7F"/>
                </a:solidFill>
                <a:latin typeface="JF Flat" pitchFamily="34" charset="0"/>
                <a:ea typeface="JF Flat" pitchFamily="34" charset="-122"/>
                <a:cs typeface="JF Flat" pitchFamily="34" charset="-120"/>
              </a:rPr>
              <a:t>تعرض الدراسة النتائج المالية وفق منهجين: الربح المحاسبي والتدفقات النقدية.</a:t>
            </a:r>
            <a:endParaRPr lang="ar-SA" sz="1500" dirty="0"/>
          </a:p>
        </p:txBody>
      </p:sp>
      <p:sp>
        <p:nvSpPr>
          <p:cNvPr id="5" name="anim16_1"/>
          <p:cNvSpPr/>
          <p:nvPr/>
        </p:nvSpPr>
        <p:spPr>
          <a:xfrm>
            <a:off x="8097317" y="201168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6" name="anim16_2"/>
          <p:cNvSpPr/>
          <p:nvPr/>
        </p:nvSpPr>
        <p:spPr>
          <a:xfrm>
            <a:off x="10865815" y="2240280"/>
            <a:ext cx="548640" cy="548640"/>
          </a:xfrm>
          <a:prstGeom prst="ellipse">
            <a:avLst/>
          </a:prstGeom>
          <a:solidFill>
            <a:srgbClr val="00539B"/>
          </a:solidFill>
          <a:ln w="12700">
            <a:solidFill>
              <a:srgbClr val="00539B"/>
            </a:solidFill>
            <a:prstDash val="solid"/>
          </a:ln>
        </p:spPr>
      </p:sp>
      <p:pic>
        <p:nvPicPr>
          <p:cNvPr id="7" name="anim16_3" descr="preencoded.png">    </p:cNvPr>
          <p:cNvPicPr>
            <a:picLocks noChangeAspect="1"/>
          </p:cNvPicPr>
          <p:nvPr/>
        </p:nvPicPr>
        <p:blipFill>
          <a:blip r:embed="rId1"/>
          <a:stretch>
            <a:fillRect/>
          </a:stretch>
        </p:blipFill>
        <p:spPr>
          <a:xfrm>
            <a:off x="11013948" y="2388413"/>
            <a:ext cx="252374" cy="252374"/>
          </a:xfrm>
          <a:prstGeom prst="rect">
            <a:avLst/>
          </a:prstGeom>
        </p:spPr>
      </p:pic>
      <p:sp>
        <p:nvSpPr>
          <p:cNvPr id="8" name="anim16_4"/>
          <p:cNvSpPr txBox="1"/>
          <p:nvPr/>
        </p:nvSpPr>
        <p:spPr>
          <a:xfrm>
            <a:off x="8325917" y="224028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فترة الاسترداد على أساس صافي الربح</a:t>
            </a:r>
            <a:endParaRPr lang="ar-SA" sz="1300" dirty="0"/>
          </a:p>
        </p:txBody>
      </p:sp>
      <p:sp>
        <p:nvSpPr>
          <p:cNvPr id="9" name="anim16_5"/>
          <p:cNvSpPr txBox="1"/>
          <p:nvPr/>
        </p:nvSpPr>
        <p:spPr>
          <a:xfrm>
            <a:off x="8325917" y="2880360"/>
            <a:ext cx="3088538" cy="822960"/>
          </a:xfrm>
          <a:prstGeom prst="rect">
            <a:avLst/>
          </a:prstGeom>
          <a:noFill/>
          <a:ln/>
        </p:spPr>
        <p:txBody>
          <a:bodyPr wrap="square" lIns="0" tIns="0" rIns="0" bIns="0" rtlCol="0" anchor="ctr"/>
          <a:lstStyle/>
          <a:p>
            <a:pPr algn="r" indent="0" marL="0">
              <a:buNone/>
            </a:pPr>
            <a:r>
              <a:rPr lang="ar-SA" altLang="en-US" sz="4400" b="1" dirty="0">
                <a:solidFill>
                  <a:srgbClr val="00539B"/>
                </a:solidFill>
                <a:latin typeface="JF Flat" pitchFamily="34" charset="0"/>
                <a:ea typeface="JF Flat" pitchFamily="34" charset="-122"/>
                <a:cs typeface="JF Flat" pitchFamily="34" charset="-120"/>
              </a:rPr>
              <a:t>11.0</a:t>
            </a:r>
            <a:pPr algn="r" indent="0" marL="0">
              <a:buNone/>
            </a:pPr>
            <a:r>
              <a:rPr lang="ar-SA" altLang="en-US" sz="1500" b="1" dirty="0">
                <a:solidFill>
                  <a:srgbClr val="5B6B7F"/>
                </a:solidFill>
                <a:latin typeface="JF Flat" pitchFamily="34" charset="0"/>
                <a:ea typeface="JF Flat" pitchFamily="34" charset="-122"/>
                <a:cs typeface="JF Flat" pitchFamily="34" charset="-120"/>
              </a:rPr>
              <a:t>  سنة</a:t>
            </a:r>
            <a:endParaRPr lang="ar-SA" sz="1400" dirty="0"/>
          </a:p>
        </p:txBody>
      </p:sp>
      <p:sp>
        <p:nvSpPr>
          <p:cNvPr id="10" name="anim16_6"/>
          <p:cNvSpPr/>
          <p:nvPr/>
        </p:nvSpPr>
        <p:spPr>
          <a:xfrm>
            <a:off x="4322978" y="201168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1" name="anim16_7"/>
          <p:cNvSpPr/>
          <p:nvPr/>
        </p:nvSpPr>
        <p:spPr>
          <a:xfrm>
            <a:off x="7091477" y="2240280"/>
            <a:ext cx="548640" cy="548640"/>
          </a:xfrm>
          <a:prstGeom prst="ellipse">
            <a:avLst/>
          </a:prstGeom>
          <a:solidFill>
            <a:srgbClr val="F15524"/>
          </a:solidFill>
          <a:ln w="12700">
            <a:solidFill>
              <a:srgbClr val="F15524"/>
            </a:solidFill>
            <a:prstDash val="solid"/>
          </a:ln>
        </p:spPr>
      </p:sp>
      <p:pic>
        <p:nvPicPr>
          <p:cNvPr id="12" name="anim16_8" descr="preencoded.png">    </p:cNvPr>
          <p:cNvPicPr>
            <a:picLocks noChangeAspect="1"/>
          </p:cNvPicPr>
          <p:nvPr/>
        </p:nvPicPr>
        <p:blipFill>
          <a:blip r:embed="rId2"/>
          <a:stretch>
            <a:fillRect/>
          </a:stretch>
        </p:blipFill>
        <p:spPr>
          <a:xfrm>
            <a:off x="7239610" y="2388413"/>
            <a:ext cx="252374" cy="252374"/>
          </a:xfrm>
          <a:prstGeom prst="rect">
            <a:avLst/>
          </a:prstGeom>
        </p:spPr>
      </p:pic>
      <p:sp>
        <p:nvSpPr>
          <p:cNvPr id="13" name="anim16_9"/>
          <p:cNvSpPr txBox="1"/>
          <p:nvPr/>
        </p:nvSpPr>
        <p:spPr>
          <a:xfrm>
            <a:off x="4551578" y="224028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فترة الاسترداد على أساس التدفق النقدي</a:t>
            </a:r>
            <a:endParaRPr lang="ar-SA" sz="1300" dirty="0"/>
          </a:p>
        </p:txBody>
      </p:sp>
      <p:sp>
        <p:nvSpPr>
          <p:cNvPr id="14" name="anim16_10"/>
          <p:cNvSpPr txBox="1"/>
          <p:nvPr/>
        </p:nvSpPr>
        <p:spPr>
          <a:xfrm>
            <a:off x="4551578" y="2880360"/>
            <a:ext cx="3088538" cy="822960"/>
          </a:xfrm>
          <a:prstGeom prst="rect">
            <a:avLst/>
          </a:prstGeom>
          <a:noFill/>
          <a:ln/>
        </p:spPr>
        <p:txBody>
          <a:bodyPr wrap="square" lIns="0" tIns="0" rIns="0" bIns="0" rtlCol="0" anchor="ctr"/>
          <a:lstStyle/>
          <a:p>
            <a:pPr algn="r" indent="0" marL="0">
              <a:buNone/>
            </a:pPr>
            <a:r>
              <a:rPr lang="ar-SA" altLang="en-US" sz="4400" b="1" dirty="0">
                <a:solidFill>
                  <a:srgbClr val="F15524"/>
                </a:solidFill>
                <a:latin typeface="JF Flat" pitchFamily="34" charset="0"/>
                <a:ea typeface="JF Flat" pitchFamily="34" charset="-122"/>
                <a:cs typeface="JF Flat" pitchFamily="34" charset="-120"/>
              </a:rPr>
              <a:t>9.0</a:t>
            </a:r>
            <a:pPr algn="r" indent="0" marL="0">
              <a:buNone/>
            </a:pPr>
            <a:r>
              <a:rPr lang="ar-SA" altLang="en-US" sz="1500" b="1" dirty="0">
                <a:solidFill>
                  <a:srgbClr val="5B6B7F"/>
                </a:solidFill>
                <a:latin typeface="JF Flat" pitchFamily="34" charset="0"/>
                <a:ea typeface="JF Flat" pitchFamily="34" charset="-122"/>
                <a:cs typeface="JF Flat" pitchFamily="34" charset="-120"/>
              </a:rPr>
              <a:t>  سنوات</a:t>
            </a:r>
            <a:endParaRPr lang="ar-SA" sz="1400" dirty="0"/>
          </a:p>
        </p:txBody>
      </p:sp>
      <p:sp>
        <p:nvSpPr>
          <p:cNvPr id="15" name="anim16_11"/>
          <p:cNvSpPr/>
          <p:nvPr/>
        </p:nvSpPr>
        <p:spPr>
          <a:xfrm>
            <a:off x="548640" y="201168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6" name="anim16_12"/>
          <p:cNvSpPr/>
          <p:nvPr/>
        </p:nvSpPr>
        <p:spPr>
          <a:xfrm>
            <a:off x="3317138" y="2240280"/>
            <a:ext cx="548640" cy="548640"/>
          </a:xfrm>
          <a:prstGeom prst="ellipse">
            <a:avLst/>
          </a:prstGeom>
          <a:solidFill>
            <a:srgbClr val="06305C"/>
          </a:solidFill>
          <a:ln w="12700">
            <a:solidFill>
              <a:srgbClr val="06305C"/>
            </a:solidFill>
            <a:prstDash val="solid"/>
          </a:ln>
        </p:spPr>
      </p:sp>
      <p:pic>
        <p:nvPicPr>
          <p:cNvPr id="17" name="anim16_13" descr="preencoded.png">    </p:cNvPr>
          <p:cNvPicPr>
            <a:picLocks noChangeAspect="1"/>
          </p:cNvPicPr>
          <p:nvPr/>
        </p:nvPicPr>
        <p:blipFill>
          <a:blip r:embed="rId3"/>
          <a:stretch>
            <a:fillRect/>
          </a:stretch>
        </p:blipFill>
        <p:spPr>
          <a:xfrm>
            <a:off x="3465271" y="2388413"/>
            <a:ext cx="252374" cy="252374"/>
          </a:xfrm>
          <a:prstGeom prst="rect">
            <a:avLst/>
          </a:prstGeom>
        </p:spPr>
      </p:pic>
      <p:sp>
        <p:nvSpPr>
          <p:cNvPr id="18" name="anim16_14"/>
          <p:cNvSpPr txBox="1"/>
          <p:nvPr/>
        </p:nvSpPr>
        <p:spPr>
          <a:xfrm>
            <a:off x="777240" y="224028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صافي القيمة الحالية NPV</a:t>
            </a:r>
            <a:endParaRPr lang="ar-SA" sz="1300" dirty="0"/>
          </a:p>
        </p:txBody>
      </p:sp>
      <p:sp>
        <p:nvSpPr>
          <p:cNvPr id="19" name="anim16_15"/>
          <p:cNvSpPr txBox="1"/>
          <p:nvPr/>
        </p:nvSpPr>
        <p:spPr>
          <a:xfrm>
            <a:off x="777240" y="2880360"/>
            <a:ext cx="3088538" cy="822960"/>
          </a:xfrm>
          <a:prstGeom prst="rect">
            <a:avLst/>
          </a:prstGeom>
          <a:noFill/>
          <a:ln/>
        </p:spPr>
        <p:txBody>
          <a:bodyPr wrap="square" lIns="0" tIns="0" rIns="0" bIns="0" rtlCol="0" anchor="ctr"/>
          <a:lstStyle/>
          <a:p>
            <a:pPr algn="r" indent="0" marL="0">
              <a:buNone/>
            </a:pPr>
            <a:r>
              <a:rPr lang="ar-SA" altLang="en-US" sz="3000" b="1" dirty="0">
                <a:solidFill>
                  <a:srgbClr val="06305C"/>
                </a:solidFill>
                <a:latin typeface="JF Flat" pitchFamily="34" charset="0"/>
                <a:ea typeface="JF Flat" pitchFamily="34" charset="-122"/>
                <a:cs typeface="JF Flat" pitchFamily="34" charset="-120"/>
              </a:rPr>
              <a:t>179,889,274</a:t>
            </a:r>
            <a:pPr algn="r" indent="0" marL="0">
              <a:buNone/>
            </a:pPr>
            <a:r>
              <a:rPr lang="ar-SA" altLang="en-US" sz="1500" b="1" dirty="0">
                <a:solidFill>
                  <a:srgbClr val="5B6B7F"/>
                </a:solidFill>
                <a:latin typeface="JF Flat" pitchFamily="34" charset="0"/>
                <a:ea typeface="JF Flat" pitchFamily="34" charset="-122"/>
                <a:cs typeface="JF Flat" pitchFamily="34" charset="-120"/>
              </a:rPr>
              <a:t>  د.ل</a:t>
            </a:r>
            <a:endParaRPr lang="ar-SA" sz="1400" dirty="0"/>
          </a:p>
        </p:txBody>
      </p:sp>
      <p:sp>
        <p:nvSpPr>
          <p:cNvPr id="20" name="anim16_16"/>
          <p:cNvSpPr/>
          <p:nvPr/>
        </p:nvSpPr>
        <p:spPr>
          <a:xfrm>
            <a:off x="8097317" y="411480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1" name="anim16_17"/>
          <p:cNvSpPr/>
          <p:nvPr/>
        </p:nvSpPr>
        <p:spPr>
          <a:xfrm>
            <a:off x="10865815" y="4343400"/>
            <a:ext cx="548640" cy="548640"/>
          </a:xfrm>
          <a:prstGeom prst="ellipse">
            <a:avLst/>
          </a:prstGeom>
          <a:solidFill>
            <a:srgbClr val="06305C"/>
          </a:solidFill>
          <a:ln w="12700">
            <a:solidFill>
              <a:srgbClr val="06305C"/>
            </a:solidFill>
            <a:prstDash val="solid"/>
          </a:ln>
        </p:spPr>
      </p:sp>
      <p:pic>
        <p:nvPicPr>
          <p:cNvPr id="22" name="anim16_18" descr="preencoded.png">    </p:cNvPr>
          <p:cNvPicPr>
            <a:picLocks noChangeAspect="1"/>
          </p:cNvPicPr>
          <p:nvPr/>
        </p:nvPicPr>
        <p:blipFill>
          <a:blip r:embed="rId4"/>
          <a:stretch>
            <a:fillRect/>
          </a:stretch>
        </p:blipFill>
        <p:spPr>
          <a:xfrm>
            <a:off x="11013948" y="4491533"/>
            <a:ext cx="252374" cy="252374"/>
          </a:xfrm>
          <a:prstGeom prst="rect">
            <a:avLst/>
          </a:prstGeom>
        </p:spPr>
      </p:pic>
      <p:sp>
        <p:nvSpPr>
          <p:cNvPr id="23" name="anim16_19"/>
          <p:cNvSpPr txBox="1"/>
          <p:nvPr/>
        </p:nvSpPr>
        <p:spPr>
          <a:xfrm>
            <a:off x="8325917" y="434340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إجمالي صافي التدفق النقدي خلال 12 سنة</a:t>
            </a:r>
            <a:endParaRPr lang="ar-SA" sz="1300" dirty="0"/>
          </a:p>
        </p:txBody>
      </p:sp>
      <p:sp>
        <p:nvSpPr>
          <p:cNvPr id="24" name="anim16_20"/>
          <p:cNvSpPr txBox="1"/>
          <p:nvPr/>
        </p:nvSpPr>
        <p:spPr>
          <a:xfrm>
            <a:off x="8325917" y="4983480"/>
            <a:ext cx="3088538" cy="822960"/>
          </a:xfrm>
          <a:prstGeom prst="rect">
            <a:avLst/>
          </a:prstGeom>
          <a:noFill/>
          <a:ln/>
        </p:spPr>
        <p:txBody>
          <a:bodyPr wrap="square" lIns="0" tIns="0" rIns="0" bIns="0" rtlCol="0" anchor="ctr"/>
          <a:lstStyle/>
          <a:p>
            <a:pPr algn="r" indent="0" marL="0">
              <a:buNone/>
            </a:pPr>
            <a:r>
              <a:rPr lang="ar-SA" altLang="en-US" sz="3000" b="1" dirty="0">
                <a:solidFill>
                  <a:srgbClr val="06305C"/>
                </a:solidFill>
                <a:latin typeface="JF Flat" pitchFamily="34" charset="0"/>
                <a:ea typeface="JF Flat" pitchFamily="34" charset="-122"/>
                <a:cs typeface="JF Flat" pitchFamily="34" charset="-120"/>
              </a:rPr>
              <a:t>179,889,274</a:t>
            </a:r>
            <a:pPr algn="r" indent="0" marL="0">
              <a:buNone/>
            </a:pPr>
            <a:r>
              <a:rPr lang="ar-SA" altLang="en-US" sz="1500" b="1" dirty="0">
                <a:solidFill>
                  <a:srgbClr val="5B6B7F"/>
                </a:solidFill>
                <a:latin typeface="JF Flat" pitchFamily="34" charset="0"/>
                <a:ea typeface="JF Flat" pitchFamily="34" charset="-122"/>
                <a:cs typeface="JF Flat" pitchFamily="34" charset="-120"/>
              </a:rPr>
              <a:t>  د.ل</a:t>
            </a:r>
            <a:endParaRPr lang="ar-SA" sz="1400" dirty="0"/>
          </a:p>
        </p:txBody>
      </p:sp>
      <p:sp>
        <p:nvSpPr>
          <p:cNvPr id="25" name="anim16_21"/>
          <p:cNvSpPr/>
          <p:nvPr/>
        </p:nvSpPr>
        <p:spPr>
          <a:xfrm>
            <a:off x="4322978" y="411480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6" name="anim16_22"/>
          <p:cNvSpPr/>
          <p:nvPr/>
        </p:nvSpPr>
        <p:spPr>
          <a:xfrm>
            <a:off x="7091477" y="4343400"/>
            <a:ext cx="548640" cy="548640"/>
          </a:xfrm>
          <a:prstGeom prst="ellipse">
            <a:avLst/>
          </a:prstGeom>
          <a:solidFill>
            <a:srgbClr val="F15524"/>
          </a:solidFill>
          <a:ln w="12700">
            <a:solidFill>
              <a:srgbClr val="F15524"/>
            </a:solidFill>
            <a:prstDash val="solid"/>
          </a:ln>
        </p:spPr>
      </p:sp>
      <p:pic>
        <p:nvPicPr>
          <p:cNvPr id="27" name="anim16_23" descr="preencoded.png">    </p:cNvPr>
          <p:cNvPicPr>
            <a:picLocks noChangeAspect="1"/>
          </p:cNvPicPr>
          <p:nvPr/>
        </p:nvPicPr>
        <p:blipFill>
          <a:blip r:embed="rId5"/>
          <a:stretch>
            <a:fillRect/>
          </a:stretch>
        </p:blipFill>
        <p:spPr>
          <a:xfrm>
            <a:off x="7239610" y="4491533"/>
            <a:ext cx="252374" cy="252374"/>
          </a:xfrm>
          <a:prstGeom prst="rect">
            <a:avLst/>
          </a:prstGeom>
        </p:spPr>
      </p:pic>
      <p:sp>
        <p:nvSpPr>
          <p:cNvPr id="28" name="anim16_24"/>
          <p:cNvSpPr txBox="1"/>
          <p:nvPr/>
        </p:nvSpPr>
        <p:spPr>
          <a:xfrm>
            <a:off x="4551578" y="434340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العائد السنوي على أساس التدفق النقدي</a:t>
            </a:r>
            <a:endParaRPr lang="ar-SA" sz="1300" dirty="0"/>
          </a:p>
        </p:txBody>
      </p:sp>
      <p:sp>
        <p:nvSpPr>
          <p:cNvPr id="29" name="anim16_25"/>
          <p:cNvSpPr txBox="1"/>
          <p:nvPr/>
        </p:nvSpPr>
        <p:spPr>
          <a:xfrm>
            <a:off x="4551578" y="4983480"/>
            <a:ext cx="3088538" cy="822960"/>
          </a:xfrm>
          <a:prstGeom prst="rect">
            <a:avLst/>
          </a:prstGeom>
          <a:noFill/>
          <a:ln/>
        </p:spPr>
        <p:txBody>
          <a:bodyPr wrap="square" lIns="0" tIns="0" rIns="0" bIns="0" rtlCol="0" anchor="ctr"/>
          <a:lstStyle/>
          <a:p>
            <a:pPr algn="r" indent="0" marL="0">
              <a:buNone/>
            </a:pPr>
            <a:r>
              <a:rPr lang="ar-SA" altLang="en-US" sz="4400" b="1" dirty="0">
                <a:solidFill>
                  <a:srgbClr val="F15524"/>
                </a:solidFill>
                <a:latin typeface="JF Flat" pitchFamily="34" charset="0"/>
                <a:ea typeface="JF Flat" pitchFamily="34" charset="-122"/>
                <a:cs typeface="JF Flat" pitchFamily="34" charset="-120"/>
              </a:rPr>
              <a:t>18%</a:t>
            </a:r>
            <a:pPr algn="r" indent="0" marL="0">
              <a:buNone/>
            </a:pPr>
            <a:r>
              <a:rPr lang="ar-SA" altLang="en-US" sz="1500" b="1" dirty="0">
                <a:solidFill>
                  <a:srgbClr val="5B6B7F"/>
                </a:solidFill>
                <a:latin typeface="JF Flat" pitchFamily="34" charset="0"/>
                <a:ea typeface="JF Flat" pitchFamily="34" charset="-122"/>
                <a:cs typeface="JF Flat" pitchFamily="34" charset="-120"/>
              </a:rPr>
              <a:t>  متوسط سنوي</a:t>
            </a:r>
            <a:endParaRPr lang="ar-SA" sz="1400" dirty="0"/>
          </a:p>
        </p:txBody>
      </p:sp>
      <p:sp>
        <p:nvSpPr>
          <p:cNvPr id="30" name="anim16_26"/>
          <p:cNvSpPr/>
          <p:nvPr/>
        </p:nvSpPr>
        <p:spPr>
          <a:xfrm>
            <a:off x="548640" y="4114800"/>
            <a:ext cx="3545738" cy="1874520"/>
          </a:xfrm>
          <a:prstGeom prst="roundRect">
            <a:avLst>
              <a:gd name="adj" fmla="val 4878"/>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1" name="anim16_27"/>
          <p:cNvSpPr/>
          <p:nvPr/>
        </p:nvSpPr>
        <p:spPr>
          <a:xfrm>
            <a:off x="3317138" y="4343400"/>
            <a:ext cx="548640" cy="548640"/>
          </a:xfrm>
          <a:prstGeom prst="ellipse">
            <a:avLst/>
          </a:prstGeom>
          <a:solidFill>
            <a:srgbClr val="00539B"/>
          </a:solidFill>
          <a:ln w="12700">
            <a:solidFill>
              <a:srgbClr val="00539B"/>
            </a:solidFill>
            <a:prstDash val="solid"/>
          </a:ln>
        </p:spPr>
      </p:sp>
      <p:pic>
        <p:nvPicPr>
          <p:cNvPr id="32" name="anim16_28" descr="preencoded.png">    </p:cNvPr>
          <p:cNvPicPr>
            <a:picLocks noChangeAspect="1"/>
          </p:cNvPicPr>
          <p:nvPr/>
        </p:nvPicPr>
        <p:blipFill>
          <a:blip r:embed="rId6"/>
          <a:stretch>
            <a:fillRect/>
          </a:stretch>
        </p:blipFill>
        <p:spPr>
          <a:xfrm>
            <a:off x="3465271" y="4491533"/>
            <a:ext cx="252374" cy="252374"/>
          </a:xfrm>
          <a:prstGeom prst="rect">
            <a:avLst/>
          </a:prstGeom>
        </p:spPr>
      </p:pic>
      <p:sp>
        <p:nvSpPr>
          <p:cNvPr id="33" name="anim16_29"/>
          <p:cNvSpPr txBox="1"/>
          <p:nvPr/>
        </p:nvSpPr>
        <p:spPr>
          <a:xfrm>
            <a:off x="777240" y="4343400"/>
            <a:ext cx="2402738" cy="548640"/>
          </a:xfrm>
          <a:prstGeom prst="rect">
            <a:avLst/>
          </a:prstGeom>
          <a:noFill/>
          <a:ln/>
        </p:spPr>
        <p:txBody>
          <a:bodyPr wrap="square" lIns="0" tIns="0" rIns="0" bIns="0" rtlCol="0" anchor="ctr"/>
          <a:lstStyle/>
          <a:p>
            <a:pPr rtl="1" algn="r" indent="0" marL="0">
              <a:buNone/>
            </a:pPr>
            <a:r>
              <a:rPr lang="ar-SA" altLang="en-US" sz="1300" b="1" dirty="0">
                <a:solidFill>
                  <a:srgbClr val="5B6B7F"/>
                </a:solidFill>
                <a:latin typeface="JF Flat" pitchFamily="34" charset="0"/>
                <a:ea typeface="JF Flat" pitchFamily="34" charset="-122"/>
                <a:cs typeface="JF Flat" pitchFamily="34" charset="-120"/>
              </a:rPr>
              <a:t>العائد السنوي على صافي الربح</a:t>
            </a:r>
            <a:endParaRPr lang="ar-SA" sz="1300" dirty="0"/>
          </a:p>
        </p:txBody>
      </p:sp>
      <p:sp>
        <p:nvSpPr>
          <p:cNvPr id="34" name="anim16_30"/>
          <p:cNvSpPr txBox="1"/>
          <p:nvPr/>
        </p:nvSpPr>
        <p:spPr>
          <a:xfrm>
            <a:off x="777240" y="4983480"/>
            <a:ext cx="3088538" cy="822960"/>
          </a:xfrm>
          <a:prstGeom prst="rect">
            <a:avLst/>
          </a:prstGeom>
          <a:noFill/>
          <a:ln/>
        </p:spPr>
        <p:txBody>
          <a:bodyPr wrap="square" lIns="0" tIns="0" rIns="0" bIns="0" rtlCol="0" anchor="ctr"/>
          <a:lstStyle/>
          <a:p>
            <a:pPr algn="r" indent="0" marL="0">
              <a:buNone/>
            </a:pPr>
            <a:r>
              <a:rPr lang="ar-SA" altLang="en-US" sz="4400" b="1" dirty="0">
                <a:solidFill>
                  <a:srgbClr val="00539B"/>
                </a:solidFill>
                <a:latin typeface="JF Flat" pitchFamily="34" charset="0"/>
                <a:ea typeface="JF Flat" pitchFamily="34" charset="-122"/>
                <a:cs typeface="JF Flat" pitchFamily="34" charset="-120"/>
              </a:rPr>
              <a:t>12%</a:t>
            </a:r>
            <a:pPr algn="r" indent="0" marL="0">
              <a:buNone/>
            </a:pPr>
            <a:r>
              <a:rPr lang="ar-SA" altLang="en-US" sz="1500" b="1" dirty="0">
                <a:solidFill>
                  <a:srgbClr val="5B6B7F"/>
                </a:solidFill>
                <a:latin typeface="JF Flat" pitchFamily="34" charset="0"/>
                <a:ea typeface="JF Flat" pitchFamily="34" charset="-122"/>
                <a:cs typeface="JF Flat" pitchFamily="34" charset="-120"/>
              </a:rPr>
              <a:t>  متوسط سنوي</a:t>
            </a:r>
            <a:endParaRPr lang="ar-SA" sz="1400" dirty="0"/>
          </a:p>
        </p:txBody>
      </p:sp>
      <p:sp>
        <p:nvSpPr>
          <p:cNvPr id="35" name="anim16_31"/>
          <p:cNvSpPr txBox="1"/>
          <p:nvPr/>
        </p:nvSpPr>
        <p:spPr>
          <a:xfrm>
            <a:off x="548640" y="6126480"/>
            <a:ext cx="11094415" cy="228600"/>
          </a:xfrm>
          <a:prstGeom prst="rect">
            <a:avLst/>
          </a:prstGeom>
          <a:noFill/>
          <a:ln/>
        </p:spPr>
        <p:txBody>
          <a:bodyPr wrap="square" lIns="0" tIns="0" rIns="0" bIns="0" rtlCol="0" anchor="t"/>
          <a:lstStyle/>
          <a:p>
            <a:pPr rtl="1" algn="r" indent="0" marL="0">
              <a:buNone/>
            </a:pPr>
            <a:r>
              <a:rPr lang="ar-SA" altLang="en-US" sz="1000" i="1" dirty="0">
                <a:solidFill>
                  <a:srgbClr val="5B6B7F"/>
                </a:solidFill>
                <a:latin typeface="JF Flat" pitchFamily="34" charset="0"/>
                <a:ea typeface="JF Flat" pitchFamily="34" charset="-122"/>
                <a:cs typeface="JF Flat" pitchFamily="34" charset="-120"/>
              </a:rPr>
              <a:t>ملاحظة: هذه المؤشرات أولية وليست ضماناً للعائد.</a:t>
            </a:r>
            <a:endParaRPr lang="ar-SA" sz="1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26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26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53" presetClass="entr" presetSubtype="16" fill="hold" grpId="0" nodeType="withEffect">
                                  <p:stCondLst>
                                    <p:cond delay="29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450" decel="100000" fill="hold"/>
                                        <p:tgtEl>
                                          <p:spTgt spid="6"/>
                                        </p:tgtEl>
                                        <p:attrNameLst>
                                          <p:attrName>ppt_w</p:attrName>
                                        </p:attrNameLst>
                                      </p:cBhvr>
                                      <p:tavLst>
                                        <p:tav tm="0">
                                          <p:val>
                                            <p:strVal val="0"/>
                                          </p:val>
                                        </p:tav>
                                        <p:tav tm="100000">
                                          <p:val>
                                            <p:strVal val="#ppt_w"/>
                                          </p:val>
                                        </p:tav>
                                      </p:tavLst>
                                    </p:anim>
                                    <p:anim calcmode="lin" valueType="num">
                                      <p:cBhvr additive="base">
                                        <p:cTn id="43" dur="450" decel="100000" fill="hold"/>
                                        <p:tgtEl>
                                          <p:spTgt spid="6"/>
                                        </p:tgtEl>
                                        <p:attrNameLst>
                                          <p:attrName>ppt_h</p:attrName>
                                        </p:attrNameLst>
                                      </p:cBhvr>
                                      <p:tavLst>
                                        <p:tav tm="0">
                                          <p:val>
                                            <p:strVal val="0"/>
                                          </p:val>
                                        </p:tav>
                                        <p:tav tm="100000">
                                          <p:val>
                                            <p:strVal val="#ppt_h"/>
                                          </p:val>
                                        </p:tav>
                                      </p:tavLst>
                                    </p:anim>
                                    <p:animEffect transition="in" filter="fade">
                                      <p:cBhvr>
                                        <p:cTn id="44" dur="450"/>
                                        <p:tgtEl>
                                          <p:spTgt spid="6"/>
                                        </p:tgtEl>
                                      </p:cBhvr>
                                    </p:animEffect>
                                  </p:childTnLst>
                                </p:cTn>
                              </p:par>
                              <p:par>
                                <p:cTn id="45" presetID="53" presetClass="entr" presetSubtype="16" fill="hold" grpId="0" nodeType="withEffect">
                                  <p:stCondLst>
                                    <p:cond delay="39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450" decel="100000" fill="hold"/>
                                        <p:tgtEl>
                                          <p:spTgt spid="7"/>
                                        </p:tgtEl>
                                        <p:attrNameLst>
                                          <p:attrName>ppt_w</p:attrName>
                                        </p:attrNameLst>
                                      </p:cBhvr>
                                      <p:tavLst>
                                        <p:tav tm="0">
                                          <p:val>
                                            <p:strVal val="0"/>
                                          </p:val>
                                        </p:tav>
                                        <p:tav tm="100000">
                                          <p:val>
                                            <p:strVal val="#ppt_w"/>
                                          </p:val>
                                        </p:tav>
                                      </p:tavLst>
                                    </p:anim>
                                    <p:anim calcmode="lin" valueType="num">
                                      <p:cBhvr additive="base">
                                        <p:cTn id="48" dur="450" decel="100000" fill="hold"/>
                                        <p:tgtEl>
                                          <p:spTgt spid="7"/>
                                        </p:tgtEl>
                                        <p:attrNameLst>
                                          <p:attrName>ppt_h</p:attrName>
                                        </p:attrNameLst>
                                      </p:cBhvr>
                                      <p:tavLst>
                                        <p:tav tm="0">
                                          <p:val>
                                            <p:strVal val="0"/>
                                          </p:val>
                                        </p:tav>
                                        <p:tav tm="100000">
                                          <p:val>
                                            <p:strVal val="#ppt_h"/>
                                          </p:val>
                                        </p:tav>
                                      </p:tavLst>
                                    </p:anim>
                                    <p:animEffect transition="in" filter="fade">
                                      <p:cBhvr>
                                        <p:cTn id="49" dur="450"/>
                                        <p:tgtEl>
                                          <p:spTgt spid="7"/>
                                        </p:tgtEl>
                                      </p:cBhvr>
                                    </p:animEffect>
                                  </p:childTnLst>
                                </p:cTn>
                              </p:par>
                              <p:par>
                                <p:cTn id="50" presetID="42" presetClass="entr" presetSubtype="0" fill="hold" grpId="0" nodeType="withEffect">
                                  <p:stCondLst>
                                    <p:cond delay="39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600"/>
                                        <p:tgtEl>
                                          <p:spTgt spid="15"/>
                                        </p:tgtEl>
                                      </p:cBhvr>
                                    </p:animEffect>
                                    <p:anim calcmode="lin" valueType="num">
                                      <p:cBhvr additive="base">
                                        <p:cTn id="5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5"/>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39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3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42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450" decel="100000" fill="hold"/>
                                        <p:tgtEl>
                                          <p:spTgt spid="11"/>
                                        </p:tgtEl>
                                        <p:attrNameLst>
                                          <p:attrName>ppt_w</p:attrName>
                                        </p:attrNameLst>
                                      </p:cBhvr>
                                      <p:tavLst>
                                        <p:tav tm="0">
                                          <p:val>
                                            <p:strVal val="0"/>
                                          </p:val>
                                        </p:tav>
                                        <p:tav tm="100000">
                                          <p:val>
                                            <p:strVal val="#ppt_w"/>
                                          </p:val>
                                        </p:tav>
                                      </p:tavLst>
                                    </p:anim>
                                    <p:anim calcmode="lin" valueType="num">
                                      <p:cBhvr additive="base">
                                        <p:cTn id="68" dur="450" decel="100000" fill="hold"/>
                                        <p:tgtEl>
                                          <p:spTgt spid="11"/>
                                        </p:tgtEl>
                                        <p:attrNameLst>
                                          <p:attrName>ppt_h</p:attrName>
                                        </p:attrNameLst>
                                      </p:cBhvr>
                                      <p:tavLst>
                                        <p:tav tm="0">
                                          <p:val>
                                            <p:strVal val="0"/>
                                          </p:val>
                                        </p:tav>
                                        <p:tav tm="100000">
                                          <p:val>
                                            <p:strVal val="#ppt_h"/>
                                          </p:val>
                                        </p:tav>
                                      </p:tavLst>
                                    </p:anim>
                                    <p:animEffect transition="in" filter="fade">
                                      <p:cBhvr>
                                        <p:cTn id="69" dur="450"/>
                                        <p:tgtEl>
                                          <p:spTgt spid="11"/>
                                        </p:tgtEl>
                                      </p:cBhvr>
                                    </p:animEffect>
                                  </p:childTnLst>
                                </p:cTn>
                              </p:par>
                              <p:par>
                                <p:cTn id="70" presetID="53" presetClass="entr" presetSubtype="16" fill="hold" grpId="0" nodeType="withEffect">
                                  <p:stCondLst>
                                    <p:cond delay="520"/>
                                  </p:stCondLst>
                                  <p:childTnLst>
                                    <p:set>
                                      <p:cBhvr>
                                        <p:cTn id="71" dur="1" fill="hold">
                                          <p:stCondLst>
                                            <p:cond delay="0"/>
                                          </p:stCondLst>
                                        </p:cTn>
                                        <p:tgtEl>
                                          <p:spTgt spid="12"/>
                                        </p:tgtEl>
                                        <p:attrNameLst>
                                          <p:attrName>style.visibility</p:attrName>
                                        </p:attrNameLst>
                                      </p:cBhvr>
                                      <p:to>
                                        <p:strVal val="visible"/>
                                      </p:to>
                                    </p:set>
                                    <p:anim calcmode="lin" valueType="num">
                                      <p:cBhvr additive="base">
                                        <p:cTn id="72" dur="450" decel="100000" fill="hold"/>
                                        <p:tgtEl>
                                          <p:spTgt spid="12"/>
                                        </p:tgtEl>
                                        <p:attrNameLst>
                                          <p:attrName>ppt_w</p:attrName>
                                        </p:attrNameLst>
                                      </p:cBhvr>
                                      <p:tavLst>
                                        <p:tav tm="0">
                                          <p:val>
                                            <p:strVal val="0"/>
                                          </p:val>
                                        </p:tav>
                                        <p:tav tm="100000">
                                          <p:val>
                                            <p:strVal val="#ppt_w"/>
                                          </p:val>
                                        </p:tav>
                                      </p:tavLst>
                                    </p:anim>
                                    <p:anim calcmode="lin" valueType="num">
                                      <p:cBhvr additive="base">
                                        <p:cTn id="73" dur="450" decel="100000" fill="hold"/>
                                        <p:tgtEl>
                                          <p:spTgt spid="12"/>
                                        </p:tgtEl>
                                        <p:attrNameLst>
                                          <p:attrName>ppt_h</p:attrName>
                                        </p:attrNameLst>
                                      </p:cBhvr>
                                      <p:tavLst>
                                        <p:tav tm="0">
                                          <p:val>
                                            <p:strVal val="0"/>
                                          </p:val>
                                        </p:tav>
                                        <p:tav tm="100000">
                                          <p:val>
                                            <p:strVal val="#ppt_h"/>
                                          </p:val>
                                        </p:tav>
                                      </p:tavLst>
                                    </p:anim>
                                    <p:animEffect transition="in" filter="fade">
                                      <p:cBhvr>
                                        <p:cTn id="74" dur="450"/>
                                        <p:tgtEl>
                                          <p:spTgt spid="12"/>
                                        </p:tgtEl>
                                      </p:cBhvr>
                                    </p:animEffect>
                                  </p:childTnLst>
                                </p:cTn>
                              </p:par>
                              <p:par>
                                <p:cTn id="75" presetID="42" presetClass="entr" presetSubtype="0" fill="hold" grpId="0" nodeType="withEffect">
                                  <p:stCondLst>
                                    <p:cond delay="52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600"/>
                                        <p:tgtEl>
                                          <p:spTgt spid="20"/>
                                        </p:tgtEl>
                                      </p:cBhvr>
                                    </p:animEffect>
                                    <p:anim calcmode="lin" valueType="num">
                                      <p:cBhvr additive="base">
                                        <p:cTn id="7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0"/>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52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52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600"/>
                                        <p:tgtEl>
                                          <p:spTgt spid="24"/>
                                        </p:tgtEl>
                                      </p:cBhvr>
                                    </p:animEffect>
                                    <p:anim calcmode="lin" valueType="num">
                                      <p:cBhvr additive="base">
                                        <p:cTn id="8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4"/>
                                        </p:tgtEl>
                                        <p:attrNameLst>
                                          <p:attrName>ppt_y</p:attrName>
                                        </p:attrNameLst>
                                      </p:cBhvr>
                                      <p:tavLst>
                                        <p:tav tm="0">
                                          <p:val>
                                            <p:strVal val="#ppt_y+.03"/>
                                          </p:val>
                                        </p:tav>
                                        <p:tav tm="100000">
                                          <p:val>
                                            <p:strVal val="#ppt_y"/>
                                          </p:val>
                                        </p:tav>
                                      </p:tavLst>
                                    </p:anim>
                                  </p:childTnLst>
                                </p:cTn>
                              </p:par>
                              <p:par>
                                <p:cTn id="90" presetID="53" presetClass="entr" presetSubtype="16" fill="hold" grpId="0" nodeType="withEffect">
                                  <p:stCondLst>
                                    <p:cond delay="550"/>
                                  </p:stCondLst>
                                  <p:childTnLst>
                                    <p:set>
                                      <p:cBhvr>
                                        <p:cTn id="91" dur="1" fill="hold">
                                          <p:stCondLst>
                                            <p:cond delay="0"/>
                                          </p:stCondLst>
                                        </p:cTn>
                                        <p:tgtEl>
                                          <p:spTgt spid="16"/>
                                        </p:tgtEl>
                                        <p:attrNameLst>
                                          <p:attrName>style.visibility</p:attrName>
                                        </p:attrNameLst>
                                      </p:cBhvr>
                                      <p:to>
                                        <p:strVal val="visible"/>
                                      </p:to>
                                    </p:set>
                                    <p:anim calcmode="lin" valueType="num">
                                      <p:cBhvr additive="base">
                                        <p:cTn id="92" dur="450" decel="100000" fill="hold"/>
                                        <p:tgtEl>
                                          <p:spTgt spid="16"/>
                                        </p:tgtEl>
                                        <p:attrNameLst>
                                          <p:attrName>ppt_w</p:attrName>
                                        </p:attrNameLst>
                                      </p:cBhvr>
                                      <p:tavLst>
                                        <p:tav tm="0">
                                          <p:val>
                                            <p:strVal val="0"/>
                                          </p:val>
                                        </p:tav>
                                        <p:tav tm="100000">
                                          <p:val>
                                            <p:strVal val="#ppt_w"/>
                                          </p:val>
                                        </p:tav>
                                      </p:tavLst>
                                    </p:anim>
                                    <p:anim calcmode="lin" valueType="num">
                                      <p:cBhvr additive="base">
                                        <p:cTn id="93" dur="450" decel="100000" fill="hold"/>
                                        <p:tgtEl>
                                          <p:spTgt spid="16"/>
                                        </p:tgtEl>
                                        <p:attrNameLst>
                                          <p:attrName>ppt_h</p:attrName>
                                        </p:attrNameLst>
                                      </p:cBhvr>
                                      <p:tavLst>
                                        <p:tav tm="0">
                                          <p:val>
                                            <p:strVal val="0"/>
                                          </p:val>
                                        </p:tav>
                                        <p:tav tm="100000">
                                          <p:val>
                                            <p:strVal val="#ppt_h"/>
                                          </p:val>
                                        </p:tav>
                                      </p:tavLst>
                                    </p:anim>
                                    <p:animEffect transition="in" filter="fade">
                                      <p:cBhvr>
                                        <p:cTn id="94" dur="450"/>
                                        <p:tgtEl>
                                          <p:spTgt spid="16"/>
                                        </p:tgtEl>
                                      </p:cBhvr>
                                    </p:animEffect>
                                  </p:childTnLst>
                                </p:cTn>
                              </p:par>
                              <p:par>
                                <p:cTn id="95" presetID="53" presetClass="entr" presetSubtype="16" fill="hold" grpId="0" nodeType="withEffect">
                                  <p:stCondLst>
                                    <p:cond delay="65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450" decel="100000" fill="hold"/>
                                        <p:tgtEl>
                                          <p:spTgt spid="17"/>
                                        </p:tgtEl>
                                        <p:attrNameLst>
                                          <p:attrName>ppt_w</p:attrName>
                                        </p:attrNameLst>
                                      </p:cBhvr>
                                      <p:tavLst>
                                        <p:tav tm="0">
                                          <p:val>
                                            <p:strVal val="0"/>
                                          </p:val>
                                        </p:tav>
                                        <p:tav tm="100000">
                                          <p:val>
                                            <p:strVal val="#ppt_w"/>
                                          </p:val>
                                        </p:tav>
                                      </p:tavLst>
                                    </p:anim>
                                    <p:anim calcmode="lin" valueType="num">
                                      <p:cBhvr additive="base">
                                        <p:cTn id="98" dur="450" decel="100000" fill="hold"/>
                                        <p:tgtEl>
                                          <p:spTgt spid="17"/>
                                        </p:tgtEl>
                                        <p:attrNameLst>
                                          <p:attrName>ppt_h</p:attrName>
                                        </p:attrNameLst>
                                      </p:cBhvr>
                                      <p:tavLst>
                                        <p:tav tm="0">
                                          <p:val>
                                            <p:strVal val="0"/>
                                          </p:val>
                                        </p:tav>
                                        <p:tav tm="100000">
                                          <p:val>
                                            <p:strVal val="#ppt_h"/>
                                          </p:val>
                                        </p:tav>
                                      </p:tavLst>
                                    </p:anim>
                                    <p:animEffect transition="in" filter="fade">
                                      <p:cBhvr>
                                        <p:cTn id="99" dur="450"/>
                                        <p:tgtEl>
                                          <p:spTgt spid="17"/>
                                        </p:tgtEl>
                                      </p:cBhvr>
                                    </p:animEffect>
                                  </p:childTnLst>
                                </p:cTn>
                              </p:par>
                              <p:par>
                                <p:cTn id="100" presetID="42" presetClass="entr" presetSubtype="0" fill="hold" grpId="0" nodeType="withEffect">
                                  <p:stCondLst>
                                    <p:cond delay="65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600"/>
                                        <p:tgtEl>
                                          <p:spTgt spid="25"/>
                                        </p:tgtEl>
                                      </p:cBhvr>
                                    </p:animEffect>
                                    <p:anim calcmode="lin" valueType="num">
                                      <p:cBhvr additive="base">
                                        <p:cTn id="10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5"/>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65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42" presetClass="entr" presetSubtype="0" fill="hold" grpId="0" nodeType="withEffect">
                                  <p:stCondLst>
                                    <p:cond delay="65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600"/>
                                        <p:tgtEl>
                                          <p:spTgt spid="29"/>
                                        </p:tgtEl>
                                      </p:cBhvr>
                                    </p:animEffect>
                                    <p:anim calcmode="lin" valueType="num">
                                      <p:cBhvr additive="base">
                                        <p:cTn id="11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9"/>
                                        </p:tgtEl>
                                        <p:attrNameLst>
                                          <p:attrName>ppt_y</p:attrName>
                                        </p:attrNameLst>
                                      </p:cBhvr>
                                      <p:tavLst>
                                        <p:tav tm="0">
                                          <p:val>
                                            <p:strVal val="#ppt_y+.03"/>
                                          </p:val>
                                        </p:tav>
                                        <p:tav tm="100000">
                                          <p:val>
                                            <p:strVal val="#ppt_y"/>
                                          </p:val>
                                        </p:tav>
                                      </p:tavLst>
                                    </p:anim>
                                  </p:childTnLst>
                                </p:cTn>
                              </p:par>
                              <p:par>
                                <p:cTn id="115" presetID="53" presetClass="entr" presetSubtype="16" fill="hold" grpId="0" nodeType="withEffect">
                                  <p:stCondLst>
                                    <p:cond delay="680"/>
                                  </p:stCondLst>
                                  <p:childTnLst>
                                    <p:set>
                                      <p:cBhvr>
                                        <p:cTn id="116" dur="1" fill="hold">
                                          <p:stCondLst>
                                            <p:cond delay="0"/>
                                          </p:stCondLst>
                                        </p:cTn>
                                        <p:tgtEl>
                                          <p:spTgt spid="21"/>
                                        </p:tgtEl>
                                        <p:attrNameLst>
                                          <p:attrName>style.visibility</p:attrName>
                                        </p:attrNameLst>
                                      </p:cBhvr>
                                      <p:to>
                                        <p:strVal val="visible"/>
                                      </p:to>
                                    </p:set>
                                    <p:anim calcmode="lin" valueType="num">
                                      <p:cBhvr additive="base">
                                        <p:cTn id="117" dur="450" decel="100000" fill="hold"/>
                                        <p:tgtEl>
                                          <p:spTgt spid="21"/>
                                        </p:tgtEl>
                                        <p:attrNameLst>
                                          <p:attrName>ppt_w</p:attrName>
                                        </p:attrNameLst>
                                      </p:cBhvr>
                                      <p:tavLst>
                                        <p:tav tm="0">
                                          <p:val>
                                            <p:strVal val="0"/>
                                          </p:val>
                                        </p:tav>
                                        <p:tav tm="100000">
                                          <p:val>
                                            <p:strVal val="#ppt_w"/>
                                          </p:val>
                                        </p:tav>
                                      </p:tavLst>
                                    </p:anim>
                                    <p:anim calcmode="lin" valueType="num">
                                      <p:cBhvr additive="base">
                                        <p:cTn id="118" dur="450" decel="100000" fill="hold"/>
                                        <p:tgtEl>
                                          <p:spTgt spid="21"/>
                                        </p:tgtEl>
                                        <p:attrNameLst>
                                          <p:attrName>ppt_h</p:attrName>
                                        </p:attrNameLst>
                                      </p:cBhvr>
                                      <p:tavLst>
                                        <p:tav tm="0">
                                          <p:val>
                                            <p:strVal val="0"/>
                                          </p:val>
                                        </p:tav>
                                        <p:tav tm="100000">
                                          <p:val>
                                            <p:strVal val="#ppt_h"/>
                                          </p:val>
                                        </p:tav>
                                      </p:tavLst>
                                    </p:anim>
                                    <p:animEffect transition="in" filter="fade">
                                      <p:cBhvr>
                                        <p:cTn id="119" dur="450"/>
                                        <p:tgtEl>
                                          <p:spTgt spid="21"/>
                                        </p:tgtEl>
                                      </p:cBhvr>
                                    </p:animEffect>
                                  </p:childTnLst>
                                </p:cTn>
                              </p:par>
                              <p:par>
                                <p:cTn id="120" presetID="53" presetClass="entr" presetSubtype="16" fill="hold" grpId="0" nodeType="withEffect">
                                  <p:stCondLst>
                                    <p:cond delay="780"/>
                                  </p:stCondLst>
                                  <p:childTnLst>
                                    <p:set>
                                      <p:cBhvr>
                                        <p:cTn id="121" dur="1" fill="hold">
                                          <p:stCondLst>
                                            <p:cond delay="0"/>
                                          </p:stCondLst>
                                        </p:cTn>
                                        <p:tgtEl>
                                          <p:spTgt spid="22"/>
                                        </p:tgtEl>
                                        <p:attrNameLst>
                                          <p:attrName>style.visibility</p:attrName>
                                        </p:attrNameLst>
                                      </p:cBhvr>
                                      <p:to>
                                        <p:strVal val="visible"/>
                                      </p:to>
                                    </p:set>
                                    <p:anim calcmode="lin" valueType="num">
                                      <p:cBhvr additive="base">
                                        <p:cTn id="122" dur="450" decel="100000" fill="hold"/>
                                        <p:tgtEl>
                                          <p:spTgt spid="22"/>
                                        </p:tgtEl>
                                        <p:attrNameLst>
                                          <p:attrName>ppt_w</p:attrName>
                                        </p:attrNameLst>
                                      </p:cBhvr>
                                      <p:tavLst>
                                        <p:tav tm="0">
                                          <p:val>
                                            <p:strVal val="0"/>
                                          </p:val>
                                        </p:tav>
                                        <p:tav tm="100000">
                                          <p:val>
                                            <p:strVal val="#ppt_w"/>
                                          </p:val>
                                        </p:tav>
                                      </p:tavLst>
                                    </p:anim>
                                    <p:anim calcmode="lin" valueType="num">
                                      <p:cBhvr additive="base">
                                        <p:cTn id="123" dur="450" decel="100000" fill="hold"/>
                                        <p:tgtEl>
                                          <p:spTgt spid="22"/>
                                        </p:tgtEl>
                                        <p:attrNameLst>
                                          <p:attrName>ppt_h</p:attrName>
                                        </p:attrNameLst>
                                      </p:cBhvr>
                                      <p:tavLst>
                                        <p:tav tm="0">
                                          <p:val>
                                            <p:strVal val="0"/>
                                          </p:val>
                                        </p:tav>
                                        <p:tav tm="100000">
                                          <p:val>
                                            <p:strVal val="#ppt_h"/>
                                          </p:val>
                                        </p:tav>
                                      </p:tavLst>
                                    </p:anim>
                                    <p:animEffect transition="in" filter="fade">
                                      <p:cBhvr>
                                        <p:cTn id="124" dur="450"/>
                                        <p:tgtEl>
                                          <p:spTgt spid="22"/>
                                        </p:tgtEl>
                                      </p:cBhvr>
                                    </p:animEffect>
                                  </p:childTnLst>
                                </p:cTn>
                              </p:par>
                              <p:par>
                                <p:cTn id="125" presetID="42" presetClass="entr" presetSubtype="0" fill="hold" grpId="0" nodeType="withEffect">
                                  <p:stCondLst>
                                    <p:cond delay="78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600"/>
                                        <p:tgtEl>
                                          <p:spTgt spid="30"/>
                                        </p:tgtEl>
                                      </p:cBhvr>
                                    </p:animEffect>
                                    <p:anim calcmode="lin" valueType="num">
                                      <p:cBhvr additive="base">
                                        <p:cTn id="128"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0"/>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78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42" presetClass="entr" presetSubtype="0" fill="hold" grpId="0" nodeType="withEffect">
                                  <p:stCondLst>
                                    <p:cond delay="78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600"/>
                                        <p:tgtEl>
                                          <p:spTgt spid="34"/>
                                        </p:tgtEl>
                                      </p:cBhvr>
                                    </p:animEffect>
                                    <p:anim calcmode="lin" valueType="num">
                                      <p:cBhvr additive="base">
                                        <p:cTn id="13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39" dur="600" decel="100000" fill="hold"/>
                                        <p:tgtEl>
                                          <p:spTgt spid="34"/>
                                        </p:tgtEl>
                                        <p:attrNameLst>
                                          <p:attrName>ppt_y</p:attrName>
                                        </p:attrNameLst>
                                      </p:cBhvr>
                                      <p:tavLst>
                                        <p:tav tm="0">
                                          <p:val>
                                            <p:strVal val="#ppt_y+.03"/>
                                          </p:val>
                                        </p:tav>
                                        <p:tav tm="100000">
                                          <p:val>
                                            <p:strVal val="#ppt_y"/>
                                          </p:val>
                                        </p:tav>
                                      </p:tavLst>
                                    </p:anim>
                                  </p:childTnLst>
                                </p:cTn>
                              </p:par>
                              <p:par>
                                <p:cTn id="140" presetID="42" presetClass="entr" presetSubtype="0" fill="hold" grpId="0" nodeType="withEffect">
                                  <p:stCondLst>
                                    <p:cond delay="78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600"/>
                                        <p:tgtEl>
                                          <p:spTgt spid="35"/>
                                        </p:tgtEl>
                                      </p:cBhvr>
                                    </p:animEffect>
                                    <p:anim calcmode="lin" valueType="num">
                                      <p:cBhvr additive="base">
                                        <p:cTn id="143" dur="600" decel="100000" fill="hold"/>
                                        <p:tgtEl>
                                          <p:spTgt spid="35"/>
                                        </p:tgtEl>
                                        <p:attrNameLst>
                                          <p:attrName>ppt_x</p:attrName>
                                        </p:attrNameLst>
                                      </p:cBhvr>
                                      <p:tavLst>
                                        <p:tav tm="0">
                                          <p:val>
                                            <p:strVal val="#ppt_x"/>
                                          </p:val>
                                        </p:tav>
                                        <p:tav tm="100000">
                                          <p:val>
                                            <p:strVal val="#ppt_x"/>
                                          </p:val>
                                        </p:tav>
                                      </p:tavLst>
                                    </p:anim>
                                    <p:anim calcmode="lin" valueType="num">
                                      <p:cBhvr additive="base">
                                        <p:cTn id="144" dur="600" decel="100000" fill="hold"/>
                                        <p:tgtEl>
                                          <p:spTgt spid="35"/>
                                        </p:tgtEl>
                                        <p:attrNameLst>
                                          <p:attrName>ppt_y</p:attrName>
                                        </p:attrNameLst>
                                      </p:cBhvr>
                                      <p:tavLst>
                                        <p:tav tm="0">
                                          <p:val>
                                            <p:strVal val="#ppt_y+.03"/>
                                          </p:val>
                                        </p:tav>
                                        <p:tav tm="100000">
                                          <p:val>
                                            <p:strVal val="#ppt_y"/>
                                          </p:val>
                                        </p:tav>
                                      </p:tavLst>
                                    </p:anim>
                                  </p:childTnLst>
                                </p:cTn>
                              </p:par>
                              <p:par>
                                <p:cTn id="145" presetID="53" presetClass="entr" presetSubtype="16" fill="hold" grpId="0" nodeType="withEffect">
                                  <p:stCondLst>
                                    <p:cond delay="810"/>
                                  </p:stCondLst>
                                  <p:childTnLst>
                                    <p:set>
                                      <p:cBhvr>
                                        <p:cTn id="146" dur="1" fill="hold">
                                          <p:stCondLst>
                                            <p:cond delay="0"/>
                                          </p:stCondLst>
                                        </p:cTn>
                                        <p:tgtEl>
                                          <p:spTgt spid="26"/>
                                        </p:tgtEl>
                                        <p:attrNameLst>
                                          <p:attrName>style.visibility</p:attrName>
                                        </p:attrNameLst>
                                      </p:cBhvr>
                                      <p:to>
                                        <p:strVal val="visible"/>
                                      </p:to>
                                    </p:set>
                                    <p:anim calcmode="lin" valueType="num">
                                      <p:cBhvr additive="base">
                                        <p:cTn id="147" dur="450" decel="100000" fill="hold"/>
                                        <p:tgtEl>
                                          <p:spTgt spid="26"/>
                                        </p:tgtEl>
                                        <p:attrNameLst>
                                          <p:attrName>ppt_w</p:attrName>
                                        </p:attrNameLst>
                                      </p:cBhvr>
                                      <p:tavLst>
                                        <p:tav tm="0">
                                          <p:val>
                                            <p:strVal val="0"/>
                                          </p:val>
                                        </p:tav>
                                        <p:tav tm="100000">
                                          <p:val>
                                            <p:strVal val="#ppt_w"/>
                                          </p:val>
                                        </p:tav>
                                      </p:tavLst>
                                    </p:anim>
                                    <p:anim calcmode="lin" valueType="num">
                                      <p:cBhvr additive="base">
                                        <p:cTn id="148" dur="450" decel="100000" fill="hold"/>
                                        <p:tgtEl>
                                          <p:spTgt spid="26"/>
                                        </p:tgtEl>
                                        <p:attrNameLst>
                                          <p:attrName>ppt_h</p:attrName>
                                        </p:attrNameLst>
                                      </p:cBhvr>
                                      <p:tavLst>
                                        <p:tav tm="0">
                                          <p:val>
                                            <p:strVal val="0"/>
                                          </p:val>
                                        </p:tav>
                                        <p:tav tm="100000">
                                          <p:val>
                                            <p:strVal val="#ppt_h"/>
                                          </p:val>
                                        </p:tav>
                                      </p:tavLst>
                                    </p:anim>
                                    <p:animEffect transition="in" filter="fade">
                                      <p:cBhvr>
                                        <p:cTn id="149" dur="450"/>
                                        <p:tgtEl>
                                          <p:spTgt spid="26"/>
                                        </p:tgtEl>
                                      </p:cBhvr>
                                    </p:animEffect>
                                  </p:childTnLst>
                                </p:cTn>
                              </p:par>
                              <p:par>
                                <p:cTn id="150" presetID="53" presetClass="entr" presetSubtype="16" fill="hold" grpId="0" nodeType="withEffect">
                                  <p:stCondLst>
                                    <p:cond delay="910"/>
                                  </p:stCondLst>
                                  <p:childTnLst>
                                    <p:set>
                                      <p:cBhvr>
                                        <p:cTn id="151" dur="1" fill="hold">
                                          <p:stCondLst>
                                            <p:cond delay="0"/>
                                          </p:stCondLst>
                                        </p:cTn>
                                        <p:tgtEl>
                                          <p:spTgt spid="27"/>
                                        </p:tgtEl>
                                        <p:attrNameLst>
                                          <p:attrName>style.visibility</p:attrName>
                                        </p:attrNameLst>
                                      </p:cBhvr>
                                      <p:to>
                                        <p:strVal val="visible"/>
                                      </p:to>
                                    </p:set>
                                    <p:anim calcmode="lin" valueType="num">
                                      <p:cBhvr additive="base">
                                        <p:cTn id="152" dur="450" decel="100000" fill="hold"/>
                                        <p:tgtEl>
                                          <p:spTgt spid="27"/>
                                        </p:tgtEl>
                                        <p:attrNameLst>
                                          <p:attrName>ppt_w</p:attrName>
                                        </p:attrNameLst>
                                      </p:cBhvr>
                                      <p:tavLst>
                                        <p:tav tm="0">
                                          <p:val>
                                            <p:strVal val="0"/>
                                          </p:val>
                                        </p:tav>
                                        <p:tav tm="100000">
                                          <p:val>
                                            <p:strVal val="#ppt_w"/>
                                          </p:val>
                                        </p:tav>
                                      </p:tavLst>
                                    </p:anim>
                                    <p:anim calcmode="lin" valueType="num">
                                      <p:cBhvr additive="base">
                                        <p:cTn id="153" dur="450" decel="100000" fill="hold"/>
                                        <p:tgtEl>
                                          <p:spTgt spid="27"/>
                                        </p:tgtEl>
                                        <p:attrNameLst>
                                          <p:attrName>ppt_h</p:attrName>
                                        </p:attrNameLst>
                                      </p:cBhvr>
                                      <p:tavLst>
                                        <p:tav tm="0">
                                          <p:val>
                                            <p:strVal val="0"/>
                                          </p:val>
                                        </p:tav>
                                        <p:tav tm="100000">
                                          <p:val>
                                            <p:strVal val="#ppt_h"/>
                                          </p:val>
                                        </p:tav>
                                      </p:tavLst>
                                    </p:anim>
                                    <p:animEffect transition="in" filter="fade">
                                      <p:cBhvr>
                                        <p:cTn id="154" dur="450"/>
                                        <p:tgtEl>
                                          <p:spTgt spid="27"/>
                                        </p:tgtEl>
                                      </p:cBhvr>
                                    </p:animEffect>
                                  </p:childTnLst>
                                </p:cTn>
                              </p:par>
                              <p:par>
                                <p:cTn id="155" presetID="53" presetClass="entr" presetSubtype="16" fill="hold" grpId="0" nodeType="withEffect">
                                  <p:stCondLst>
                                    <p:cond delay="940"/>
                                  </p:stCondLst>
                                  <p:childTnLst>
                                    <p:set>
                                      <p:cBhvr>
                                        <p:cTn id="156" dur="1" fill="hold">
                                          <p:stCondLst>
                                            <p:cond delay="0"/>
                                          </p:stCondLst>
                                        </p:cTn>
                                        <p:tgtEl>
                                          <p:spTgt spid="31"/>
                                        </p:tgtEl>
                                        <p:attrNameLst>
                                          <p:attrName>style.visibility</p:attrName>
                                        </p:attrNameLst>
                                      </p:cBhvr>
                                      <p:to>
                                        <p:strVal val="visible"/>
                                      </p:to>
                                    </p:set>
                                    <p:anim calcmode="lin" valueType="num">
                                      <p:cBhvr additive="base">
                                        <p:cTn id="157" dur="450" decel="100000" fill="hold"/>
                                        <p:tgtEl>
                                          <p:spTgt spid="31"/>
                                        </p:tgtEl>
                                        <p:attrNameLst>
                                          <p:attrName>ppt_w</p:attrName>
                                        </p:attrNameLst>
                                      </p:cBhvr>
                                      <p:tavLst>
                                        <p:tav tm="0">
                                          <p:val>
                                            <p:strVal val="0"/>
                                          </p:val>
                                        </p:tav>
                                        <p:tav tm="100000">
                                          <p:val>
                                            <p:strVal val="#ppt_w"/>
                                          </p:val>
                                        </p:tav>
                                      </p:tavLst>
                                    </p:anim>
                                    <p:anim calcmode="lin" valueType="num">
                                      <p:cBhvr additive="base">
                                        <p:cTn id="158" dur="450" decel="100000" fill="hold"/>
                                        <p:tgtEl>
                                          <p:spTgt spid="31"/>
                                        </p:tgtEl>
                                        <p:attrNameLst>
                                          <p:attrName>ppt_h</p:attrName>
                                        </p:attrNameLst>
                                      </p:cBhvr>
                                      <p:tavLst>
                                        <p:tav tm="0">
                                          <p:val>
                                            <p:strVal val="0"/>
                                          </p:val>
                                        </p:tav>
                                        <p:tav tm="100000">
                                          <p:val>
                                            <p:strVal val="#ppt_h"/>
                                          </p:val>
                                        </p:tav>
                                      </p:tavLst>
                                    </p:anim>
                                    <p:animEffect transition="in" filter="fade">
                                      <p:cBhvr>
                                        <p:cTn id="159" dur="450"/>
                                        <p:tgtEl>
                                          <p:spTgt spid="31"/>
                                        </p:tgtEl>
                                      </p:cBhvr>
                                    </p:animEffect>
                                  </p:childTnLst>
                                </p:cTn>
                              </p:par>
                              <p:par>
                                <p:cTn id="160" presetID="53" presetClass="entr" presetSubtype="16" fill="hold" grpId="0" nodeType="withEffect">
                                  <p:stCondLst>
                                    <p:cond delay="1040"/>
                                  </p:stCondLst>
                                  <p:childTnLst>
                                    <p:set>
                                      <p:cBhvr>
                                        <p:cTn id="161" dur="1" fill="hold">
                                          <p:stCondLst>
                                            <p:cond delay="0"/>
                                          </p:stCondLst>
                                        </p:cTn>
                                        <p:tgtEl>
                                          <p:spTgt spid="32"/>
                                        </p:tgtEl>
                                        <p:attrNameLst>
                                          <p:attrName>style.visibility</p:attrName>
                                        </p:attrNameLst>
                                      </p:cBhvr>
                                      <p:to>
                                        <p:strVal val="visible"/>
                                      </p:to>
                                    </p:set>
                                    <p:anim calcmode="lin" valueType="num">
                                      <p:cBhvr additive="base">
                                        <p:cTn id="162" dur="450" decel="100000" fill="hold"/>
                                        <p:tgtEl>
                                          <p:spTgt spid="32"/>
                                        </p:tgtEl>
                                        <p:attrNameLst>
                                          <p:attrName>ppt_w</p:attrName>
                                        </p:attrNameLst>
                                      </p:cBhvr>
                                      <p:tavLst>
                                        <p:tav tm="0">
                                          <p:val>
                                            <p:strVal val="0"/>
                                          </p:val>
                                        </p:tav>
                                        <p:tav tm="100000">
                                          <p:val>
                                            <p:strVal val="#ppt_w"/>
                                          </p:val>
                                        </p:tav>
                                      </p:tavLst>
                                    </p:anim>
                                    <p:anim calcmode="lin" valueType="num">
                                      <p:cBhvr additive="base">
                                        <p:cTn id="163" dur="450" decel="100000" fill="hold"/>
                                        <p:tgtEl>
                                          <p:spTgt spid="32"/>
                                        </p:tgtEl>
                                        <p:attrNameLst>
                                          <p:attrName>ppt_h</p:attrName>
                                        </p:attrNameLst>
                                      </p:cBhvr>
                                      <p:tavLst>
                                        <p:tav tm="0">
                                          <p:val>
                                            <p:strVal val="0"/>
                                          </p:val>
                                        </p:tav>
                                        <p:tav tm="100000">
                                          <p:val>
                                            <p:strVal val="#ppt_h"/>
                                          </p:val>
                                        </p:tav>
                                      </p:tavLst>
                                    </p:anim>
                                    <p:animEffect transition="in" filter="fade">
                                      <p:cBhvr>
                                        <p:cTn id="164"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07  |  النماذج المالية ومؤشرات الاستثمار</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نتائج النموذج المالي</a:t>
            </a:r>
            <a:endParaRPr lang="en-US" sz="3000" dirty="0"/>
          </a:p>
        </p:txBody>
      </p:sp>
      <p:sp>
        <p:nvSpPr>
          <p:cNvPr id="4" name="anim17_0"/>
          <p:cNvSpPr/>
          <p:nvPr/>
        </p:nvSpPr>
        <p:spPr>
          <a:xfrm>
            <a:off x="4526280" y="1600200"/>
            <a:ext cx="7116775" cy="822960"/>
          </a:xfrm>
          <a:prstGeom prst="roundRect">
            <a:avLst>
              <a:gd name="adj" fmla="val 11111"/>
            </a:avLst>
          </a:prstGeom>
          <a:solidFill>
            <a:srgbClr val="FFFFFF"/>
          </a:solidFill>
          <a:ln w="9525">
            <a:solidFill>
              <a:srgbClr val="D6DFEA"/>
            </a:solidFill>
            <a:prstDash val="solid"/>
          </a:ln>
        </p:spPr>
      </p:sp>
      <p:sp>
        <p:nvSpPr>
          <p:cNvPr id="5" name="anim17_1"/>
          <p:cNvSpPr/>
          <p:nvPr/>
        </p:nvSpPr>
        <p:spPr>
          <a:xfrm>
            <a:off x="10929823" y="1755648"/>
            <a:ext cx="512064" cy="512064"/>
          </a:xfrm>
          <a:prstGeom prst="ellipse">
            <a:avLst/>
          </a:prstGeom>
          <a:solidFill>
            <a:srgbClr val="F15524"/>
          </a:solidFill>
          <a:ln w="12700">
            <a:solidFill>
              <a:srgbClr val="F15524"/>
            </a:solidFill>
            <a:prstDash val="solid"/>
          </a:ln>
        </p:spPr>
      </p:sp>
      <p:pic>
        <p:nvPicPr>
          <p:cNvPr id="6" name="anim17_2" descr="preencoded.png">    </p:cNvPr>
          <p:cNvPicPr>
            <a:picLocks noChangeAspect="1"/>
          </p:cNvPicPr>
          <p:nvPr/>
        </p:nvPicPr>
        <p:blipFill>
          <a:blip r:embed="rId1"/>
          <a:stretch>
            <a:fillRect/>
          </a:stretch>
        </p:blipFill>
        <p:spPr>
          <a:xfrm>
            <a:off x="11068080" y="1893905"/>
            <a:ext cx="235549" cy="235549"/>
          </a:xfrm>
          <a:prstGeom prst="rect">
            <a:avLst/>
          </a:prstGeom>
        </p:spPr>
      </p:pic>
      <p:sp>
        <p:nvSpPr>
          <p:cNvPr id="7" name="anim17_3"/>
          <p:cNvSpPr txBox="1"/>
          <p:nvPr/>
        </p:nvSpPr>
        <p:spPr>
          <a:xfrm>
            <a:off x="4709160" y="1600200"/>
            <a:ext cx="6110935" cy="822960"/>
          </a:xfrm>
          <a:prstGeom prst="rect">
            <a:avLst/>
          </a:prstGeom>
          <a:noFill/>
          <a:ln/>
        </p:spPr>
        <p:txBody>
          <a:bodyPr wrap="square" lIns="0" tIns="0" rIns="0" bIns="0" rtlCol="0" anchor="ctr"/>
          <a:lstStyle/>
          <a:p>
            <a:pPr rtl="1" algn="r" indent="0" marL="0">
              <a:buNone/>
            </a:pPr>
            <a:r>
              <a:rPr lang="ar-SA" altLang="en-US" sz="1350" dirty="0">
                <a:solidFill>
                  <a:srgbClr val="1F2937"/>
                </a:solidFill>
                <a:latin typeface="JF Flat" pitchFamily="34" charset="0"/>
                <a:ea typeface="JF Flat" pitchFamily="34" charset="-122"/>
                <a:cs typeface="JF Flat" pitchFamily="34" charset="-120"/>
              </a:rPr>
              <a:t>تبدأ الأرباح المحاسبية السنوية بالظهور في السنة الخامسة وفق جدول الأرباح والخسائر، بينما يشير الملخص التنفيذي إلى السنة السادسة؛ ويجب توحيد هذا الاختلاف في النسخة النهائية للدراسة.</a:t>
            </a:r>
            <a:endParaRPr lang="ar-SA" sz="1350" dirty="0"/>
          </a:p>
        </p:txBody>
      </p:sp>
      <p:sp>
        <p:nvSpPr>
          <p:cNvPr id="8" name="anim17_4"/>
          <p:cNvSpPr/>
          <p:nvPr/>
        </p:nvSpPr>
        <p:spPr>
          <a:xfrm>
            <a:off x="4526280" y="2532888"/>
            <a:ext cx="7116775" cy="822960"/>
          </a:xfrm>
          <a:prstGeom prst="roundRect">
            <a:avLst>
              <a:gd name="adj" fmla="val 11111"/>
            </a:avLst>
          </a:prstGeom>
          <a:solidFill>
            <a:srgbClr val="F4F7FB"/>
          </a:solidFill>
          <a:ln w="9525">
            <a:solidFill>
              <a:srgbClr val="D6DFEA"/>
            </a:solidFill>
            <a:prstDash val="solid"/>
          </a:ln>
        </p:spPr>
      </p:sp>
      <p:sp>
        <p:nvSpPr>
          <p:cNvPr id="9" name="anim17_5"/>
          <p:cNvSpPr/>
          <p:nvPr/>
        </p:nvSpPr>
        <p:spPr>
          <a:xfrm>
            <a:off x="10929823" y="2688336"/>
            <a:ext cx="512064" cy="512064"/>
          </a:xfrm>
          <a:prstGeom prst="ellipse">
            <a:avLst/>
          </a:prstGeom>
          <a:solidFill>
            <a:srgbClr val="00539B"/>
          </a:solidFill>
          <a:ln w="12700">
            <a:solidFill>
              <a:srgbClr val="00539B"/>
            </a:solidFill>
            <a:prstDash val="solid"/>
          </a:ln>
        </p:spPr>
      </p:sp>
      <p:pic>
        <p:nvPicPr>
          <p:cNvPr id="10" name="anim17_6" descr="preencoded.png">    </p:cNvPr>
          <p:cNvPicPr>
            <a:picLocks noChangeAspect="1"/>
          </p:cNvPicPr>
          <p:nvPr/>
        </p:nvPicPr>
        <p:blipFill>
          <a:blip r:embed="rId2"/>
          <a:stretch>
            <a:fillRect/>
          </a:stretch>
        </p:blipFill>
        <p:spPr>
          <a:xfrm>
            <a:off x="11068080" y="2826593"/>
            <a:ext cx="235549" cy="235549"/>
          </a:xfrm>
          <a:prstGeom prst="rect">
            <a:avLst/>
          </a:prstGeom>
        </p:spPr>
      </p:pic>
      <p:sp>
        <p:nvSpPr>
          <p:cNvPr id="11" name="anim17_7"/>
          <p:cNvSpPr txBox="1"/>
          <p:nvPr/>
        </p:nvSpPr>
        <p:spPr>
          <a:xfrm>
            <a:off x="4709160" y="2532888"/>
            <a:ext cx="6110935" cy="822960"/>
          </a:xfrm>
          <a:prstGeom prst="rect">
            <a:avLst/>
          </a:prstGeom>
          <a:noFill/>
          <a:ln/>
        </p:spPr>
        <p:txBody>
          <a:bodyPr wrap="square" lIns="0" tIns="0" rIns="0" bIns="0" rtlCol="0" anchor="ctr"/>
          <a:lstStyle/>
          <a:p>
            <a:pPr rtl="1" algn="r" indent="0" marL="0">
              <a:buNone/>
            </a:pPr>
            <a:r>
              <a:rPr lang="ar-SA" altLang="en-US" sz="1350" dirty="0">
                <a:solidFill>
                  <a:srgbClr val="1F2937"/>
                </a:solidFill>
                <a:latin typeface="JF Flat" pitchFamily="34" charset="0"/>
                <a:ea typeface="JF Flat" pitchFamily="34" charset="-122"/>
                <a:cs typeface="JF Flat" pitchFamily="34" charset="-120"/>
              </a:rPr>
              <a:t>تتحول التدفقات النقدية التشغيلية إلى قيمة موجبة من السنة الثانية.</a:t>
            </a:r>
            <a:endParaRPr lang="ar-SA" sz="1350" dirty="0"/>
          </a:p>
        </p:txBody>
      </p:sp>
      <p:sp>
        <p:nvSpPr>
          <p:cNvPr id="12" name="anim17_8"/>
          <p:cNvSpPr/>
          <p:nvPr/>
        </p:nvSpPr>
        <p:spPr>
          <a:xfrm>
            <a:off x="4526280" y="3465576"/>
            <a:ext cx="7116775" cy="822960"/>
          </a:xfrm>
          <a:prstGeom prst="roundRect">
            <a:avLst>
              <a:gd name="adj" fmla="val 11111"/>
            </a:avLst>
          </a:prstGeom>
          <a:solidFill>
            <a:srgbClr val="FFFFFF"/>
          </a:solidFill>
          <a:ln w="9525">
            <a:solidFill>
              <a:srgbClr val="D6DFEA"/>
            </a:solidFill>
            <a:prstDash val="solid"/>
          </a:ln>
        </p:spPr>
      </p:sp>
      <p:sp>
        <p:nvSpPr>
          <p:cNvPr id="13" name="anim17_9"/>
          <p:cNvSpPr/>
          <p:nvPr/>
        </p:nvSpPr>
        <p:spPr>
          <a:xfrm>
            <a:off x="10929823" y="3621024"/>
            <a:ext cx="512064" cy="512064"/>
          </a:xfrm>
          <a:prstGeom prst="ellipse">
            <a:avLst/>
          </a:prstGeom>
          <a:solidFill>
            <a:srgbClr val="00539B"/>
          </a:solidFill>
          <a:ln w="12700">
            <a:solidFill>
              <a:srgbClr val="00539B"/>
            </a:solidFill>
            <a:prstDash val="solid"/>
          </a:ln>
        </p:spPr>
      </p:sp>
      <p:pic>
        <p:nvPicPr>
          <p:cNvPr id="14" name="anim17_10" descr="preencoded.png">    </p:cNvPr>
          <p:cNvPicPr>
            <a:picLocks noChangeAspect="1"/>
          </p:cNvPicPr>
          <p:nvPr/>
        </p:nvPicPr>
        <p:blipFill>
          <a:blip r:embed="rId3"/>
          <a:stretch>
            <a:fillRect/>
          </a:stretch>
        </p:blipFill>
        <p:spPr>
          <a:xfrm>
            <a:off x="11068080" y="3759281"/>
            <a:ext cx="235549" cy="235549"/>
          </a:xfrm>
          <a:prstGeom prst="rect">
            <a:avLst/>
          </a:prstGeom>
        </p:spPr>
      </p:pic>
      <p:sp>
        <p:nvSpPr>
          <p:cNvPr id="15" name="anim17_11"/>
          <p:cNvSpPr txBox="1"/>
          <p:nvPr/>
        </p:nvSpPr>
        <p:spPr>
          <a:xfrm>
            <a:off x="4709160" y="3465576"/>
            <a:ext cx="6110935" cy="822960"/>
          </a:xfrm>
          <a:prstGeom prst="rect">
            <a:avLst/>
          </a:prstGeom>
          <a:noFill/>
          <a:ln/>
        </p:spPr>
        <p:txBody>
          <a:bodyPr wrap="square" lIns="0" tIns="0" rIns="0" bIns="0" rtlCol="0" anchor="ctr"/>
          <a:lstStyle/>
          <a:p>
            <a:pPr rtl="1" algn="r" indent="0" marL="0">
              <a:buNone/>
            </a:pPr>
            <a:r>
              <a:rPr lang="ar-SA" altLang="en-US" sz="1350" dirty="0">
                <a:solidFill>
                  <a:srgbClr val="1F2937"/>
                </a:solidFill>
                <a:latin typeface="JF Flat" pitchFamily="34" charset="0"/>
                <a:ea typeface="JF Flat" pitchFamily="34" charset="-122"/>
                <a:cs typeface="JF Flat" pitchFamily="34" charset="-120"/>
              </a:rPr>
              <a:t>يصل التدفق النقدي التراكمي إلى الموجب خلال السنة التاسعة، وفق النموذج الوارد في الدراسة.</a:t>
            </a:r>
            <a:endParaRPr lang="ar-SA" sz="1350" dirty="0"/>
          </a:p>
        </p:txBody>
      </p:sp>
      <p:sp>
        <p:nvSpPr>
          <p:cNvPr id="16" name="anim17_12"/>
          <p:cNvSpPr/>
          <p:nvPr/>
        </p:nvSpPr>
        <p:spPr>
          <a:xfrm>
            <a:off x="4526280" y="4398264"/>
            <a:ext cx="7116775" cy="822960"/>
          </a:xfrm>
          <a:prstGeom prst="roundRect">
            <a:avLst>
              <a:gd name="adj" fmla="val 11111"/>
            </a:avLst>
          </a:prstGeom>
          <a:solidFill>
            <a:srgbClr val="F4F7FB"/>
          </a:solidFill>
          <a:ln w="9525">
            <a:solidFill>
              <a:srgbClr val="D6DFEA"/>
            </a:solidFill>
            <a:prstDash val="solid"/>
          </a:ln>
        </p:spPr>
      </p:sp>
      <p:sp>
        <p:nvSpPr>
          <p:cNvPr id="17" name="anim17_13"/>
          <p:cNvSpPr/>
          <p:nvPr/>
        </p:nvSpPr>
        <p:spPr>
          <a:xfrm>
            <a:off x="10929823" y="4553712"/>
            <a:ext cx="512064" cy="512064"/>
          </a:xfrm>
          <a:prstGeom prst="ellipse">
            <a:avLst/>
          </a:prstGeom>
          <a:solidFill>
            <a:srgbClr val="00539B"/>
          </a:solidFill>
          <a:ln w="12700">
            <a:solidFill>
              <a:srgbClr val="00539B"/>
            </a:solidFill>
            <a:prstDash val="solid"/>
          </a:ln>
        </p:spPr>
      </p:sp>
      <p:pic>
        <p:nvPicPr>
          <p:cNvPr id="18" name="anim17_14" descr="preencoded.png">    </p:cNvPr>
          <p:cNvPicPr>
            <a:picLocks noChangeAspect="1"/>
          </p:cNvPicPr>
          <p:nvPr/>
        </p:nvPicPr>
        <p:blipFill>
          <a:blip r:embed="rId4"/>
          <a:stretch>
            <a:fillRect/>
          </a:stretch>
        </p:blipFill>
        <p:spPr>
          <a:xfrm>
            <a:off x="11068080" y="4691969"/>
            <a:ext cx="235549" cy="235549"/>
          </a:xfrm>
          <a:prstGeom prst="rect">
            <a:avLst/>
          </a:prstGeom>
        </p:spPr>
      </p:pic>
      <p:sp>
        <p:nvSpPr>
          <p:cNvPr id="19" name="anim17_15"/>
          <p:cNvSpPr txBox="1"/>
          <p:nvPr/>
        </p:nvSpPr>
        <p:spPr>
          <a:xfrm>
            <a:off x="4709160" y="4398264"/>
            <a:ext cx="6110935" cy="822960"/>
          </a:xfrm>
          <a:prstGeom prst="rect">
            <a:avLst/>
          </a:prstGeom>
          <a:noFill/>
          <a:ln/>
        </p:spPr>
        <p:txBody>
          <a:bodyPr wrap="square" lIns="0" tIns="0" rIns="0" bIns="0" rtlCol="0" anchor="ctr"/>
          <a:lstStyle/>
          <a:p>
            <a:pPr rtl="1" algn="r" indent="0" marL="0">
              <a:buNone/>
            </a:pPr>
            <a:r>
              <a:rPr lang="ar-SA" altLang="en-US" sz="1350" dirty="0">
                <a:solidFill>
                  <a:srgbClr val="1F2937"/>
                </a:solidFill>
                <a:latin typeface="JF Flat" pitchFamily="34" charset="0"/>
                <a:ea typeface="JF Flat" pitchFamily="34" charset="-122"/>
                <a:cs typeface="JF Flat" pitchFamily="34" charset="-120"/>
              </a:rPr>
              <a:t>يبلغ متوسط العائد السنوي على أساس التدفق النقدي نحو 18%، ومتوسط العائد السنوي على صافي الربح نحو 12% وفق تقديرات الدراسة.</a:t>
            </a:r>
            <a:endParaRPr lang="ar-SA" sz="1350" dirty="0"/>
          </a:p>
        </p:txBody>
      </p:sp>
      <p:sp>
        <p:nvSpPr>
          <p:cNvPr id="20" name="anim17_16"/>
          <p:cNvSpPr/>
          <p:nvPr/>
        </p:nvSpPr>
        <p:spPr>
          <a:xfrm>
            <a:off x="4526280" y="5330952"/>
            <a:ext cx="7116775" cy="822960"/>
          </a:xfrm>
          <a:prstGeom prst="roundRect">
            <a:avLst>
              <a:gd name="adj" fmla="val 11111"/>
            </a:avLst>
          </a:prstGeom>
          <a:solidFill>
            <a:srgbClr val="FFFFFF"/>
          </a:solidFill>
          <a:ln w="9525">
            <a:solidFill>
              <a:srgbClr val="D6DFEA"/>
            </a:solidFill>
            <a:prstDash val="solid"/>
          </a:ln>
        </p:spPr>
      </p:sp>
      <p:sp>
        <p:nvSpPr>
          <p:cNvPr id="21" name="anim17_17"/>
          <p:cNvSpPr/>
          <p:nvPr/>
        </p:nvSpPr>
        <p:spPr>
          <a:xfrm>
            <a:off x="10929823" y="5486400"/>
            <a:ext cx="512064" cy="512064"/>
          </a:xfrm>
          <a:prstGeom prst="ellipse">
            <a:avLst/>
          </a:prstGeom>
          <a:solidFill>
            <a:srgbClr val="00539B"/>
          </a:solidFill>
          <a:ln w="12700">
            <a:solidFill>
              <a:srgbClr val="00539B"/>
            </a:solidFill>
            <a:prstDash val="solid"/>
          </a:ln>
        </p:spPr>
      </p:sp>
      <p:pic>
        <p:nvPicPr>
          <p:cNvPr id="22" name="anim17_18" descr="preencoded.png">    </p:cNvPr>
          <p:cNvPicPr>
            <a:picLocks noChangeAspect="1"/>
          </p:cNvPicPr>
          <p:nvPr/>
        </p:nvPicPr>
        <p:blipFill>
          <a:blip r:embed="rId5"/>
          <a:stretch>
            <a:fillRect/>
          </a:stretch>
        </p:blipFill>
        <p:spPr>
          <a:xfrm>
            <a:off x="11068080" y="5624657"/>
            <a:ext cx="235549" cy="235549"/>
          </a:xfrm>
          <a:prstGeom prst="rect">
            <a:avLst/>
          </a:prstGeom>
        </p:spPr>
      </p:pic>
      <p:sp>
        <p:nvSpPr>
          <p:cNvPr id="23" name="anim17_19"/>
          <p:cNvSpPr txBox="1"/>
          <p:nvPr/>
        </p:nvSpPr>
        <p:spPr>
          <a:xfrm>
            <a:off x="4709160" y="5330952"/>
            <a:ext cx="6110935" cy="822960"/>
          </a:xfrm>
          <a:prstGeom prst="rect">
            <a:avLst/>
          </a:prstGeom>
          <a:noFill/>
          <a:ln/>
        </p:spPr>
        <p:txBody>
          <a:bodyPr wrap="square" lIns="0" tIns="0" rIns="0" bIns="0" rtlCol="0" anchor="ctr"/>
          <a:lstStyle/>
          <a:p>
            <a:pPr rtl="1" algn="r" indent="0" marL="0">
              <a:buNone/>
            </a:pPr>
            <a:r>
              <a:rPr lang="ar-SA" altLang="en-US" sz="1350" dirty="0">
                <a:solidFill>
                  <a:srgbClr val="1F2937"/>
                </a:solidFill>
                <a:latin typeface="JF Flat" pitchFamily="34" charset="0"/>
                <a:ea typeface="JF Flat" pitchFamily="34" charset="-122"/>
                <a:cs typeface="JF Flat" pitchFamily="34" charset="-120"/>
              </a:rPr>
              <a:t>يتأثر العائد بدرجة كبيرة بتكلفة الاستهلاك، وتوقيت التوسعة، وحجم الطلب الفعلي.</a:t>
            </a:r>
            <a:endParaRPr lang="ar-SA" sz="1350" dirty="0"/>
          </a:p>
        </p:txBody>
      </p:sp>
      <p:sp>
        <p:nvSpPr>
          <p:cNvPr id="24" name="anim17_20"/>
          <p:cNvSpPr/>
          <p:nvPr/>
        </p:nvSpPr>
        <p:spPr>
          <a:xfrm>
            <a:off x="548640" y="1600200"/>
            <a:ext cx="3703320" cy="4526280"/>
          </a:xfrm>
          <a:prstGeom prst="roundRect">
            <a:avLst>
              <a:gd name="adj" fmla="val 2469"/>
            </a:avLst>
          </a:prstGeom>
          <a:solidFill>
            <a:srgbClr val="FEF0EA"/>
          </a:solidFill>
          <a:ln w="9525">
            <a:solidFill>
              <a:srgbClr val="F8C9B5"/>
            </a:solidFill>
            <a:prstDash val="solid"/>
          </a:ln>
        </p:spPr>
      </p:sp>
      <p:sp>
        <p:nvSpPr>
          <p:cNvPr id="25" name="anim17_21"/>
          <p:cNvSpPr/>
          <p:nvPr/>
        </p:nvSpPr>
        <p:spPr>
          <a:xfrm>
            <a:off x="777240" y="1828800"/>
            <a:ext cx="640080" cy="640080"/>
          </a:xfrm>
          <a:prstGeom prst="ellipse">
            <a:avLst/>
          </a:prstGeom>
          <a:solidFill>
            <a:srgbClr val="F15524"/>
          </a:solidFill>
          <a:ln w="12700">
            <a:solidFill>
              <a:srgbClr val="F15524"/>
            </a:solidFill>
            <a:prstDash val="solid"/>
          </a:ln>
        </p:spPr>
      </p:sp>
      <p:pic>
        <p:nvPicPr>
          <p:cNvPr id="26" name="anim17_22" descr="preencoded.png">    </p:cNvPr>
          <p:cNvPicPr>
            <a:picLocks noChangeAspect="1"/>
          </p:cNvPicPr>
          <p:nvPr/>
        </p:nvPicPr>
        <p:blipFill>
          <a:blip r:embed="rId6"/>
          <a:stretch>
            <a:fillRect/>
          </a:stretch>
        </p:blipFill>
        <p:spPr>
          <a:xfrm>
            <a:off x="950062" y="2001622"/>
            <a:ext cx="294437" cy="294437"/>
          </a:xfrm>
          <a:prstGeom prst="rect">
            <a:avLst/>
          </a:prstGeom>
        </p:spPr>
      </p:pic>
      <p:sp>
        <p:nvSpPr>
          <p:cNvPr id="27" name="anim17_23"/>
          <p:cNvSpPr txBox="1"/>
          <p:nvPr/>
        </p:nvSpPr>
        <p:spPr>
          <a:xfrm>
            <a:off x="1508760" y="1828800"/>
            <a:ext cx="2560320" cy="640080"/>
          </a:xfrm>
          <a:prstGeom prst="rect">
            <a:avLst/>
          </a:prstGeom>
          <a:noFill/>
          <a:ln/>
        </p:spPr>
        <p:txBody>
          <a:bodyPr wrap="square" lIns="0" tIns="0" rIns="0" bIns="0" rtlCol="0" anchor="ctr"/>
          <a:lstStyle/>
          <a:p>
            <a:pPr rtl="1" algn="r" indent="0" marL="0">
              <a:buNone/>
            </a:pPr>
            <a:r>
              <a:rPr lang="ar-SA" altLang="en-US" sz="1800" b="1" dirty="0">
                <a:solidFill>
                  <a:srgbClr val="F15524"/>
                </a:solidFill>
                <a:latin typeface="JF Flat" pitchFamily="34" charset="0"/>
                <a:ea typeface="JF Flat" pitchFamily="34" charset="-122"/>
                <a:cs typeface="JF Flat" pitchFamily="34" charset="-120"/>
              </a:rPr>
              <a:t>ملاحظة مالية مهمة</a:t>
            </a:r>
            <a:endParaRPr lang="ar-SA" sz="1800" dirty="0"/>
          </a:p>
        </p:txBody>
      </p:sp>
      <p:sp>
        <p:nvSpPr>
          <p:cNvPr id="28" name="anim17_24"/>
          <p:cNvSpPr txBox="1"/>
          <p:nvPr/>
        </p:nvSpPr>
        <p:spPr>
          <a:xfrm>
            <a:off x="822960" y="2697480"/>
            <a:ext cx="3154680" cy="3200400"/>
          </a:xfrm>
          <a:prstGeom prst="rect">
            <a:avLst/>
          </a:prstGeom>
          <a:noFill/>
          <a:ln/>
        </p:spPr>
        <p:txBody>
          <a:bodyPr wrap="square" lIns="0" tIns="0" rIns="0" bIns="0" rtlCol="0" anchor="t"/>
          <a:lstStyle/>
          <a:p>
            <a:pPr rtl="1" algn="r" indent="0" marL="0">
              <a:lnSpc>
                <a:spcPct val="125000"/>
              </a:lnSpc>
              <a:buNone/>
            </a:pPr>
            <a:r>
              <a:rPr lang="ar-SA" altLang="en-US" sz="1400" dirty="0">
                <a:solidFill>
                  <a:srgbClr val="1F2937"/>
                </a:solidFill>
                <a:latin typeface="JF Flat" pitchFamily="34" charset="0"/>
                <a:ea typeface="JF Flat" pitchFamily="34" charset="-122"/>
                <a:cs typeface="JF Flat" pitchFamily="34" charset="-120"/>
              </a:rPr>
              <a:t>هذه المؤشرات أولية وليست ضماناً للعائد. كما أن صافي التدفقات النقدية التراكمي ليس مرادفاً تلقائياً لصافي القيمة الحالية (NPV) بالمعنى المالي المتعارف عليه؛ لذا يجب مراجعة حسابات التدفقات والخصم قبل اعتماد المؤشرات الاستثمارية نهائياً.</a:t>
            </a:r>
            <a:endParaRPr lang="ar-SA" sz="14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anim calcmode="lin" valueType="num">
                                      <p:cBhvr additive="base">
                                        <p:cTn id="2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11"/>
                                        </p:tgtEl>
                                        <p:attrNameLst>
                                          <p:attrName>ppt_y</p:attrName>
                                        </p:attrNameLst>
                                      </p:cBhvr>
                                      <p:tavLst>
                                        <p:tav tm="0">
                                          <p:val>
                                            <p:strVal val="#ppt_y+.03"/>
                                          </p:val>
                                        </p:tav>
                                        <p:tav tm="100000">
                                          <p:val>
                                            <p:strVal val="#ppt_y"/>
                                          </p:val>
                                        </p:tav>
                                      </p:tavLst>
                                    </p:anim>
                                  </p:childTnLst>
                                </p:cTn>
                              </p:par>
                              <p:par>
                                <p:cTn id="25" presetID="53" presetClass="entr" presetSubtype="16" fill="hold" grpId="0" nodeType="withEffect">
                                  <p:stCondLst>
                                    <p:cond delay="16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450" decel="100000" fill="hold"/>
                                        <p:tgtEl>
                                          <p:spTgt spid="5"/>
                                        </p:tgtEl>
                                        <p:attrNameLst>
                                          <p:attrName>ppt_w</p:attrName>
                                        </p:attrNameLst>
                                      </p:cBhvr>
                                      <p:tavLst>
                                        <p:tav tm="0">
                                          <p:val>
                                            <p:strVal val="0"/>
                                          </p:val>
                                        </p:tav>
                                        <p:tav tm="100000">
                                          <p:val>
                                            <p:strVal val="#ppt_w"/>
                                          </p:val>
                                        </p:tav>
                                      </p:tavLst>
                                    </p:anim>
                                    <p:anim calcmode="lin" valueType="num">
                                      <p:cBhvr additive="base">
                                        <p:cTn id="28" dur="450" decel="100000" fill="hold"/>
                                        <p:tgtEl>
                                          <p:spTgt spid="5"/>
                                        </p:tgtEl>
                                        <p:attrNameLst>
                                          <p:attrName>ppt_h</p:attrName>
                                        </p:attrNameLst>
                                      </p:cBhvr>
                                      <p:tavLst>
                                        <p:tav tm="0">
                                          <p:val>
                                            <p:strVal val="0"/>
                                          </p:val>
                                        </p:tav>
                                        <p:tav tm="100000">
                                          <p:val>
                                            <p:strVal val="#ppt_h"/>
                                          </p:val>
                                        </p:tav>
                                      </p:tavLst>
                                    </p:anim>
                                    <p:animEffect transition="in" filter="fade">
                                      <p:cBhvr>
                                        <p:cTn id="29" dur="450"/>
                                        <p:tgtEl>
                                          <p:spTgt spid="5"/>
                                        </p:tgtEl>
                                      </p:cBhvr>
                                    </p:animEffect>
                                  </p:childTnLst>
                                </p:cTn>
                              </p:par>
                              <p:par>
                                <p:cTn id="30" presetID="53" presetClass="entr" presetSubtype="16" fill="hold" grpId="0" nodeType="withEffect">
                                  <p:stCondLst>
                                    <p:cond delay="26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450" decel="100000" fill="hold"/>
                                        <p:tgtEl>
                                          <p:spTgt spid="6"/>
                                        </p:tgtEl>
                                        <p:attrNameLst>
                                          <p:attrName>ppt_w</p:attrName>
                                        </p:attrNameLst>
                                      </p:cBhvr>
                                      <p:tavLst>
                                        <p:tav tm="0">
                                          <p:val>
                                            <p:strVal val="0"/>
                                          </p:val>
                                        </p:tav>
                                        <p:tav tm="100000">
                                          <p:val>
                                            <p:strVal val="#ppt_w"/>
                                          </p:val>
                                        </p:tav>
                                      </p:tavLst>
                                    </p:anim>
                                    <p:anim calcmode="lin" valueType="num">
                                      <p:cBhvr additive="base">
                                        <p:cTn id="33" dur="450" decel="100000" fill="hold"/>
                                        <p:tgtEl>
                                          <p:spTgt spid="6"/>
                                        </p:tgtEl>
                                        <p:attrNameLst>
                                          <p:attrName>ppt_h</p:attrName>
                                        </p:attrNameLst>
                                      </p:cBhvr>
                                      <p:tavLst>
                                        <p:tav tm="0">
                                          <p:val>
                                            <p:strVal val="0"/>
                                          </p:val>
                                        </p:tav>
                                        <p:tav tm="100000">
                                          <p:val>
                                            <p:strVal val="#ppt_h"/>
                                          </p:val>
                                        </p:tav>
                                      </p:tavLst>
                                    </p:anim>
                                    <p:animEffect transition="in" filter="fade">
                                      <p:cBhvr>
                                        <p:cTn id="34" dur="450"/>
                                        <p:tgtEl>
                                          <p:spTgt spid="6"/>
                                        </p:tgtEl>
                                      </p:cBhvr>
                                    </p:animEffect>
                                  </p:childTnLst>
                                </p:cTn>
                              </p:par>
                              <p:par>
                                <p:cTn id="35" presetID="42" presetClass="entr" presetSubtype="0" fill="hold" grpId="0" nodeType="withEffect">
                                  <p:stCondLst>
                                    <p:cond delay="26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2"/>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2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29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450" decel="100000" fill="hold"/>
                                        <p:tgtEl>
                                          <p:spTgt spid="9"/>
                                        </p:tgtEl>
                                        <p:attrNameLst>
                                          <p:attrName>ppt_w</p:attrName>
                                        </p:attrNameLst>
                                      </p:cBhvr>
                                      <p:tavLst>
                                        <p:tav tm="0">
                                          <p:val>
                                            <p:strVal val="0"/>
                                          </p:val>
                                        </p:tav>
                                        <p:tav tm="100000">
                                          <p:val>
                                            <p:strVal val="#ppt_w"/>
                                          </p:val>
                                        </p:tav>
                                      </p:tavLst>
                                    </p:anim>
                                    <p:anim calcmode="lin" valueType="num">
                                      <p:cBhvr additive="base">
                                        <p:cTn id="48" dur="450" decel="100000" fill="hold"/>
                                        <p:tgtEl>
                                          <p:spTgt spid="9"/>
                                        </p:tgtEl>
                                        <p:attrNameLst>
                                          <p:attrName>ppt_h</p:attrName>
                                        </p:attrNameLst>
                                      </p:cBhvr>
                                      <p:tavLst>
                                        <p:tav tm="0">
                                          <p:val>
                                            <p:strVal val="0"/>
                                          </p:val>
                                        </p:tav>
                                        <p:tav tm="100000">
                                          <p:val>
                                            <p:strVal val="#ppt_h"/>
                                          </p:val>
                                        </p:tav>
                                      </p:tavLst>
                                    </p:anim>
                                    <p:animEffect transition="in" filter="fade">
                                      <p:cBhvr>
                                        <p:cTn id="49" dur="450"/>
                                        <p:tgtEl>
                                          <p:spTgt spid="9"/>
                                        </p:tgtEl>
                                      </p:cBhvr>
                                    </p:animEffect>
                                  </p:childTnLst>
                                </p:cTn>
                              </p:par>
                              <p:par>
                                <p:cTn id="50" presetID="53" presetClass="entr" presetSubtype="16" fill="hold" grpId="0" nodeType="withEffect">
                                  <p:stCondLst>
                                    <p:cond delay="39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450" decel="100000" fill="hold"/>
                                        <p:tgtEl>
                                          <p:spTgt spid="10"/>
                                        </p:tgtEl>
                                        <p:attrNameLst>
                                          <p:attrName>ppt_w</p:attrName>
                                        </p:attrNameLst>
                                      </p:cBhvr>
                                      <p:tavLst>
                                        <p:tav tm="0">
                                          <p:val>
                                            <p:strVal val="0"/>
                                          </p:val>
                                        </p:tav>
                                        <p:tav tm="100000">
                                          <p:val>
                                            <p:strVal val="#ppt_w"/>
                                          </p:val>
                                        </p:tav>
                                      </p:tavLst>
                                    </p:anim>
                                    <p:anim calcmode="lin" valueType="num">
                                      <p:cBhvr additive="base">
                                        <p:cTn id="53" dur="450" decel="100000" fill="hold"/>
                                        <p:tgtEl>
                                          <p:spTgt spid="10"/>
                                        </p:tgtEl>
                                        <p:attrNameLst>
                                          <p:attrName>ppt_h</p:attrName>
                                        </p:attrNameLst>
                                      </p:cBhvr>
                                      <p:tavLst>
                                        <p:tav tm="0">
                                          <p:val>
                                            <p:strVal val="0"/>
                                          </p:val>
                                        </p:tav>
                                        <p:tav tm="100000">
                                          <p:val>
                                            <p:strVal val="#ppt_h"/>
                                          </p:val>
                                        </p:tav>
                                      </p:tavLst>
                                    </p:anim>
                                    <p:animEffect transition="in" filter="fade">
                                      <p:cBhvr>
                                        <p:cTn id="54" dur="450"/>
                                        <p:tgtEl>
                                          <p:spTgt spid="10"/>
                                        </p:tgtEl>
                                      </p:cBhvr>
                                    </p:animEffect>
                                  </p:childTnLst>
                                </p:cTn>
                              </p:par>
                              <p:par>
                                <p:cTn id="55" presetID="42" presetClass="entr" presetSubtype="0" fill="hold" grpId="0" nodeType="withEffect">
                                  <p:stCondLst>
                                    <p:cond delay="39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3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420"/>
                                  </p:stCondLst>
                                  <p:childTnLst>
                                    <p:set>
                                      <p:cBhvr>
                                        <p:cTn id="66" dur="1" fill="hold">
                                          <p:stCondLst>
                                            <p:cond delay="0"/>
                                          </p:stCondLst>
                                        </p:cTn>
                                        <p:tgtEl>
                                          <p:spTgt spid="13"/>
                                        </p:tgtEl>
                                        <p:attrNameLst>
                                          <p:attrName>style.visibility</p:attrName>
                                        </p:attrNameLst>
                                      </p:cBhvr>
                                      <p:to>
                                        <p:strVal val="visible"/>
                                      </p:to>
                                    </p:set>
                                    <p:anim calcmode="lin" valueType="num">
                                      <p:cBhvr additive="base">
                                        <p:cTn id="67" dur="450" decel="100000" fill="hold"/>
                                        <p:tgtEl>
                                          <p:spTgt spid="13"/>
                                        </p:tgtEl>
                                        <p:attrNameLst>
                                          <p:attrName>ppt_w</p:attrName>
                                        </p:attrNameLst>
                                      </p:cBhvr>
                                      <p:tavLst>
                                        <p:tav tm="0">
                                          <p:val>
                                            <p:strVal val="0"/>
                                          </p:val>
                                        </p:tav>
                                        <p:tav tm="100000">
                                          <p:val>
                                            <p:strVal val="#ppt_w"/>
                                          </p:val>
                                        </p:tav>
                                      </p:tavLst>
                                    </p:anim>
                                    <p:anim calcmode="lin" valueType="num">
                                      <p:cBhvr additive="base">
                                        <p:cTn id="68" dur="450" decel="100000" fill="hold"/>
                                        <p:tgtEl>
                                          <p:spTgt spid="13"/>
                                        </p:tgtEl>
                                        <p:attrNameLst>
                                          <p:attrName>ppt_h</p:attrName>
                                        </p:attrNameLst>
                                      </p:cBhvr>
                                      <p:tavLst>
                                        <p:tav tm="0">
                                          <p:val>
                                            <p:strVal val="0"/>
                                          </p:val>
                                        </p:tav>
                                        <p:tav tm="100000">
                                          <p:val>
                                            <p:strVal val="#ppt_h"/>
                                          </p:val>
                                        </p:tav>
                                      </p:tavLst>
                                    </p:anim>
                                    <p:animEffect transition="in" filter="fade">
                                      <p:cBhvr>
                                        <p:cTn id="69" dur="450"/>
                                        <p:tgtEl>
                                          <p:spTgt spid="13"/>
                                        </p:tgtEl>
                                      </p:cBhvr>
                                    </p:animEffect>
                                  </p:childTnLst>
                                </p:cTn>
                              </p:par>
                              <p:par>
                                <p:cTn id="70" presetID="53" presetClass="entr" presetSubtype="16" fill="hold" grpId="0" nodeType="withEffect">
                                  <p:stCondLst>
                                    <p:cond delay="520"/>
                                  </p:stCondLst>
                                  <p:childTnLst>
                                    <p:set>
                                      <p:cBhvr>
                                        <p:cTn id="71" dur="1" fill="hold">
                                          <p:stCondLst>
                                            <p:cond delay="0"/>
                                          </p:stCondLst>
                                        </p:cTn>
                                        <p:tgtEl>
                                          <p:spTgt spid="14"/>
                                        </p:tgtEl>
                                        <p:attrNameLst>
                                          <p:attrName>style.visibility</p:attrName>
                                        </p:attrNameLst>
                                      </p:cBhvr>
                                      <p:to>
                                        <p:strVal val="visible"/>
                                      </p:to>
                                    </p:set>
                                    <p:anim calcmode="lin" valueType="num">
                                      <p:cBhvr additive="base">
                                        <p:cTn id="72" dur="450" decel="100000" fill="hold"/>
                                        <p:tgtEl>
                                          <p:spTgt spid="14"/>
                                        </p:tgtEl>
                                        <p:attrNameLst>
                                          <p:attrName>ppt_w</p:attrName>
                                        </p:attrNameLst>
                                      </p:cBhvr>
                                      <p:tavLst>
                                        <p:tav tm="0">
                                          <p:val>
                                            <p:strVal val="0"/>
                                          </p:val>
                                        </p:tav>
                                        <p:tav tm="100000">
                                          <p:val>
                                            <p:strVal val="#ppt_w"/>
                                          </p:val>
                                        </p:tav>
                                      </p:tavLst>
                                    </p:anim>
                                    <p:anim calcmode="lin" valueType="num">
                                      <p:cBhvr additive="base">
                                        <p:cTn id="73" dur="450" decel="100000" fill="hold"/>
                                        <p:tgtEl>
                                          <p:spTgt spid="14"/>
                                        </p:tgtEl>
                                        <p:attrNameLst>
                                          <p:attrName>ppt_h</p:attrName>
                                        </p:attrNameLst>
                                      </p:cBhvr>
                                      <p:tavLst>
                                        <p:tav tm="0">
                                          <p:val>
                                            <p:strVal val="0"/>
                                          </p:val>
                                        </p:tav>
                                        <p:tav tm="100000">
                                          <p:val>
                                            <p:strVal val="#ppt_h"/>
                                          </p:val>
                                        </p:tav>
                                      </p:tavLst>
                                    </p:anim>
                                    <p:animEffect transition="in" filter="fade">
                                      <p:cBhvr>
                                        <p:cTn id="74" dur="450"/>
                                        <p:tgtEl>
                                          <p:spTgt spid="14"/>
                                        </p:tgtEl>
                                      </p:cBhvr>
                                    </p:animEffect>
                                  </p:childTnLst>
                                </p:cTn>
                              </p:par>
                              <p:par>
                                <p:cTn id="75" presetID="42" presetClass="entr" presetSubtype="0" fill="hold" grpId="0" nodeType="withEffect">
                                  <p:stCondLst>
                                    <p:cond delay="52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600"/>
                                        <p:tgtEl>
                                          <p:spTgt spid="20"/>
                                        </p:tgtEl>
                                      </p:cBhvr>
                                    </p:animEffect>
                                    <p:anim calcmode="lin" valueType="num">
                                      <p:cBhvr additive="base">
                                        <p:cTn id="7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0"/>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52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53" presetClass="entr" presetSubtype="16" fill="hold" grpId="0" nodeType="withEffect">
                                  <p:stCondLst>
                                    <p:cond delay="550"/>
                                  </p:stCondLst>
                                  <p:childTnLst>
                                    <p:set>
                                      <p:cBhvr>
                                        <p:cTn id="86" dur="1" fill="hold">
                                          <p:stCondLst>
                                            <p:cond delay="0"/>
                                          </p:stCondLst>
                                        </p:cTn>
                                        <p:tgtEl>
                                          <p:spTgt spid="17"/>
                                        </p:tgtEl>
                                        <p:attrNameLst>
                                          <p:attrName>style.visibility</p:attrName>
                                        </p:attrNameLst>
                                      </p:cBhvr>
                                      <p:to>
                                        <p:strVal val="visible"/>
                                      </p:to>
                                    </p:set>
                                    <p:anim calcmode="lin" valueType="num">
                                      <p:cBhvr additive="base">
                                        <p:cTn id="87" dur="450" decel="100000" fill="hold"/>
                                        <p:tgtEl>
                                          <p:spTgt spid="17"/>
                                        </p:tgtEl>
                                        <p:attrNameLst>
                                          <p:attrName>ppt_w</p:attrName>
                                        </p:attrNameLst>
                                      </p:cBhvr>
                                      <p:tavLst>
                                        <p:tav tm="0">
                                          <p:val>
                                            <p:strVal val="0"/>
                                          </p:val>
                                        </p:tav>
                                        <p:tav tm="100000">
                                          <p:val>
                                            <p:strVal val="#ppt_w"/>
                                          </p:val>
                                        </p:tav>
                                      </p:tavLst>
                                    </p:anim>
                                    <p:anim calcmode="lin" valueType="num">
                                      <p:cBhvr additive="base">
                                        <p:cTn id="88" dur="450" decel="100000" fill="hold"/>
                                        <p:tgtEl>
                                          <p:spTgt spid="17"/>
                                        </p:tgtEl>
                                        <p:attrNameLst>
                                          <p:attrName>ppt_h</p:attrName>
                                        </p:attrNameLst>
                                      </p:cBhvr>
                                      <p:tavLst>
                                        <p:tav tm="0">
                                          <p:val>
                                            <p:strVal val="0"/>
                                          </p:val>
                                        </p:tav>
                                        <p:tav tm="100000">
                                          <p:val>
                                            <p:strVal val="#ppt_h"/>
                                          </p:val>
                                        </p:tav>
                                      </p:tavLst>
                                    </p:anim>
                                    <p:animEffect transition="in" filter="fade">
                                      <p:cBhvr>
                                        <p:cTn id="89" dur="450"/>
                                        <p:tgtEl>
                                          <p:spTgt spid="17"/>
                                        </p:tgtEl>
                                      </p:cBhvr>
                                    </p:animEffect>
                                  </p:childTnLst>
                                </p:cTn>
                              </p:par>
                              <p:par>
                                <p:cTn id="90" presetID="53" presetClass="entr" presetSubtype="16" fill="hold" grpId="0" nodeType="withEffect">
                                  <p:stCondLst>
                                    <p:cond delay="650"/>
                                  </p:stCondLst>
                                  <p:childTnLst>
                                    <p:set>
                                      <p:cBhvr>
                                        <p:cTn id="91" dur="1" fill="hold">
                                          <p:stCondLst>
                                            <p:cond delay="0"/>
                                          </p:stCondLst>
                                        </p:cTn>
                                        <p:tgtEl>
                                          <p:spTgt spid="18"/>
                                        </p:tgtEl>
                                        <p:attrNameLst>
                                          <p:attrName>style.visibility</p:attrName>
                                        </p:attrNameLst>
                                      </p:cBhvr>
                                      <p:to>
                                        <p:strVal val="visible"/>
                                      </p:to>
                                    </p:set>
                                    <p:anim calcmode="lin" valueType="num">
                                      <p:cBhvr additive="base">
                                        <p:cTn id="92" dur="450" decel="100000" fill="hold"/>
                                        <p:tgtEl>
                                          <p:spTgt spid="18"/>
                                        </p:tgtEl>
                                        <p:attrNameLst>
                                          <p:attrName>ppt_w</p:attrName>
                                        </p:attrNameLst>
                                      </p:cBhvr>
                                      <p:tavLst>
                                        <p:tav tm="0">
                                          <p:val>
                                            <p:strVal val="0"/>
                                          </p:val>
                                        </p:tav>
                                        <p:tav tm="100000">
                                          <p:val>
                                            <p:strVal val="#ppt_w"/>
                                          </p:val>
                                        </p:tav>
                                      </p:tavLst>
                                    </p:anim>
                                    <p:anim calcmode="lin" valueType="num">
                                      <p:cBhvr additive="base">
                                        <p:cTn id="93" dur="450" decel="100000" fill="hold"/>
                                        <p:tgtEl>
                                          <p:spTgt spid="18"/>
                                        </p:tgtEl>
                                        <p:attrNameLst>
                                          <p:attrName>ppt_h</p:attrName>
                                        </p:attrNameLst>
                                      </p:cBhvr>
                                      <p:tavLst>
                                        <p:tav tm="0">
                                          <p:val>
                                            <p:strVal val="0"/>
                                          </p:val>
                                        </p:tav>
                                        <p:tav tm="100000">
                                          <p:val>
                                            <p:strVal val="#ppt_h"/>
                                          </p:val>
                                        </p:tav>
                                      </p:tavLst>
                                    </p:anim>
                                    <p:animEffect transition="in" filter="fade">
                                      <p:cBhvr>
                                        <p:cTn id="94" dur="450"/>
                                        <p:tgtEl>
                                          <p:spTgt spid="18"/>
                                        </p:tgtEl>
                                      </p:cBhvr>
                                    </p:animEffect>
                                  </p:childTnLst>
                                </p:cTn>
                              </p:par>
                              <p:par>
                                <p:cTn id="95" presetID="42" presetClass="entr" presetSubtype="0" fill="hold" grpId="0" nodeType="withEffect">
                                  <p:stCondLst>
                                    <p:cond delay="65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600"/>
                                        <p:tgtEl>
                                          <p:spTgt spid="24"/>
                                        </p:tgtEl>
                                      </p:cBhvr>
                                    </p:animEffect>
                                    <p:anim calcmode="lin" valueType="num">
                                      <p:cBhvr additive="base">
                                        <p:cTn id="9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4"/>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65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65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53" presetClass="entr" presetSubtype="16" fill="hold" grpId="0" nodeType="withEffect">
                                  <p:stCondLst>
                                    <p:cond delay="680"/>
                                  </p:stCondLst>
                                  <p:childTnLst>
                                    <p:set>
                                      <p:cBhvr>
                                        <p:cTn id="111" dur="1" fill="hold">
                                          <p:stCondLst>
                                            <p:cond delay="0"/>
                                          </p:stCondLst>
                                        </p:cTn>
                                        <p:tgtEl>
                                          <p:spTgt spid="21"/>
                                        </p:tgtEl>
                                        <p:attrNameLst>
                                          <p:attrName>style.visibility</p:attrName>
                                        </p:attrNameLst>
                                      </p:cBhvr>
                                      <p:to>
                                        <p:strVal val="visible"/>
                                      </p:to>
                                    </p:set>
                                    <p:anim calcmode="lin" valueType="num">
                                      <p:cBhvr additive="base">
                                        <p:cTn id="112" dur="450" decel="100000" fill="hold"/>
                                        <p:tgtEl>
                                          <p:spTgt spid="21"/>
                                        </p:tgtEl>
                                        <p:attrNameLst>
                                          <p:attrName>ppt_w</p:attrName>
                                        </p:attrNameLst>
                                      </p:cBhvr>
                                      <p:tavLst>
                                        <p:tav tm="0">
                                          <p:val>
                                            <p:strVal val="0"/>
                                          </p:val>
                                        </p:tav>
                                        <p:tav tm="100000">
                                          <p:val>
                                            <p:strVal val="#ppt_w"/>
                                          </p:val>
                                        </p:tav>
                                      </p:tavLst>
                                    </p:anim>
                                    <p:anim calcmode="lin" valueType="num">
                                      <p:cBhvr additive="base">
                                        <p:cTn id="113" dur="450" decel="100000" fill="hold"/>
                                        <p:tgtEl>
                                          <p:spTgt spid="21"/>
                                        </p:tgtEl>
                                        <p:attrNameLst>
                                          <p:attrName>ppt_h</p:attrName>
                                        </p:attrNameLst>
                                      </p:cBhvr>
                                      <p:tavLst>
                                        <p:tav tm="0">
                                          <p:val>
                                            <p:strVal val="0"/>
                                          </p:val>
                                        </p:tav>
                                        <p:tav tm="100000">
                                          <p:val>
                                            <p:strVal val="#ppt_h"/>
                                          </p:val>
                                        </p:tav>
                                      </p:tavLst>
                                    </p:anim>
                                    <p:animEffect transition="in" filter="fade">
                                      <p:cBhvr>
                                        <p:cTn id="114" dur="450"/>
                                        <p:tgtEl>
                                          <p:spTgt spid="21"/>
                                        </p:tgtEl>
                                      </p:cBhvr>
                                    </p:animEffect>
                                  </p:childTnLst>
                                </p:cTn>
                              </p:par>
                              <p:par>
                                <p:cTn id="115" presetID="53" presetClass="entr" presetSubtype="16" fill="hold" grpId="0" nodeType="withEffect">
                                  <p:stCondLst>
                                    <p:cond delay="780"/>
                                  </p:stCondLst>
                                  <p:childTnLst>
                                    <p:set>
                                      <p:cBhvr>
                                        <p:cTn id="116" dur="1" fill="hold">
                                          <p:stCondLst>
                                            <p:cond delay="0"/>
                                          </p:stCondLst>
                                        </p:cTn>
                                        <p:tgtEl>
                                          <p:spTgt spid="22"/>
                                        </p:tgtEl>
                                        <p:attrNameLst>
                                          <p:attrName>style.visibility</p:attrName>
                                        </p:attrNameLst>
                                      </p:cBhvr>
                                      <p:to>
                                        <p:strVal val="visible"/>
                                      </p:to>
                                    </p:set>
                                    <p:anim calcmode="lin" valueType="num">
                                      <p:cBhvr additive="base">
                                        <p:cTn id="117" dur="450" decel="100000" fill="hold"/>
                                        <p:tgtEl>
                                          <p:spTgt spid="22"/>
                                        </p:tgtEl>
                                        <p:attrNameLst>
                                          <p:attrName>ppt_w</p:attrName>
                                        </p:attrNameLst>
                                      </p:cBhvr>
                                      <p:tavLst>
                                        <p:tav tm="0">
                                          <p:val>
                                            <p:strVal val="0"/>
                                          </p:val>
                                        </p:tav>
                                        <p:tav tm="100000">
                                          <p:val>
                                            <p:strVal val="#ppt_w"/>
                                          </p:val>
                                        </p:tav>
                                      </p:tavLst>
                                    </p:anim>
                                    <p:anim calcmode="lin" valueType="num">
                                      <p:cBhvr additive="base">
                                        <p:cTn id="118" dur="450" decel="100000" fill="hold"/>
                                        <p:tgtEl>
                                          <p:spTgt spid="22"/>
                                        </p:tgtEl>
                                        <p:attrNameLst>
                                          <p:attrName>ppt_h</p:attrName>
                                        </p:attrNameLst>
                                      </p:cBhvr>
                                      <p:tavLst>
                                        <p:tav tm="0">
                                          <p:val>
                                            <p:strVal val="0"/>
                                          </p:val>
                                        </p:tav>
                                        <p:tav tm="100000">
                                          <p:val>
                                            <p:strVal val="#ppt_h"/>
                                          </p:val>
                                        </p:tav>
                                      </p:tavLst>
                                    </p:anim>
                                    <p:animEffect transition="in" filter="fade">
                                      <p:cBhvr>
                                        <p:cTn id="119" dur="450"/>
                                        <p:tgtEl>
                                          <p:spTgt spid="22"/>
                                        </p:tgtEl>
                                      </p:cBhvr>
                                    </p:animEffect>
                                  </p:childTnLst>
                                </p:cTn>
                              </p:par>
                              <p:par>
                                <p:cTn id="120" presetID="53" presetClass="entr" presetSubtype="16" fill="hold" grpId="0" nodeType="withEffect">
                                  <p:stCondLst>
                                    <p:cond delay="810"/>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450" decel="100000" fill="hold"/>
                                        <p:tgtEl>
                                          <p:spTgt spid="25"/>
                                        </p:tgtEl>
                                        <p:attrNameLst>
                                          <p:attrName>ppt_w</p:attrName>
                                        </p:attrNameLst>
                                      </p:cBhvr>
                                      <p:tavLst>
                                        <p:tav tm="0">
                                          <p:val>
                                            <p:strVal val="0"/>
                                          </p:val>
                                        </p:tav>
                                        <p:tav tm="100000">
                                          <p:val>
                                            <p:strVal val="#ppt_w"/>
                                          </p:val>
                                        </p:tav>
                                      </p:tavLst>
                                    </p:anim>
                                    <p:anim calcmode="lin" valueType="num">
                                      <p:cBhvr additive="base">
                                        <p:cTn id="123" dur="450" decel="100000" fill="hold"/>
                                        <p:tgtEl>
                                          <p:spTgt spid="25"/>
                                        </p:tgtEl>
                                        <p:attrNameLst>
                                          <p:attrName>ppt_h</p:attrName>
                                        </p:attrNameLst>
                                      </p:cBhvr>
                                      <p:tavLst>
                                        <p:tav tm="0">
                                          <p:val>
                                            <p:strVal val="0"/>
                                          </p:val>
                                        </p:tav>
                                        <p:tav tm="100000">
                                          <p:val>
                                            <p:strVal val="#ppt_h"/>
                                          </p:val>
                                        </p:tav>
                                      </p:tavLst>
                                    </p:anim>
                                    <p:animEffect transition="in" filter="fade">
                                      <p:cBhvr>
                                        <p:cTn id="124" dur="450"/>
                                        <p:tgtEl>
                                          <p:spTgt spid="25"/>
                                        </p:tgtEl>
                                      </p:cBhvr>
                                    </p:animEffect>
                                  </p:childTnLst>
                                </p:cTn>
                              </p:par>
                              <p:par>
                                <p:cTn id="125" presetID="53" presetClass="entr" presetSubtype="16" fill="hold" grpId="0" nodeType="withEffect">
                                  <p:stCondLst>
                                    <p:cond delay="910"/>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450" decel="100000" fill="hold"/>
                                        <p:tgtEl>
                                          <p:spTgt spid="26"/>
                                        </p:tgtEl>
                                        <p:attrNameLst>
                                          <p:attrName>ppt_w</p:attrName>
                                        </p:attrNameLst>
                                      </p:cBhvr>
                                      <p:tavLst>
                                        <p:tav tm="0">
                                          <p:val>
                                            <p:strVal val="0"/>
                                          </p:val>
                                        </p:tav>
                                        <p:tav tm="100000">
                                          <p:val>
                                            <p:strVal val="#ppt_w"/>
                                          </p:val>
                                        </p:tav>
                                      </p:tavLst>
                                    </p:anim>
                                    <p:anim calcmode="lin" valueType="num">
                                      <p:cBhvr additive="base">
                                        <p:cTn id="128" dur="450" decel="100000" fill="hold"/>
                                        <p:tgtEl>
                                          <p:spTgt spid="26"/>
                                        </p:tgtEl>
                                        <p:attrNameLst>
                                          <p:attrName>ppt_h</p:attrName>
                                        </p:attrNameLst>
                                      </p:cBhvr>
                                      <p:tavLst>
                                        <p:tav tm="0">
                                          <p:val>
                                            <p:strVal val="0"/>
                                          </p:val>
                                        </p:tav>
                                        <p:tav tm="100000">
                                          <p:val>
                                            <p:strVal val="#ppt_h"/>
                                          </p:val>
                                        </p:tav>
                                      </p:tavLst>
                                    </p:anim>
                                    <p:animEffect transition="in" filter="fade">
                                      <p:cBhvr>
                                        <p:cTn id="12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08  |  النماذج المقترحة لتمويل المشروع</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بدائل تمويل المشروع</a:t>
            </a:r>
            <a:endParaRPr lang="en-US" sz="3000" dirty="0"/>
          </a:p>
        </p:txBody>
      </p:sp>
      <p:sp>
        <p:nvSpPr>
          <p:cNvPr id="4" name="anim18_0"/>
          <p:cNvSpPr txBox="1"/>
          <p:nvPr/>
        </p:nvSpPr>
        <p:spPr>
          <a:xfrm>
            <a:off x="548640" y="1481328"/>
            <a:ext cx="11094415" cy="347472"/>
          </a:xfrm>
          <a:prstGeom prst="rect">
            <a:avLst/>
          </a:prstGeom>
          <a:noFill/>
          <a:ln/>
        </p:spPr>
        <p:txBody>
          <a:bodyPr wrap="square" lIns="0" tIns="0" rIns="0" bIns="0" rtlCol="0" anchor="t"/>
          <a:lstStyle/>
          <a:p>
            <a:pPr rtl="1" algn="r" indent="0" marL="0">
              <a:buNone/>
            </a:pPr>
            <a:r>
              <a:rPr lang="ar-SA" altLang="en-US" sz="1500" dirty="0">
                <a:solidFill>
                  <a:srgbClr val="5B6B7F"/>
                </a:solidFill>
                <a:latin typeface="JF Flat" pitchFamily="34" charset="0"/>
                <a:ea typeface="JF Flat" pitchFamily="34" charset="-122"/>
                <a:cs typeface="JF Flat" pitchFamily="34" charset="-120"/>
              </a:rPr>
              <a:t>نظراً لارتفاع الاستثمار الرأسمالي، تعرض الدراسة بدائل تمويلية يمكن المفاضلة بينها:</a:t>
            </a:r>
            <a:endParaRPr lang="ar-SA" sz="1500" dirty="0"/>
          </a:p>
        </p:txBody>
      </p:sp>
      <p:sp>
        <p:nvSpPr>
          <p:cNvPr id="5" name="anim18_1"/>
          <p:cNvSpPr/>
          <p:nvPr/>
        </p:nvSpPr>
        <p:spPr>
          <a:xfrm>
            <a:off x="9040901" y="1901952"/>
            <a:ext cx="2602154" cy="2788920"/>
          </a:xfrm>
          <a:prstGeom prst="roundRect">
            <a:avLst>
              <a:gd name="adj" fmla="val 3514"/>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6" name="anim18_2"/>
          <p:cNvSpPr/>
          <p:nvPr/>
        </p:nvSpPr>
        <p:spPr>
          <a:xfrm>
            <a:off x="9040901" y="1901952"/>
            <a:ext cx="2602154" cy="960120"/>
          </a:xfrm>
          <a:prstGeom prst="roundRect">
            <a:avLst>
              <a:gd name="adj" fmla="val 9524"/>
            </a:avLst>
          </a:prstGeom>
          <a:solidFill>
            <a:srgbClr val="06305C"/>
          </a:solidFill>
          <a:ln w="12700">
            <a:solidFill>
              <a:srgbClr val="06305C"/>
            </a:solidFill>
            <a:prstDash val="solid"/>
          </a:ln>
        </p:spPr>
      </p:sp>
      <p:sp>
        <p:nvSpPr>
          <p:cNvPr id="7" name="anim18_3"/>
          <p:cNvSpPr/>
          <p:nvPr/>
        </p:nvSpPr>
        <p:spPr>
          <a:xfrm>
            <a:off x="9040901" y="2542032"/>
            <a:ext cx="2602154" cy="320040"/>
          </a:xfrm>
          <a:prstGeom prst="rect">
            <a:avLst/>
          </a:prstGeom>
          <a:solidFill>
            <a:srgbClr val="06305C"/>
          </a:solidFill>
          <a:ln w="12700">
            <a:solidFill>
              <a:srgbClr val="06305C"/>
            </a:solidFill>
            <a:prstDash val="solid"/>
          </a:ln>
        </p:spPr>
      </p:sp>
      <p:pic>
        <p:nvPicPr>
          <p:cNvPr id="8" name="anim18_4" descr="preencoded.png">    </p:cNvPr>
          <p:cNvPicPr>
            <a:picLocks noChangeAspect="1"/>
          </p:cNvPicPr>
          <p:nvPr/>
        </p:nvPicPr>
        <p:blipFill>
          <a:blip r:embed="rId1"/>
          <a:stretch>
            <a:fillRect/>
          </a:stretch>
        </p:blipFill>
        <p:spPr>
          <a:xfrm>
            <a:off x="11076127" y="2130552"/>
            <a:ext cx="384048" cy="384048"/>
          </a:xfrm>
          <a:prstGeom prst="rect">
            <a:avLst/>
          </a:prstGeom>
        </p:spPr>
      </p:pic>
      <p:sp>
        <p:nvSpPr>
          <p:cNvPr id="9" name="anim18_5"/>
          <p:cNvSpPr txBox="1"/>
          <p:nvPr/>
        </p:nvSpPr>
        <p:spPr>
          <a:xfrm>
            <a:off x="9178061" y="1956816"/>
            <a:ext cx="1870634" cy="603504"/>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JF Flat" pitchFamily="34" charset="0"/>
                <a:ea typeface="JF Flat" pitchFamily="34" charset="-122"/>
                <a:cs typeface="JF Flat" pitchFamily="34" charset="-120"/>
              </a:rPr>
              <a:t>التمويل المباشر</a:t>
            </a:r>
            <a:endParaRPr lang="ar-SA" sz="1300" dirty="0"/>
          </a:p>
        </p:txBody>
      </p:sp>
      <p:sp>
        <p:nvSpPr>
          <p:cNvPr id="10" name="anim18_6"/>
          <p:cNvSpPr txBox="1"/>
          <p:nvPr/>
        </p:nvSpPr>
        <p:spPr>
          <a:xfrm>
            <a:off x="9178061" y="2560320"/>
            <a:ext cx="1870634" cy="237744"/>
          </a:xfrm>
          <a:prstGeom prst="rect">
            <a:avLst/>
          </a:prstGeom>
          <a:noFill/>
          <a:ln/>
        </p:spPr>
        <p:txBody>
          <a:bodyPr wrap="square" lIns="0" tIns="0" rIns="0" bIns="0" rtlCol="0" anchor="t"/>
          <a:lstStyle/>
          <a:p>
            <a:pPr algn="r" indent="0" marL="0">
              <a:buNone/>
            </a:pPr>
            <a:r>
              <a:rPr lang="ar-SA" altLang="en-US" sz="1100" b="1" dirty="0">
                <a:solidFill>
                  <a:srgbClr val="F7941D"/>
                </a:solidFill>
                <a:latin typeface="JF Flat" pitchFamily="34" charset="0"/>
                <a:ea typeface="JF Flat" pitchFamily="34" charset="-122"/>
                <a:cs typeface="JF Flat" pitchFamily="34" charset="-120"/>
              </a:rPr>
              <a:t>Direct</a:t>
            </a:r>
            <a:endParaRPr lang="ar-SA" sz="1100" dirty="0"/>
          </a:p>
        </p:txBody>
      </p:sp>
      <p:sp>
        <p:nvSpPr>
          <p:cNvPr id="11" name="anim18_7"/>
          <p:cNvSpPr txBox="1"/>
          <p:nvPr/>
        </p:nvSpPr>
        <p:spPr>
          <a:xfrm>
            <a:off x="9223781" y="2953512"/>
            <a:ext cx="2236394" cy="274320"/>
          </a:xfrm>
          <a:prstGeom prst="rect">
            <a:avLst/>
          </a:prstGeom>
          <a:noFill/>
          <a:ln/>
        </p:spPr>
        <p:txBody>
          <a:bodyPr wrap="square" lIns="0" tIns="0" rIns="0" bIns="0" rtlCol="0" anchor="t"/>
          <a:lstStyle/>
          <a:p>
            <a:pPr rtl="1" algn="r" indent="0" marL="0">
              <a:buNone/>
            </a:pPr>
            <a:r>
              <a:rPr lang="ar-SA" altLang="en-US" sz="1100" b="1" dirty="0">
                <a:solidFill>
                  <a:srgbClr val="00539B"/>
                </a:solidFill>
                <a:latin typeface="JF Flat" pitchFamily="34" charset="0"/>
                <a:ea typeface="JF Flat" pitchFamily="34" charset="-122"/>
                <a:cs typeface="JF Flat" pitchFamily="34" charset="-120"/>
              </a:rPr>
              <a:t>آلية العمل</a:t>
            </a:r>
            <a:endParaRPr lang="ar-SA" sz="1100" dirty="0"/>
          </a:p>
        </p:txBody>
      </p:sp>
      <p:sp>
        <p:nvSpPr>
          <p:cNvPr id="12" name="anim18_8"/>
          <p:cNvSpPr txBox="1"/>
          <p:nvPr/>
        </p:nvSpPr>
        <p:spPr>
          <a:xfrm>
            <a:off x="9223781" y="3209544"/>
            <a:ext cx="2236394" cy="868680"/>
          </a:xfrm>
          <a:prstGeom prst="rect">
            <a:avLst/>
          </a:prstGeom>
          <a:noFill/>
          <a:ln/>
        </p:spPr>
        <p:txBody>
          <a:bodyPr wrap="square" lIns="0" tIns="0" rIns="0" bIns="0" rtlCol="0" anchor="t"/>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تمويل الشركة للمشروع من مواردها أو من مصادر تمويل تحصل عليها.</a:t>
            </a:r>
            <a:endParaRPr lang="ar-SA" sz="1200" dirty="0"/>
          </a:p>
        </p:txBody>
      </p:sp>
      <p:sp>
        <p:nvSpPr>
          <p:cNvPr id="13" name="anim18_9"/>
          <p:cNvSpPr/>
          <p:nvPr/>
        </p:nvSpPr>
        <p:spPr>
          <a:xfrm>
            <a:off x="9178061" y="4096512"/>
            <a:ext cx="2327834" cy="457200"/>
          </a:xfrm>
          <a:prstGeom prst="roundRect">
            <a:avLst>
              <a:gd name="adj" fmla="val 16000"/>
            </a:avLst>
          </a:prstGeom>
          <a:solidFill>
            <a:srgbClr val="FEF0EA"/>
          </a:solidFill>
          <a:ln w="12700">
            <a:solidFill>
              <a:srgbClr val="FEF0EA"/>
            </a:solidFill>
            <a:prstDash val="solid"/>
          </a:ln>
        </p:spPr>
      </p:sp>
      <p:pic>
        <p:nvPicPr>
          <p:cNvPr id="14" name="anim18_10" descr="preencoded.png">    </p:cNvPr>
          <p:cNvPicPr>
            <a:picLocks noChangeAspect="1"/>
          </p:cNvPicPr>
          <p:nvPr/>
        </p:nvPicPr>
        <p:blipFill>
          <a:blip r:embed="rId2"/>
          <a:stretch>
            <a:fillRect/>
          </a:stretch>
        </p:blipFill>
        <p:spPr>
          <a:xfrm>
            <a:off x="11204143" y="4215384"/>
            <a:ext cx="219456" cy="219456"/>
          </a:xfrm>
          <a:prstGeom prst="rect">
            <a:avLst/>
          </a:prstGeom>
        </p:spPr>
      </p:pic>
      <p:sp>
        <p:nvSpPr>
          <p:cNvPr id="15" name="anim18_11"/>
          <p:cNvSpPr txBox="1"/>
          <p:nvPr/>
        </p:nvSpPr>
        <p:spPr>
          <a:xfrm>
            <a:off x="9269501" y="4096512"/>
            <a:ext cx="1870634" cy="457200"/>
          </a:xfrm>
          <a:prstGeom prst="rect">
            <a:avLst/>
          </a:prstGeom>
          <a:noFill/>
          <a:ln/>
        </p:spPr>
        <p:txBody>
          <a:bodyPr wrap="square" lIns="0" tIns="0" rIns="0" bIns="0" rtlCol="0" anchor="ctr"/>
          <a:lstStyle/>
          <a:p>
            <a:pPr rtl="1" algn="r" indent="0" marL="0">
              <a:buNone/>
            </a:pPr>
            <a:r>
              <a:rPr lang="ar-SA" altLang="en-US" sz="1150" b="1" dirty="0">
                <a:solidFill>
                  <a:srgbClr val="F15524"/>
                </a:solidFill>
                <a:latin typeface="JF Flat" pitchFamily="34" charset="0"/>
                <a:ea typeface="JF Flat" pitchFamily="34" charset="-122"/>
                <a:cs typeface="JF Flat" pitchFamily="34" charset="-120"/>
              </a:rPr>
              <a:t>سيطرة مباشرة أكبر على المشروع</a:t>
            </a:r>
            <a:endParaRPr lang="ar-SA" sz="1150" dirty="0"/>
          </a:p>
        </p:txBody>
      </p:sp>
      <p:sp>
        <p:nvSpPr>
          <p:cNvPr id="16" name="anim18_12"/>
          <p:cNvSpPr/>
          <p:nvPr/>
        </p:nvSpPr>
        <p:spPr>
          <a:xfrm>
            <a:off x="6210148" y="1901952"/>
            <a:ext cx="2602154" cy="2788920"/>
          </a:xfrm>
          <a:prstGeom prst="roundRect">
            <a:avLst>
              <a:gd name="adj" fmla="val 3514"/>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18_13"/>
          <p:cNvSpPr/>
          <p:nvPr/>
        </p:nvSpPr>
        <p:spPr>
          <a:xfrm>
            <a:off x="6210148" y="1901952"/>
            <a:ext cx="2602154" cy="960120"/>
          </a:xfrm>
          <a:prstGeom prst="roundRect">
            <a:avLst>
              <a:gd name="adj" fmla="val 9524"/>
            </a:avLst>
          </a:prstGeom>
          <a:solidFill>
            <a:srgbClr val="06305C"/>
          </a:solidFill>
          <a:ln w="12700">
            <a:solidFill>
              <a:srgbClr val="06305C"/>
            </a:solidFill>
            <a:prstDash val="solid"/>
          </a:ln>
        </p:spPr>
      </p:sp>
      <p:sp>
        <p:nvSpPr>
          <p:cNvPr id="18" name="anim18_14"/>
          <p:cNvSpPr/>
          <p:nvPr/>
        </p:nvSpPr>
        <p:spPr>
          <a:xfrm>
            <a:off x="6210148" y="2542032"/>
            <a:ext cx="2602154" cy="320040"/>
          </a:xfrm>
          <a:prstGeom prst="rect">
            <a:avLst/>
          </a:prstGeom>
          <a:solidFill>
            <a:srgbClr val="06305C"/>
          </a:solidFill>
          <a:ln w="12700">
            <a:solidFill>
              <a:srgbClr val="06305C"/>
            </a:solidFill>
            <a:prstDash val="solid"/>
          </a:ln>
        </p:spPr>
      </p:sp>
      <p:pic>
        <p:nvPicPr>
          <p:cNvPr id="19" name="anim18_15" descr="preencoded.png">    </p:cNvPr>
          <p:cNvPicPr>
            <a:picLocks noChangeAspect="1"/>
          </p:cNvPicPr>
          <p:nvPr/>
        </p:nvPicPr>
        <p:blipFill>
          <a:blip r:embed="rId3"/>
          <a:stretch>
            <a:fillRect/>
          </a:stretch>
        </p:blipFill>
        <p:spPr>
          <a:xfrm>
            <a:off x="8245373" y="2130552"/>
            <a:ext cx="384048" cy="384048"/>
          </a:xfrm>
          <a:prstGeom prst="rect">
            <a:avLst/>
          </a:prstGeom>
        </p:spPr>
      </p:pic>
      <p:sp>
        <p:nvSpPr>
          <p:cNvPr id="20" name="anim18_16"/>
          <p:cNvSpPr txBox="1"/>
          <p:nvPr/>
        </p:nvSpPr>
        <p:spPr>
          <a:xfrm>
            <a:off x="6347308" y="1956816"/>
            <a:ext cx="1870634" cy="603504"/>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JF Flat" pitchFamily="34" charset="0"/>
                <a:ea typeface="JF Flat" pitchFamily="34" charset="-122"/>
                <a:cs typeface="JF Flat" pitchFamily="34" charset="-120"/>
              </a:rPr>
              <a:t>الشراكة بين القطاعين العام والخاص</a:t>
            </a:r>
            <a:endParaRPr lang="ar-SA" sz="1300" dirty="0"/>
          </a:p>
        </p:txBody>
      </p:sp>
      <p:sp>
        <p:nvSpPr>
          <p:cNvPr id="21" name="anim18_17"/>
          <p:cNvSpPr txBox="1"/>
          <p:nvPr/>
        </p:nvSpPr>
        <p:spPr>
          <a:xfrm>
            <a:off x="6347308" y="2560320"/>
            <a:ext cx="1870634" cy="237744"/>
          </a:xfrm>
          <a:prstGeom prst="rect">
            <a:avLst/>
          </a:prstGeom>
          <a:noFill/>
          <a:ln/>
        </p:spPr>
        <p:txBody>
          <a:bodyPr wrap="square" lIns="0" tIns="0" rIns="0" bIns="0" rtlCol="0" anchor="t"/>
          <a:lstStyle/>
          <a:p>
            <a:pPr algn="r" indent="0" marL="0">
              <a:buNone/>
            </a:pPr>
            <a:r>
              <a:rPr lang="ar-SA" altLang="en-US" sz="1100" b="1" dirty="0">
                <a:solidFill>
                  <a:srgbClr val="F7941D"/>
                </a:solidFill>
                <a:latin typeface="JF Flat" pitchFamily="34" charset="0"/>
                <a:ea typeface="JF Flat" pitchFamily="34" charset="-122"/>
                <a:cs typeface="JF Flat" pitchFamily="34" charset="-120"/>
              </a:rPr>
              <a:t>PPP</a:t>
            </a:r>
            <a:endParaRPr lang="ar-SA" sz="1100" dirty="0"/>
          </a:p>
        </p:txBody>
      </p:sp>
      <p:sp>
        <p:nvSpPr>
          <p:cNvPr id="22" name="anim18_18"/>
          <p:cNvSpPr txBox="1"/>
          <p:nvPr/>
        </p:nvSpPr>
        <p:spPr>
          <a:xfrm>
            <a:off x="6393028" y="2953512"/>
            <a:ext cx="2236394" cy="274320"/>
          </a:xfrm>
          <a:prstGeom prst="rect">
            <a:avLst/>
          </a:prstGeom>
          <a:noFill/>
          <a:ln/>
        </p:spPr>
        <p:txBody>
          <a:bodyPr wrap="square" lIns="0" tIns="0" rIns="0" bIns="0" rtlCol="0" anchor="t"/>
          <a:lstStyle/>
          <a:p>
            <a:pPr rtl="1" algn="r" indent="0" marL="0">
              <a:buNone/>
            </a:pPr>
            <a:r>
              <a:rPr lang="ar-SA" altLang="en-US" sz="1100" b="1" dirty="0">
                <a:solidFill>
                  <a:srgbClr val="00539B"/>
                </a:solidFill>
                <a:latin typeface="JF Flat" pitchFamily="34" charset="0"/>
                <a:ea typeface="JF Flat" pitchFamily="34" charset="-122"/>
                <a:cs typeface="JF Flat" pitchFamily="34" charset="-120"/>
              </a:rPr>
              <a:t>آلية العمل</a:t>
            </a:r>
            <a:endParaRPr lang="ar-SA" sz="1100" dirty="0"/>
          </a:p>
        </p:txBody>
      </p:sp>
      <p:sp>
        <p:nvSpPr>
          <p:cNvPr id="23" name="anim18_19"/>
          <p:cNvSpPr txBox="1"/>
          <p:nvPr/>
        </p:nvSpPr>
        <p:spPr>
          <a:xfrm>
            <a:off x="6393028" y="3209544"/>
            <a:ext cx="2236394" cy="868680"/>
          </a:xfrm>
          <a:prstGeom prst="rect">
            <a:avLst/>
          </a:prstGeom>
          <a:noFill/>
          <a:ln/>
        </p:spPr>
        <p:txBody>
          <a:bodyPr wrap="square" lIns="0" tIns="0" rIns="0" bIns="0" rtlCol="0" anchor="t"/>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مساهمة الشركة بالأصول والبنية التحتية، مع مساهمة الشريك بالتمويل والتجهيزات وفق الاتفاق.</a:t>
            </a:r>
            <a:endParaRPr lang="ar-SA" sz="1200" dirty="0"/>
          </a:p>
        </p:txBody>
      </p:sp>
      <p:sp>
        <p:nvSpPr>
          <p:cNvPr id="24" name="anim18_20"/>
          <p:cNvSpPr/>
          <p:nvPr/>
        </p:nvSpPr>
        <p:spPr>
          <a:xfrm>
            <a:off x="6347308" y="4096512"/>
            <a:ext cx="2327834" cy="457200"/>
          </a:xfrm>
          <a:prstGeom prst="roundRect">
            <a:avLst>
              <a:gd name="adj" fmla="val 16000"/>
            </a:avLst>
          </a:prstGeom>
          <a:solidFill>
            <a:srgbClr val="FEF0EA"/>
          </a:solidFill>
          <a:ln w="12700">
            <a:solidFill>
              <a:srgbClr val="FEF0EA"/>
            </a:solidFill>
            <a:prstDash val="solid"/>
          </a:ln>
        </p:spPr>
      </p:sp>
      <p:pic>
        <p:nvPicPr>
          <p:cNvPr id="25" name="anim18_21" descr="preencoded.png">    </p:cNvPr>
          <p:cNvPicPr>
            <a:picLocks noChangeAspect="1"/>
          </p:cNvPicPr>
          <p:nvPr/>
        </p:nvPicPr>
        <p:blipFill>
          <a:blip r:embed="rId4"/>
          <a:stretch>
            <a:fillRect/>
          </a:stretch>
        </p:blipFill>
        <p:spPr>
          <a:xfrm>
            <a:off x="8373389" y="4215384"/>
            <a:ext cx="219456" cy="219456"/>
          </a:xfrm>
          <a:prstGeom prst="rect">
            <a:avLst/>
          </a:prstGeom>
        </p:spPr>
      </p:pic>
      <p:sp>
        <p:nvSpPr>
          <p:cNvPr id="26" name="anim18_22"/>
          <p:cNvSpPr txBox="1"/>
          <p:nvPr/>
        </p:nvSpPr>
        <p:spPr>
          <a:xfrm>
            <a:off x="6438748" y="4096512"/>
            <a:ext cx="1870634" cy="457200"/>
          </a:xfrm>
          <a:prstGeom prst="rect">
            <a:avLst/>
          </a:prstGeom>
          <a:noFill/>
          <a:ln/>
        </p:spPr>
        <p:txBody>
          <a:bodyPr wrap="square" lIns="0" tIns="0" rIns="0" bIns="0" rtlCol="0" anchor="ctr"/>
          <a:lstStyle/>
          <a:p>
            <a:pPr rtl="1" algn="r" indent="0" marL="0">
              <a:buNone/>
            </a:pPr>
            <a:r>
              <a:rPr lang="ar-SA" altLang="en-US" sz="1150" b="1" dirty="0">
                <a:solidFill>
                  <a:srgbClr val="F15524"/>
                </a:solidFill>
                <a:latin typeface="JF Flat" pitchFamily="34" charset="0"/>
                <a:ea typeface="JF Flat" pitchFamily="34" charset="-122"/>
                <a:cs typeface="JF Flat" pitchFamily="34" charset="-120"/>
              </a:rPr>
              <a:t>تقاسم التمويل والمخاطر</a:t>
            </a:r>
            <a:endParaRPr lang="ar-SA" sz="1150" dirty="0"/>
          </a:p>
        </p:txBody>
      </p:sp>
      <p:sp>
        <p:nvSpPr>
          <p:cNvPr id="27" name="anim18_23"/>
          <p:cNvSpPr/>
          <p:nvPr/>
        </p:nvSpPr>
        <p:spPr>
          <a:xfrm>
            <a:off x="3379394" y="1901952"/>
            <a:ext cx="2602154" cy="2788920"/>
          </a:xfrm>
          <a:prstGeom prst="roundRect">
            <a:avLst>
              <a:gd name="adj" fmla="val 3514"/>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8" name="anim18_24"/>
          <p:cNvSpPr/>
          <p:nvPr/>
        </p:nvSpPr>
        <p:spPr>
          <a:xfrm>
            <a:off x="3379394" y="1901952"/>
            <a:ext cx="2602154" cy="960120"/>
          </a:xfrm>
          <a:prstGeom prst="roundRect">
            <a:avLst>
              <a:gd name="adj" fmla="val 9524"/>
            </a:avLst>
          </a:prstGeom>
          <a:solidFill>
            <a:srgbClr val="06305C"/>
          </a:solidFill>
          <a:ln w="12700">
            <a:solidFill>
              <a:srgbClr val="06305C"/>
            </a:solidFill>
            <a:prstDash val="solid"/>
          </a:ln>
        </p:spPr>
      </p:sp>
      <p:sp>
        <p:nvSpPr>
          <p:cNvPr id="29" name="anim18_25"/>
          <p:cNvSpPr/>
          <p:nvPr/>
        </p:nvSpPr>
        <p:spPr>
          <a:xfrm>
            <a:off x="3379394" y="2542032"/>
            <a:ext cx="2602154" cy="320040"/>
          </a:xfrm>
          <a:prstGeom prst="rect">
            <a:avLst/>
          </a:prstGeom>
          <a:solidFill>
            <a:srgbClr val="06305C"/>
          </a:solidFill>
          <a:ln w="12700">
            <a:solidFill>
              <a:srgbClr val="06305C"/>
            </a:solidFill>
            <a:prstDash val="solid"/>
          </a:ln>
        </p:spPr>
      </p:sp>
      <p:pic>
        <p:nvPicPr>
          <p:cNvPr id="30" name="anim18_26" descr="preencoded.png">    </p:cNvPr>
          <p:cNvPicPr>
            <a:picLocks noChangeAspect="1"/>
          </p:cNvPicPr>
          <p:nvPr/>
        </p:nvPicPr>
        <p:blipFill>
          <a:blip r:embed="rId5"/>
          <a:stretch>
            <a:fillRect/>
          </a:stretch>
        </p:blipFill>
        <p:spPr>
          <a:xfrm>
            <a:off x="5414620" y="2130552"/>
            <a:ext cx="384048" cy="384048"/>
          </a:xfrm>
          <a:prstGeom prst="rect">
            <a:avLst/>
          </a:prstGeom>
        </p:spPr>
      </p:pic>
      <p:sp>
        <p:nvSpPr>
          <p:cNvPr id="31" name="anim18_27"/>
          <p:cNvSpPr txBox="1"/>
          <p:nvPr/>
        </p:nvSpPr>
        <p:spPr>
          <a:xfrm>
            <a:off x="3516554" y="1956816"/>
            <a:ext cx="1870634" cy="603504"/>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JF Flat" pitchFamily="34" charset="0"/>
                <a:ea typeface="JF Flat" pitchFamily="34" charset="-122"/>
                <a:cs typeface="JF Flat" pitchFamily="34" charset="-120"/>
              </a:rPr>
              <a:t>البناء والتشغيل ونقل الملكية</a:t>
            </a:r>
            <a:endParaRPr lang="ar-SA" sz="1300" dirty="0"/>
          </a:p>
        </p:txBody>
      </p:sp>
      <p:sp>
        <p:nvSpPr>
          <p:cNvPr id="32" name="anim18_28"/>
          <p:cNvSpPr txBox="1"/>
          <p:nvPr/>
        </p:nvSpPr>
        <p:spPr>
          <a:xfrm>
            <a:off x="3516554" y="2560320"/>
            <a:ext cx="1870634" cy="237744"/>
          </a:xfrm>
          <a:prstGeom prst="rect">
            <a:avLst/>
          </a:prstGeom>
          <a:noFill/>
          <a:ln/>
        </p:spPr>
        <p:txBody>
          <a:bodyPr wrap="square" lIns="0" tIns="0" rIns="0" bIns="0" rtlCol="0" anchor="t"/>
          <a:lstStyle/>
          <a:p>
            <a:pPr algn="r" indent="0" marL="0">
              <a:buNone/>
            </a:pPr>
            <a:r>
              <a:rPr lang="ar-SA" altLang="en-US" sz="1100" b="1" dirty="0">
                <a:solidFill>
                  <a:srgbClr val="F7941D"/>
                </a:solidFill>
                <a:latin typeface="JF Flat" pitchFamily="34" charset="0"/>
                <a:ea typeface="JF Flat" pitchFamily="34" charset="-122"/>
                <a:cs typeface="JF Flat" pitchFamily="34" charset="-120"/>
              </a:rPr>
              <a:t>BOT</a:t>
            </a:r>
            <a:endParaRPr lang="ar-SA" sz="1100" dirty="0"/>
          </a:p>
        </p:txBody>
      </p:sp>
      <p:sp>
        <p:nvSpPr>
          <p:cNvPr id="33" name="anim18_29"/>
          <p:cNvSpPr txBox="1"/>
          <p:nvPr/>
        </p:nvSpPr>
        <p:spPr>
          <a:xfrm>
            <a:off x="3562274" y="2953512"/>
            <a:ext cx="2236394" cy="274320"/>
          </a:xfrm>
          <a:prstGeom prst="rect">
            <a:avLst/>
          </a:prstGeom>
          <a:noFill/>
          <a:ln/>
        </p:spPr>
        <p:txBody>
          <a:bodyPr wrap="square" lIns="0" tIns="0" rIns="0" bIns="0" rtlCol="0" anchor="t"/>
          <a:lstStyle/>
          <a:p>
            <a:pPr rtl="1" algn="r" indent="0" marL="0">
              <a:buNone/>
            </a:pPr>
            <a:r>
              <a:rPr lang="ar-SA" altLang="en-US" sz="1100" b="1" dirty="0">
                <a:solidFill>
                  <a:srgbClr val="00539B"/>
                </a:solidFill>
                <a:latin typeface="JF Flat" pitchFamily="34" charset="0"/>
                <a:ea typeface="JF Flat" pitchFamily="34" charset="-122"/>
                <a:cs typeface="JF Flat" pitchFamily="34" charset="-120"/>
              </a:rPr>
              <a:t>آلية العمل</a:t>
            </a:r>
            <a:endParaRPr lang="ar-SA" sz="1100" dirty="0"/>
          </a:p>
        </p:txBody>
      </p:sp>
      <p:sp>
        <p:nvSpPr>
          <p:cNvPr id="34" name="anim18_30"/>
          <p:cNvSpPr txBox="1"/>
          <p:nvPr/>
        </p:nvSpPr>
        <p:spPr>
          <a:xfrm>
            <a:off x="3562274" y="3209544"/>
            <a:ext cx="2236394" cy="868680"/>
          </a:xfrm>
          <a:prstGeom prst="rect">
            <a:avLst/>
          </a:prstGeom>
          <a:noFill/>
          <a:ln/>
        </p:spPr>
        <p:txBody>
          <a:bodyPr wrap="square" lIns="0" tIns="0" rIns="0" bIns="0" rtlCol="0" anchor="t"/>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يتولى المستثمر إنشاء المركز وتشغيله وفق عقد، ثم تُنقل ملكيته حسب شروط الاتفاق.</a:t>
            </a:r>
            <a:endParaRPr lang="ar-SA" sz="1200" dirty="0"/>
          </a:p>
        </p:txBody>
      </p:sp>
      <p:sp>
        <p:nvSpPr>
          <p:cNvPr id="35" name="anim18_31"/>
          <p:cNvSpPr/>
          <p:nvPr/>
        </p:nvSpPr>
        <p:spPr>
          <a:xfrm>
            <a:off x="3516554" y="4096512"/>
            <a:ext cx="2327834" cy="457200"/>
          </a:xfrm>
          <a:prstGeom prst="roundRect">
            <a:avLst>
              <a:gd name="adj" fmla="val 16000"/>
            </a:avLst>
          </a:prstGeom>
          <a:solidFill>
            <a:srgbClr val="FEF0EA"/>
          </a:solidFill>
          <a:ln w="12700">
            <a:solidFill>
              <a:srgbClr val="FEF0EA"/>
            </a:solidFill>
            <a:prstDash val="solid"/>
          </a:ln>
        </p:spPr>
      </p:sp>
      <p:pic>
        <p:nvPicPr>
          <p:cNvPr id="36" name="anim18_32" descr="preencoded.png">    </p:cNvPr>
          <p:cNvPicPr>
            <a:picLocks noChangeAspect="1"/>
          </p:cNvPicPr>
          <p:nvPr/>
        </p:nvPicPr>
        <p:blipFill>
          <a:blip r:embed="rId6"/>
          <a:stretch>
            <a:fillRect/>
          </a:stretch>
        </p:blipFill>
        <p:spPr>
          <a:xfrm>
            <a:off x="5542636" y="4215384"/>
            <a:ext cx="219456" cy="219456"/>
          </a:xfrm>
          <a:prstGeom prst="rect">
            <a:avLst/>
          </a:prstGeom>
        </p:spPr>
      </p:pic>
      <p:sp>
        <p:nvSpPr>
          <p:cNvPr id="37" name="anim18_33"/>
          <p:cNvSpPr txBox="1"/>
          <p:nvPr/>
        </p:nvSpPr>
        <p:spPr>
          <a:xfrm>
            <a:off x="3607994" y="4096512"/>
            <a:ext cx="1870634" cy="457200"/>
          </a:xfrm>
          <a:prstGeom prst="rect">
            <a:avLst/>
          </a:prstGeom>
          <a:noFill/>
          <a:ln/>
        </p:spPr>
        <p:txBody>
          <a:bodyPr wrap="square" lIns="0" tIns="0" rIns="0" bIns="0" rtlCol="0" anchor="ctr"/>
          <a:lstStyle/>
          <a:p>
            <a:pPr rtl="1" algn="r" indent="0" marL="0">
              <a:buNone/>
            </a:pPr>
            <a:r>
              <a:rPr lang="ar-SA" altLang="en-US" sz="1150" b="1" dirty="0">
                <a:solidFill>
                  <a:srgbClr val="F15524"/>
                </a:solidFill>
                <a:latin typeface="JF Flat" pitchFamily="34" charset="0"/>
                <a:ea typeface="JF Flat" pitchFamily="34" charset="-122"/>
                <a:cs typeface="JF Flat" pitchFamily="34" charset="-120"/>
              </a:rPr>
              <a:t>تخفيف العبء الرأسمالي المباشر في البداية</a:t>
            </a:r>
            <a:endParaRPr lang="ar-SA" sz="1150" dirty="0"/>
          </a:p>
        </p:txBody>
      </p:sp>
      <p:sp>
        <p:nvSpPr>
          <p:cNvPr id="38" name="anim18_34"/>
          <p:cNvSpPr/>
          <p:nvPr/>
        </p:nvSpPr>
        <p:spPr>
          <a:xfrm>
            <a:off x="548640" y="1901952"/>
            <a:ext cx="2602154" cy="2788920"/>
          </a:xfrm>
          <a:prstGeom prst="roundRect">
            <a:avLst>
              <a:gd name="adj" fmla="val 3514"/>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39" name="anim18_35"/>
          <p:cNvSpPr/>
          <p:nvPr/>
        </p:nvSpPr>
        <p:spPr>
          <a:xfrm>
            <a:off x="548640" y="1901952"/>
            <a:ext cx="2602154" cy="960120"/>
          </a:xfrm>
          <a:prstGeom prst="roundRect">
            <a:avLst>
              <a:gd name="adj" fmla="val 9524"/>
            </a:avLst>
          </a:prstGeom>
          <a:solidFill>
            <a:srgbClr val="06305C"/>
          </a:solidFill>
          <a:ln w="12700">
            <a:solidFill>
              <a:srgbClr val="06305C"/>
            </a:solidFill>
            <a:prstDash val="solid"/>
          </a:ln>
        </p:spPr>
      </p:sp>
      <p:sp>
        <p:nvSpPr>
          <p:cNvPr id="40" name="anim18_36"/>
          <p:cNvSpPr/>
          <p:nvPr/>
        </p:nvSpPr>
        <p:spPr>
          <a:xfrm>
            <a:off x="548640" y="2542032"/>
            <a:ext cx="2602154" cy="320040"/>
          </a:xfrm>
          <a:prstGeom prst="rect">
            <a:avLst/>
          </a:prstGeom>
          <a:solidFill>
            <a:srgbClr val="06305C"/>
          </a:solidFill>
          <a:ln w="12700">
            <a:solidFill>
              <a:srgbClr val="06305C"/>
            </a:solidFill>
            <a:prstDash val="solid"/>
          </a:ln>
        </p:spPr>
      </p:sp>
      <p:pic>
        <p:nvPicPr>
          <p:cNvPr id="41" name="anim18_37" descr="preencoded.png">    </p:cNvPr>
          <p:cNvPicPr>
            <a:picLocks noChangeAspect="1"/>
          </p:cNvPicPr>
          <p:nvPr/>
        </p:nvPicPr>
        <p:blipFill>
          <a:blip r:embed="rId7"/>
          <a:stretch>
            <a:fillRect/>
          </a:stretch>
        </p:blipFill>
        <p:spPr>
          <a:xfrm>
            <a:off x="2583866" y="2130552"/>
            <a:ext cx="384048" cy="384048"/>
          </a:xfrm>
          <a:prstGeom prst="rect">
            <a:avLst/>
          </a:prstGeom>
        </p:spPr>
      </p:pic>
      <p:sp>
        <p:nvSpPr>
          <p:cNvPr id="42" name="anim18_38"/>
          <p:cNvSpPr txBox="1"/>
          <p:nvPr/>
        </p:nvSpPr>
        <p:spPr>
          <a:xfrm>
            <a:off x="685800" y="1956816"/>
            <a:ext cx="1870634" cy="603504"/>
          </a:xfrm>
          <a:prstGeom prst="rect">
            <a:avLst/>
          </a:prstGeom>
          <a:noFill/>
          <a:ln/>
        </p:spPr>
        <p:txBody>
          <a:bodyPr wrap="square" lIns="0" tIns="0" rIns="0" bIns="0" rtlCol="0" anchor="ctr"/>
          <a:lstStyle/>
          <a:p>
            <a:pPr rtl="1" algn="r" indent="0" marL="0">
              <a:buNone/>
            </a:pPr>
            <a:r>
              <a:rPr lang="ar-SA" altLang="en-US" sz="1300" b="1" dirty="0">
                <a:solidFill>
                  <a:srgbClr val="FFFFFF"/>
                </a:solidFill>
                <a:latin typeface="JF Flat" pitchFamily="34" charset="0"/>
                <a:ea typeface="JF Flat" pitchFamily="34" charset="-122"/>
                <a:cs typeface="JF Flat" pitchFamily="34" charset="-120"/>
              </a:rPr>
              <a:t>تقاسم الإيرادات</a:t>
            </a:r>
            <a:endParaRPr lang="ar-SA" sz="1300" dirty="0"/>
          </a:p>
        </p:txBody>
      </p:sp>
      <p:sp>
        <p:nvSpPr>
          <p:cNvPr id="43" name="anim18_39"/>
          <p:cNvSpPr txBox="1"/>
          <p:nvPr/>
        </p:nvSpPr>
        <p:spPr>
          <a:xfrm>
            <a:off x="685800" y="2560320"/>
            <a:ext cx="1870634" cy="237744"/>
          </a:xfrm>
          <a:prstGeom prst="rect">
            <a:avLst/>
          </a:prstGeom>
          <a:noFill/>
          <a:ln/>
        </p:spPr>
        <p:txBody>
          <a:bodyPr wrap="square" lIns="0" tIns="0" rIns="0" bIns="0" rtlCol="0" anchor="t"/>
          <a:lstStyle/>
          <a:p>
            <a:pPr algn="r" indent="0" marL="0">
              <a:buNone/>
            </a:pPr>
            <a:r>
              <a:rPr lang="ar-SA" altLang="en-US" sz="1100" b="1" dirty="0">
                <a:solidFill>
                  <a:srgbClr val="F7941D"/>
                </a:solidFill>
                <a:latin typeface="JF Flat" pitchFamily="34" charset="0"/>
                <a:ea typeface="JF Flat" pitchFamily="34" charset="-122"/>
                <a:cs typeface="JF Flat" pitchFamily="34" charset="-120"/>
              </a:rPr>
              <a:t>Revenue Share</a:t>
            </a:r>
            <a:endParaRPr lang="ar-SA" sz="1100" dirty="0"/>
          </a:p>
        </p:txBody>
      </p:sp>
      <p:sp>
        <p:nvSpPr>
          <p:cNvPr id="44" name="anim18_40"/>
          <p:cNvSpPr txBox="1"/>
          <p:nvPr/>
        </p:nvSpPr>
        <p:spPr>
          <a:xfrm>
            <a:off x="731520" y="2953512"/>
            <a:ext cx="2236394" cy="274320"/>
          </a:xfrm>
          <a:prstGeom prst="rect">
            <a:avLst/>
          </a:prstGeom>
          <a:noFill/>
          <a:ln/>
        </p:spPr>
        <p:txBody>
          <a:bodyPr wrap="square" lIns="0" tIns="0" rIns="0" bIns="0" rtlCol="0" anchor="t"/>
          <a:lstStyle/>
          <a:p>
            <a:pPr rtl="1" algn="r" indent="0" marL="0">
              <a:buNone/>
            </a:pPr>
            <a:r>
              <a:rPr lang="ar-SA" altLang="en-US" sz="1100" b="1" dirty="0">
                <a:solidFill>
                  <a:srgbClr val="00539B"/>
                </a:solidFill>
                <a:latin typeface="JF Flat" pitchFamily="34" charset="0"/>
                <a:ea typeface="JF Flat" pitchFamily="34" charset="-122"/>
                <a:cs typeface="JF Flat" pitchFamily="34" charset="-120"/>
              </a:rPr>
              <a:t>آلية العمل</a:t>
            </a:r>
            <a:endParaRPr lang="ar-SA" sz="1100" dirty="0"/>
          </a:p>
        </p:txBody>
      </p:sp>
      <p:sp>
        <p:nvSpPr>
          <p:cNvPr id="45" name="anim18_41"/>
          <p:cNvSpPr txBox="1"/>
          <p:nvPr/>
        </p:nvSpPr>
        <p:spPr>
          <a:xfrm>
            <a:off x="731520" y="3209544"/>
            <a:ext cx="2236394" cy="868680"/>
          </a:xfrm>
          <a:prstGeom prst="rect">
            <a:avLst/>
          </a:prstGeom>
          <a:noFill/>
          <a:ln/>
        </p:spPr>
        <p:txBody>
          <a:bodyPr wrap="square" lIns="0" tIns="0" rIns="0" bIns="0" rtlCol="0" anchor="t"/>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الاتفاق مع شريك تقني أو استثماري على توزيع الإيرادات مقابل التمويل أو الخدمات أو التجهيزات.</a:t>
            </a:r>
            <a:endParaRPr lang="ar-SA" sz="1200" dirty="0"/>
          </a:p>
        </p:txBody>
      </p:sp>
      <p:sp>
        <p:nvSpPr>
          <p:cNvPr id="46" name="anim18_42"/>
          <p:cNvSpPr/>
          <p:nvPr/>
        </p:nvSpPr>
        <p:spPr>
          <a:xfrm>
            <a:off x="685800" y="4096512"/>
            <a:ext cx="2327834" cy="457200"/>
          </a:xfrm>
          <a:prstGeom prst="roundRect">
            <a:avLst>
              <a:gd name="adj" fmla="val 16000"/>
            </a:avLst>
          </a:prstGeom>
          <a:solidFill>
            <a:srgbClr val="FEF0EA"/>
          </a:solidFill>
          <a:ln w="12700">
            <a:solidFill>
              <a:srgbClr val="FEF0EA"/>
            </a:solidFill>
            <a:prstDash val="solid"/>
          </a:ln>
        </p:spPr>
      </p:sp>
      <p:pic>
        <p:nvPicPr>
          <p:cNvPr id="47" name="anim18_43" descr="preencoded.png">    </p:cNvPr>
          <p:cNvPicPr>
            <a:picLocks noChangeAspect="1"/>
          </p:cNvPicPr>
          <p:nvPr/>
        </p:nvPicPr>
        <p:blipFill>
          <a:blip r:embed="rId8"/>
          <a:stretch>
            <a:fillRect/>
          </a:stretch>
        </p:blipFill>
        <p:spPr>
          <a:xfrm>
            <a:off x="2711882" y="4215384"/>
            <a:ext cx="219456" cy="219456"/>
          </a:xfrm>
          <a:prstGeom prst="rect">
            <a:avLst/>
          </a:prstGeom>
        </p:spPr>
      </p:pic>
      <p:sp>
        <p:nvSpPr>
          <p:cNvPr id="48" name="anim18_44"/>
          <p:cNvSpPr txBox="1"/>
          <p:nvPr/>
        </p:nvSpPr>
        <p:spPr>
          <a:xfrm>
            <a:off x="777240" y="4096512"/>
            <a:ext cx="1870634" cy="457200"/>
          </a:xfrm>
          <a:prstGeom prst="rect">
            <a:avLst/>
          </a:prstGeom>
          <a:noFill/>
          <a:ln/>
        </p:spPr>
        <p:txBody>
          <a:bodyPr wrap="square" lIns="0" tIns="0" rIns="0" bIns="0" rtlCol="0" anchor="ctr"/>
          <a:lstStyle/>
          <a:p>
            <a:pPr rtl="1" algn="r" indent="0" marL="0">
              <a:buNone/>
            </a:pPr>
            <a:r>
              <a:rPr lang="ar-SA" altLang="en-US" sz="1150" b="1" dirty="0">
                <a:solidFill>
                  <a:srgbClr val="F15524"/>
                </a:solidFill>
                <a:latin typeface="JF Flat" pitchFamily="34" charset="0"/>
                <a:ea typeface="JF Flat" pitchFamily="34" charset="-122"/>
                <a:cs typeface="JF Flat" pitchFamily="34" charset="-120"/>
              </a:rPr>
              <a:t>ربط العائد التجاري بالأداء والإيرادات</a:t>
            </a:r>
            <a:endParaRPr lang="ar-SA" sz="1150" dirty="0"/>
          </a:p>
        </p:txBody>
      </p:sp>
      <p:sp>
        <p:nvSpPr>
          <p:cNvPr id="49" name="anim18_45"/>
          <p:cNvSpPr/>
          <p:nvPr/>
        </p:nvSpPr>
        <p:spPr>
          <a:xfrm>
            <a:off x="548640" y="4846320"/>
            <a:ext cx="11094415" cy="1371600"/>
          </a:xfrm>
          <a:prstGeom prst="roundRect">
            <a:avLst>
              <a:gd name="adj" fmla="val 6667"/>
            </a:avLst>
          </a:prstGeom>
          <a:solidFill>
            <a:srgbClr val="EAF2FA"/>
          </a:solidFill>
          <a:ln w="12700">
            <a:solidFill>
              <a:srgbClr val="EAF2FA"/>
            </a:solidFill>
            <a:prstDash val="solid"/>
          </a:ln>
        </p:spPr>
      </p:sp>
      <p:sp>
        <p:nvSpPr>
          <p:cNvPr id="50" name="anim18_46"/>
          <p:cNvSpPr/>
          <p:nvPr/>
        </p:nvSpPr>
        <p:spPr>
          <a:xfrm>
            <a:off x="11002975" y="4956048"/>
            <a:ext cx="420624" cy="420624"/>
          </a:xfrm>
          <a:prstGeom prst="ellipse">
            <a:avLst/>
          </a:prstGeom>
          <a:solidFill>
            <a:srgbClr val="00539B"/>
          </a:solidFill>
          <a:ln w="12700">
            <a:solidFill>
              <a:srgbClr val="00539B"/>
            </a:solidFill>
            <a:prstDash val="solid"/>
          </a:ln>
        </p:spPr>
      </p:sp>
      <p:pic>
        <p:nvPicPr>
          <p:cNvPr id="51" name="anim18_47" descr="preencoded.png">    </p:cNvPr>
          <p:cNvPicPr>
            <a:picLocks noChangeAspect="1"/>
          </p:cNvPicPr>
          <p:nvPr/>
        </p:nvPicPr>
        <p:blipFill>
          <a:blip r:embed="rId9"/>
          <a:stretch>
            <a:fillRect/>
          </a:stretch>
        </p:blipFill>
        <p:spPr>
          <a:xfrm>
            <a:off x="11116544" y="5069616"/>
            <a:ext cx="193487" cy="193487"/>
          </a:xfrm>
          <a:prstGeom prst="rect">
            <a:avLst/>
          </a:prstGeom>
        </p:spPr>
      </p:pic>
      <p:sp>
        <p:nvSpPr>
          <p:cNvPr id="52" name="anim18_48"/>
          <p:cNvSpPr txBox="1"/>
          <p:nvPr/>
        </p:nvSpPr>
        <p:spPr>
          <a:xfrm>
            <a:off x="731520" y="4983480"/>
            <a:ext cx="10180015" cy="365760"/>
          </a:xfrm>
          <a:prstGeom prst="rect">
            <a:avLst/>
          </a:prstGeom>
          <a:noFill/>
          <a:ln/>
        </p:spPr>
        <p:txBody>
          <a:bodyPr wrap="square" lIns="0" tIns="0" rIns="0" bIns="0" rtlCol="0" anchor="ctr"/>
          <a:lstStyle/>
          <a:p>
            <a:pPr algn="r" indent="0" marL="0">
              <a:buNone/>
            </a:pPr>
            <a:r>
              <a:rPr lang="ar-SA" altLang="en-US" sz="1300" b="1" dirty="0">
                <a:solidFill>
                  <a:srgbClr val="00539B"/>
                </a:solidFill>
                <a:latin typeface="JF Flat" pitchFamily="34" charset="0"/>
                <a:ea typeface="JF Flat" pitchFamily="34" charset="-122"/>
                <a:cs typeface="JF Flat" pitchFamily="34" charset="-120"/>
              </a:rPr>
              <a:t>التوجه المقترح: </a:t>
            </a:r>
            <a:pPr algn="r" indent="0" marL="0">
              <a:buNone/>
            </a:pPr>
            <a:r>
              <a:rPr lang="ar-SA" altLang="en-US" sz="1300" dirty="0">
                <a:solidFill>
                  <a:srgbClr val="06305C"/>
                </a:solidFill>
                <a:latin typeface="JF Flat" pitchFamily="34" charset="0"/>
                <a:ea typeface="JF Flat" pitchFamily="34" charset="-122"/>
                <a:cs typeface="JF Flat" pitchFamily="34" charset="-120"/>
              </a:rPr>
              <a:t>إجراء مقارنة مالية وقانونية بين البدائل، وعدم الالتزام بنموذج واحد قبل التفاوض مع الشركاء المحتملين.</a:t>
            </a:r>
            <a:endParaRPr lang="ar-SA" sz="1300" dirty="0"/>
          </a:p>
        </p:txBody>
      </p:sp>
      <p:sp>
        <p:nvSpPr>
          <p:cNvPr id="53" name="anim18_49"/>
          <p:cNvSpPr txBox="1"/>
          <p:nvPr/>
        </p:nvSpPr>
        <p:spPr>
          <a:xfrm>
            <a:off x="731520" y="5376672"/>
            <a:ext cx="10180015" cy="256032"/>
          </a:xfrm>
          <a:prstGeom prst="rect">
            <a:avLst/>
          </a:prstGeom>
          <a:noFill/>
          <a:ln/>
        </p:spPr>
        <p:txBody>
          <a:bodyPr wrap="square" lIns="0" tIns="0" rIns="0" bIns="0" rtlCol="0" anchor="ctr"/>
          <a:lstStyle/>
          <a:p>
            <a:pPr rtl="1" algn="r" indent="0" marL="0">
              <a:buNone/>
            </a:pPr>
            <a:r>
              <a:rPr lang="ar-SA" altLang="en-US" sz="1100" b="1" dirty="0">
                <a:solidFill>
                  <a:srgbClr val="06305C"/>
                </a:solidFill>
                <a:latin typeface="JF Flat" pitchFamily="34" charset="0"/>
                <a:ea typeface="JF Flat" pitchFamily="34" charset="-122"/>
                <a:cs typeface="JF Flat" pitchFamily="34" charset="-120"/>
              </a:rPr>
              <a:t>ويجب أن تتضمن المقارنة:</a:t>
            </a:r>
            <a:endParaRPr lang="ar-SA" sz="1100" dirty="0"/>
          </a:p>
        </p:txBody>
      </p:sp>
      <p:sp>
        <p:nvSpPr>
          <p:cNvPr id="54" name="anim18_50"/>
          <p:cNvSpPr/>
          <p:nvPr/>
        </p:nvSpPr>
        <p:spPr>
          <a:xfrm>
            <a:off x="10362895" y="5687568"/>
            <a:ext cx="1097280" cy="384048"/>
          </a:xfrm>
          <a:prstGeom prst="roundRect">
            <a:avLst>
              <a:gd name="adj" fmla="val 50000"/>
            </a:avLst>
          </a:prstGeom>
          <a:solidFill>
            <a:srgbClr val="FFFFFF"/>
          </a:solidFill>
          <a:ln w="9525">
            <a:solidFill>
              <a:srgbClr val="9DB9D8"/>
            </a:solidFill>
            <a:prstDash val="solid"/>
          </a:ln>
        </p:spPr>
      </p:sp>
      <p:sp>
        <p:nvSpPr>
          <p:cNvPr id="55" name="anim18_51"/>
          <p:cNvSpPr txBox="1"/>
          <p:nvPr/>
        </p:nvSpPr>
        <p:spPr>
          <a:xfrm>
            <a:off x="10362895" y="5687568"/>
            <a:ext cx="109728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تكلفة التمويل</a:t>
            </a:r>
            <a:endParaRPr lang="ar-SA" sz="1000" dirty="0"/>
          </a:p>
        </p:txBody>
      </p:sp>
      <p:sp>
        <p:nvSpPr>
          <p:cNvPr id="56" name="anim18_52"/>
          <p:cNvSpPr/>
          <p:nvPr/>
        </p:nvSpPr>
        <p:spPr>
          <a:xfrm>
            <a:off x="8707831" y="5687568"/>
            <a:ext cx="1600200" cy="384048"/>
          </a:xfrm>
          <a:prstGeom prst="roundRect">
            <a:avLst>
              <a:gd name="adj" fmla="val 50000"/>
            </a:avLst>
          </a:prstGeom>
          <a:solidFill>
            <a:srgbClr val="FFFFFF"/>
          </a:solidFill>
          <a:ln w="9525">
            <a:solidFill>
              <a:srgbClr val="9DB9D8"/>
            </a:solidFill>
            <a:prstDash val="solid"/>
          </a:ln>
        </p:spPr>
      </p:sp>
      <p:sp>
        <p:nvSpPr>
          <p:cNvPr id="57" name="anim18_53"/>
          <p:cNvSpPr txBox="1"/>
          <p:nvPr/>
        </p:nvSpPr>
        <p:spPr>
          <a:xfrm>
            <a:off x="8707831" y="5687568"/>
            <a:ext cx="160020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حصة الشركة من الإيرادات</a:t>
            </a:r>
            <a:endParaRPr lang="ar-SA" sz="1000" dirty="0"/>
          </a:p>
        </p:txBody>
      </p:sp>
      <p:sp>
        <p:nvSpPr>
          <p:cNvPr id="58" name="anim18_54"/>
          <p:cNvSpPr/>
          <p:nvPr/>
        </p:nvSpPr>
        <p:spPr>
          <a:xfrm>
            <a:off x="7189927" y="5687568"/>
            <a:ext cx="1463040" cy="384048"/>
          </a:xfrm>
          <a:prstGeom prst="roundRect">
            <a:avLst>
              <a:gd name="adj" fmla="val 50000"/>
            </a:avLst>
          </a:prstGeom>
          <a:solidFill>
            <a:srgbClr val="FFFFFF"/>
          </a:solidFill>
          <a:ln w="9525">
            <a:solidFill>
              <a:srgbClr val="9DB9D8"/>
            </a:solidFill>
            <a:prstDash val="solid"/>
          </a:ln>
        </p:spPr>
      </p:sp>
      <p:sp>
        <p:nvSpPr>
          <p:cNvPr id="59" name="anim18_55"/>
          <p:cNvSpPr txBox="1"/>
          <p:nvPr/>
        </p:nvSpPr>
        <p:spPr>
          <a:xfrm>
            <a:off x="7189927" y="5687568"/>
            <a:ext cx="146304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حقوق الملكية والسيطرة</a:t>
            </a:r>
            <a:endParaRPr lang="ar-SA" sz="1000" dirty="0"/>
          </a:p>
        </p:txBody>
      </p:sp>
      <p:sp>
        <p:nvSpPr>
          <p:cNvPr id="60" name="anim18_56"/>
          <p:cNvSpPr/>
          <p:nvPr/>
        </p:nvSpPr>
        <p:spPr>
          <a:xfrm>
            <a:off x="5489143" y="5687568"/>
            <a:ext cx="1645920" cy="384048"/>
          </a:xfrm>
          <a:prstGeom prst="roundRect">
            <a:avLst>
              <a:gd name="adj" fmla="val 50000"/>
            </a:avLst>
          </a:prstGeom>
          <a:solidFill>
            <a:srgbClr val="FFFFFF"/>
          </a:solidFill>
          <a:ln w="9525">
            <a:solidFill>
              <a:srgbClr val="9DB9D8"/>
            </a:solidFill>
            <a:prstDash val="solid"/>
          </a:ln>
        </p:spPr>
      </p:sp>
      <p:sp>
        <p:nvSpPr>
          <p:cNvPr id="61" name="anim18_57"/>
          <p:cNvSpPr txBox="1"/>
          <p:nvPr/>
        </p:nvSpPr>
        <p:spPr>
          <a:xfrm>
            <a:off x="5489143" y="5687568"/>
            <a:ext cx="164592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مسؤولية التشغيل والصيانة</a:t>
            </a:r>
            <a:endParaRPr lang="ar-SA" sz="1000" dirty="0"/>
          </a:p>
        </p:txBody>
      </p:sp>
      <p:sp>
        <p:nvSpPr>
          <p:cNvPr id="62" name="anim18_58"/>
          <p:cNvSpPr/>
          <p:nvPr/>
        </p:nvSpPr>
        <p:spPr>
          <a:xfrm>
            <a:off x="4474159" y="5687568"/>
            <a:ext cx="960120" cy="384048"/>
          </a:xfrm>
          <a:prstGeom prst="roundRect">
            <a:avLst>
              <a:gd name="adj" fmla="val 50000"/>
            </a:avLst>
          </a:prstGeom>
          <a:solidFill>
            <a:srgbClr val="FFFFFF"/>
          </a:solidFill>
          <a:ln w="9525">
            <a:solidFill>
              <a:srgbClr val="9DB9D8"/>
            </a:solidFill>
            <a:prstDash val="solid"/>
          </a:ln>
        </p:spPr>
      </p:sp>
      <p:sp>
        <p:nvSpPr>
          <p:cNvPr id="63" name="anim18_59"/>
          <p:cNvSpPr txBox="1"/>
          <p:nvPr/>
        </p:nvSpPr>
        <p:spPr>
          <a:xfrm>
            <a:off x="4474159" y="5687568"/>
            <a:ext cx="96012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مخاطر الطلب</a:t>
            </a:r>
            <a:endParaRPr lang="ar-SA" sz="1000" dirty="0"/>
          </a:p>
        </p:txBody>
      </p:sp>
      <p:sp>
        <p:nvSpPr>
          <p:cNvPr id="64" name="anim18_60"/>
          <p:cNvSpPr/>
          <p:nvPr/>
        </p:nvSpPr>
        <p:spPr>
          <a:xfrm>
            <a:off x="2453335" y="5687568"/>
            <a:ext cx="1965960" cy="384048"/>
          </a:xfrm>
          <a:prstGeom prst="roundRect">
            <a:avLst>
              <a:gd name="adj" fmla="val 50000"/>
            </a:avLst>
          </a:prstGeom>
          <a:solidFill>
            <a:srgbClr val="FFFFFF"/>
          </a:solidFill>
          <a:ln w="9525">
            <a:solidFill>
              <a:srgbClr val="9DB9D8"/>
            </a:solidFill>
            <a:prstDash val="solid"/>
          </a:ln>
        </p:spPr>
      </p:sp>
      <p:sp>
        <p:nvSpPr>
          <p:cNvPr id="65" name="anim18_61"/>
          <p:cNvSpPr txBox="1"/>
          <p:nvPr/>
        </p:nvSpPr>
        <p:spPr>
          <a:xfrm>
            <a:off x="2453335" y="5687568"/>
            <a:ext cx="196596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ملكية البيانات الحكومية وسيادتها</a:t>
            </a:r>
            <a:endParaRPr lang="ar-SA" sz="1000" dirty="0"/>
          </a:p>
        </p:txBody>
      </p:sp>
      <p:sp>
        <p:nvSpPr>
          <p:cNvPr id="66" name="anim18_62"/>
          <p:cNvSpPr/>
          <p:nvPr/>
        </p:nvSpPr>
        <p:spPr>
          <a:xfrm>
            <a:off x="478231" y="5687568"/>
            <a:ext cx="1920240" cy="384048"/>
          </a:xfrm>
          <a:prstGeom prst="roundRect">
            <a:avLst>
              <a:gd name="adj" fmla="val 50000"/>
            </a:avLst>
          </a:prstGeom>
          <a:solidFill>
            <a:srgbClr val="FFFFFF"/>
          </a:solidFill>
          <a:ln w="9525">
            <a:solidFill>
              <a:srgbClr val="9DB9D8"/>
            </a:solidFill>
            <a:prstDash val="solid"/>
          </a:ln>
        </p:spPr>
      </p:sp>
      <p:sp>
        <p:nvSpPr>
          <p:cNvPr id="67" name="anim18_63"/>
          <p:cNvSpPr txBox="1"/>
          <p:nvPr/>
        </p:nvSpPr>
        <p:spPr>
          <a:xfrm>
            <a:off x="478231" y="5687568"/>
            <a:ext cx="1920240" cy="384048"/>
          </a:xfrm>
          <a:prstGeom prst="rect">
            <a:avLst/>
          </a:prstGeom>
          <a:noFill/>
          <a:ln/>
        </p:spPr>
        <p:txBody>
          <a:bodyPr wrap="square" lIns="0" tIns="0" rIns="0" bIns="0" rtlCol="0" anchor="ctr"/>
          <a:lstStyle/>
          <a:p>
            <a:pPr rtl="1" algn="ctr" indent="0" marL="0">
              <a:buNone/>
            </a:pPr>
            <a:r>
              <a:rPr lang="ar-SA" altLang="en-US" sz="1000" b="1" dirty="0">
                <a:solidFill>
                  <a:srgbClr val="06305C"/>
                </a:solidFill>
                <a:latin typeface="JF Flat" pitchFamily="34" charset="0"/>
                <a:ea typeface="JF Flat" pitchFamily="34" charset="-122"/>
                <a:cs typeface="JF Flat" pitchFamily="34" charset="-120"/>
              </a:rPr>
              <a:t>شروط إنهاء العقد ونقل الأصول</a:t>
            </a:r>
            <a:endParaRPr lang="ar-SA" sz="1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additive="base">
                                        <p:cTn id="3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9"/>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additive="base">
                                        <p:cTn id="3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0"/>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additive="base">
                                        <p:cTn id="4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1"/>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13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additive="base">
                                        <p:cTn id="4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2"/>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13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additive="base">
                                        <p:cTn id="5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3"/>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13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4"/>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13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additive="base">
                                        <p:cTn id="6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5"/>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6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600"/>
                                        <p:tgtEl>
                                          <p:spTgt spid="16"/>
                                        </p:tgtEl>
                                      </p:cBhvr>
                                    </p:animEffect>
                                    <p:anim calcmode="lin" valueType="num">
                                      <p:cBhvr additive="base">
                                        <p:cTn id="6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16"/>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600"/>
                                        <p:tgtEl>
                                          <p:spTgt spid="17"/>
                                        </p:tgtEl>
                                      </p:cBhvr>
                                    </p:animEffect>
                                    <p:anim calcmode="lin" valueType="num">
                                      <p:cBhvr additive="base">
                                        <p:cTn id="7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7"/>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26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18"/>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26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19"/>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26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600"/>
                                        <p:tgtEl>
                                          <p:spTgt spid="20"/>
                                        </p:tgtEl>
                                      </p:cBhvr>
                                    </p:animEffect>
                                    <p:anim calcmode="lin" valueType="num">
                                      <p:cBhvr additive="base">
                                        <p:cTn id="8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0"/>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26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600"/>
                                        <p:tgtEl>
                                          <p:spTgt spid="21"/>
                                        </p:tgtEl>
                                      </p:cBhvr>
                                    </p:animEffect>
                                    <p:anim calcmode="lin" valueType="num">
                                      <p:cBhvr additive="base">
                                        <p:cTn id="9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1"/>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26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00"/>
                                        <p:tgtEl>
                                          <p:spTgt spid="22"/>
                                        </p:tgtEl>
                                      </p:cBhvr>
                                    </p:animEffect>
                                    <p:anim calcmode="lin" valueType="num">
                                      <p:cBhvr additive="base">
                                        <p:cTn id="9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2"/>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26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600"/>
                                        <p:tgtEl>
                                          <p:spTgt spid="23"/>
                                        </p:tgtEl>
                                      </p:cBhvr>
                                    </p:animEffect>
                                    <p:anim calcmode="lin" valueType="num">
                                      <p:cBhvr additive="base">
                                        <p:cTn id="10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3"/>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26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600"/>
                                        <p:tgtEl>
                                          <p:spTgt spid="24"/>
                                        </p:tgtEl>
                                      </p:cBhvr>
                                    </p:animEffect>
                                    <p:anim calcmode="lin" valueType="num">
                                      <p:cBhvr additive="base">
                                        <p:cTn id="10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4"/>
                                        </p:tgtEl>
                                        <p:attrNameLst>
                                          <p:attrName>ppt_y</p:attrName>
                                        </p:attrNameLst>
                                      </p:cBhvr>
                                      <p:tavLst>
                                        <p:tav tm="0">
                                          <p:val>
                                            <p:strVal val="#ppt_y+.03"/>
                                          </p:val>
                                        </p:tav>
                                        <p:tav tm="100000">
                                          <p:val>
                                            <p:strVal val="#ppt_y"/>
                                          </p:val>
                                        </p:tav>
                                      </p:tavLst>
                                    </p:anim>
                                  </p:childTnLst>
                                </p:cTn>
                              </p:par>
                              <p:par>
                                <p:cTn id="110" presetID="42" presetClass="entr" presetSubtype="0" fill="hold" grpId="0" nodeType="withEffect">
                                  <p:stCondLst>
                                    <p:cond delay="26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600"/>
                                        <p:tgtEl>
                                          <p:spTgt spid="25"/>
                                        </p:tgtEl>
                                      </p:cBhvr>
                                    </p:animEffect>
                                    <p:anim calcmode="lin" valueType="num">
                                      <p:cBhvr additive="base">
                                        <p:cTn id="11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5"/>
                                        </p:tgtEl>
                                        <p:attrNameLst>
                                          <p:attrName>ppt_y</p:attrName>
                                        </p:attrNameLst>
                                      </p:cBhvr>
                                      <p:tavLst>
                                        <p:tav tm="0">
                                          <p:val>
                                            <p:strVal val="#ppt_y+.03"/>
                                          </p:val>
                                        </p:tav>
                                        <p:tav tm="100000">
                                          <p:val>
                                            <p:strVal val="#ppt_y"/>
                                          </p:val>
                                        </p:tav>
                                      </p:tavLst>
                                    </p:anim>
                                  </p:childTnLst>
                                </p:cTn>
                              </p:par>
                              <p:par>
                                <p:cTn id="115" presetID="42" presetClass="entr" presetSubtype="0" fill="hold" grpId="0" nodeType="withEffect">
                                  <p:stCondLst>
                                    <p:cond delay="26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600"/>
                                        <p:tgtEl>
                                          <p:spTgt spid="26"/>
                                        </p:tgtEl>
                                      </p:cBhvr>
                                    </p:animEffect>
                                    <p:anim calcmode="lin" valueType="num">
                                      <p:cBhvr additive="base">
                                        <p:cTn id="11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119" dur="600" decel="100000" fill="hold"/>
                                        <p:tgtEl>
                                          <p:spTgt spid="26"/>
                                        </p:tgtEl>
                                        <p:attrNameLst>
                                          <p:attrName>ppt_y</p:attrName>
                                        </p:attrNameLst>
                                      </p:cBhvr>
                                      <p:tavLst>
                                        <p:tav tm="0">
                                          <p:val>
                                            <p:strVal val="#ppt_y+.03"/>
                                          </p:val>
                                        </p:tav>
                                        <p:tav tm="100000">
                                          <p:val>
                                            <p:strVal val="#ppt_y"/>
                                          </p:val>
                                        </p:tav>
                                      </p:tavLst>
                                    </p:anim>
                                  </p:childTnLst>
                                </p:cTn>
                              </p:par>
                              <p:par>
                                <p:cTn id="120" presetID="42" presetClass="entr" presetSubtype="0" fill="hold" grpId="0" nodeType="withEffect">
                                  <p:stCondLst>
                                    <p:cond delay="39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600"/>
                                        <p:tgtEl>
                                          <p:spTgt spid="27"/>
                                        </p:tgtEl>
                                      </p:cBhvr>
                                    </p:animEffect>
                                    <p:anim calcmode="lin" valueType="num">
                                      <p:cBhvr additive="base">
                                        <p:cTn id="12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24" dur="600" decel="100000" fill="hold"/>
                                        <p:tgtEl>
                                          <p:spTgt spid="27"/>
                                        </p:tgtEl>
                                        <p:attrNameLst>
                                          <p:attrName>ppt_y</p:attrName>
                                        </p:attrNameLst>
                                      </p:cBhvr>
                                      <p:tavLst>
                                        <p:tav tm="0">
                                          <p:val>
                                            <p:strVal val="#ppt_y+.03"/>
                                          </p:val>
                                        </p:tav>
                                        <p:tav tm="100000">
                                          <p:val>
                                            <p:strVal val="#ppt_y"/>
                                          </p:val>
                                        </p:tav>
                                      </p:tavLst>
                                    </p:anim>
                                  </p:childTnLst>
                                </p:cTn>
                              </p:par>
                              <p:par>
                                <p:cTn id="125" presetID="42" presetClass="entr" presetSubtype="0" fill="hold" grpId="0" nodeType="withEffect">
                                  <p:stCondLst>
                                    <p:cond delay="39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600"/>
                                        <p:tgtEl>
                                          <p:spTgt spid="28"/>
                                        </p:tgtEl>
                                      </p:cBhvr>
                                    </p:animEffect>
                                    <p:anim calcmode="lin" valueType="num">
                                      <p:cBhvr additive="base">
                                        <p:cTn id="12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28"/>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39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600"/>
                                        <p:tgtEl>
                                          <p:spTgt spid="29"/>
                                        </p:tgtEl>
                                      </p:cBhvr>
                                    </p:animEffect>
                                    <p:anim calcmode="lin" valueType="num">
                                      <p:cBhvr additive="base">
                                        <p:cTn id="13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29"/>
                                        </p:tgtEl>
                                        <p:attrNameLst>
                                          <p:attrName>ppt_y</p:attrName>
                                        </p:attrNameLst>
                                      </p:cBhvr>
                                      <p:tavLst>
                                        <p:tav tm="0">
                                          <p:val>
                                            <p:strVal val="#ppt_y+.03"/>
                                          </p:val>
                                        </p:tav>
                                        <p:tav tm="100000">
                                          <p:val>
                                            <p:strVal val="#ppt_y"/>
                                          </p:val>
                                        </p:tav>
                                      </p:tavLst>
                                    </p:anim>
                                  </p:childTnLst>
                                </p:cTn>
                              </p:par>
                              <p:par>
                                <p:cTn id="135" presetID="42" presetClass="entr" presetSubtype="0" fill="hold" grpId="0" nodeType="withEffect">
                                  <p:stCondLst>
                                    <p:cond delay="39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600"/>
                                        <p:tgtEl>
                                          <p:spTgt spid="30"/>
                                        </p:tgtEl>
                                      </p:cBhvr>
                                    </p:animEffect>
                                    <p:anim calcmode="lin" valueType="num">
                                      <p:cBhvr additive="base">
                                        <p:cTn id="138" dur="600" decel="100000" fill="hold"/>
                                        <p:tgtEl>
                                          <p:spTgt spid="30"/>
                                        </p:tgtEl>
                                        <p:attrNameLst>
                                          <p:attrName>ppt_x</p:attrName>
                                        </p:attrNameLst>
                                      </p:cBhvr>
                                      <p:tavLst>
                                        <p:tav tm="0">
                                          <p:val>
                                            <p:strVal val="#ppt_x"/>
                                          </p:val>
                                        </p:tav>
                                        <p:tav tm="100000">
                                          <p:val>
                                            <p:strVal val="#ppt_x"/>
                                          </p:val>
                                        </p:tav>
                                      </p:tavLst>
                                    </p:anim>
                                    <p:anim calcmode="lin" valueType="num">
                                      <p:cBhvr additive="base">
                                        <p:cTn id="139" dur="600" decel="100000" fill="hold"/>
                                        <p:tgtEl>
                                          <p:spTgt spid="30"/>
                                        </p:tgtEl>
                                        <p:attrNameLst>
                                          <p:attrName>ppt_y</p:attrName>
                                        </p:attrNameLst>
                                      </p:cBhvr>
                                      <p:tavLst>
                                        <p:tav tm="0">
                                          <p:val>
                                            <p:strVal val="#ppt_y+.03"/>
                                          </p:val>
                                        </p:tav>
                                        <p:tav tm="100000">
                                          <p:val>
                                            <p:strVal val="#ppt_y"/>
                                          </p:val>
                                        </p:tav>
                                      </p:tavLst>
                                    </p:anim>
                                  </p:childTnLst>
                                </p:cTn>
                              </p:par>
                              <p:par>
                                <p:cTn id="140" presetID="42" presetClass="entr" presetSubtype="0" fill="hold" grpId="0" nodeType="withEffect">
                                  <p:stCondLst>
                                    <p:cond delay="39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600"/>
                                        <p:tgtEl>
                                          <p:spTgt spid="31"/>
                                        </p:tgtEl>
                                      </p:cBhvr>
                                    </p:animEffect>
                                    <p:anim calcmode="lin" valueType="num">
                                      <p:cBhvr additive="base">
                                        <p:cTn id="143" dur="600" decel="100000" fill="hold"/>
                                        <p:tgtEl>
                                          <p:spTgt spid="31"/>
                                        </p:tgtEl>
                                        <p:attrNameLst>
                                          <p:attrName>ppt_x</p:attrName>
                                        </p:attrNameLst>
                                      </p:cBhvr>
                                      <p:tavLst>
                                        <p:tav tm="0">
                                          <p:val>
                                            <p:strVal val="#ppt_x"/>
                                          </p:val>
                                        </p:tav>
                                        <p:tav tm="100000">
                                          <p:val>
                                            <p:strVal val="#ppt_x"/>
                                          </p:val>
                                        </p:tav>
                                      </p:tavLst>
                                    </p:anim>
                                    <p:anim calcmode="lin" valueType="num">
                                      <p:cBhvr additive="base">
                                        <p:cTn id="144" dur="600" decel="100000" fill="hold"/>
                                        <p:tgtEl>
                                          <p:spTgt spid="31"/>
                                        </p:tgtEl>
                                        <p:attrNameLst>
                                          <p:attrName>ppt_y</p:attrName>
                                        </p:attrNameLst>
                                      </p:cBhvr>
                                      <p:tavLst>
                                        <p:tav tm="0">
                                          <p:val>
                                            <p:strVal val="#ppt_y+.03"/>
                                          </p:val>
                                        </p:tav>
                                        <p:tav tm="100000">
                                          <p:val>
                                            <p:strVal val="#ppt_y"/>
                                          </p:val>
                                        </p:tav>
                                      </p:tavLst>
                                    </p:anim>
                                  </p:childTnLst>
                                </p:cTn>
                              </p:par>
                              <p:par>
                                <p:cTn id="145" presetID="42" presetClass="entr" presetSubtype="0" fill="hold" grpId="0" nodeType="withEffect">
                                  <p:stCondLst>
                                    <p:cond delay="39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600"/>
                                        <p:tgtEl>
                                          <p:spTgt spid="32"/>
                                        </p:tgtEl>
                                      </p:cBhvr>
                                    </p:animEffect>
                                    <p:anim calcmode="lin" valueType="num">
                                      <p:cBhvr additive="base">
                                        <p:cTn id="14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49" dur="600" decel="100000" fill="hold"/>
                                        <p:tgtEl>
                                          <p:spTgt spid="32"/>
                                        </p:tgtEl>
                                        <p:attrNameLst>
                                          <p:attrName>ppt_y</p:attrName>
                                        </p:attrNameLst>
                                      </p:cBhvr>
                                      <p:tavLst>
                                        <p:tav tm="0">
                                          <p:val>
                                            <p:strVal val="#ppt_y+.03"/>
                                          </p:val>
                                        </p:tav>
                                        <p:tav tm="100000">
                                          <p:val>
                                            <p:strVal val="#ppt_y"/>
                                          </p:val>
                                        </p:tav>
                                      </p:tavLst>
                                    </p:anim>
                                  </p:childTnLst>
                                </p:cTn>
                              </p:par>
                              <p:par>
                                <p:cTn id="150" presetID="42" presetClass="entr" presetSubtype="0" fill="hold" grpId="0" nodeType="withEffect">
                                  <p:stCondLst>
                                    <p:cond delay="39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600"/>
                                        <p:tgtEl>
                                          <p:spTgt spid="33"/>
                                        </p:tgtEl>
                                      </p:cBhvr>
                                    </p:animEffect>
                                    <p:anim calcmode="lin" valueType="num">
                                      <p:cBhvr additive="base">
                                        <p:cTn id="15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3"/>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39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600"/>
                                        <p:tgtEl>
                                          <p:spTgt spid="34"/>
                                        </p:tgtEl>
                                      </p:cBhvr>
                                    </p:animEffect>
                                    <p:anim calcmode="lin" valueType="num">
                                      <p:cBhvr additive="base">
                                        <p:cTn id="15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4"/>
                                        </p:tgtEl>
                                        <p:attrNameLst>
                                          <p:attrName>ppt_y</p:attrName>
                                        </p:attrNameLst>
                                      </p:cBhvr>
                                      <p:tavLst>
                                        <p:tav tm="0">
                                          <p:val>
                                            <p:strVal val="#ppt_y+.03"/>
                                          </p:val>
                                        </p:tav>
                                        <p:tav tm="100000">
                                          <p:val>
                                            <p:strVal val="#ppt_y"/>
                                          </p:val>
                                        </p:tav>
                                      </p:tavLst>
                                    </p:anim>
                                  </p:childTnLst>
                                </p:cTn>
                              </p:par>
                              <p:par>
                                <p:cTn id="160" presetID="42" presetClass="entr" presetSubtype="0" fill="hold" grpId="0" nodeType="withEffect">
                                  <p:stCondLst>
                                    <p:cond delay="39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600"/>
                                        <p:tgtEl>
                                          <p:spTgt spid="35"/>
                                        </p:tgtEl>
                                      </p:cBhvr>
                                    </p:animEffect>
                                    <p:anim calcmode="lin" valueType="num">
                                      <p:cBhvr additive="base">
                                        <p:cTn id="163" dur="600" decel="100000" fill="hold"/>
                                        <p:tgtEl>
                                          <p:spTgt spid="35"/>
                                        </p:tgtEl>
                                        <p:attrNameLst>
                                          <p:attrName>ppt_x</p:attrName>
                                        </p:attrNameLst>
                                      </p:cBhvr>
                                      <p:tavLst>
                                        <p:tav tm="0">
                                          <p:val>
                                            <p:strVal val="#ppt_x"/>
                                          </p:val>
                                        </p:tav>
                                        <p:tav tm="100000">
                                          <p:val>
                                            <p:strVal val="#ppt_x"/>
                                          </p:val>
                                        </p:tav>
                                      </p:tavLst>
                                    </p:anim>
                                    <p:anim calcmode="lin" valueType="num">
                                      <p:cBhvr additive="base">
                                        <p:cTn id="164" dur="600" decel="100000" fill="hold"/>
                                        <p:tgtEl>
                                          <p:spTgt spid="35"/>
                                        </p:tgtEl>
                                        <p:attrNameLst>
                                          <p:attrName>ppt_y</p:attrName>
                                        </p:attrNameLst>
                                      </p:cBhvr>
                                      <p:tavLst>
                                        <p:tav tm="0">
                                          <p:val>
                                            <p:strVal val="#ppt_y+.03"/>
                                          </p:val>
                                        </p:tav>
                                        <p:tav tm="100000">
                                          <p:val>
                                            <p:strVal val="#ppt_y"/>
                                          </p:val>
                                        </p:tav>
                                      </p:tavLst>
                                    </p:anim>
                                  </p:childTnLst>
                                </p:cTn>
                              </p:par>
                              <p:par>
                                <p:cTn id="165" presetID="42" presetClass="entr" presetSubtype="0" fill="hold" grpId="0" nodeType="withEffect">
                                  <p:stCondLst>
                                    <p:cond delay="39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600"/>
                                        <p:tgtEl>
                                          <p:spTgt spid="36"/>
                                        </p:tgtEl>
                                      </p:cBhvr>
                                    </p:animEffect>
                                    <p:anim calcmode="lin" valueType="num">
                                      <p:cBhvr additive="base">
                                        <p:cTn id="168" dur="600" decel="100000" fill="hold"/>
                                        <p:tgtEl>
                                          <p:spTgt spid="36"/>
                                        </p:tgtEl>
                                        <p:attrNameLst>
                                          <p:attrName>ppt_x</p:attrName>
                                        </p:attrNameLst>
                                      </p:cBhvr>
                                      <p:tavLst>
                                        <p:tav tm="0">
                                          <p:val>
                                            <p:strVal val="#ppt_x"/>
                                          </p:val>
                                        </p:tav>
                                        <p:tav tm="100000">
                                          <p:val>
                                            <p:strVal val="#ppt_x"/>
                                          </p:val>
                                        </p:tav>
                                      </p:tavLst>
                                    </p:anim>
                                    <p:anim calcmode="lin" valueType="num">
                                      <p:cBhvr additive="base">
                                        <p:cTn id="169" dur="600" decel="100000" fill="hold"/>
                                        <p:tgtEl>
                                          <p:spTgt spid="36"/>
                                        </p:tgtEl>
                                        <p:attrNameLst>
                                          <p:attrName>ppt_y</p:attrName>
                                        </p:attrNameLst>
                                      </p:cBhvr>
                                      <p:tavLst>
                                        <p:tav tm="0">
                                          <p:val>
                                            <p:strVal val="#ppt_y+.03"/>
                                          </p:val>
                                        </p:tav>
                                        <p:tav tm="100000">
                                          <p:val>
                                            <p:strVal val="#ppt_y"/>
                                          </p:val>
                                        </p:tav>
                                      </p:tavLst>
                                    </p:anim>
                                  </p:childTnLst>
                                </p:cTn>
                              </p:par>
                              <p:par>
                                <p:cTn id="170" presetID="42" presetClass="entr" presetSubtype="0" fill="hold" grpId="0" nodeType="withEffect">
                                  <p:stCondLst>
                                    <p:cond delay="39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600"/>
                                        <p:tgtEl>
                                          <p:spTgt spid="37"/>
                                        </p:tgtEl>
                                      </p:cBhvr>
                                    </p:animEffect>
                                    <p:anim calcmode="lin" valueType="num">
                                      <p:cBhvr additive="base">
                                        <p:cTn id="173"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74" dur="600" decel="100000" fill="hold"/>
                                        <p:tgtEl>
                                          <p:spTgt spid="37"/>
                                        </p:tgtEl>
                                        <p:attrNameLst>
                                          <p:attrName>ppt_y</p:attrName>
                                        </p:attrNameLst>
                                      </p:cBhvr>
                                      <p:tavLst>
                                        <p:tav tm="0">
                                          <p:val>
                                            <p:strVal val="#ppt_y+.03"/>
                                          </p:val>
                                        </p:tav>
                                        <p:tav tm="100000">
                                          <p:val>
                                            <p:strVal val="#ppt_y"/>
                                          </p:val>
                                        </p:tav>
                                      </p:tavLst>
                                    </p:anim>
                                  </p:childTnLst>
                                </p:cTn>
                              </p:par>
                              <p:par>
                                <p:cTn id="175" presetID="42" presetClass="entr" presetSubtype="0" fill="hold" grpId="0" nodeType="withEffect">
                                  <p:stCondLst>
                                    <p:cond delay="52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600"/>
                                        <p:tgtEl>
                                          <p:spTgt spid="38"/>
                                        </p:tgtEl>
                                      </p:cBhvr>
                                    </p:animEffect>
                                    <p:anim calcmode="lin" valueType="num">
                                      <p:cBhvr additive="base">
                                        <p:cTn id="17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79" dur="600" decel="100000" fill="hold"/>
                                        <p:tgtEl>
                                          <p:spTgt spid="38"/>
                                        </p:tgtEl>
                                        <p:attrNameLst>
                                          <p:attrName>ppt_y</p:attrName>
                                        </p:attrNameLst>
                                      </p:cBhvr>
                                      <p:tavLst>
                                        <p:tav tm="0">
                                          <p:val>
                                            <p:strVal val="#ppt_y+.03"/>
                                          </p:val>
                                        </p:tav>
                                        <p:tav tm="100000">
                                          <p:val>
                                            <p:strVal val="#ppt_y"/>
                                          </p:val>
                                        </p:tav>
                                      </p:tavLst>
                                    </p:anim>
                                  </p:childTnLst>
                                </p:cTn>
                              </p:par>
                              <p:par>
                                <p:cTn id="180" presetID="42" presetClass="entr" presetSubtype="0" fill="hold" grpId="0" nodeType="withEffect">
                                  <p:stCondLst>
                                    <p:cond delay="52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600"/>
                                        <p:tgtEl>
                                          <p:spTgt spid="39"/>
                                        </p:tgtEl>
                                      </p:cBhvr>
                                    </p:animEffect>
                                    <p:anim calcmode="lin" valueType="num">
                                      <p:cBhvr additive="base">
                                        <p:cTn id="18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84" dur="600" decel="100000" fill="hold"/>
                                        <p:tgtEl>
                                          <p:spTgt spid="39"/>
                                        </p:tgtEl>
                                        <p:attrNameLst>
                                          <p:attrName>ppt_y</p:attrName>
                                        </p:attrNameLst>
                                      </p:cBhvr>
                                      <p:tavLst>
                                        <p:tav tm="0">
                                          <p:val>
                                            <p:strVal val="#ppt_y+.03"/>
                                          </p:val>
                                        </p:tav>
                                        <p:tav tm="100000">
                                          <p:val>
                                            <p:strVal val="#ppt_y"/>
                                          </p:val>
                                        </p:tav>
                                      </p:tavLst>
                                    </p:anim>
                                  </p:childTnLst>
                                </p:cTn>
                              </p:par>
                              <p:par>
                                <p:cTn id="185" presetID="42" presetClass="entr" presetSubtype="0" fill="hold" grpId="0" nodeType="withEffect">
                                  <p:stCondLst>
                                    <p:cond delay="52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600"/>
                                        <p:tgtEl>
                                          <p:spTgt spid="40"/>
                                        </p:tgtEl>
                                      </p:cBhvr>
                                    </p:animEffect>
                                    <p:anim calcmode="lin" valueType="num">
                                      <p:cBhvr additive="base">
                                        <p:cTn id="188" dur="600" decel="100000" fill="hold"/>
                                        <p:tgtEl>
                                          <p:spTgt spid="40"/>
                                        </p:tgtEl>
                                        <p:attrNameLst>
                                          <p:attrName>ppt_x</p:attrName>
                                        </p:attrNameLst>
                                      </p:cBhvr>
                                      <p:tavLst>
                                        <p:tav tm="0">
                                          <p:val>
                                            <p:strVal val="#ppt_x"/>
                                          </p:val>
                                        </p:tav>
                                        <p:tav tm="100000">
                                          <p:val>
                                            <p:strVal val="#ppt_x"/>
                                          </p:val>
                                        </p:tav>
                                      </p:tavLst>
                                    </p:anim>
                                    <p:anim calcmode="lin" valueType="num">
                                      <p:cBhvr additive="base">
                                        <p:cTn id="189" dur="600" decel="100000" fill="hold"/>
                                        <p:tgtEl>
                                          <p:spTgt spid="40"/>
                                        </p:tgtEl>
                                        <p:attrNameLst>
                                          <p:attrName>ppt_y</p:attrName>
                                        </p:attrNameLst>
                                      </p:cBhvr>
                                      <p:tavLst>
                                        <p:tav tm="0">
                                          <p:val>
                                            <p:strVal val="#ppt_y+.03"/>
                                          </p:val>
                                        </p:tav>
                                        <p:tav tm="100000">
                                          <p:val>
                                            <p:strVal val="#ppt_y"/>
                                          </p:val>
                                        </p:tav>
                                      </p:tavLst>
                                    </p:anim>
                                  </p:childTnLst>
                                </p:cTn>
                              </p:par>
                              <p:par>
                                <p:cTn id="190" presetID="42" presetClass="entr" presetSubtype="0" fill="hold" grpId="0" nodeType="withEffect">
                                  <p:stCondLst>
                                    <p:cond delay="52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600"/>
                                        <p:tgtEl>
                                          <p:spTgt spid="41"/>
                                        </p:tgtEl>
                                      </p:cBhvr>
                                    </p:animEffect>
                                    <p:anim calcmode="lin" valueType="num">
                                      <p:cBhvr additive="base">
                                        <p:cTn id="193" dur="600" decel="100000" fill="hold"/>
                                        <p:tgtEl>
                                          <p:spTgt spid="41"/>
                                        </p:tgtEl>
                                        <p:attrNameLst>
                                          <p:attrName>ppt_x</p:attrName>
                                        </p:attrNameLst>
                                      </p:cBhvr>
                                      <p:tavLst>
                                        <p:tav tm="0">
                                          <p:val>
                                            <p:strVal val="#ppt_x"/>
                                          </p:val>
                                        </p:tav>
                                        <p:tav tm="100000">
                                          <p:val>
                                            <p:strVal val="#ppt_x"/>
                                          </p:val>
                                        </p:tav>
                                      </p:tavLst>
                                    </p:anim>
                                    <p:anim calcmode="lin" valueType="num">
                                      <p:cBhvr additive="base">
                                        <p:cTn id="194" dur="600" decel="100000" fill="hold"/>
                                        <p:tgtEl>
                                          <p:spTgt spid="41"/>
                                        </p:tgtEl>
                                        <p:attrNameLst>
                                          <p:attrName>ppt_y</p:attrName>
                                        </p:attrNameLst>
                                      </p:cBhvr>
                                      <p:tavLst>
                                        <p:tav tm="0">
                                          <p:val>
                                            <p:strVal val="#ppt_y+.03"/>
                                          </p:val>
                                        </p:tav>
                                        <p:tav tm="100000">
                                          <p:val>
                                            <p:strVal val="#ppt_y"/>
                                          </p:val>
                                        </p:tav>
                                      </p:tavLst>
                                    </p:anim>
                                  </p:childTnLst>
                                </p:cTn>
                              </p:par>
                              <p:par>
                                <p:cTn id="195" presetID="42" presetClass="entr" presetSubtype="0" fill="hold" grpId="0" nodeType="withEffect">
                                  <p:stCondLst>
                                    <p:cond delay="52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600"/>
                                        <p:tgtEl>
                                          <p:spTgt spid="42"/>
                                        </p:tgtEl>
                                      </p:cBhvr>
                                    </p:animEffect>
                                    <p:anim calcmode="lin" valueType="num">
                                      <p:cBhvr additive="base">
                                        <p:cTn id="198" dur="600" decel="100000" fill="hold"/>
                                        <p:tgtEl>
                                          <p:spTgt spid="42"/>
                                        </p:tgtEl>
                                        <p:attrNameLst>
                                          <p:attrName>ppt_x</p:attrName>
                                        </p:attrNameLst>
                                      </p:cBhvr>
                                      <p:tavLst>
                                        <p:tav tm="0">
                                          <p:val>
                                            <p:strVal val="#ppt_x"/>
                                          </p:val>
                                        </p:tav>
                                        <p:tav tm="100000">
                                          <p:val>
                                            <p:strVal val="#ppt_x"/>
                                          </p:val>
                                        </p:tav>
                                      </p:tavLst>
                                    </p:anim>
                                    <p:anim calcmode="lin" valueType="num">
                                      <p:cBhvr additive="base">
                                        <p:cTn id="199" dur="600" decel="100000" fill="hold"/>
                                        <p:tgtEl>
                                          <p:spTgt spid="42"/>
                                        </p:tgtEl>
                                        <p:attrNameLst>
                                          <p:attrName>ppt_y</p:attrName>
                                        </p:attrNameLst>
                                      </p:cBhvr>
                                      <p:tavLst>
                                        <p:tav tm="0">
                                          <p:val>
                                            <p:strVal val="#ppt_y+.03"/>
                                          </p:val>
                                        </p:tav>
                                        <p:tav tm="100000">
                                          <p:val>
                                            <p:strVal val="#ppt_y"/>
                                          </p:val>
                                        </p:tav>
                                      </p:tavLst>
                                    </p:anim>
                                  </p:childTnLst>
                                </p:cTn>
                              </p:par>
                              <p:par>
                                <p:cTn id="200" presetID="42" presetClass="entr" presetSubtype="0" fill="hold" grpId="0" nodeType="withEffect">
                                  <p:stCondLst>
                                    <p:cond delay="52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600"/>
                                        <p:tgtEl>
                                          <p:spTgt spid="43"/>
                                        </p:tgtEl>
                                      </p:cBhvr>
                                    </p:animEffect>
                                    <p:anim calcmode="lin" valueType="num">
                                      <p:cBhvr additive="base">
                                        <p:cTn id="203" dur="600" decel="100000" fill="hold"/>
                                        <p:tgtEl>
                                          <p:spTgt spid="43"/>
                                        </p:tgtEl>
                                        <p:attrNameLst>
                                          <p:attrName>ppt_x</p:attrName>
                                        </p:attrNameLst>
                                      </p:cBhvr>
                                      <p:tavLst>
                                        <p:tav tm="0">
                                          <p:val>
                                            <p:strVal val="#ppt_x"/>
                                          </p:val>
                                        </p:tav>
                                        <p:tav tm="100000">
                                          <p:val>
                                            <p:strVal val="#ppt_x"/>
                                          </p:val>
                                        </p:tav>
                                      </p:tavLst>
                                    </p:anim>
                                    <p:anim calcmode="lin" valueType="num">
                                      <p:cBhvr additive="base">
                                        <p:cTn id="204" dur="600" decel="100000" fill="hold"/>
                                        <p:tgtEl>
                                          <p:spTgt spid="43"/>
                                        </p:tgtEl>
                                        <p:attrNameLst>
                                          <p:attrName>ppt_y</p:attrName>
                                        </p:attrNameLst>
                                      </p:cBhvr>
                                      <p:tavLst>
                                        <p:tav tm="0">
                                          <p:val>
                                            <p:strVal val="#ppt_y+.03"/>
                                          </p:val>
                                        </p:tav>
                                        <p:tav tm="100000">
                                          <p:val>
                                            <p:strVal val="#ppt_y"/>
                                          </p:val>
                                        </p:tav>
                                      </p:tavLst>
                                    </p:anim>
                                  </p:childTnLst>
                                </p:cTn>
                              </p:par>
                              <p:par>
                                <p:cTn id="205" presetID="42" presetClass="entr" presetSubtype="0" fill="hold" grpId="0" nodeType="withEffect">
                                  <p:stCondLst>
                                    <p:cond delay="52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600"/>
                                        <p:tgtEl>
                                          <p:spTgt spid="44"/>
                                        </p:tgtEl>
                                      </p:cBhvr>
                                    </p:animEffect>
                                    <p:anim calcmode="lin" valueType="num">
                                      <p:cBhvr additive="base">
                                        <p:cTn id="208" dur="600" decel="100000" fill="hold"/>
                                        <p:tgtEl>
                                          <p:spTgt spid="44"/>
                                        </p:tgtEl>
                                        <p:attrNameLst>
                                          <p:attrName>ppt_x</p:attrName>
                                        </p:attrNameLst>
                                      </p:cBhvr>
                                      <p:tavLst>
                                        <p:tav tm="0">
                                          <p:val>
                                            <p:strVal val="#ppt_x"/>
                                          </p:val>
                                        </p:tav>
                                        <p:tav tm="100000">
                                          <p:val>
                                            <p:strVal val="#ppt_x"/>
                                          </p:val>
                                        </p:tav>
                                      </p:tavLst>
                                    </p:anim>
                                    <p:anim calcmode="lin" valueType="num">
                                      <p:cBhvr additive="base">
                                        <p:cTn id="209" dur="600" decel="100000" fill="hold"/>
                                        <p:tgtEl>
                                          <p:spTgt spid="44"/>
                                        </p:tgtEl>
                                        <p:attrNameLst>
                                          <p:attrName>ppt_y</p:attrName>
                                        </p:attrNameLst>
                                      </p:cBhvr>
                                      <p:tavLst>
                                        <p:tav tm="0">
                                          <p:val>
                                            <p:strVal val="#ppt_y+.03"/>
                                          </p:val>
                                        </p:tav>
                                        <p:tav tm="100000">
                                          <p:val>
                                            <p:strVal val="#ppt_y"/>
                                          </p:val>
                                        </p:tav>
                                      </p:tavLst>
                                    </p:anim>
                                  </p:childTnLst>
                                </p:cTn>
                              </p:par>
                              <p:par>
                                <p:cTn id="210" presetID="42" presetClass="entr" presetSubtype="0" fill="hold" grpId="0" nodeType="withEffect">
                                  <p:stCondLst>
                                    <p:cond delay="52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600"/>
                                        <p:tgtEl>
                                          <p:spTgt spid="45"/>
                                        </p:tgtEl>
                                      </p:cBhvr>
                                    </p:animEffect>
                                    <p:anim calcmode="lin" valueType="num">
                                      <p:cBhvr additive="base">
                                        <p:cTn id="213" dur="600" decel="100000" fill="hold"/>
                                        <p:tgtEl>
                                          <p:spTgt spid="45"/>
                                        </p:tgtEl>
                                        <p:attrNameLst>
                                          <p:attrName>ppt_x</p:attrName>
                                        </p:attrNameLst>
                                      </p:cBhvr>
                                      <p:tavLst>
                                        <p:tav tm="0">
                                          <p:val>
                                            <p:strVal val="#ppt_x"/>
                                          </p:val>
                                        </p:tav>
                                        <p:tav tm="100000">
                                          <p:val>
                                            <p:strVal val="#ppt_x"/>
                                          </p:val>
                                        </p:tav>
                                      </p:tavLst>
                                    </p:anim>
                                    <p:anim calcmode="lin" valueType="num">
                                      <p:cBhvr additive="base">
                                        <p:cTn id="214" dur="600" decel="100000" fill="hold"/>
                                        <p:tgtEl>
                                          <p:spTgt spid="45"/>
                                        </p:tgtEl>
                                        <p:attrNameLst>
                                          <p:attrName>ppt_y</p:attrName>
                                        </p:attrNameLst>
                                      </p:cBhvr>
                                      <p:tavLst>
                                        <p:tav tm="0">
                                          <p:val>
                                            <p:strVal val="#ppt_y+.03"/>
                                          </p:val>
                                        </p:tav>
                                        <p:tav tm="100000">
                                          <p:val>
                                            <p:strVal val="#ppt_y"/>
                                          </p:val>
                                        </p:tav>
                                      </p:tavLst>
                                    </p:anim>
                                  </p:childTnLst>
                                </p:cTn>
                              </p:par>
                              <p:par>
                                <p:cTn id="215" presetID="42" presetClass="entr" presetSubtype="0" fill="hold" grpId="0" nodeType="withEffect">
                                  <p:stCondLst>
                                    <p:cond delay="52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600"/>
                                        <p:tgtEl>
                                          <p:spTgt spid="46"/>
                                        </p:tgtEl>
                                      </p:cBhvr>
                                    </p:animEffect>
                                    <p:anim calcmode="lin" valueType="num">
                                      <p:cBhvr additive="base">
                                        <p:cTn id="218" dur="600" decel="100000" fill="hold"/>
                                        <p:tgtEl>
                                          <p:spTgt spid="46"/>
                                        </p:tgtEl>
                                        <p:attrNameLst>
                                          <p:attrName>ppt_x</p:attrName>
                                        </p:attrNameLst>
                                      </p:cBhvr>
                                      <p:tavLst>
                                        <p:tav tm="0">
                                          <p:val>
                                            <p:strVal val="#ppt_x"/>
                                          </p:val>
                                        </p:tav>
                                        <p:tav tm="100000">
                                          <p:val>
                                            <p:strVal val="#ppt_x"/>
                                          </p:val>
                                        </p:tav>
                                      </p:tavLst>
                                    </p:anim>
                                    <p:anim calcmode="lin" valueType="num">
                                      <p:cBhvr additive="base">
                                        <p:cTn id="219" dur="600" decel="100000" fill="hold"/>
                                        <p:tgtEl>
                                          <p:spTgt spid="46"/>
                                        </p:tgtEl>
                                        <p:attrNameLst>
                                          <p:attrName>ppt_y</p:attrName>
                                        </p:attrNameLst>
                                      </p:cBhvr>
                                      <p:tavLst>
                                        <p:tav tm="0">
                                          <p:val>
                                            <p:strVal val="#ppt_y+.03"/>
                                          </p:val>
                                        </p:tav>
                                        <p:tav tm="100000">
                                          <p:val>
                                            <p:strVal val="#ppt_y"/>
                                          </p:val>
                                        </p:tav>
                                      </p:tavLst>
                                    </p:anim>
                                  </p:childTnLst>
                                </p:cTn>
                              </p:par>
                              <p:par>
                                <p:cTn id="220" presetID="42" presetClass="entr" presetSubtype="0" fill="hold" grpId="0" nodeType="withEffect">
                                  <p:stCondLst>
                                    <p:cond delay="52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600"/>
                                        <p:tgtEl>
                                          <p:spTgt spid="47"/>
                                        </p:tgtEl>
                                      </p:cBhvr>
                                    </p:animEffect>
                                    <p:anim calcmode="lin" valueType="num">
                                      <p:cBhvr additive="base">
                                        <p:cTn id="223" dur="600" decel="100000" fill="hold"/>
                                        <p:tgtEl>
                                          <p:spTgt spid="47"/>
                                        </p:tgtEl>
                                        <p:attrNameLst>
                                          <p:attrName>ppt_x</p:attrName>
                                        </p:attrNameLst>
                                      </p:cBhvr>
                                      <p:tavLst>
                                        <p:tav tm="0">
                                          <p:val>
                                            <p:strVal val="#ppt_x"/>
                                          </p:val>
                                        </p:tav>
                                        <p:tav tm="100000">
                                          <p:val>
                                            <p:strVal val="#ppt_x"/>
                                          </p:val>
                                        </p:tav>
                                      </p:tavLst>
                                    </p:anim>
                                    <p:anim calcmode="lin" valueType="num">
                                      <p:cBhvr additive="base">
                                        <p:cTn id="224" dur="600" decel="100000" fill="hold"/>
                                        <p:tgtEl>
                                          <p:spTgt spid="47"/>
                                        </p:tgtEl>
                                        <p:attrNameLst>
                                          <p:attrName>ppt_y</p:attrName>
                                        </p:attrNameLst>
                                      </p:cBhvr>
                                      <p:tavLst>
                                        <p:tav tm="0">
                                          <p:val>
                                            <p:strVal val="#ppt_y+.03"/>
                                          </p:val>
                                        </p:tav>
                                        <p:tav tm="100000">
                                          <p:val>
                                            <p:strVal val="#ppt_y"/>
                                          </p:val>
                                        </p:tav>
                                      </p:tavLst>
                                    </p:anim>
                                  </p:childTnLst>
                                </p:cTn>
                              </p:par>
                              <p:par>
                                <p:cTn id="225" presetID="42" presetClass="entr" presetSubtype="0" fill="hold" grpId="0" nodeType="withEffect">
                                  <p:stCondLst>
                                    <p:cond delay="52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600"/>
                                        <p:tgtEl>
                                          <p:spTgt spid="48"/>
                                        </p:tgtEl>
                                      </p:cBhvr>
                                    </p:animEffect>
                                    <p:anim calcmode="lin" valueType="num">
                                      <p:cBhvr additive="base">
                                        <p:cTn id="228" dur="600" decel="100000" fill="hold"/>
                                        <p:tgtEl>
                                          <p:spTgt spid="48"/>
                                        </p:tgtEl>
                                        <p:attrNameLst>
                                          <p:attrName>ppt_x</p:attrName>
                                        </p:attrNameLst>
                                      </p:cBhvr>
                                      <p:tavLst>
                                        <p:tav tm="0">
                                          <p:val>
                                            <p:strVal val="#ppt_x"/>
                                          </p:val>
                                        </p:tav>
                                        <p:tav tm="100000">
                                          <p:val>
                                            <p:strVal val="#ppt_x"/>
                                          </p:val>
                                        </p:tav>
                                      </p:tavLst>
                                    </p:anim>
                                    <p:anim calcmode="lin" valueType="num">
                                      <p:cBhvr additive="base">
                                        <p:cTn id="229" dur="600" decel="100000" fill="hold"/>
                                        <p:tgtEl>
                                          <p:spTgt spid="48"/>
                                        </p:tgtEl>
                                        <p:attrNameLst>
                                          <p:attrName>ppt_y</p:attrName>
                                        </p:attrNameLst>
                                      </p:cBhvr>
                                      <p:tavLst>
                                        <p:tav tm="0">
                                          <p:val>
                                            <p:strVal val="#ppt_y+.03"/>
                                          </p:val>
                                        </p:tav>
                                        <p:tav tm="100000">
                                          <p:val>
                                            <p:strVal val="#ppt_y"/>
                                          </p:val>
                                        </p:tav>
                                      </p:tavLst>
                                    </p:anim>
                                  </p:childTnLst>
                                </p:cTn>
                              </p:par>
                              <p:par>
                                <p:cTn id="230" presetID="42" presetClass="entr" presetSubtype="0" fill="hold" grpId="0" nodeType="withEffect">
                                  <p:stCondLst>
                                    <p:cond delay="65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600"/>
                                        <p:tgtEl>
                                          <p:spTgt spid="49"/>
                                        </p:tgtEl>
                                      </p:cBhvr>
                                    </p:animEffect>
                                    <p:anim calcmode="lin" valueType="num">
                                      <p:cBhvr additive="base">
                                        <p:cTn id="233" dur="600" decel="100000" fill="hold"/>
                                        <p:tgtEl>
                                          <p:spTgt spid="49"/>
                                        </p:tgtEl>
                                        <p:attrNameLst>
                                          <p:attrName>ppt_x</p:attrName>
                                        </p:attrNameLst>
                                      </p:cBhvr>
                                      <p:tavLst>
                                        <p:tav tm="0">
                                          <p:val>
                                            <p:strVal val="#ppt_x"/>
                                          </p:val>
                                        </p:tav>
                                        <p:tav tm="100000">
                                          <p:val>
                                            <p:strVal val="#ppt_x"/>
                                          </p:val>
                                        </p:tav>
                                      </p:tavLst>
                                    </p:anim>
                                    <p:anim calcmode="lin" valueType="num">
                                      <p:cBhvr additive="base">
                                        <p:cTn id="234" dur="600" decel="100000" fill="hold"/>
                                        <p:tgtEl>
                                          <p:spTgt spid="49"/>
                                        </p:tgtEl>
                                        <p:attrNameLst>
                                          <p:attrName>ppt_y</p:attrName>
                                        </p:attrNameLst>
                                      </p:cBhvr>
                                      <p:tavLst>
                                        <p:tav tm="0">
                                          <p:val>
                                            <p:strVal val="#ppt_y+.03"/>
                                          </p:val>
                                        </p:tav>
                                        <p:tav tm="100000">
                                          <p:val>
                                            <p:strVal val="#ppt_y"/>
                                          </p:val>
                                        </p:tav>
                                      </p:tavLst>
                                    </p:anim>
                                  </p:childTnLst>
                                </p:cTn>
                              </p:par>
                              <p:par>
                                <p:cTn id="235" presetID="42" presetClass="entr" presetSubtype="0" fill="hold" grpId="0" nodeType="withEffect">
                                  <p:stCondLst>
                                    <p:cond delay="650"/>
                                  </p:stCondLst>
                                  <p:childTnLst>
                                    <p:set>
                                      <p:cBhvr>
                                        <p:cTn id="236" dur="1" fill="hold">
                                          <p:stCondLst>
                                            <p:cond delay="0"/>
                                          </p:stCondLst>
                                        </p:cTn>
                                        <p:tgtEl>
                                          <p:spTgt spid="52"/>
                                        </p:tgtEl>
                                        <p:attrNameLst>
                                          <p:attrName>style.visibility</p:attrName>
                                        </p:attrNameLst>
                                      </p:cBhvr>
                                      <p:to>
                                        <p:strVal val="visible"/>
                                      </p:to>
                                    </p:set>
                                    <p:animEffect transition="in" filter="fade">
                                      <p:cBhvr>
                                        <p:cTn id="237" dur="600"/>
                                        <p:tgtEl>
                                          <p:spTgt spid="52"/>
                                        </p:tgtEl>
                                      </p:cBhvr>
                                    </p:animEffect>
                                    <p:anim calcmode="lin" valueType="num">
                                      <p:cBhvr additive="base">
                                        <p:cTn id="238" dur="600" decel="100000" fill="hold"/>
                                        <p:tgtEl>
                                          <p:spTgt spid="52"/>
                                        </p:tgtEl>
                                        <p:attrNameLst>
                                          <p:attrName>ppt_x</p:attrName>
                                        </p:attrNameLst>
                                      </p:cBhvr>
                                      <p:tavLst>
                                        <p:tav tm="0">
                                          <p:val>
                                            <p:strVal val="#ppt_x"/>
                                          </p:val>
                                        </p:tav>
                                        <p:tav tm="100000">
                                          <p:val>
                                            <p:strVal val="#ppt_x"/>
                                          </p:val>
                                        </p:tav>
                                      </p:tavLst>
                                    </p:anim>
                                    <p:anim calcmode="lin" valueType="num">
                                      <p:cBhvr additive="base">
                                        <p:cTn id="239" dur="600" decel="100000" fill="hold"/>
                                        <p:tgtEl>
                                          <p:spTgt spid="52"/>
                                        </p:tgtEl>
                                        <p:attrNameLst>
                                          <p:attrName>ppt_y</p:attrName>
                                        </p:attrNameLst>
                                      </p:cBhvr>
                                      <p:tavLst>
                                        <p:tav tm="0">
                                          <p:val>
                                            <p:strVal val="#ppt_y+.03"/>
                                          </p:val>
                                        </p:tav>
                                        <p:tav tm="100000">
                                          <p:val>
                                            <p:strVal val="#ppt_y"/>
                                          </p:val>
                                        </p:tav>
                                      </p:tavLst>
                                    </p:anim>
                                  </p:childTnLst>
                                </p:cTn>
                              </p:par>
                              <p:par>
                                <p:cTn id="240" presetID="42" presetClass="entr" presetSubtype="0" fill="hold" grpId="0" nodeType="withEffect">
                                  <p:stCondLst>
                                    <p:cond delay="650"/>
                                  </p:stCondLst>
                                  <p:childTnLst>
                                    <p:set>
                                      <p:cBhvr>
                                        <p:cTn id="241" dur="1" fill="hold">
                                          <p:stCondLst>
                                            <p:cond delay="0"/>
                                          </p:stCondLst>
                                        </p:cTn>
                                        <p:tgtEl>
                                          <p:spTgt spid="53"/>
                                        </p:tgtEl>
                                        <p:attrNameLst>
                                          <p:attrName>style.visibility</p:attrName>
                                        </p:attrNameLst>
                                      </p:cBhvr>
                                      <p:to>
                                        <p:strVal val="visible"/>
                                      </p:to>
                                    </p:set>
                                    <p:animEffect transition="in" filter="fade">
                                      <p:cBhvr>
                                        <p:cTn id="242" dur="600"/>
                                        <p:tgtEl>
                                          <p:spTgt spid="53"/>
                                        </p:tgtEl>
                                      </p:cBhvr>
                                    </p:animEffect>
                                    <p:anim calcmode="lin" valueType="num">
                                      <p:cBhvr additive="base">
                                        <p:cTn id="243" dur="600" decel="100000" fill="hold"/>
                                        <p:tgtEl>
                                          <p:spTgt spid="53"/>
                                        </p:tgtEl>
                                        <p:attrNameLst>
                                          <p:attrName>ppt_x</p:attrName>
                                        </p:attrNameLst>
                                      </p:cBhvr>
                                      <p:tavLst>
                                        <p:tav tm="0">
                                          <p:val>
                                            <p:strVal val="#ppt_x"/>
                                          </p:val>
                                        </p:tav>
                                        <p:tav tm="100000">
                                          <p:val>
                                            <p:strVal val="#ppt_x"/>
                                          </p:val>
                                        </p:tav>
                                      </p:tavLst>
                                    </p:anim>
                                    <p:anim calcmode="lin" valueType="num">
                                      <p:cBhvr additive="base">
                                        <p:cTn id="244" dur="600" decel="100000" fill="hold"/>
                                        <p:tgtEl>
                                          <p:spTgt spid="53"/>
                                        </p:tgtEl>
                                        <p:attrNameLst>
                                          <p:attrName>ppt_y</p:attrName>
                                        </p:attrNameLst>
                                      </p:cBhvr>
                                      <p:tavLst>
                                        <p:tav tm="0">
                                          <p:val>
                                            <p:strVal val="#ppt_y+.03"/>
                                          </p:val>
                                        </p:tav>
                                        <p:tav tm="100000">
                                          <p:val>
                                            <p:strVal val="#ppt_y"/>
                                          </p:val>
                                        </p:tav>
                                      </p:tavLst>
                                    </p:anim>
                                  </p:childTnLst>
                                </p:cTn>
                              </p:par>
                              <p:par>
                                <p:cTn id="245" presetID="42" presetClass="entr" presetSubtype="0" fill="hold" grpId="0" nodeType="withEffect">
                                  <p:stCondLst>
                                    <p:cond delay="780"/>
                                  </p:stCondLst>
                                  <p:childTnLst>
                                    <p:set>
                                      <p:cBhvr>
                                        <p:cTn id="246" dur="1" fill="hold">
                                          <p:stCondLst>
                                            <p:cond delay="0"/>
                                          </p:stCondLst>
                                        </p:cTn>
                                        <p:tgtEl>
                                          <p:spTgt spid="54"/>
                                        </p:tgtEl>
                                        <p:attrNameLst>
                                          <p:attrName>style.visibility</p:attrName>
                                        </p:attrNameLst>
                                      </p:cBhvr>
                                      <p:to>
                                        <p:strVal val="visible"/>
                                      </p:to>
                                    </p:set>
                                    <p:animEffect transition="in" filter="fade">
                                      <p:cBhvr>
                                        <p:cTn id="247" dur="600"/>
                                        <p:tgtEl>
                                          <p:spTgt spid="54"/>
                                        </p:tgtEl>
                                      </p:cBhvr>
                                    </p:animEffect>
                                    <p:anim calcmode="lin" valueType="num">
                                      <p:cBhvr additive="base">
                                        <p:cTn id="248" dur="600" decel="100000" fill="hold"/>
                                        <p:tgtEl>
                                          <p:spTgt spid="54"/>
                                        </p:tgtEl>
                                        <p:attrNameLst>
                                          <p:attrName>ppt_x</p:attrName>
                                        </p:attrNameLst>
                                      </p:cBhvr>
                                      <p:tavLst>
                                        <p:tav tm="0">
                                          <p:val>
                                            <p:strVal val="#ppt_x"/>
                                          </p:val>
                                        </p:tav>
                                        <p:tav tm="100000">
                                          <p:val>
                                            <p:strVal val="#ppt_x"/>
                                          </p:val>
                                        </p:tav>
                                      </p:tavLst>
                                    </p:anim>
                                    <p:anim calcmode="lin" valueType="num">
                                      <p:cBhvr additive="base">
                                        <p:cTn id="249" dur="600" decel="100000" fill="hold"/>
                                        <p:tgtEl>
                                          <p:spTgt spid="54"/>
                                        </p:tgtEl>
                                        <p:attrNameLst>
                                          <p:attrName>ppt_y</p:attrName>
                                        </p:attrNameLst>
                                      </p:cBhvr>
                                      <p:tavLst>
                                        <p:tav tm="0">
                                          <p:val>
                                            <p:strVal val="#ppt_y+.03"/>
                                          </p:val>
                                        </p:tav>
                                        <p:tav tm="100000">
                                          <p:val>
                                            <p:strVal val="#ppt_y"/>
                                          </p:val>
                                        </p:tav>
                                      </p:tavLst>
                                    </p:anim>
                                  </p:childTnLst>
                                </p:cTn>
                              </p:par>
                              <p:par>
                                <p:cTn id="250" presetID="42" presetClass="entr" presetSubtype="0" fill="hold" grpId="0" nodeType="withEffect">
                                  <p:stCondLst>
                                    <p:cond delay="780"/>
                                  </p:stCondLst>
                                  <p:childTnLst>
                                    <p:set>
                                      <p:cBhvr>
                                        <p:cTn id="251" dur="1" fill="hold">
                                          <p:stCondLst>
                                            <p:cond delay="0"/>
                                          </p:stCondLst>
                                        </p:cTn>
                                        <p:tgtEl>
                                          <p:spTgt spid="55"/>
                                        </p:tgtEl>
                                        <p:attrNameLst>
                                          <p:attrName>style.visibility</p:attrName>
                                        </p:attrNameLst>
                                      </p:cBhvr>
                                      <p:to>
                                        <p:strVal val="visible"/>
                                      </p:to>
                                    </p:set>
                                    <p:animEffect transition="in" filter="fade">
                                      <p:cBhvr>
                                        <p:cTn id="252" dur="600"/>
                                        <p:tgtEl>
                                          <p:spTgt spid="55"/>
                                        </p:tgtEl>
                                      </p:cBhvr>
                                    </p:animEffect>
                                    <p:anim calcmode="lin" valueType="num">
                                      <p:cBhvr additive="base">
                                        <p:cTn id="253" dur="600" decel="100000" fill="hold"/>
                                        <p:tgtEl>
                                          <p:spTgt spid="55"/>
                                        </p:tgtEl>
                                        <p:attrNameLst>
                                          <p:attrName>ppt_x</p:attrName>
                                        </p:attrNameLst>
                                      </p:cBhvr>
                                      <p:tavLst>
                                        <p:tav tm="0">
                                          <p:val>
                                            <p:strVal val="#ppt_x"/>
                                          </p:val>
                                        </p:tav>
                                        <p:tav tm="100000">
                                          <p:val>
                                            <p:strVal val="#ppt_x"/>
                                          </p:val>
                                        </p:tav>
                                      </p:tavLst>
                                    </p:anim>
                                    <p:anim calcmode="lin" valueType="num">
                                      <p:cBhvr additive="base">
                                        <p:cTn id="254" dur="600" decel="100000" fill="hold"/>
                                        <p:tgtEl>
                                          <p:spTgt spid="55"/>
                                        </p:tgtEl>
                                        <p:attrNameLst>
                                          <p:attrName>ppt_y</p:attrName>
                                        </p:attrNameLst>
                                      </p:cBhvr>
                                      <p:tavLst>
                                        <p:tav tm="0">
                                          <p:val>
                                            <p:strVal val="#ppt_y+.03"/>
                                          </p:val>
                                        </p:tav>
                                        <p:tav tm="100000">
                                          <p:val>
                                            <p:strVal val="#ppt_y"/>
                                          </p:val>
                                        </p:tav>
                                      </p:tavLst>
                                    </p:anim>
                                  </p:childTnLst>
                                </p:cTn>
                              </p:par>
                              <p:par>
                                <p:cTn id="255" presetID="53" presetClass="entr" presetSubtype="16" fill="hold" grpId="0" nodeType="withEffect">
                                  <p:stCondLst>
                                    <p:cond delay="810"/>
                                  </p:stCondLst>
                                  <p:childTnLst>
                                    <p:set>
                                      <p:cBhvr>
                                        <p:cTn id="256" dur="1" fill="hold">
                                          <p:stCondLst>
                                            <p:cond delay="0"/>
                                          </p:stCondLst>
                                        </p:cTn>
                                        <p:tgtEl>
                                          <p:spTgt spid="50"/>
                                        </p:tgtEl>
                                        <p:attrNameLst>
                                          <p:attrName>style.visibility</p:attrName>
                                        </p:attrNameLst>
                                      </p:cBhvr>
                                      <p:to>
                                        <p:strVal val="visible"/>
                                      </p:to>
                                    </p:set>
                                    <p:anim calcmode="lin" valueType="num">
                                      <p:cBhvr additive="base">
                                        <p:cTn id="257" dur="450" decel="100000" fill="hold"/>
                                        <p:tgtEl>
                                          <p:spTgt spid="50"/>
                                        </p:tgtEl>
                                        <p:attrNameLst>
                                          <p:attrName>ppt_w</p:attrName>
                                        </p:attrNameLst>
                                      </p:cBhvr>
                                      <p:tavLst>
                                        <p:tav tm="0">
                                          <p:val>
                                            <p:strVal val="0"/>
                                          </p:val>
                                        </p:tav>
                                        <p:tav tm="100000">
                                          <p:val>
                                            <p:strVal val="#ppt_w"/>
                                          </p:val>
                                        </p:tav>
                                      </p:tavLst>
                                    </p:anim>
                                    <p:anim calcmode="lin" valueType="num">
                                      <p:cBhvr additive="base">
                                        <p:cTn id="258" dur="450" decel="100000" fill="hold"/>
                                        <p:tgtEl>
                                          <p:spTgt spid="50"/>
                                        </p:tgtEl>
                                        <p:attrNameLst>
                                          <p:attrName>ppt_h</p:attrName>
                                        </p:attrNameLst>
                                      </p:cBhvr>
                                      <p:tavLst>
                                        <p:tav tm="0">
                                          <p:val>
                                            <p:strVal val="0"/>
                                          </p:val>
                                        </p:tav>
                                        <p:tav tm="100000">
                                          <p:val>
                                            <p:strVal val="#ppt_h"/>
                                          </p:val>
                                        </p:tav>
                                      </p:tavLst>
                                    </p:anim>
                                    <p:animEffect transition="in" filter="fade">
                                      <p:cBhvr>
                                        <p:cTn id="259" dur="450"/>
                                        <p:tgtEl>
                                          <p:spTgt spid="50"/>
                                        </p:tgtEl>
                                      </p:cBhvr>
                                    </p:animEffect>
                                  </p:childTnLst>
                                </p:cTn>
                              </p:par>
                              <p:par>
                                <p:cTn id="260" presetID="53" presetClass="entr" presetSubtype="16" fill="hold" grpId="0" nodeType="withEffect">
                                  <p:stCondLst>
                                    <p:cond delay="910"/>
                                  </p:stCondLst>
                                  <p:childTnLst>
                                    <p:set>
                                      <p:cBhvr>
                                        <p:cTn id="261" dur="1" fill="hold">
                                          <p:stCondLst>
                                            <p:cond delay="0"/>
                                          </p:stCondLst>
                                        </p:cTn>
                                        <p:tgtEl>
                                          <p:spTgt spid="51"/>
                                        </p:tgtEl>
                                        <p:attrNameLst>
                                          <p:attrName>style.visibility</p:attrName>
                                        </p:attrNameLst>
                                      </p:cBhvr>
                                      <p:to>
                                        <p:strVal val="visible"/>
                                      </p:to>
                                    </p:set>
                                    <p:anim calcmode="lin" valueType="num">
                                      <p:cBhvr additive="base">
                                        <p:cTn id="262" dur="450" decel="100000" fill="hold"/>
                                        <p:tgtEl>
                                          <p:spTgt spid="51"/>
                                        </p:tgtEl>
                                        <p:attrNameLst>
                                          <p:attrName>ppt_w</p:attrName>
                                        </p:attrNameLst>
                                      </p:cBhvr>
                                      <p:tavLst>
                                        <p:tav tm="0">
                                          <p:val>
                                            <p:strVal val="0"/>
                                          </p:val>
                                        </p:tav>
                                        <p:tav tm="100000">
                                          <p:val>
                                            <p:strVal val="#ppt_w"/>
                                          </p:val>
                                        </p:tav>
                                      </p:tavLst>
                                    </p:anim>
                                    <p:anim calcmode="lin" valueType="num">
                                      <p:cBhvr additive="base">
                                        <p:cTn id="263" dur="450" decel="100000" fill="hold"/>
                                        <p:tgtEl>
                                          <p:spTgt spid="51"/>
                                        </p:tgtEl>
                                        <p:attrNameLst>
                                          <p:attrName>ppt_h</p:attrName>
                                        </p:attrNameLst>
                                      </p:cBhvr>
                                      <p:tavLst>
                                        <p:tav tm="0">
                                          <p:val>
                                            <p:strVal val="0"/>
                                          </p:val>
                                        </p:tav>
                                        <p:tav tm="100000">
                                          <p:val>
                                            <p:strVal val="#ppt_h"/>
                                          </p:val>
                                        </p:tav>
                                      </p:tavLst>
                                    </p:anim>
                                    <p:animEffect transition="in" filter="fade">
                                      <p:cBhvr>
                                        <p:cTn id="264" dur="450"/>
                                        <p:tgtEl>
                                          <p:spTgt spid="51"/>
                                        </p:tgtEl>
                                      </p:cBhvr>
                                    </p:animEffect>
                                  </p:childTnLst>
                                </p:cTn>
                              </p:par>
                              <p:par>
                                <p:cTn id="265" presetID="42" presetClass="entr" presetSubtype="0" fill="hold" grpId="0" nodeType="withEffect">
                                  <p:stCondLst>
                                    <p:cond delay="91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600"/>
                                        <p:tgtEl>
                                          <p:spTgt spid="56"/>
                                        </p:tgtEl>
                                      </p:cBhvr>
                                    </p:animEffect>
                                    <p:anim calcmode="lin" valueType="num">
                                      <p:cBhvr additive="base">
                                        <p:cTn id="268" dur="600" decel="100000" fill="hold"/>
                                        <p:tgtEl>
                                          <p:spTgt spid="56"/>
                                        </p:tgtEl>
                                        <p:attrNameLst>
                                          <p:attrName>ppt_x</p:attrName>
                                        </p:attrNameLst>
                                      </p:cBhvr>
                                      <p:tavLst>
                                        <p:tav tm="0">
                                          <p:val>
                                            <p:strVal val="#ppt_x"/>
                                          </p:val>
                                        </p:tav>
                                        <p:tav tm="100000">
                                          <p:val>
                                            <p:strVal val="#ppt_x"/>
                                          </p:val>
                                        </p:tav>
                                      </p:tavLst>
                                    </p:anim>
                                    <p:anim calcmode="lin" valueType="num">
                                      <p:cBhvr additive="base">
                                        <p:cTn id="269" dur="600" decel="100000" fill="hold"/>
                                        <p:tgtEl>
                                          <p:spTgt spid="56"/>
                                        </p:tgtEl>
                                        <p:attrNameLst>
                                          <p:attrName>ppt_y</p:attrName>
                                        </p:attrNameLst>
                                      </p:cBhvr>
                                      <p:tavLst>
                                        <p:tav tm="0">
                                          <p:val>
                                            <p:strVal val="#ppt_y+.03"/>
                                          </p:val>
                                        </p:tav>
                                        <p:tav tm="100000">
                                          <p:val>
                                            <p:strVal val="#ppt_y"/>
                                          </p:val>
                                        </p:tav>
                                      </p:tavLst>
                                    </p:anim>
                                  </p:childTnLst>
                                </p:cTn>
                              </p:par>
                              <p:par>
                                <p:cTn id="270" presetID="42" presetClass="entr" presetSubtype="0" fill="hold" grpId="0" nodeType="withEffect">
                                  <p:stCondLst>
                                    <p:cond delay="910"/>
                                  </p:stCondLst>
                                  <p:childTnLst>
                                    <p:set>
                                      <p:cBhvr>
                                        <p:cTn id="271" dur="1" fill="hold">
                                          <p:stCondLst>
                                            <p:cond delay="0"/>
                                          </p:stCondLst>
                                        </p:cTn>
                                        <p:tgtEl>
                                          <p:spTgt spid="57"/>
                                        </p:tgtEl>
                                        <p:attrNameLst>
                                          <p:attrName>style.visibility</p:attrName>
                                        </p:attrNameLst>
                                      </p:cBhvr>
                                      <p:to>
                                        <p:strVal val="visible"/>
                                      </p:to>
                                    </p:set>
                                    <p:animEffect transition="in" filter="fade">
                                      <p:cBhvr>
                                        <p:cTn id="272" dur="600"/>
                                        <p:tgtEl>
                                          <p:spTgt spid="57"/>
                                        </p:tgtEl>
                                      </p:cBhvr>
                                    </p:animEffect>
                                    <p:anim calcmode="lin" valueType="num">
                                      <p:cBhvr additive="base">
                                        <p:cTn id="273" dur="600" decel="100000" fill="hold"/>
                                        <p:tgtEl>
                                          <p:spTgt spid="57"/>
                                        </p:tgtEl>
                                        <p:attrNameLst>
                                          <p:attrName>ppt_x</p:attrName>
                                        </p:attrNameLst>
                                      </p:cBhvr>
                                      <p:tavLst>
                                        <p:tav tm="0">
                                          <p:val>
                                            <p:strVal val="#ppt_x"/>
                                          </p:val>
                                        </p:tav>
                                        <p:tav tm="100000">
                                          <p:val>
                                            <p:strVal val="#ppt_x"/>
                                          </p:val>
                                        </p:tav>
                                      </p:tavLst>
                                    </p:anim>
                                    <p:anim calcmode="lin" valueType="num">
                                      <p:cBhvr additive="base">
                                        <p:cTn id="274" dur="600" decel="100000" fill="hold"/>
                                        <p:tgtEl>
                                          <p:spTgt spid="57"/>
                                        </p:tgtEl>
                                        <p:attrNameLst>
                                          <p:attrName>ppt_y</p:attrName>
                                        </p:attrNameLst>
                                      </p:cBhvr>
                                      <p:tavLst>
                                        <p:tav tm="0">
                                          <p:val>
                                            <p:strVal val="#ppt_y+.03"/>
                                          </p:val>
                                        </p:tav>
                                        <p:tav tm="100000">
                                          <p:val>
                                            <p:strVal val="#ppt_y"/>
                                          </p:val>
                                        </p:tav>
                                      </p:tavLst>
                                    </p:anim>
                                  </p:childTnLst>
                                </p:cTn>
                              </p:par>
                              <p:par>
                                <p:cTn id="275" presetID="42" presetClass="entr" presetSubtype="0" fill="hold" grpId="0" nodeType="withEffect">
                                  <p:stCondLst>
                                    <p:cond delay="1040"/>
                                  </p:stCondLst>
                                  <p:childTnLst>
                                    <p:set>
                                      <p:cBhvr>
                                        <p:cTn id="276" dur="1" fill="hold">
                                          <p:stCondLst>
                                            <p:cond delay="0"/>
                                          </p:stCondLst>
                                        </p:cTn>
                                        <p:tgtEl>
                                          <p:spTgt spid="58"/>
                                        </p:tgtEl>
                                        <p:attrNameLst>
                                          <p:attrName>style.visibility</p:attrName>
                                        </p:attrNameLst>
                                      </p:cBhvr>
                                      <p:to>
                                        <p:strVal val="visible"/>
                                      </p:to>
                                    </p:set>
                                    <p:animEffect transition="in" filter="fade">
                                      <p:cBhvr>
                                        <p:cTn id="277" dur="600"/>
                                        <p:tgtEl>
                                          <p:spTgt spid="58"/>
                                        </p:tgtEl>
                                      </p:cBhvr>
                                    </p:animEffect>
                                    <p:anim calcmode="lin" valueType="num">
                                      <p:cBhvr additive="base">
                                        <p:cTn id="278" dur="600" decel="100000" fill="hold"/>
                                        <p:tgtEl>
                                          <p:spTgt spid="58"/>
                                        </p:tgtEl>
                                        <p:attrNameLst>
                                          <p:attrName>ppt_x</p:attrName>
                                        </p:attrNameLst>
                                      </p:cBhvr>
                                      <p:tavLst>
                                        <p:tav tm="0">
                                          <p:val>
                                            <p:strVal val="#ppt_x"/>
                                          </p:val>
                                        </p:tav>
                                        <p:tav tm="100000">
                                          <p:val>
                                            <p:strVal val="#ppt_x"/>
                                          </p:val>
                                        </p:tav>
                                      </p:tavLst>
                                    </p:anim>
                                    <p:anim calcmode="lin" valueType="num">
                                      <p:cBhvr additive="base">
                                        <p:cTn id="279" dur="600" decel="100000" fill="hold"/>
                                        <p:tgtEl>
                                          <p:spTgt spid="58"/>
                                        </p:tgtEl>
                                        <p:attrNameLst>
                                          <p:attrName>ppt_y</p:attrName>
                                        </p:attrNameLst>
                                      </p:cBhvr>
                                      <p:tavLst>
                                        <p:tav tm="0">
                                          <p:val>
                                            <p:strVal val="#ppt_y+.03"/>
                                          </p:val>
                                        </p:tav>
                                        <p:tav tm="100000">
                                          <p:val>
                                            <p:strVal val="#ppt_y"/>
                                          </p:val>
                                        </p:tav>
                                      </p:tavLst>
                                    </p:anim>
                                  </p:childTnLst>
                                </p:cTn>
                              </p:par>
                              <p:par>
                                <p:cTn id="280" presetID="42" presetClass="entr" presetSubtype="0" fill="hold" grpId="0" nodeType="withEffect">
                                  <p:stCondLst>
                                    <p:cond delay="1040"/>
                                  </p:stCondLst>
                                  <p:childTnLst>
                                    <p:set>
                                      <p:cBhvr>
                                        <p:cTn id="281" dur="1" fill="hold">
                                          <p:stCondLst>
                                            <p:cond delay="0"/>
                                          </p:stCondLst>
                                        </p:cTn>
                                        <p:tgtEl>
                                          <p:spTgt spid="59"/>
                                        </p:tgtEl>
                                        <p:attrNameLst>
                                          <p:attrName>style.visibility</p:attrName>
                                        </p:attrNameLst>
                                      </p:cBhvr>
                                      <p:to>
                                        <p:strVal val="visible"/>
                                      </p:to>
                                    </p:set>
                                    <p:animEffect transition="in" filter="fade">
                                      <p:cBhvr>
                                        <p:cTn id="282" dur="600"/>
                                        <p:tgtEl>
                                          <p:spTgt spid="59"/>
                                        </p:tgtEl>
                                      </p:cBhvr>
                                    </p:animEffect>
                                    <p:anim calcmode="lin" valueType="num">
                                      <p:cBhvr additive="base">
                                        <p:cTn id="283" dur="600" decel="100000" fill="hold"/>
                                        <p:tgtEl>
                                          <p:spTgt spid="59"/>
                                        </p:tgtEl>
                                        <p:attrNameLst>
                                          <p:attrName>ppt_x</p:attrName>
                                        </p:attrNameLst>
                                      </p:cBhvr>
                                      <p:tavLst>
                                        <p:tav tm="0">
                                          <p:val>
                                            <p:strVal val="#ppt_x"/>
                                          </p:val>
                                        </p:tav>
                                        <p:tav tm="100000">
                                          <p:val>
                                            <p:strVal val="#ppt_x"/>
                                          </p:val>
                                        </p:tav>
                                      </p:tavLst>
                                    </p:anim>
                                    <p:anim calcmode="lin" valueType="num">
                                      <p:cBhvr additive="base">
                                        <p:cTn id="284" dur="600" decel="100000" fill="hold"/>
                                        <p:tgtEl>
                                          <p:spTgt spid="59"/>
                                        </p:tgtEl>
                                        <p:attrNameLst>
                                          <p:attrName>ppt_y</p:attrName>
                                        </p:attrNameLst>
                                      </p:cBhvr>
                                      <p:tavLst>
                                        <p:tav tm="0">
                                          <p:val>
                                            <p:strVal val="#ppt_y+.03"/>
                                          </p:val>
                                        </p:tav>
                                        <p:tav tm="100000">
                                          <p:val>
                                            <p:strVal val="#ppt_y"/>
                                          </p:val>
                                        </p:tav>
                                      </p:tavLst>
                                    </p:anim>
                                  </p:childTnLst>
                                </p:cTn>
                              </p:par>
                              <p:par>
                                <p:cTn id="285" presetID="42" presetClass="entr" presetSubtype="0" fill="hold" grpId="0" nodeType="withEffect">
                                  <p:stCondLst>
                                    <p:cond delay="1170"/>
                                  </p:stCondLst>
                                  <p:childTnLst>
                                    <p:set>
                                      <p:cBhvr>
                                        <p:cTn id="286" dur="1" fill="hold">
                                          <p:stCondLst>
                                            <p:cond delay="0"/>
                                          </p:stCondLst>
                                        </p:cTn>
                                        <p:tgtEl>
                                          <p:spTgt spid="60"/>
                                        </p:tgtEl>
                                        <p:attrNameLst>
                                          <p:attrName>style.visibility</p:attrName>
                                        </p:attrNameLst>
                                      </p:cBhvr>
                                      <p:to>
                                        <p:strVal val="visible"/>
                                      </p:to>
                                    </p:set>
                                    <p:animEffect transition="in" filter="fade">
                                      <p:cBhvr>
                                        <p:cTn id="287" dur="600"/>
                                        <p:tgtEl>
                                          <p:spTgt spid="60"/>
                                        </p:tgtEl>
                                      </p:cBhvr>
                                    </p:animEffect>
                                    <p:anim calcmode="lin" valueType="num">
                                      <p:cBhvr additive="base">
                                        <p:cTn id="288" dur="600" decel="100000" fill="hold"/>
                                        <p:tgtEl>
                                          <p:spTgt spid="60"/>
                                        </p:tgtEl>
                                        <p:attrNameLst>
                                          <p:attrName>ppt_x</p:attrName>
                                        </p:attrNameLst>
                                      </p:cBhvr>
                                      <p:tavLst>
                                        <p:tav tm="0">
                                          <p:val>
                                            <p:strVal val="#ppt_x"/>
                                          </p:val>
                                        </p:tav>
                                        <p:tav tm="100000">
                                          <p:val>
                                            <p:strVal val="#ppt_x"/>
                                          </p:val>
                                        </p:tav>
                                      </p:tavLst>
                                    </p:anim>
                                    <p:anim calcmode="lin" valueType="num">
                                      <p:cBhvr additive="base">
                                        <p:cTn id="289" dur="600" decel="100000" fill="hold"/>
                                        <p:tgtEl>
                                          <p:spTgt spid="60"/>
                                        </p:tgtEl>
                                        <p:attrNameLst>
                                          <p:attrName>ppt_y</p:attrName>
                                        </p:attrNameLst>
                                      </p:cBhvr>
                                      <p:tavLst>
                                        <p:tav tm="0">
                                          <p:val>
                                            <p:strVal val="#ppt_y+.03"/>
                                          </p:val>
                                        </p:tav>
                                        <p:tav tm="100000">
                                          <p:val>
                                            <p:strVal val="#ppt_y"/>
                                          </p:val>
                                        </p:tav>
                                      </p:tavLst>
                                    </p:anim>
                                  </p:childTnLst>
                                </p:cTn>
                              </p:par>
                              <p:par>
                                <p:cTn id="290" presetID="42" presetClass="entr" presetSubtype="0" fill="hold" grpId="0" nodeType="withEffect">
                                  <p:stCondLst>
                                    <p:cond delay="1170"/>
                                  </p:stCondLst>
                                  <p:childTnLst>
                                    <p:set>
                                      <p:cBhvr>
                                        <p:cTn id="291" dur="1" fill="hold">
                                          <p:stCondLst>
                                            <p:cond delay="0"/>
                                          </p:stCondLst>
                                        </p:cTn>
                                        <p:tgtEl>
                                          <p:spTgt spid="61"/>
                                        </p:tgtEl>
                                        <p:attrNameLst>
                                          <p:attrName>style.visibility</p:attrName>
                                        </p:attrNameLst>
                                      </p:cBhvr>
                                      <p:to>
                                        <p:strVal val="visible"/>
                                      </p:to>
                                    </p:set>
                                    <p:animEffect transition="in" filter="fade">
                                      <p:cBhvr>
                                        <p:cTn id="292" dur="600"/>
                                        <p:tgtEl>
                                          <p:spTgt spid="61"/>
                                        </p:tgtEl>
                                      </p:cBhvr>
                                    </p:animEffect>
                                    <p:anim calcmode="lin" valueType="num">
                                      <p:cBhvr additive="base">
                                        <p:cTn id="293" dur="600" decel="100000" fill="hold"/>
                                        <p:tgtEl>
                                          <p:spTgt spid="61"/>
                                        </p:tgtEl>
                                        <p:attrNameLst>
                                          <p:attrName>ppt_x</p:attrName>
                                        </p:attrNameLst>
                                      </p:cBhvr>
                                      <p:tavLst>
                                        <p:tav tm="0">
                                          <p:val>
                                            <p:strVal val="#ppt_x"/>
                                          </p:val>
                                        </p:tav>
                                        <p:tav tm="100000">
                                          <p:val>
                                            <p:strVal val="#ppt_x"/>
                                          </p:val>
                                        </p:tav>
                                      </p:tavLst>
                                    </p:anim>
                                    <p:anim calcmode="lin" valueType="num">
                                      <p:cBhvr additive="base">
                                        <p:cTn id="294" dur="600" decel="100000" fill="hold"/>
                                        <p:tgtEl>
                                          <p:spTgt spid="61"/>
                                        </p:tgtEl>
                                        <p:attrNameLst>
                                          <p:attrName>ppt_y</p:attrName>
                                        </p:attrNameLst>
                                      </p:cBhvr>
                                      <p:tavLst>
                                        <p:tav tm="0">
                                          <p:val>
                                            <p:strVal val="#ppt_y+.03"/>
                                          </p:val>
                                        </p:tav>
                                        <p:tav tm="100000">
                                          <p:val>
                                            <p:strVal val="#ppt_y"/>
                                          </p:val>
                                        </p:tav>
                                      </p:tavLst>
                                    </p:anim>
                                  </p:childTnLst>
                                </p:cTn>
                              </p:par>
                              <p:par>
                                <p:cTn id="295" presetID="42" presetClass="entr" presetSubtype="0" fill="hold" grpId="0" nodeType="withEffect">
                                  <p:stCondLst>
                                    <p:cond delay="1300"/>
                                  </p:stCondLst>
                                  <p:childTnLst>
                                    <p:set>
                                      <p:cBhvr>
                                        <p:cTn id="296" dur="1" fill="hold">
                                          <p:stCondLst>
                                            <p:cond delay="0"/>
                                          </p:stCondLst>
                                        </p:cTn>
                                        <p:tgtEl>
                                          <p:spTgt spid="62"/>
                                        </p:tgtEl>
                                        <p:attrNameLst>
                                          <p:attrName>style.visibility</p:attrName>
                                        </p:attrNameLst>
                                      </p:cBhvr>
                                      <p:to>
                                        <p:strVal val="visible"/>
                                      </p:to>
                                    </p:set>
                                    <p:animEffect transition="in" filter="fade">
                                      <p:cBhvr>
                                        <p:cTn id="297" dur="600"/>
                                        <p:tgtEl>
                                          <p:spTgt spid="62"/>
                                        </p:tgtEl>
                                      </p:cBhvr>
                                    </p:animEffect>
                                    <p:anim calcmode="lin" valueType="num">
                                      <p:cBhvr additive="base">
                                        <p:cTn id="298" dur="600" decel="100000" fill="hold"/>
                                        <p:tgtEl>
                                          <p:spTgt spid="62"/>
                                        </p:tgtEl>
                                        <p:attrNameLst>
                                          <p:attrName>ppt_x</p:attrName>
                                        </p:attrNameLst>
                                      </p:cBhvr>
                                      <p:tavLst>
                                        <p:tav tm="0">
                                          <p:val>
                                            <p:strVal val="#ppt_x"/>
                                          </p:val>
                                        </p:tav>
                                        <p:tav tm="100000">
                                          <p:val>
                                            <p:strVal val="#ppt_x"/>
                                          </p:val>
                                        </p:tav>
                                      </p:tavLst>
                                    </p:anim>
                                    <p:anim calcmode="lin" valueType="num">
                                      <p:cBhvr additive="base">
                                        <p:cTn id="299" dur="600" decel="100000" fill="hold"/>
                                        <p:tgtEl>
                                          <p:spTgt spid="62"/>
                                        </p:tgtEl>
                                        <p:attrNameLst>
                                          <p:attrName>ppt_y</p:attrName>
                                        </p:attrNameLst>
                                      </p:cBhvr>
                                      <p:tavLst>
                                        <p:tav tm="0">
                                          <p:val>
                                            <p:strVal val="#ppt_y+.03"/>
                                          </p:val>
                                        </p:tav>
                                        <p:tav tm="100000">
                                          <p:val>
                                            <p:strVal val="#ppt_y"/>
                                          </p:val>
                                        </p:tav>
                                      </p:tavLst>
                                    </p:anim>
                                  </p:childTnLst>
                                </p:cTn>
                              </p:par>
                              <p:par>
                                <p:cTn id="300" presetID="42" presetClass="entr" presetSubtype="0" fill="hold" grpId="0" nodeType="withEffect">
                                  <p:stCondLst>
                                    <p:cond delay="1300"/>
                                  </p:stCondLst>
                                  <p:childTnLst>
                                    <p:set>
                                      <p:cBhvr>
                                        <p:cTn id="301" dur="1" fill="hold">
                                          <p:stCondLst>
                                            <p:cond delay="0"/>
                                          </p:stCondLst>
                                        </p:cTn>
                                        <p:tgtEl>
                                          <p:spTgt spid="63"/>
                                        </p:tgtEl>
                                        <p:attrNameLst>
                                          <p:attrName>style.visibility</p:attrName>
                                        </p:attrNameLst>
                                      </p:cBhvr>
                                      <p:to>
                                        <p:strVal val="visible"/>
                                      </p:to>
                                    </p:set>
                                    <p:animEffect transition="in" filter="fade">
                                      <p:cBhvr>
                                        <p:cTn id="302" dur="600"/>
                                        <p:tgtEl>
                                          <p:spTgt spid="63"/>
                                        </p:tgtEl>
                                      </p:cBhvr>
                                    </p:animEffect>
                                    <p:anim calcmode="lin" valueType="num">
                                      <p:cBhvr additive="base">
                                        <p:cTn id="303" dur="600" decel="100000" fill="hold"/>
                                        <p:tgtEl>
                                          <p:spTgt spid="63"/>
                                        </p:tgtEl>
                                        <p:attrNameLst>
                                          <p:attrName>ppt_x</p:attrName>
                                        </p:attrNameLst>
                                      </p:cBhvr>
                                      <p:tavLst>
                                        <p:tav tm="0">
                                          <p:val>
                                            <p:strVal val="#ppt_x"/>
                                          </p:val>
                                        </p:tav>
                                        <p:tav tm="100000">
                                          <p:val>
                                            <p:strVal val="#ppt_x"/>
                                          </p:val>
                                        </p:tav>
                                      </p:tavLst>
                                    </p:anim>
                                    <p:anim calcmode="lin" valueType="num">
                                      <p:cBhvr additive="base">
                                        <p:cTn id="304" dur="600" decel="100000" fill="hold"/>
                                        <p:tgtEl>
                                          <p:spTgt spid="63"/>
                                        </p:tgtEl>
                                        <p:attrNameLst>
                                          <p:attrName>ppt_y</p:attrName>
                                        </p:attrNameLst>
                                      </p:cBhvr>
                                      <p:tavLst>
                                        <p:tav tm="0">
                                          <p:val>
                                            <p:strVal val="#ppt_y+.03"/>
                                          </p:val>
                                        </p:tav>
                                        <p:tav tm="100000">
                                          <p:val>
                                            <p:strVal val="#ppt_y"/>
                                          </p:val>
                                        </p:tav>
                                      </p:tavLst>
                                    </p:anim>
                                  </p:childTnLst>
                                </p:cTn>
                              </p:par>
                              <p:par>
                                <p:cTn id="305" presetID="42" presetClass="entr" presetSubtype="0" fill="hold" grpId="0" nodeType="withEffect">
                                  <p:stCondLst>
                                    <p:cond delay="1430"/>
                                  </p:stCondLst>
                                  <p:childTnLst>
                                    <p:set>
                                      <p:cBhvr>
                                        <p:cTn id="306" dur="1" fill="hold">
                                          <p:stCondLst>
                                            <p:cond delay="0"/>
                                          </p:stCondLst>
                                        </p:cTn>
                                        <p:tgtEl>
                                          <p:spTgt spid="64"/>
                                        </p:tgtEl>
                                        <p:attrNameLst>
                                          <p:attrName>style.visibility</p:attrName>
                                        </p:attrNameLst>
                                      </p:cBhvr>
                                      <p:to>
                                        <p:strVal val="visible"/>
                                      </p:to>
                                    </p:set>
                                    <p:animEffect transition="in" filter="fade">
                                      <p:cBhvr>
                                        <p:cTn id="307" dur="600"/>
                                        <p:tgtEl>
                                          <p:spTgt spid="64"/>
                                        </p:tgtEl>
                                      </p:cBhvr>
                                    </p:animEffect>
                                    <p:anim calcmode="lin" valueType="num">
                                      <p:cBhvr additive="base">
                                        <p:cTn id="308" dur="600" decel="100000" fill="hold"/>
                                        <p:tgtEl>
                                          <p:spTgt spid="64"/>
                                        </p:tgtEl>
                                        <p:attrNameLst>
                                          <p:attrName>ppt_x</p:attrName>
                                        </p:attrNameLst>
                                      </p:cBhvr>
                                      <p:tavLst>
                                        <p:tav tm="0">
                                          <p:val>
                                            <p:strVal val="#ppt_x"/>
                                          </p:val>
                                        </p:tav>
                                        <p:tav tm="100000">
                                          <p:val>
                                            <p:strVal val="#ppt_x"/>
                                          </p:val>
                                        </p:tav>
                                      </p:tavLst>
                                    </p:anim>
                                    <p:anim calcmode="lin" valueType="num">
                                      <p:cBhvr additive="base">
                                        <p:cTn id="309" dur="600" decel="100000" fill="hold"/>
                                        <p:tgtEl>
                                          <p:spTgt spid="64"/>
                                        </p:tgtEl>
                                        <p:attrNameLst>
                                          <p:attrName>ppt_y</p:attrName>
                                        </p:attrNameLst>
                                      </p:cBhvr>
                                      <p:tavLst>
                                        <p:tav tm="0">
                                          <p:val>
                                            <p:strVal val="#ppt_y+.03"/>
                                          </p:val>
                                        </p:tav>
                                        <p:tav tm="100000">
                                          <p:val>
                                            <p:strVal val="#ppt_y"/>
                                          </p:val>
                                        </p:tav>
                                      </p:tavLst>
                                    </p:anim>
                                  </p:childTnLst>
                                </p:cTn>
                              </p:par>
                              <p:par>
                                <p:cTn id="310" presetID="42" presetClass="entr" presetSubtype="0" fill="hold" grpId="0" nodeType="withEffect">
                                  <p:stCondLst>
                                    <p:cond delay="1430"/>
                                  </p:stCondLst>
                                  <p:childTnLst>
                                    <p:set>
                                      <p:cBhvr>
                                        <p:cTn id="311" dur="1" fill="hold">
                                          <p:stCondLst>
                                            <p:cond delay="0"/>
                                          </p:stCondLst>
                                        </p:cTn>
                                        <p:tgtEl>
                                          <p:spTgt spid="65"/>
                                        </p:tgtEl>
                                        <p:attrNameLst>
                                          <p:attrName>style.visibility</p:attrName>
                                        </p:attrNameLst>
                                      </p:cBhvr>
                                      <p:to>
                                        <p:strVal val="visible"/>
                                      </p:to>
                                    </p:set>
                                    <p:animEffect transition="in" filter="fade">
                                      <p:cBhvr>
                                        <p:cTn id="312" dur="600"/>
                                        <p:tgtEl>
                                          <p:spTgt spid="65"/>
                                        </p:tgtEl>
                                      </p:cBhvr>
                                    </p:animEffect>
                                    <p:anim calcmode="lin" valueType="num">
                                      <p:cBhvr additive="base">
                                        <p:cTn id="313" dur="600" decel="100000" fill="hold"/>
                                        <p:tgtEl>
                                          <p:spTgt spid="65"/>
                                        </p:tgtEl>
                                        <p:attrNameLst>
                                          <p:attrName>ppt_x</p:attrName>
                                        </p:attrNameLst>
                                      </p:cBhvr>
                                      <p:tavLst>
                                        <p:tav tm="0">
                                          <p:val>
                                            <p:strVal val="#ppt_x"/>
                                          </p:val>
                                        </p:tav>
                                        <p:tav tm="100000">
                                          <p:val>
                                            <p:strVal val="#ppt_x"/>
                                          </p:val>
                                        </p:tav>
                                      </p:tavLst>
                                    </p:anim>
                                    <p:anim calcmode="lin" valueType="num">
                                      <p:cBhvr additive="base">
                                        <p:cTn id="314" dur="600" decel="100000" fill="hold"/>
                                        <p:tgtEl>
                                          <p:spTgt spid="65"/>
                                        </p:tgtEl>
                                        <p:attrNameLst>
                                          <p:attrName>ppt_y</p:attrName>
                                        </p:attrNameLst>
                                      </p:cBhvr>
                                      <p:tavLst>
                                        <p:tav tm="0">
                                          <p:val>
                                            <p:strVal val="#ppt_y+.03"/>
                                          </p:val>
                                        </p:tav>
                                        <p:tav tm="100000">
                                          <p:val>
                                            <p:strVal val="#ppt_y"/>
                                          </p:val>
                                        </p:tav>
                                      </p:tavLst>
                                    </p:anim>
                                  </p:childTnLst>
                                </p:cTn>
                              </p:par>
                              <p:par>
                                <p:cTn id="315" presetID="42" presetClass="entr" presetSubtype="0" fill="hold" grpId="0" nodeType="withEffect">
                                  <p:stCondLst>
                                    <p:cond delay="1560"/>
                                  </p:stCondLst>
                                  <p:childTnLst>
                                    <p:set>
                                      <p:cBhvr>
                                        <p:cTn id="316" dur="1" fill="hold">
                                          <p:stCondLst>
                                            <p:cond delay="0"/>
                                          </p:stCondLst>
                                        </p:cTn>
                                        <p:tgtEl>
                                          <p:spTgt spid="66"/>
                                        </p:tgtEl>
                                        <p:attrNameLst>
                                          <p:attrName>style.visibility</p:attrName>
                                        </p:attrNameLst>
                                      </p:cBhvr>
                                      <p:to>
                                        <p:strVal val="visible"/>
                                      </p:to>
                                    </p:set>
                                    <p:animEffect transition="in" filter="fade">
                                      <p:cBhvr>
                                        <p:cTn id="317" dur="600"/>
                                        <p:tgtEl>
                                          <p:spTgt spid="66"/>
                                        </p:tgtEl>
                                      </p:cBhvr>
                                    </p:animEffect>
                                    <p:anim calcmode="lin" valueType="num">
                                      <p:cBhvr additive="base">
                                        <p:cTn id="318" dur="600" decel="100000" fill="hold"/>
                                        <p:tgtEl>
                                          <p:spTgt spid="66"/>
                                        </p:tgtEl>
                                        <p:attrNameLst>
                                          <p:attrName>ppt_x</p:attrName>
                                        </p:attrNameLst>
                                      </p:cBhvr>
                                      <p:tavLst>
                                        <p:tav tm="0">
                                          <p:val>
                                            <p:strVal val="#ppt_x"/>
                                          </p:val>
                                        </p:tav>
                                        <p:tav tm="100000">
                                          <p:val>
                                            <p:strVal val="#ppt_x"/>
                                          </p:val>
                                        </p:tav>
                                      </p:tavLst>
                                    </p:anim>
                                    <p:anim calcmode="lin" valueType="num">
                                      <p:cBhvr additive="base">
                                        <p:cTn id="319" dur="600" decel="100000" fill="hold"/>
                                        <p:tgtEl>
                                          <p:spTgt spid="66"/>
                                        </p:tgtEl>
                                        <p:attrNameLst>
                                          <p:attrName>ppt_y</p:attrName>
                                        </p:attrNameLst>
                                      </p:cBhvr>
                                      <p:tavLst>
                                        <p:tav tm="0">
                                          <p:val>
                                            <p:strVal val="#ppt_y+.03"/>
                                          </p:val>
                                        </p:tav>
                                        <p:tav tm="100000">
                                          <p:val>
                                            <p:strVal val="#ppt_y"/>
                                          </p:val>
                                        </p:tav>
                                      </p:tavLst>
                                    </p:anim>
                                  </p:childTnLst>
                                </p:cTn>
                              </p:par>
                              <p:par>
                                <p:cTn id="320" presetID="42" presetClass="entr" presetSubtype="0" fill="hold" grpId="0" nodeType="withEffect">
                                  <p:stCondLst>
                                    <p:cond delay="1560"/>
                                  </p:stCondLst>
                                  <p:childTnLst>
                                    <p:set>
                                      <p:cBhvr>
                                        <p:cTn id="321" dur="1" fill="hold">
                                          <p:stCondLst>
                                            <p:cond delay="0"/>
                                          </p:stCondLst>
                                        </p:cTn>
                                        <p:tgtEl>
                                          <p:spTgt spid="67"/>
                                        </p:tgtEl>
                                        <p:attrNameLst>
                                          <p:attrName>style.visibility</p:attrName>
                                        </p:attrNameLst>
                                      </p:cBhvr>
                                      <p:to>
                                        <p:strVal val="visible"/>
                                      </p:to>
                                    </p:set>
                                    <p:animEffect transition="in" filter="fade">
                                      <p:cBhvr>
                                        <p:cTn id="322" dur="600"/>
                                        <p:tgtEl>
                                          <p:spTgt spid="67"/>
                                        </p:tgtEl>
                                      </p:cBhvr>
                                    </p:animEffect>
                                    <p:anim calcmode="lin" valueType="num">
                                      <p:cBhvr additive="base">
                                        <p:cTn id="323" dur="600" decel="100000" fill="hold"/>
                                        <p:tgtEl>
                                          <p:spTgt spid="67"/>
                                        </p:tgtEl>
                                        <p:attrNameLst>
                                          <p:attrName>ppt_x</p:attrName>
                                        </p:attrNameLst>
                                      </p:cBhvr>
                                      <p:tavLst>
                                        <p:tav tm="0">
                                          <p:val>
                                            <p:strVal val="#ppt_x"/>
                                          </p:val>
                                        </p:tav>
                                        <p:tav tm="100000">
                                          <p:val>
                                            <p:strVal val="#ppt_x"/>
                                          </p:val>
                                        </p:tav>
                                      </p:tavLst>
                                    </p:anim>
                                    <p:anim calcmode="lin" valueType="num">
                                      <p:cBhvr additive="base">
                                        <p:cTn id="324" dur="600" decel="100000" fill="hold"/>
                                        <p:tgtEl>
                                          <p:spTgt spid="6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P spid="44" grpId="0" animBg="1"/>
      <p:bldP spid="45" grpId="0" animBg="1"/>
      <p:bldP spid="46" grpId="0" animBg="1"/>
      <p:bldP spid="48" grpId="0" animBg="1"/>
      <p:bldP spid="49" grpId="0" animBg="1"/>
      <p:bldP spid="50"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09  |  النتائج الرئيسية للمشروع (1/2)</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النتائج الرئيسية للمشروع</a:t>
            </a:r>
            <a:endParaRPr lang="en-US" sz="3000" dirty="0"/>
          </a:p>
        </p:txBody>
      </p:sp>
      <p:sp>
        <p:nvSpPr>
          <p:cNvPr id="4" name="anim19_0"/>
          <p:cNvSpPr/>
          <p:nvPr/>
        </p:nvSpPr>
        <p:spPr>
          <a:xfrm>
            <a:off x="6233008" y="160020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5" name="anim19_1"/>
          <p:cNvSpPr/>
          <p:nvPr/>
        </p:nvSpPr>
        <p:spPr>
          <a:xfrm>
            <a:off x="10774375" y="1874520"/>
            <a:ext cx="640080" cy="640080"/>
          </a:xfrm>
          <a:prstGeom prst="ellipse">
            <a:avLst/>
          </a:prstGeom>
          <a:solidFill>
            <a:srgbClr val="00539B"/>
          </a:solidFill>
          <a:ln w="12700">
            <a:solidFill>
              <a:srgbClr val="00539B"/>
            </a:solidFill>
            <a:prstDash val="solid"/>
          </a:ln>
        </p:spPr>
      </p:sp>
      <p:pic>
        <p:nvPicPr>
          <p:cNvPr id="6" name="anim19_2" descr="preencoded.png">    </p:cNvPr>
          <p:cNvPicPr>
            <a:picLocks noChangeAspect="1"/>
          </p:cNvPicPr>
          <p:nvPr/>
        </p:nvPicPr>
        <p:blipFill>
          <a:blip r:embed="rId1"/>
          <a:stretch>
            <a:fillRect/>
          </a:stretch>
        </p:blipFill>
        <p:spPr>
          <a:xfrm>
            <a:off x="10947197" y="2047342"/>
            <a:ext cx="294437" cy="294437"/>
          </a:xfrm>
          <a:prstGeom prst="rect">
            <a:avLst/>
          </a:prstGeom>
        </p:spPr>
      </p:pic>
      <p:sp>
        <p:nvSpPr>
          <p:cNvPr id="7" name="anim19_3"/>
          <p:cNvSpPr txBox="1"/>
          <p:nvPr/>
        </p:nvSpPr>
        <p:spPr>
          <a:xfrm>
            <a:off x="6461608" y="180136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01</a:t>
            </a:r>
            <a:endParaRPr lang="ar-SA" sz="2600" dirty="0"/>
          </a:p>
        </p:txBody>
      </p:sp>
      <p:sp>
        <p:nvSpPr>
          <p:cNvPr id="8" name="anim19_4"/>
          <p:cNvSpPr txBox="1"/>
          <p:nvPr/>
        </p:nvSpPr>
        <p:spPr>
          <a:xfrm>
            <a:off x="7330288" y="189280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الأهمية الاستراتيجية</a:t>
            </a:r>
            <a:endParaRPr lang="ar-SA" sz="1800" dirty="0"/>
          </a:p>
        </p:txBody>
      </p:sp>
      <p:sp>
        <p:nvSpPr>
          <p:cNvPr id="9" name="anim19_5"/>
          <p:cNvSpPr txBox="1"/>
          <p:nvPr/>
        </p:nvSpPr>
        <p:spPr>
          <a:xfrm>
            <a:off x="6507328" y="260604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يمثل إنشاء مركز البيانات الوطني مشروعاً استراتيجياً لدعم التحول الرقمي في ليبيا، وتوطين البيانات الحكومية، وتعزيز السيادة الرقمية وأمن المعلومات واستمرارية الخدمات.</a:t>
            </a:r>
            <a:endParaRPr lang="ar-SA" sz="1350" dirty="0"/>
          </a:p>
        </p:txBody>
      </p:sp>
      <p:sp>
        <p:nvSpPr>
          <p:cNvPr id="10" name="anim19_6"/>
          <p:cNvSpPr/>
          <p:nvPr/>
        </p:nvSpPr>
        <p:spPr>
          <a:xfrm>
            <a:off x="548640" y="160020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1" name="anim19_7"/>
          <p:cNvSpPr/>
          <p:nvPr/>
        </p:nvSpPr>
        <p:spPr>
          <a:xfrm>
            <a:off x="5090008" y="1874520"/>
            <a:ext cx="640080" cy="640080"/>
          </a:xfrm>
          <a:prstGeom prst="ellipse">
            <a:avLst/>
          </a:prstGeom>
          <a:solidFill>
            <a:srgbClr val="F15524"/>
          </a:solidFill>
          <a:ln w="12700">
            <a:solidFill>
              <a:srgbClr val="F15524"/>
            </a:solidFill>
            <a:prstDash val="solid"/>
          </a:ln>
        </p:spPr>
      </p:sp>
      <p:pic>
        <p:nvPicPr>
          <p:cNvPr id="12" name="anim19_8" descr="preencoded.png">    </p:cNvPr>
          <p:cNvPicPr>
            <a:picLocks noChangeAspect="1"/>
          </p:cNvPicPr>
          <p:nvPr/>
        </p:nvPicPr>
        <p:blipFill>
          <a:blip r:embed="rId2"/>
          <a:stretch>
            <a:fillRect/>
          </a:stretch>
        </p:blipFill>
        <p:spPr>
          <a:xfrm>
            <a:off x="5262829" y="2047342"/>
            <a:ext cx="294437" cy="294437"/>
          </a:xfrm>
          <a:prstGeom prst="rect">
            <a:avLst/>
          </a:prstGeom>
        </p:spPr>
      </p:pic>
      <p:sp>
        <p:nvSpPr>
          <p:cNvPr id="13" name="anim19_9"/>
          <p:cNvSpPr txBox="1"/>
          <p:nvPr/>
        </p:nvSpPr>
        <p:spPr>
          <a:xfrm>
            <a:off x="777240" y="180136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02</a:t>
            </a:r>
            <a:endParaRPr lang="ar-SA" sz="2600" dirty="0"/>
          </a:p>
        </p:txBody>
      </p:sp>
      <p:sp>
        <p:nvSpPr>
          <p:cNvPr id="14" name="anim19_10"/>
          <p:cNvSpPr txBox="1"/>
          <p:nvPr/>
        </p:nvSpPr>
        <p:spPr>
          <a:xfrm>
            <a:off x="1645920" y="189280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جاهزية الشركة</a:t>
            </a:r>
            <a:endParaRPr lang="ar-SA" sz="1800" dirty="0"/>
          </a:p>
        </p:txBody>
      </p:sp>
      <p:sp>
        <p:nvSpPr>
          <p:cNvPr id="15" name="anim19_11"/>
          <p:cNvSpPr txBox="1"/>
          <p:nvPr/>
        </p:nvSpPr>
        <p:spPr>
          <a:xfrm>
            <a:off x="822960" y="260604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تمتلك شركة الجيل الجديد للتقنية مقومات تنافسية تؤهلها لتنفيذ المشروع، أبرزها البنية التحتية الشبكية، والشبكة الحكومية الآمنة، والكوادر الفنية، والخبرة التشغيلية، والموقع المقترح للمشروع.</a:t>
            </a:r>
            <a:endParaRPr lang="ar-SA" sz="1350" dirty="0"/>
          </a:p>
        </p:txBody>
      </p:sp>
      <p:sp>
        <p:nvSpPr>
          <p:cNvPr id="16" name="anim19_12"/>
          <p:cNvSpPr/>
          <p:nvPr/>
        </p:nvSpPr>
        <p:spPr>
          <a:xfrm>
            <a:off x="6233008" y="397764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19_13"/>
          <p:cNvSpPr/>
          <p:nvPr/>
        </p:nvSpPr>
        <p:spPr>
          <a:xfrm>
            <a:off x="10774375" y="4251960"/>
            <a:ext cx="640080" cy="640080"/>
          </a:xfrm>
          <a:prstGeom prst="ellipse">
            <a:avLst/>
          </a:prstGeom>
          <a:solidFill>
            <a:srgbClr val="00539B"/>
          </a:solidFill>
          <a:ln w="12700">
            <a:solidFill>
              <a:srgbClr val="00539B"/>
            </a:solidFill>
            <a:prstDash val="solid"/>
          </a:ln>
        </p:spPr>
      </p:sp>
      <p:pic>
        <p:nvPicPr>
          <p:cNvPr id="18" name="anim19_14" descr="preencoded.png">    </p:cNvPr>
          <p:cNvPicPr>
            <a:picLocks noChangeAspect="1"/>
          </p:cNvPicPr>
          <p:nvPr/>
        </p:nvPicPr>
        <p:blipFill>
          <a:blip r:embed="rId3"/>
          <a:stretch>
            <a:fillRect/>
          </a:stretch>
        </p:blipFill>
        <p:spPr>
          <a:xfrm>
            <a:off x="10947197" y="4424782"/>
            <a:ext cx="294437" cy="294437"/>
          </a:xfrm>
          <a:prstGeom prst="rect">
            <a:avLst/>
          </a:prstGeom>
        </p:spPr>
      </p:pic>
      <p:sp>
        <p:nvSpPr>
          <p:cNvPr id="19" name="anim19_15"/>
          <p:cNvSpPr txBox="1"/>
          <p:nvPr/>
        </p:nvSpPr>
        <p:spPr>
          <a:xfrm>
            <a:off x="6461608" y="417880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03</a:t>
            </a:r>
            <a:endParaRPr lang="ar-SA" sz="2600" dirty="0"/>
          </a:p>
        </p:txBody>
      </p:sp>
      <p:sp>
        <p:nvSpPr>
          <p:cNvPr id="20" name="anim19_16"/>
          <p:cNvSpPr txBox="1"/>
          <p:nvPr/>
        </p:nvSpPr>
        <p:spPr>
          <a:xfrm>
            <a:off x="7330288" y="427024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الفرص السوقية</a:t>
            </a:r>
            <a:endParaRPr lang="ar-SA" sz="1800" dirty="0"/>
          </a:p>
        </p:txBody>
      </p:sp>
      <p:sp>
        <p:nvSpPr>
          <p:cNvPr id="21" name="anim19_17"/>
          <p:cNvSpPr txBox="1"/>
          <p:nvPr/>
        </p:nvSpPr>
        <p:spPr>
          <a:xfrm>
            <a:off x="6507328" y="498348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أظهرت الدراسة وجود فرص واعدة لتقديم خدمات مراكز البيانات للقطاع الحكومي، مع استهداف نحو 412 جهة خلال عشر سنوات.</a:t>
            </a:r>
            <a:endParaRPr lang="ar-SA" sz="1350" dirty="0"/>
          </a:p>
        </p:txBody>
      </p:sp>
      <p:sp>
        <p:nvSpPr>
          <p:cNvPr id="22" name="anim19_18"/>
          <p:cNvSpPr/>
          <p:nvPr/>
        </p:nvSpPr>
        <p:spPr>
          <a:xfrm>
            <a:off x="548640" y="3977640"/>
            <a:ext cx="5410048" cy="2148840"/>
          </a:xfrm>
          <a:prstGeom prst="roundRect">
            <a:avLst>
              <a:gd name="adj" fmla="val 4255"/>
            </a:avLst>
          </a:prstGeom>
          <a:solidFill>
            <a:srgbClr val="06305C"/>
          </a:solidFill>
          <a:ln w="9525">
            <a:solidFill>
              <a:srgbClr val="06305C"/>
            </a:solidFill>
            <a:prstDash val="solid"/>
          </a:ln>
          <a:effectLst>
            <a:outerShdw sx="100000" sy="100000" kx="0" ky="0" algn="bl" rotWithShape="0" blurRad="127000" dist="38100" dir="5400000">
              <a:srgbClr val="1F3A5F">
                <a:alpha val="13000"/>
              </a:srgbClr>
            </a:outerShdw>
          </a:effectLst>
        </p:spPr>
      </p:sp>
      <p:sp>
        <p:nvSpPr>
          <p:cNvPr id="23" name="anim19_19"/>
          <p:cNvSpPr/>
          <p:nvPr/>
        </p:nvSpPr>
        <p:spPr>
          <a:xfrm>
            <a:off x="5090008" y="4251960"/>
            <a:ext cx="640080" cy="640080"/>
          </a:xfrm>
          <a:prstGeom prst="ellipse">
            <a:avLst/>
          </a:prstGeom>
          <a:solidFill>
            <a:srgbClr val="F15524"/>
          </a:solidFill>
          <a:ln w="12700">
            <a:solidFill>
              <a:srgbClr val="F15524"/>
            </a:solidFill>
            <a:prstDash val="solid"/>
          </a:ln>
        </p:spPr>
      </p:sp>
      <p:pic>
        <p:nvPicPr>
          <p:cNvPr id="24" name="anim19_20" descr="preencoded.png">    </p:cNvPr>
          <p:cNvPicPr>
            <a:picLocks noChangeAspect="1"/>
          </p:cNvPicPr>
          <p:nvPr/>
        </p:nvPicPr>
        <p:blipFill>
          <a:blip r:embed="rId4"/>
          <a:stretch>
            <a:fillRect/>
          </a:stretch>
        </p:blipFill>
        <p:spPr>
          <a:xfrm>
            <a:off x="5262829" y="4424782"/>
            <a:ext cx="294437" cy="294437"/>
          </a:xfrm>
          <a:prstGeom prst="rect">
            <a:avLst/>
          </a:prstGeom>
        </p:spPr>
      </p:pic>
      <p:sp>
        <p:nvSpPr>
          <p:cNvPr id="25" name="anim19_21"/>
          <p:cNvSpPr txBox="1"/>
          <p:nvPr/>
        </p:nvSpPr>
        <p:spPr>
          <a:xfrm>
            <a:off x="777240" y="4178808"/>
            <a:ext cx="914400" cy="457200"/>
          </a:xfrm>
          <a:prstGeom prst="rect">
            <a:avLst/>
          </a:prstGeom>
          <a:noFill/>
          <a:ln/>
        </p:spPr>
        <p:txBody>
          <a:bodyPr wrap="square" lIns="0" tIns="0" rIns="0" bIns="0" rtlCol="0" anchor="t"/>
          <a:lstStyle/>
          <a:p>
            <a:pPr algn="l" indent="0" marL="0">
              <a:buNone/>
            </a:pPr>
            <a:r>
              <a:rPr lang="ar-SA" altLang="en-US" sz="2600" b="1" dirty="0">
                <a:solidFill>
                  <a:srgbClr val="3A5F88"/>
                </a:solidFill>
                <a:latin typeface="JF Flat" pitchFamily="34" charset="0"/>
                <a:ea typeface="JF Flat" pitchFamily="34" charset="-122"/>
                <a:cs typeface="JF Flat" pitchFamily="34" charset="-120"/>
              </a:rPr>
              <a:t>04</a:t>
            </a:r>
            <a:endParaRPr lang="ar-SA" sz="2600" dirty="0"/>
          </a:p>
        </p:txBody>
      </p:sp>
      <p:sp>
        <p:nvSpPr>
          <p:cNvPr id="26" name="anim19_22"/>
          <p:cNvSpPr txBox="1"/>
          <p:nvPr/>
        </p:nvSpPr>
        <p:spPr>
          <a:xfrm>
            <a:off x="1645920" y="427024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JF Flat" pitchFamily="34" charset="0"/>
                <a:ea typeface="JF Flat" pitchFamily="34" charset="-122"/>
                <a:cs typeface="JF Flat" pitchFamily="34" charset="-120"/>
              </a:rPr>
              <a:t>التكلفة الاستثمارية</a:t>
            </a:r>
            <a:endParaRPr lang="ar-SA" sz="1800" dirty="0"/>
          </a:p>
        </p:txBody>
      </p:sp>
      <p:sp>
        <p:nvSpPr>
          <p:cNvPr id="27" name="anim19_23"/>
          <p:cNvSpPr txBox="1"/>
          <p:nvPr/>
        </p:nvSpPr>
        <p:spPr>
          <a:xfrm>
            <a:off x="822960" y="498348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D5E2F0"/>
                </a:solidFill>
                <a:latin typeface="JF Flat" pitchFamily="34" charset="0"/>
                <a:ea typeface="JF Flat" pitchFamily="34" charset="-122"/>
                <a:cs typeface="JF Flat" pitchFamily="34" charset="-120"/>
              </a:rPr>
              <a:t>قدرت التكلفة الرأسمالية للمشروع بقدرة 5.1 ميجاوات بنحو 57.9 مليون دولار أمريكي، أي ما يعادل 371.8 مليون دينار ليبي.</a:t>
            </a:r>
            <a:endParaRPr lang="ar-SA" sz="135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16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450" decel="100000" fill="hold"/>
                                        <p:tgtEl>
                                          <p:spTgt spid="5"/>
                                        </p:tgtEl>
                                        <p:attrNameLst>
                                          <p:attrName>ppt_w</p:attrName>
                                        </p:attrNameLst>
                                      </p:cBhvr>
                                      <p:tavLst>
                                        <p:tav tm="0">
                                          <p:val>
                                            <p:strVal val="0"/>
                                          </p:val>
                                        </p:tav>
                                        <p:tav tm="100000">
                                          <p:val>
                                            <p:strVal val="#ppt_w"/>
                                          </p:val>
                                        </p:tav>
                                      </p:tavLst>
                                    </p:anim>
                                    <p:anim calcmode="lin" valueType="num">
                                      <p:cBhvr additive="base">
                                        <p:cTn id="48" dur="450" decel="100000" fill="hold"/>
                                        <p:tgtEl>
                                          <p:spTgt spid="5"/>
                                        </p:tgtEl>
                                        <p:attrNameLst>
                                          <p:attrName>ppt_h</p:attrName>
                                        </p:attrNameLst>
                                      </p:cBhvr>
                                      <p:tavLst>
                                        <p:tav tm="0">
                                          <p:val>
                                            <p:strVal val="0"/>
                                          </p:val>
                                        </p:tav>
                                        <p:tav tm="100000">
                                          <p:val>
                                            <p:strVal val="#ppt_h"/>
                                          </p:val>
                                        </p:tav>
                                      </p:tavLst>
                                    </p:anim>
                                    <p:animEffect transition="in" filter="fade">
                                      <p:cBhvr>
                                        <p:cTn id="49" dur="450"/>
                                        <p:tgtEl>
                                          <p:spTgt spid="5"/>
                                        </p:tgtEl>
                                      </p:cBhvr>
                                    </p:animEffect>
                                  </p:childTnLst>
                                </p:cTn>
                              </p:par>
                              <p:par>
                                <p:cTn id="50" presetID="53" presetClass="entr" presetSubtype="16" fill="hold" grpId="0" nodeType="withEffect">
                                  <p:stCondLst>
                                    <p:cond delay="26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450" decel="100000" fill="hold"/>
                                        <p:tgtEl>
                                          <p:spTgt spid="6"/>
                                        </p:tgtEl>
                                        <p:attrNameLst>
                                          <p:attrName>ppt_w</p:attrName>
                                        </p:attrNameLst>
                                      </p:cBhvr>
                                      <p:tavLst>
                                        <p:tav tm="0">
                                          <p:val>
                                            <p:strVal val="0"/>
                                          </p:val>
                                        </p:tav>
                                        <p:tav tm="100000">
                                          <p:val>
                                            <p:strVal val="#ppt_w"/>
                                          </p:val>
                                        </p:tav>
                                      </p:tavLst>
                                    </p:anim>
                                    <p:anim calcmode="lin" valueType="num">
                                      <p:cBhvr additive="base">
                                        <p:cTn id="53" dur="450" decel="100000" fill="hold"/>
                                        <p:tgtEl>
                                          <p:spTgt spid="6"/>
                                        </p:tgtEl>
                                        <p:attrNameLst>
                                          <p:attrName>ppt_h</p:attrName>
                                        </p:attrNameLst>
                                      </p:cBhvr>
                                      <p:tavLst>
                                        <p:tav tm="0">
                                          <p:val>
                                            <p:strVal val="0"/>
                                          </p:val>
                                        </p:tav>
                                        <p:tav tm="100000">
                                          <p:val>
                                            <p:strVal val="#ppt_h"/>
                                          </p:val>
                                        </p:tav>
                                      </p:tavLst>
                                    </p:anim>
                                    <p:animEffect transition="in" filter="fade">
                                      <p:cBhvr>
                                        <p:cTn id="54" dur="450"/>
                                        <p:tgtEl>
                                          <p:spTgt spid="6"/>
                                        </p:tgtEl>
                                      </p:cBhvr>
                                    </p:animEffect>
                                  </p:childTnLst>
                                </p:cTn>
                              </p:par>
                              <p:par>
                                <p:cTn id="55" presetID="42" presetClass="entr" presetSubtype="0" fill="hold" grpId="0" nodeType="withEffect">
                                  <p:stCondLst>
                                    <p:cond delay="26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26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6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290"/>
                                  </p:stCondLst>
                                  <p:childTnLst>
                                    <p:set>
                                      <p:cBhvr>
                                        <p:cTn id="76" dur="1" fill="hold">
                                          <p:stCondLst>
                                            <p:cond delay="0"/>
                                          </p:stCondLst>
                                        </p:cTn>
                                        <p:tgtEl>
                                          <p:spTgt spid="11"/>
                                        </p:tgtEl>
                                        <p:attrNameLst>
                                          <p:attrName>style.visibility</p:attrName>
                                        </p:attrNameLst>
                                      </p:cBhvr>
                                      <p:to>
                                        <p:strVal val="visible"/>
                                      </p:to>
                                    </p:set>
                                    <p:anim calcmode="lin" valueType="num">
                                      <p:cBhvr additive="base">
                                        <p:cTn id="77" dur="450" decel="100000" fill="hold"/>
                                        <p:tgtEl>
                                          <p:spTgt spid="11"/>
                                        </p:tgtEl>
                                        <p:attrNameLst>
                                          <p:attrName>ppt_w</p:attrName>
                                        </p:attrNameLst>
                                      </p:cBhvr>
                                      <p:tavLst>
                                        <p:tav tm="0">
                                          <p:val>
                                            <p:strVal val="0"/>
                                          </p:val>
                                        </p:tav>
                                        <p:tav tm="100000">
                                          <p:val>
                                            <p:strVal val="#ppt_w"/>
                                          </p:val>
                                        </p:tav>
                                      </p:tavLst>
                                    </p:anim>
                                    <p:anim calcmode="lin" valueType="num">
                                      <p:cBhvr additive="base">
                                        <p:cTn id="78" dur="450" decel="100000" fill="hold"/>
                                        <p:tgtEl>
                                          <p:spTgt spid="11"/>
                                        </p:tgtEl>
                                        <p:attrNameLst>
                                          <p:attrName>ppt_h</p:attrName>
                                        </p:attrNameLst>
                                      </p:cBhvr>
                                      <p:tavLst>
                                        <p:tav tm="0">
                                          <p:val>
                                            <p:strVal val="0"/>
                                          </p:val>
                                        </p:tav>
                                        <p:tav tm="100000">
                                          <p:val>
                                            <p:strVal val="#ppt_h"/>
                                          </p:val>
                                        </p:tav>
                                      </p:tavLst>
                                    </p:anim>
                                    <p:animEffect transition="in" filter="fade">
                                      <p:cBhvr>
                                        <p:cTn id="79" dur="450"/>
                                        <p:tgtEl>
                                          <p:spTgt spid="11"/>
                                        </p:tgtEl>
                                      </p:cBhvr>
                                    </p:animEffect>
                                  </p:childTnLst>
                                </p:cTn>
                              </p:par>
                              <p:par>
                                <p:cTn id="80" presetID="53" presetClass="entr" presetSubtype="16" fill="hold" grpId="0" nodeType="withEffect">
                                  <p:stCondLst>
                                    <p:cond delay="390"/>
                                  </p:stCondLst>
                                  <p:childTnLst>
                                    <p:set>
                                      <p:cBhvr>
                                        <p:cTn id="81" dur="1" fill="hold">
                                          <p:stCondLst>
                                            <p:cond delay="0"/>
                                          </p:stCondLst>
                                        </p:cTn>
                                        <p:tgtEl>
                                          <p:spTgt spid="12"/>
                                        </p:tgtEl>
                                        <p:attrNameLst>
                                          <p:attrName>style.visibility</p:attrName>
                                        </p:attrNameLst>
                                      </p:cBhvr>
                                      <p:to>
                                        <p:strVal val="visible"/>
                                      </p:to>
                                    </p:set>
                                    <p:anim calcmode="lin" valueType="num">
                                      <p:cBhvr additive="base">
                                        <p:cTn id="82" dur="450" decel="100000" fill="hold"/>
                                        <p:tgtEl>
                                          <p:spTgt spid="12"/>
                                        </p:tgtEl>
                                        <p:attrNameLst>
                                          <p:attrName>ppt_w</p:attrName>
                                        </p:attrNameLst>
                                      </p:cBhvr>
                                      <p:tavLst>
                                        <p:tav tm="0">
                                          <p:val>
                                            <p:strVal val="0"/>
                                          </p:val>
                                        </p:tav>
                                        <p:tav tm="100000">
                                          <p:val>
                                            <p:strVal val="#ppt_w"/>
                                          </p:val>
                                        </p:tav>
                                      </p:tavLst>
                                    </p:anim>
                                    <p:anim calcmode="lin" valueType="num">
                                      <p:cBhvr additive="base">
                                        <p:cTn id="83" dur="450" decel="100000" fill="hold"/>
                                        <p:tgtEl>
                                          <p:spTgt spid="12"/>
                                        </p:tgtEl>
                                        <p:attrNameLst>
                                          <p:attrName>ppt_h</p:attrName>
                                        </p:attrNameLst>
                                      </p:cBhvr>
                                      <p:tavLst>
                                        <p:tav tm="0">
                                          <p:val>
                                            <p:strVal val="0"/>
                                          </p:val>
                                        </p:tav>
                                        <p:tav tm="100000">
                                          <p:val>
                                            <p:strVal val="#ppt_h"/>
                                          </p:val>
                                        </p:tav>
                                      </p:tavLst>
                                    </p:anim>
                                    <p:animEffect transition="in" filter="fade">
                                      <p:cBhvr>
                                        <p:cTn id="84" dur="450"/>
                                        <p:tgtEl>
                                          <p:spTgt spid="12"/>
                                        </p:tgtEl>
                                      </p:cBhvr>
                                    </p:animEffect>
                                  </p:childTnLst>
                                </p:cTn>
                              </p:par>
                              <p:par>
                                <p:cTn id="85" presetID="42" presetClass="entr" presetSubtype="0" fill="hold" grpId="0" nodeType="withEffect">
                                  <p:stCondLst>
                                    <p:cond delay="39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39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additive="base">
                                        <p:cTn id="9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5"/>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3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6"/>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39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53" presetClass="entr" presetSubtype="16" fill="hold" grpId="0" nodeType="withEffect">
                                  <p:stCondLst>
                                    <p:cond delay="420"/>
                                  </p:stCondLst>
                                  <p:childTnLst>
                                    <p:set>
                                      <p:cBhvr>
                                        <p:cTn id="106" dur="1" fill="hold">
                                          <p:stCondLst>
                                            <p:cond delay="0"/>
                                          </p:stCondLst>
                                        </p:cTn>
                                        <p:tgtEl>
                                          <p:spTgt spid="17"/>
                                        </p:tgtEl>
                                        <p:attrNameLst>
                                          <p:attrName>style.visibility</p:attrName>
                                        </p:attrNameLst>
                                      </p:cBhvr>
                                      <p:to>
                                        <p:strVal val="visible"/>
                                      </p:to>
                                    </p:set>
                                    <p:anim calcmode="lin" valueType="num">
                                      <p:cBhvr additive="base">
                                        <p:cTn id="107" dur="450" decel="100000" fill="hold"/>
                                        <p:tgtEl>
                                          <p:spTgt spid="17"/>
                                        </p:tgtEl>
                                        <p:attrNameLst>
                                          <p:attrName>ppt_w</p:attrName>
                                        </p:attrNameLst>
                                      </p:cBhvr>
                                      <p:tavLst>
                                        <p:tav tm="0">
                                          <p:val>
                                            <p:strVal val="0"/>
                                          </p:val>
                                        </p:tav>
                                        <p:tav tm="100000">
                                          <p:val>
                                            <p:strVal val="#ppt_w"/>
                                          </p:val>
                                        </p:tav>
                                      </p:tavLst>
                                    </p:anim>
                                    <p:anim calcmode="lin" valueType="num">
                                      <p:cBhvr additive="base">
                                        <p:cTn id="108" dur="450" decel="100000" fill="hold"/>
                                        <p:tgtEl>
                                          <p:spTgt spid="17"/>
                                        </p:tgtEl>
                                        <p:attrNameLst>
                                          <p:attrName>ppt_h</p:attrName>
                                        </p:attrNameLst>
                                      </p:cBhvr>
                                      <p:tavLst>
                                        <p:tav tm="0">
                                          <p:val>
                                            <p:strVal val="0"/>
                                          </p:val>
                                        </p:tav>
                                        <p:tav tm="100000">
                                          <p:val>
                                            <p:strVal val="#ppt_h"/>
                                          </p:val>
                                        </p:tav>
                                      </p:tavLst>
                                    </p:anim>
                                    <p:animEffect transition="in" filter="fade">
                                      <p:cBhvr>
                                        <p:cTn id="109" dur="450"/>
                                        <p:tgtEl>
                                          <p:spTgt spid="17"/>
                                        </p:tgtEl>
                                      </p:cBhvr>
                                    </p:animEffect>
                                  </p:childTnLst>
                                </p:cTn>
                              </p:par>
                              <p:par>
                                <p:cTn id="110" presetID="53" presetClass="entr" presetSubtype="16" fill="hold" grpId="0" nodeType="withEffect">
                                  <p:stCondLst>
                                    <p:cond delay="52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450" decel="100000" fill="hold"/>
                                        <p:tgtEl>
                                          <p:spTgt spid="18"/>
                                        </p:tgtEl>
                                        <p:attrNameLst>
                                          <p:attrName>ppt_w</p:attrName>
                                        </p:attrNameLst>
                                      </p:cBhvr>
                                      <p:tavLst>
                                        <p:tav tm="0">
                                          <p:val>
                                            <p:strVal val="0"/>
                                          </p:val>
                                        </p:tav>
                                        <p:tav tm="100000">
                                          <p:val>
                                            <p:strVal val="#ppt_w"/>
                                          </p:val>
                                        </p:tav>
                                      </p:tavLst>
                                    </p:anim>
                                    <p:anim calcmode="lin" valueType="num">
                                      <p:cBhvr additive="base">
                                        <p:cTn id="113" dur="450" decel="100000" fill="hold"/>
                                        <p:tgtEl>
                                          <p:spTgt spid="18"/>
                                        </p:tgtEl>
                                        <p:attrNameLst>
                                          <p:attrName>ppt_h</p:attrName>
                                        </p:attrNameLst>
                                      </p:cBhvr>
                                      <p:tavLst>
                                        <p:tav tm="0">
                                          <p:val>
                                            <p:strVal val="0"/>
                                          </p:val>
                                        </p:tav>
                                        <p:tav tm="100000">
                                          <p:val>
                                            <p:strVal val="#ppt_h"/>
                                          </p:val>
                                        </p:tav>
                                      </p:tavLst>
                                    </p:anim>
                                    <p:animEffect transition="in" filter="fade">
                                      <p:cBhvr>
                                        <p:cTn id="114" dur="450"/>
                                        <p:tgtEl>
                                          <p:spTgt spid="18"/>
                                        </p:tgtEl>
                                      </p:cBhvr>
                                    </p:animEffect>
                                  </p:childTnLst>
                                </p:cTn>
                              </p:par>
                              <p:par>
                                <p:cTn id="115" presetID="53" presetClass="entr" presetSubtype="16" fill="hold" grpId="0" nodeType="withEffect">
                                  <p:stCondLst>
                                    <p:cond delay="550"/>
                                  </p:stCondLst>
                                  <p:childTnLst>
                                    <p:set>
                                      <p:cBhvr>
                                        <p:cTn id="116" dur="1" fill="hold">
                                          <p:stCondLst>
                                            <p:cond delay="0"/>
                                          </p:stCondLst>
                                        </p:cTn>
                                        <p:tgtEl>
                                          <p:spTgt spid="23"/>
                                        </p:tgtEl>
                                        <p:attrNameLst>
                                          <p:attrName>style.visibility</p:attrName>
                                        </p:attrNameLst>
                                      </p:cBhvr>
                                      <p:to>
                                        <p:strVal val="visible"/>
                                      </p:to>
                                    </p:set>
                                    <p:anim calcmode="lin" valueType="num">
                                      <p:cBhvr additive="base">
                                        <p:cTn id="117" dur="450" decel="100000" fill="hold"/>
                                        <p:tgtEl>
                                          <p:spTgt spid="23"/>
                                        </p:tgtEl>
                                        <p:attrNameLst>
                                          <p:attrName>ppt_w</p:attrName>
                                        </p:attrNameLst>
                                      </p:cBhvr>
                                      <p:tavLst>
                                        <p:tav tm="0">
                                          <p:val>
                                            <p:strVal val="0"/>
                                          </p:val>
                                        </p:tav>
                                        <p:tav tm="100000">
                                          <p:val>
                                            <p:strVal val="#ppt_w"/>
                                          </p:val>
                                        </p:tav>
                                      </p:tavLst>
                                    </p:anim>
                                    <p:anim calcmode="lin" valueType="num">
                                      <p:cBhvr additive="base">
                                        <p:cTn id="118" dur="450" decel="100000" fill="hold"/>
                                        <p:tgtEl>
                                          <p:spTgt spid="23"/>
                                        </p:tgtEl>
                                        <p:attrNameLst>
                                          <p:attrName>ppt_h</p:attrName>
                                        </p:attrNameLst>
                                      </p:cBhvr>
                                      <p:tavLst>
                                        <p:tav tm="0">
                                          <p:val>
                                            <p:strVal val="0"/>
                                          </p:val>
                                        </p:tav>
                                        <p:tav tm="100000">
                                          <p:val>
                                            <p:strVal val="#ppt_h"/>
                                          </p:val>
                                        </p:tav>
                                      </p:tavLst>
                                    </p:anim>
                                    <p:animEffect transition="in" filter="fade">
                                      <p:cBhvr>
                                        <p:cTn id="119" dur="450"/>
                                        <p:tgtEl>
                                          <p:spTgt spid="23"/>
                                        </p:tgtEl>
                                      </p:cBhvr>
                                    </p:animEffect>
                                  </p:childTnLst>
                                </p:cTn>
                              </p:par>
                              <p:par>
                                <p:cTn id="120" presetID="53" presetClass="entr" presetSubtype="16" fill="hold" grpId="0" nodeType="withEffect">
                                  <p:stCondLst>
                                    <p:cond delay="650"/>
                                  </p:stCondLst>
                                  <p:childTnLst>
                                    <p:set>
                                      <p:cBhvr>
                                        <p:cTn id="121" dur="1" fill="hold">
                                          <p:stCondLst>
                                            <p:cond delay="0"/>
                                          </p:stCondLst>
                                        </p:cTn>
                                        <p:tgtEl>
                                          <p:spTgt spid="24"/>
                                        </p:tgtEl>
                                        <p:attrNameLst>
                                          <p:attrName>style.visibility</p:attrName>
                                        </p:attrNameLst>
                                      </p:cBhvr>
                                      <p:to>
                                        <p:strVal val="visible"/>
                                      </p:to>
                                    </p:set>
                                    <p:anim calcmode="lin" valueType="num">
                                      <p:cBhvr additive="base">
                                        <p:cTn id="122" dur="450" decel="100000" fill="hold"/>
                                        <p:tgtEl>
                                          <p:spTgt spid="24"/>
                                        </p:tgtEl>
                                        <p:attrNameLst>
                                          <p:attrName>ppt_w</p:attrName>
                                        </p:attrNameLst>
                                      </p:cBhvr>
                                      <p:tavLst>
                                        <p:tav tm="0">
                                          <p:val>
                                            <p:strVal val="0"/>
                                          </p:val>
                                        </p:tav>
                                        <p:tav tm="100000">
                                          <p:val>
                                            <p:strVal val="#ppt_w"/>
                                          </p:val>
                                        </p:tav>
                                      </p:tavLst>
                                    </p:anim>
                                    <p:anim calcmode="lin" valueType="num">
                                      <p:cBhvr additive="base">
                                        <p:cTn id="123" dur="450" decel="100000" fill="hold"/>
                                        <p:tgtEl>
                                          <p:spTgt spid="24"/>
                                        </p:tgtEl>
                                        <p:attrNameLst>
                                          <p:attrName>ppt_h</p:attrName>
                                        </p:attrNameLst>
                                      </p:cBhvr>
                                      <p:tavLst>
                                        <p:tav tm="0">
                                          <p:val>
                                            <p:strVal val="0"/>
                                          </p:val>
                                        </p:tav>
                                        <p:tav tm="100000">
                                          <p:val>
                                            <p:strVal val="#ppt_h"/>
                                          </p:val>
                                        </p:tav>
                                      </p:tavLst>
                                    </p:anim>
                                    <p:animEffect transition="in" filter="fade">
                                      <p:cBhvr>
                                        <p:cTn id="124"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09  |  النتائج الرئيسية للمشروع (2/2)</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النتائج الرئيسية للمشروع</a:t>
            </a:r>
            <a:endParaRPr lang="en-US" sz="3000" dirty="0"/>
          </a:p>
        </p:txBody>
      </p:sp>
      <p:sp>
        <p:nvSpPr>
          <p:cNvPr id="4" name="anim20_0"/>
          <p:cNvSpPr/>
          <p:nvPr/>
        </p:nvSpPr>
        <p:spPr>
          <a:xfrm>
            <a:off x="6233008" y="1600200"/>
            <a:ext cx="5410048" cy="2148840"/>
          </a:xfrm>
          <a:prstGeom prst="roundRect">
            <a:avLst>
              <a:gd name="adj" fmla="val 4255"/>
            </a:avLst>
          </a:prstGeom>
          <a:solidFill>
            <a:srgbClr val="06305C"/>
          </a:solidFill>
          <a:ln w="9525">
            <a:solidFill>
              <a:srgbClr val="06305C"/>
            </a:solidFill>
            <a:prstDash val="solid"/>
          </a:ln>
          <a:effectLst>
            <a:outerShdw sx="100000" sy="100000" kx="0" ky="0" algn="bl" rotWithShape="0" blurRad="127000" dist="38100" dir="5400000">
              <a:srgbClr val="1F3A5F">
                <a:alpha val="13000"/>
              </a:srgbClr>
            </a:outerShdw>
          </a:effectLst>
        </p:spPr>
      </p:sp>
      <p:sp>
        <p:nvSpPr>
          <p:cNvPr id="5" name="anim20_1"/>
          <p:cNvSpPr/>
          <p:nvPr/>
        </p:nvSpPr>
        <p:spPr>
          <a:xfrm>
            <a:off x="10774375" y="1874520"/>
            <a:ext cx="640080" cy="640080"/>
          </a:xfrm>
          <a:prstGeom prst="ellipse">
            <a:avLst/>
          </a:prstGeom>
          <a:solidFill>
            <a:srgbClr val="F15524"/>
          </a:solidFill>
          <a:ln w="12700">
            <a:solidFill>
              <a:srgbClr val="F15524"/>
            </a:solidFill>
            <a:prstDash val="solid"/>
          </a:ln>
        </p:spPr>
      </p:sp>
      <p:pic>
        <p:nvPicPr>
          <p:cNvPr id="6" name="anim20_2" descr="preencoded.png">    </p:cNvPr>
          <p:cNvPicPr>
            <a:picLocks noChangeAspect="1"/>
          </p:cNvPicPr>
          <p:nvPr/>
        </p:nvPicPr>
        <p:blipFill>
          <a:blip r:embed="rId1"/>
          <a:stretch>
            <a:fillRect/>
          </a:stretch>
        </p:blipFill>
        <p:spPr>
          <a:xfrm>
            <a:off x="10947197" y="2047342"/>
            <a:ext cx="294437" cy="294437"/>
          </a:xfrm>
          <a:prstGeom prst="rect">
            <a:avLst/>
          </a:prstGeom>
        </p:spPr>
      </p:pic>
      <p:sp>
        <p:nvSpPr>
          <p:cNvPr id="7" name="anim20_3"/>
          <p:cNvSpPr txBox="1"/>
          <p:nvPr/>
        </p:nvSpPr>
        <p:spPr>
          <a:xfrm>
            <a:off x="6461608" y="1801368"/>
            <a:ext cx="914400" cy="457200"/>
          </a:xfrm>
          <a:prstGeom prst="rect">
            <a:avLst/>
          </a:prstGeom>
          <a:noFill/>
          <a:ln/>
        </p:spPr>
        <p:txBody>
          <a:bodyPr wrap="square" lIns="0" tIns="0" rIns="0" bIns="0" rtlCol="0" anchor="t"/>
          <a:lstStyle/>
          <a:p>
            <a:pPr algn="l" indent="0" marL="0">
              <a:buNone/>
            </a:pPr>
            <a:r>
              <a:rPr lang="ar-SA" altLang="en-US" sz="2600" b="1" dirty="0">
                <a:solidFill>
                  <a:srgbClr val="3A5F88"/>
                </a:solidFill>
                <a:latin typeface="JF Flat" pitchFamily="34" charset="0"/>
                <a:ea typeface="JF Flat" pitchFamily="34" charset="-122"/>
                <a:cs typeface="JF Flat" pitchFamily="34" charset="-120"/>
              </a:rPr>
              <a:t>05</a:t>
            </a:r>
            <a:endParaRPr lang="ar-SA" sz="2600" dirty="0"/>
          </a:p>
        </p:txBody>
      </p:sp>
      <p:sp>
        <p:nvSpPr>
          <p:cNvPr id="8" name="anim20_4"/>
          <p:cNvSpPr txBox="1"/>
          <p:nvPr/>
        </p:nvSpPr>
        <p:spPr>
          <a:xfrm>
            <a:off x="7330288" y="189280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JF Flat" pitchFamily="34" charset="0"/>
                <a:ea typeface="JF Flat" pitchFamily="34" charset="-122"/>
                <a:cs typeface="JF Flat" pitchFamily="34" charset="-120"/>
              </a:rPr>
              <a:t>الجدوى المالية</a:t>
            </a:r>
            <a:endParaRPr lang="ar-SA" sz="1800" dirty="0"/>
          </a:p>
        </p:txBody>
      </p:sp>
      <p:sp>
        <p:nvSpPr>
          <p:cNvPr id="9" name="anim20_5"/>
          <p:cNvSpPr txBox="1"/>
          <p:nvPr/>
        </p:nvSpPr>
        <p:spPr>
          <a:xfrm>
            <a:off x="6507328" y="260604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D5E2F0"/>
                </a:solidFill>
                <a:latin typeface="JF Flat" pitchFamily="34" charset="0"/>
                <a:ea typeface="JF Flat" pitchFamily="34" charset="-122"/>
                <a:cs typeface="JF Flat" pitchFamily="34" charset="-120"/>
              </a:rPr>
              <a:t>تشير التقديرات إلى إيرادات تراكمية تبلغ نحو 665.9 مليون دينار خلال عشر سنوات، مع بدء تحقيق الأرباح المحاسبية السنوية من السنة السادسة، وفترة استرداد مقدرة بنحو 11 سنة وفق منهجية الدراسة.</a:t>
            </a:r>
            <a:endParaRPr lang="ar-SA" sz="1350" dirty="0"/>
          </a:p>
        </p:txBody>
      </p:sp>
      <p:sp>
        <p:nvSpPr>
          <p:cNvPr id="10" name="anim20_6"/>
          <p:cNvSpPr/>
          <p:nvPr/>
        </p:nvSpPr>
        <p:spPr>
          <a:xfrm>
            <a:off x="548640" y="160020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1" name="anim20_7"/>
          <p:cNvSpPr/>
          <p:nvPr/>
        </p:nvSpPr>
        <p:spPr>
          <a:xfrm>
            <a:off x="5090008" y="1874520"/>
            <a:ext cx="640080" cy="640080"/>
          </a:xfrm>
          <a:prstGeom prst="ellipse">
            <a:avLst/>
          </a:prstGeom>
          <a:solidFill>
            <a:srgbClr val="F15524"/>
          </a:solidFill>
          <a:ln w="12700">
            <a:solidFill>
              <a:srgbClr val="F15524"/>
            </a:solidFill>
            <a:prstDash val="solid"/>
          </a:ln>
        </p:spPr>
      </p:sp>
      <p:pic>
        <p:nvPicPr>
          <p:cNvPr id="12" name="anim20_8" descr="preencoded.png">    </p:cNvPr>
          <p:cNvPicPr>
            <a:picLocks noChangeAspect="1"/>
          </p:cNvPicPr>
          <p:nvPr/>
        </p:nvPicPr>
        <p:blipFill>
          <a:blip r:embed="rId2"/>
          <a:stretch>
            <a:fillRect/>
          </a:stretch>
        </p:blipFill>
        <p:spPr>
          <a:xfrm>
            <a:off x="5262829" y="2047342"/>
            <a:ext cx="294437" cy="294437"/>
          </a:xfrm>
          <a:prstGeom prst="rect">
            <a:avLst/>
          </a:prstGeom>
        </p:spPr>
      </p:pic>
      <p:sp>
        <p:nvSpPr>
          <p:cNvPr id="13" name="anim20_9"/>
          <p:cNvSpPr txBox="1"/>
          <p:nvPr/>
        </p:nvSpPr>
        <p:spPr>
          <a:xfrm>
            <a:off x="777240" y="180136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06</a:t>
            </a:r>
            <a:endParaRPr lang="ar-SA" sz="2600" dirty="0"/>
          </a:p>
        </p:txBody>
      </p:sp>
      <p:sp>
        <p:nvSpPr>
          <p:cNvPr id="14" name="anim20_10"/>
          <p:cNvSpPr txBox="1"/>
          <p:nvPr/>
        </p:nvSpPr>
        <p:spPr>
          <a:xfrm>
            <a:off x="1645920" y="189280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المخاطر والتحديات</a:t>
            </a:r>
            <a:endParaRPr lang="ar-SA" sz="1800" dirty="0"/>
          </a:p>
        </p:txBody>
      </p:sp>
      <p:sp>
        <p:nvSpPr>
          <p:cNvPr id="15" name="anim20_11"/>
          <p:cNvSpPr txBox="1"/>
          <p:nvPr/>
        </p:nvSpPr>
        <p:spPr>
          <a:xfrm>
            <a:off x="822960" y="260604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تتمثل أبرز التحديات في ارتفاع التكاليف الاستثمارية والتشغيلية، واستقرار الطاقة الكهربائية، والتهديدات السيبرانية، ومتطلبات التمويل والتراخيص والتحصيل.</a:t>
            </a:r>
            <a:endParaRPr lang="ar-SA" sz="1350" dirty="0"/>
          </a:p>
        </p:txBody>
      </p:sp>
      <p:sp>
        <p:nvSpPr>
          <p:cNvPr id="16" name="anim20_12"/>
          <p:cNvSpPr/>
          <p:nvPr/>
        </p:nvSpPr>
        <p:spPr>
          <a:xfrm>
            <a:off x="6233008" y="397764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17" name="anim20_13"/>
          <p:cNvSpPr/>
          <p:nvPr/>
        </p:nvSpPr>
        <p:spPr>
          <a:xfrm>
            <a:off x="10774375" y="4251960"/>
            <a:ext cx="640080" cy="640080"/>
          </a:xfrm>
          <a:prstGeom prst="ellipse">
            <a:avLst/>
          </a:prstGeom>
          <a:solidFill>
            <a:srgbClr val="00539B"/>
          </a:solidFill>
          <a:ln w="12700">
            <a:solidFill>
              <a:srgbClr val="00539B"/>
            </a:solidFill>
            <a:prstDash val="solid"/>
          </a:ln>
        </p:spPr>
      </p:sp>
      <p:pic>
        <p:nvPicPr>
          <p:cNvPr id="18" name="anim20_14" descr="preencoded.png">    </p:cNvPr>
          <p:cNvPicPr>
            <a:picLocks noChangeAspect="1"/>
          </p:cNvPicPr>
          <p:nvPr/>
        </p:nvPicPr>
        <p:blipFill>
          <a:blip r:embed="rId3"/>
          <a:stretch>
            <a:fillRect/>
          </a:stretch>
        </p:blipFill>
        <p:spPr>
          <a:xfrm>
            <a:off x="10947197" y="4424782"/>
            <a:ext cx="294437" cy="294437"/>
          </a:xfrm>
          <a:prstGeom prst="rect">
            <a:avLst/>
          </a:prstGeom>
        </p:spPr>
      </p:pic>
      <p:sp>
        <p:nvSpPr>
          <p:cNvPr id="19" name="anim20_15"/>
          <p:cNvSpPr txBox="1"/>
          <p:nvPr/>
        </p:nvSpPr>
        <p:spPr>
          <a:xfrm>
            <a:off x="6461608" y="417880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07</a:t>
            </a:r>
            <a:endParaRPr lang="ar-SA" sz="2600" dirty="0"/>
          </a:p>
        </p:txBody>
      </p:sp>
      <p:sp>
        <p:nvSpPr>
          <p:cNvPr id="20" name="anim20_16"/>
          <p:cNvSpPr txBox="1"/>
          <p:nvPr/>
        </p:nvSpPr>
        <p:spPr>
          <a:xfrm>
            <a:off x="7330288" y="427024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البدائل التمويلية</a:t>
            </a:r>
            <a:endParaRPr lang="ar-SA" sz="1800" dirty="0"/>
          </a:p>
        </p:txBody>
      </p:sp>
      <p:sp>
        <p:nvSpPr>
          <p:cNvPr id="21" name="anim20_17"/>
          <p:cNvSpPr txBox="1"/>
          <p:nvPr/>
        </p:nvSpPr>
        <p:spPr>
          <a:xfrm>
            <a:off x="6507328" y="498348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أظهرت الدراسة إمكانية الاستفادة من نماذج الشراكة الاستثمارية (PPP)، والبناء والتشغيل ونقل الملكية (BOT)، وتقاسم الإيرادات، لتخفيف الأعباء المالية المباشرة على الشركة.</a:t>
            </a:r>
            <a:endParaRPr lang="ar-SA" sz="1350" dirty="0"/>
          </a:p>
        </p:txBody>
      </p:sp>
      <p:sp>
        <p:nvSpPr>
          <p:cNvPr id="22" name="anim20_18"/>
          <p:cNvSpPr/>
          <p:nvPr/>
        </p:nvSpPr>
        <p:spPr>
          <a:xfrm>
            <a:off x="548640" y="3977640"/>
            <a:ext cx="5410048" cy="2148840"/>
          </a:xfrm>
          <a:prstGeom prst="roundRect">
            <a:avLst>
              <a:gd name="adj" fmla="val 4255"/>
            </a:avLst>
          </a:prstGeom>
          <a:solidFill>
            <a:srgbClr val="FFFFFF"/>
          </a:solidFill>
          <a:ln w="9525">
            <a:solidFill>
              <a:srgbClr val="D6DFEA"/>
            </a:solidFill>
            <a:prstDash val="solid"/>
          </a:ln>
          <a:effectLst>
            <a:outerShdw sx="100000" sy="100000" kx="0" ky="0" algn="bl" rotWithShape="0" blurRad="127000" dist="38100" dir="5400000">
              <a:srgbClr val="1F3A5F">
                <a:alpha val="13000"/>
              </a:srgbClr>
            </a:outerShdw>
          </a:effectLst>
        </p:spPr>
      </p:sp>
      <p:sp>
        <p:nvSpPr>
          <p:cNvPr id="23" name="anim20_19"/>
          <p:cNvSpPr/>
          <p:nvPr/>
        </p:nvSpPr>
        <p:spPr>
          <a:xfrm>
            <a:off x="5090008" y="4251960"/>
            <a:ext cx="640080" cy="640080"/>
          </a:xfrm>
          <a:prstGeom prst="ellipse">
            <a:avLst/>
          </a:prstGeom>
          <a:solidFill>
            <a:srgbClr val="F15524"/>
          </a:solidFill>
          <a:ln w="12700">
            <a:solidFill>
              <a:srgbClr val="F15524"/>
            </a:solidFill>
            <a:prstDash val="solid"/>
          </a:ln>
        </p:spPr>
      </p:sp>
      <p:pic>
        <p:nvPicPr>
          <p:cNvPr id="24" name="anim20_20" descr="preencoded.png">    </p:cNvPr>
          <p:cNvPicPr>
            <a:picLocks noChangeAspect="1"/>
          </p:cNvPicPr>
          <p:nvPr/>
        </p:nvPicPr>
        <p:blipFill>
          <a:blip r:embed="rId4"/>
          <a:stretch>
            <a:fillRect/>
          </a:stretch>
        </p:blipFill>
        <p:spPr>
          <a:xfrm>
            <a:off x="5262829" y="4424782"/>
            <a:ext cx="294437" cy="294437"/>
          </a:xfrm>
          <a:prstGeom prst="rect">
            <a:avLst/>
          </a:prstGeom>
        </p:spPr>
      </p:pic>
      <p:sp>
        <p:nvSpPr>
          <p:cNvPr id="25" name="anim20_21"/>
          <p:cNvSpPr txBox="1"/>
          <p:nvPr/>
        </p:nvSpPr>
        <p:spPr>
          <a:xfrm>
            <a:off x="777240" y="4178808"/>
            <a:ext cx="914400" cy="457200"/>
          </a:xfrm>
          <a:prstGeom prst="rect">
            <a:avLst/>
          </a:prstGeom>
          <a:noFill/>
          <a:ln/>
        </p:spPr>
        <p:txBody>
          <a:bodyPr wrap="square" lIns="0" tIns="0" rIns="0" bIns="0" rtlCol="0" anchor="t"/>
          <a:lstStyle/>
          <a:p>
            <a:pPr algn="l" indent="0" marL="0">
              <a:buNone/>
            </a:pPr>
            <a:r>
              <a:rPr lang="ar-SA" altLang="en-US" sz="2600" b="1" dirty="0">
                <a:solidFill>
                  <a:srgbClr val="D9E3EF"/>
                </a:solidFill>
                <a:latin typeface="JF Flat" pitchFamily="34" charset="0"/>
                <a:ea typeface="JF Flat" pitchFamily="34" charset="-122"/>
                <a:cs typeface="JF Flat" pitchFamily="34" charset="-120"/>
              </a:rPr>
              <a:t>08</a:t>
            </a:r>
            <a:endParaRPr lang="ar-SA" sz="2600" dirty="0"/>
          </a:p>
        </p:txBody>
      </p:sp>
      <p:sp>
        <p:nvSpPr>
          <p:cNvPr id="26" name="anim20_22"/>
          <p:cNvSpPr txBox="1"/>
          <p:nvPr/>
        </p:nvSpPr>
        <p:spPr>
          <a:xfrm>
            <a:off x="1645920" y="4270248"/>
            <a:ext cx="3306928" cy="594360"/>
          </a:xfrm>
          <a:prstGeom prst="rect">
            <a:avLst/>
          </a:prstGeom>
          <a:noFill/>
          <a:ln/>
        </p:spPr>
        <p:txBody>
          <a:bodyPr wrap="square" lIns="0" tIns="0" rIns="0" bIns="0" rtlCol="0" anchor="ctr"/>
          <a:lstStyle/>
          <a:p>
            <a:pPr rtl="1" algn="r" indent="0" marL="0">
              <a:buNone/>
            </a:pPr>
            <a:r>
              <a:rPr lang="ar-SA" altLang="en-US" sz="1800" b="1" dirty="0">
                <a:solidFill>
                  <a:srgbClr val="06305C"/>
                </a:solidFill>
                <a:latin typeface="JF Flat" pitchFamily="34" charset="0"/>
                <a:ea typeface="JF Flat" pitchFamily="34" charset="-122"/>
                <a:cs typeface="JF Flat" pitchFamily="34" charset="-120"/>
              </a:rPr>
              <a:t>البنية التحتية الكهربائية</a:t>
            </a:r>
            <a:endParaRPr lang="ar-SA" sz="1800" dirty="0"/>
          </a:p>
        </p:txBody>
      </p:sp>
      <p:sp>
        <p:nvSpPr>
          <p:cNvPr id="27" name="anim20_23"/>
          <p:cNvSpPr txBox="1"/>
          <p:nvPr/>
        </p:nvSpPr>
        <p:spPr>
          <a:xfrm>
            <a:off x="822960" y="4983480"/>
            <a:ext cx="4861408" cy="1005840"/>
          </a:xfrm>
          <a:prstGeom prst="rect">
            <a:avLst/>
          </a:prstGeom>
          <a:noFill/>
          <a:ln/>
        </p:spPr>
        <p:txBody>
          <a:bodyPr wrap="square" lIns="0" tIns="0" rIns="0" bIns="0" rtlCol="0" anchor="t"/>
          <a:lstStyle/>
          <a:p>
            <a:pPr rtl="1" algn="r" indent="0" marL="0">
              <a:lnSpc>
                <a:spcPct val="115000"/>
              </a:lnSpc>
              <a:buNone/>
            </a:pPr>
            <a:r>
              <a:rPr lang="ar-SA" altLang="en-US" sz="1350" dirty="0">
                <a:solidFill>
                  <a:srgbClr val="5B6B7F"/>
                </a:solidFill>
                <a:latin typeface="JF Flat" pitchFamily="34" charset="0"/>
                <a:ea typeface="JF Flat" pitchFamily="34" charset="-122"/>
                <a:cs typeface="JF Flat" pitchFamily="34" charset="-120"/>
              </a:rPr>
              <a:t>يتمتع موقع الشركة بقربه من محطة الهضبة للتحويل ومحطة توليد جنوب طرابلس بجهد 220 ك.ف، مما يعزز فرص توفير تغذية كهربائية موثوقة لأحمال مركز البيانات الوطني ودعم استمرارية تشغيله.</a:t>
            </a:r>
            <a:endParaRPr lang="ar-SA" sz="135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anim calcmode="lin" valueType="num">
                                      <p:cBhvr additive="base">
                                        <p:cTn id="2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0"/>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anim calcmode="lin" valueType="num">
                                      <p:cBhvr additive="base">
                                        <p:cTn id="4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5"/>
                                        </p:tgtEl>
                                        <p:attrNameLst>
                                          <p:attrName>ppt_y</p:attrName>
                                        </p:attrNameLst>
                                      </p:cBhvr>
                                      <p:tavLst>
                                        <p:tav tm="0">
                                          <p:val>
                                            <p:strVal val="#ppt_y+.03"/>
                                          </p:val>
                                        </p:tav>
                                        <p:tav tm="100000">
                                          <p:val>
                                            <p:strVal val="#ppt_y"/>
                                          </p:val>
                                        </p:tav>
                                      </p:tavLst>
                                    </p:anim>
                                  </p:childTnLst>
                                </p:cTn>
                              </p:par>
                              <p:par>
                                <p:cTn id="45" presetID="53" presetClass="entr" presetSubtype="16" fill="hold" grpId="0" nodeType="withEffect">
                                  <p:stCondLst>
                                    <p:cond delay="16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450" decel="100000" fill="hold"/>
                                        <p:tgtEl>
                                          <p:spTgt spid="5"/>
                                        </p:tgtEl>
                                        <p:attrNameLst>
                                          <p:attrName>ppt_w</p:attrName>
                                        </p:attrNameLst>
                                      </p:cBhvr>
                                      <p:tavLst>
                                        <p:tav tm="0">
                                          <p:val>
                                            <p:strVal val="0"/>
                                          </p:val>
                                        </p:tav>
                                        <p:tav tm="100000">
                                          <p:val>
                                            <p:strVal val="#ppt_w"/>
                                          </p:val>
                                        </p:tav>
                                      </p:tavLst>
                                    </p:anim>
                                    <p:anim calcmode="lin" valueType="num">
                                      <p:cBhvr additive="base">
                                        <p:cTn id="48" dur="450" decel="100000" fill="hold"/>
                                        <p:tgtEl>
                                          <p:spTgt spid="5"/>
                                        </p:tgtEl>
                                        <p:attrNameLst>
                                          <p:attrName>ppt_h</p:attrName>
                                        </p:attrNameLst>
                                      </p:cBhvr>
                                      <p:tavLst>
                                        <p:tav tm="0">
                                          <p:val>
                                            <p:strVal val="0"/>
                                          </p:val>
                                        </p:tav>
                                        <p:tav tm="100000">
                                          <p:val>
                                            <p:strVal val="#ppt_h"/>
                                          </p:val>
                                        </p:tav>
                                      </p:tavLst>
                                    </p:anim>
                                    <p:animEffect transition="in" filter="fade">
                                      <p:cBhvr>
                                        <p:cTn id="49" dur="450"/>
                                        <p:tgtEl>
                                          <p:spTgt spid="5"/>
                                        </p:tgtEl>
                                      </p:cBhvr>
                                    </p:animEffect>
                                  </p:childTnLst>
                                </p:cTn>
                              </p:par>
                              <p:par>
                                <p:cTn id="50" presetID="53" presetClass="entr" presetSubtype="16" fill="hold" grpId="0" nodeType="withEffect">
                                  <p:stCondLst>
                                    <p:cond delay="26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450" decel="100000" fill="hold"/>
                                        <p:tgtEl>
                                          <p:spTgt spid="6"/>
                                        </p:tgtEl>
                                        <p:attrNameLst>
                                          <p:attrName>ppt_w</p:attrName>
                                        </p:attrNameLst>
                                      </p:cBhvr>
                                      <p:tavLst>
                                        <p:tav tm="0">
                                          <p:val>
                                            <p:strVal val="0"/>
                                          </p:val>
                                        </p:tav>
                                        <p:tav tm="100000">
                                          <p:val>
                                            <p:strVal val="#ppt_w"/>
                                          </p:val>
                                        </p:tav>
                                      </p:tavLst>
                                    </p:anim>
                                    <p:anim calcmode="lin" valueType="num">
                                      <p:cBhvr additive="base">
                                        <p:cTn id="53" dur="450" decel="100000" fill="hold"/>
                                        <p:tgtEl>
                                          <p:spTgt spid="6"/>
                                        </p:tgtEl>
                                        <p:attrNameLst>
                                          <p:attrName>ppt_h</p:attrName>
                                        </p:attrNameLst>
                                      </p:cBhvr>
                                      <p:tavLst>
                                        <p:tav tm="0">
                                          <p:val>
                                            <p:strVal val="0"/>
                                          </p:val>
                                        </p:tav>
                                        <p:tav tm="100000">
                                          <p:val>
                                            <p:strVal val="#ppt_h"/>
                                          </p:val>
                                        </p:tav>
                                      </p:tavLst>
                                    </p:anim>
                                    <p:animEffect transition="in" filter="fade">
                                      <p:cBhvr>
                                        <p:cTn id="54" dur="450"/>
                                        <p:tgtEl>
                                          <p:spTgt spid="6"/>
                                        </p:tgtEl>
                                      </p:cBhvr>
                                    </p:animEffect>
                                  </p:childTnLst>
                                </p:cTn>
                              </p:par>
                              <p:par>
                                <p:cTn id="55" presetID="42" presetClass="entr" presetSubtype="0" fill="hold" grpId="0" nodeType="withEffect">
                                  <p:stCondLst>
                                    <p:cond delay="26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6"/>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26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6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20"/>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26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21"/>
                                        </p:tgtEl>
                                        <p:attrNameLst>
                                          <p:attrName>ppt_y</p:attrName>
                                        </p:attrNameLst>
                                      </p:cBhvr>
                                      <p:tavLst>
                                        <p:tav tm="0">
                                          <p:val>
                                            <p:strVal val="#ppt_y+.03"/>
                                          </p:val>
                                        </p:tav>
                                        <p:tav tm="100000">
                                          <p:val>
                                            <p:strVal val="#ppt_y"/>
                                          </p:val>
                                        </p:tav>
                                      </p:tavLst>
                                    </p:anim>
                                  </p:childTnLst>
                                </p:cTn>
                              </p:par>
                              <p:par>
                                <p:cTn id="75" presetID="53" presetClass="entr" presetSubtype="16" fill="hold" grpId="0" nodeType="withEffect">
                                  <p:stCondLst>
                                    <p:cond delay="290"/>
                                  </p:stCondLst>
                                  <p:childTnLst>
                                    <p:set>
                                      <p:cBhvr>
                                        <p:cTn id="76" dur="1" fill="hold">
                                          <p:stCondLst>
                                            <p:cond delay="0"/>
                                          </p:stCondLst>
                                        </p:cTn>
                                        <p:tgtEl>
                                          <p:spTgt spid="11"/>
                                        </p:tgtEl>
                                        <p:attrNameLst>
                                          <p:attrName>style.visibility</p:attrName>
                                        </p:attrNameLst>
                                      </p:cBhvr>
                                      <p:to>
                                        <p:strVal val="visible"/>
                                      </p:to>
                                    </p:set>
                                    <p:anim calcmode="lin" valueType="num">
                                      <p:cBhvr additive="base">
                                        <p:cTn id="77" dur="450" decel="100000" fill="hold"/>
                                        <p:tgtEl>
                                          <p:spTgt spid="11"/>
                                        </p:tgtEl>
                                        <p:attrNameLst>
                                          <p:attrName>ppt_w</p:attrName>
                                        </p:attrNameLst>
                                      </p:cBhvr>
                                      <p:tavLst>
                                        <p:tav tm="0">
                                          <p:val>
                                            <p:strVal val="0"/>
                                          </p:val>
                                        </p:tav>
                                        <p:tav tm="100000">
                                          <p:val>
                                            <p:strVal val="#ppt_w"/>
                                          </p:val>
                                        </p:tav>
                                      </p:tavLst>
                                    </p:anim>
                                    <p:anim calcmode="lin" valueType="num">
                                      <p:cBhvr additive="base">
                                        <p:cTn id="78" dur="450" decel="100000" fill="hold"/>
                                        <p:tgtEl>
                                          <p:spTgt spid="11"/>
                                        </p:tgtEl>
                                        <p:attrNameLst>
                                          <p:attrName>ppt_h</p:attrName>
                                        </p:attrNameLst>
                                      </p:cBhvr>
                                      <p:tavLst>
                                        <p:tav tm="0">
                                          <p:val>
                                            <p:strVal val="0"/>
                                          </p:val>
                                        </p:tav>
                                        <p:tav tm="100000">
                                          <p:val>
                                            <p:strVal val="#ppt_h"/>
                                          </p:val>
                                        </p:tav>
                                      </p:tavLst>
                                    </p:anim>
                                    <p:animEffect transition="in" filter="fade">
                                      <p:cBhvr>
                                        <p:cTn id="79" dur="450"/>
                                        <p:tgtEl>
                                          <p:spTgt spid="11"/>
                                        </p:tgtEl>
                                      </p:cBhvr>
                                    </p:animEffect>
                                  </p:childTnLst>
                                </p:cTn>
                              </p:par>
                              <p:par>
                                <p:cTn id="80" presetID="53" presetClass="entr" presetSubtype="16" fill="hold" grpId="0" nodeType="withEffect">
                                  <p:stCondLst>
                                    <p:cond delay="390"/>
                                  </p:stCondLst>
                                  <p:childTnLst>
                                    <p:set>
                                      <p:cBhvr>
                                        <p:cTn id="81" dur="1" fill="hold">
                                          <p:stCondLst>
                                            <p:cond delay="0"/>
                                          </p:stCondLst>
                                        </p:cTn>
                                        <p:tgtEl>
                                          <p:spTgt spid="12"/>
                                        </p:tgtEl>
                                        <p:attrNameLst>
                                          <p:attrName>style.visibility</p:attrName>
                                        </p:attrNameLst>
                                      </p:cBhvr>
                                      <p:to>
                                        <p:strVal val="visible"/>
                                      </p:to>
                                    </p:set>
                                    <p:anim calcmode="lin" valueType="num">
                                      <p:cBhvr additive="base">
                                        <p:cTn id="82" dur="450" decel="100000" fill="hold"/>
                                        <p:tgtEl>
                                          <p:spTgt spid="12"/>
                                        </p:tgtEl>
                                        <p:attrNameLst>
                                          <p:attrName>ppt_w</p:attrName>
                                        </p:attrNameLst>
                                      </p:cBhvr>
                                      <p:tavLst>
                                        <p:tav tm="0">
                                          <p:val>
                                            <p:strVal val="0"/>
                                          </p:val>
                                        </p:tav>
                                        <p:tav tm="100000">
                                          <p:val>
                                            <p:strVal val="#ppt_w"/>
                                          </p:val>
                                        </p:tav>
                                      </p:tavLst>
                                    </p:anim>
                                    <p:anim calcmode="lin" valueType="num">
                                      <p:cBhvr additive="base">
                                        <p:cTn id="83" dur="450" decel="100000" fill="hold"/>
                                        <p:tgtEl>
                                          <p:spTgt spid="12"/>
                                        </p:tgtEl>
                                        <p:attrNameLst>
                                          <p:attrName>ppt_h</p:attrName>
                                        </p:attrNameLst>
                                      </p:cBhvr>
                                      <p:tavLst>
                                        <p:tav tm="0">
                                          <p:val>
                                            <p:strVal val="0"/>
                                          </p:val>
                                        </p:tav>
                                        <p:tav tm="100000">
                                          <p:val>
                                            <p:strVal val="#ppt_h"/>
                                          </p:val>
                                        </p:tav>
                                      </p:tavLst>
                                    </p:anim>
                                    <p:animEffect transition="in" filter="fade">
                                      <p:cBhvr>
                                        <p:cTn id="84" dur="450"/>
                                        <p:tgtEl>
                                          <p:spTgt spid="12"/>
                                        </p:tgtEl>
                                      </p:cBhvr>
                                    </p:animEffect>
                                  </p:childTnLst>
                                </p:cTn>
                              </p:par>
                              <p:par>
                                <p:cTn id="85" presetID="42" presetClass="entr" presetSubtype="0" fill="hold" grpId="0" nodeType="withEffect">
                                  <p:stCondLst>
                                    <p:cond delay="39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600"/>
                                        <p:tgtEl>
                                          <p:spTgt spid="22"/>
                                        </p:tgtEl>
                                      </p:cBhvr>
                                    </p:animEffect>
                                    <p:anim calcmode="lin" valueType="num">
                                      <p:cBhvr additive="base">
                                        <p:cTn id="8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2"/>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39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anim calcmode="lin" valueType="num">
                                      <p:cBhvr additive="base">
                                        <p:cTn id="93" dur="600" decel="100000" fill="hold"/>
                                        <p:tgtEl>
                                          <p:spTgt spid="25"/>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5"/>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3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600"/>
                                        <p:tgtEl>
                                          <p:spTgt spid="26"/>
                                        </p:tgtEl>
                                      </p:cBhvr>
                                    </p:animEffect>
                                    <p:anim calcmode="lin" valueType="num">
                                      <p:cBhvr additive="base">
                                        <p:cTn id="98" dur="600" decel="100000" fill="hold"/>
                                        <p:tgtEl>
                                          <p:spTgt spid="26"/>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6"/>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39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53" presetClass="entr" presetSubtype="16" fill="hold" grpId="0" nodeType="withEffect">
                                  <p:stCondLst>
                                    <p:cond delay="420"/>
                                  </p:stCondLst>
                                  <p:childTnLst>
                                    <p:set>
                                      <p:cBhvr>
                                        <p:cTn id="106" dur="1" fill="hold">
                                          <p:stCondLst>
                                            <p:cond delay="0"/>
                                          </p:stCondLst>
                                        </p:cTn>
                                        <p:tgtEl>
                                          <p:spTgt spid="17"/>
                                        </p:tgtEl>
                                        <p:attrNameLst>
                                          <p:attrName>style.visibility</p:attrName>
                                        </p:attrNameLst>
                                      </p:cBhvr>
                                      <p:to>
                                        <p:strVal val="visible"/>
                                      </p:to>
                                    </p:set>
                                    <p:anim calcmode="lin" valueType="num">
                                      <p:cBhvr additive="base">
                                        <p:cTn id="107" dur="450" decel="100000" fill="hold"/>
                                        <p:tgtEl>
                                          <p:spTgt spid="17"/>
                                        </p:tgtEl>
                                        <p:attrNameLst>
                                          <p:attrName>ppt_w</p:attrName>
                                        </p:attrNameLst>
                                      </p:cBhvr>
                                      <p:tavLst>
                                        <p:tav tm="0">
                                          <p:val>
                                            <p:strVal val="0"/>
                                          </p:val>
                                        </p:tav>
                                        <p:tav tm="100000">
                                          <p:val>
                                            <p:strVal val="#ppt_w"/>
                                          </p:val>
                                        </p:tav>
                                      </p:tavLst>
                                    </p:anim>
                                    <p:anim calcmode="lin" valueType="num">
                                      <p:cBhvr additive="base">
                                        <p:cTn id="108" dur="450" decel="100000" fill="hold"/>
                                        <p:tgtEl>
                                          <p:spTgt spid="17"/>
                                        </p:tgtEl>
                                        <p:attrNameLst>
                                          <p:attrName>ppt_h</p:attrName>
                                        </p:attrNameLst>
                                      </p:cBhvr>
                                      <p:tavLst>
                                        <p:tav tm="0">
                                          <p:val>
                                            <p:strVal val="0"/>
                                          </p:val>
                                        </p:tav>
                                        <p:tav tm="100000">
                                          <p:val>
                                            <p:strVal val="#ppt_h"/>
                                          </p:val>
                                        </p:tav>
                                      </p:tavLst>
                                    </p:anim>
                                    <p:animEffect transition="in" filter="fade">
                                      <p:cBhvr>
                                        <p:cTn id="109" dur="450"/>
                                        <p:tgtEl>
                                          <p:spTgt spid="17"/>
                                        </p:tgtEl>
                                      </p:cBhvr>
                                    </p:animEffect>
                                  </p:childTnLst>
                                </p:cTn>
                              </p:par>
                              <p:par>
                                <p:cTn id="110" presetID="53" presetClass="entr" presetSubtype="16" fill="hold" grpId="0" nodeType="withEffect">
                                  <p:stCondLst>
                                    <p:cond delay="520"/>
                                  </p:stCondLst>
                                  <p:childTnLst>
                                    <p:set>
                                      <p:cBhvr>
                                        <p:cTn id="111" dur="1" fill="hold">
                                          <p:stCondLst>
                                            <p:cond delay="0"/>
                                          </p:stCondLst>
                                        </p:cTn>
                                        <p:tgtEl>
                                          <p:spTgt spid="18"/>
                                        </p:tgtEl>
                                        <p:attrNameLst>
                                          <p:attrName>style.visibility</p:attrName>
                                        </p:attrNameLst>
                                      </p:cBhvr>
                                      <p:to>
                                        <p:strVal val="visible"/>
                                      </p:to>
                                    </p:set>
                                    <p:anim calcmode="lin" valueType="num">
                                      <p:cBhvr additive="base">
                                        <p:cTn id="112" dur="450" decel="100000" fill="hold"/>
                                        <p:tgtEl>
                                          <p:spTgt spid="18"/>
                                        </p:tgtEl>
                                        <p:attrNameLst>
                                          <p:attrName>ppt_w</p:attrName>
                                        </p:attrNameLst>
                                      </p:cBhvr>
                                      <p:tavLst>
                                        <p:tav tm="0">
                                          <p:val>
                                            <p:strVal val="0"/>
                                          </p:val>
                                        </p:tav>
                                        <p:tav tm="100000">
                                          <p:val>
                                            <p:strVal val="#ppt_w"/>
                                          </p:val>
                                        </p:tav>
                                      </p:tavLst>
                                    </p:anim>
                                    <p:anim calcmode="lin" valueType="num">
                                      <p:cBhvr additive="base">
                                        <p:cTn id="113" dur="450" decel="100000" fill="hold"/>
                                        <p:tgtEl>
                                          <p:spTgt spid="18"/>
                                        </p:tgtEl>
                                        <p:attrNameLst>
                                          <p:attrName>ppt_h</p:attrName>
                                        </p:attrNameLst>
                                      </p:cBhvr>
                                      <p:tavLst>
                                        <p:tav tm="0">
                                          <p:val>
                                            <p:strVal val="0"/>
                                          </p:val>
                                        </p:tav>
                                        <p:tav tm="100000">
                                          <p:val>
                                            <p:strVal val="#ppt_h"/>
                                          </p:val>
                                        </p:tav>
                                      </p:tavLst>
                                    </p:anim>
                                    <p:animEffect transition="in" filter="fade">
                                      <p:cBhvr>
                                        <p:cTn id="114" dur="450"/>
                                        <p:tgtEl>
                                          <p:spTgt spid="18"/>
                                        </p:tgtEl>
                                      </p:cBhvr>
                                    </p:animEffect>
                                  </p:childTnLst>
                                </p:cTn>
                              </p:par>
                              <p:par>
                                <p:cTn id="115" presetID="53" presetClass="entr" presetSubtype="16" fill="hold" grpId="0" nodeType="withEffect">
                                  <p:stCondLst>
                                    <p:cond delay="550"/>
                                  </p:stCondLst>
                                  <p:childTnLst>
                                    <p:set>
                                      <p:cBhvr>
                                        <p:cTn id="116" dur="1" fill="hold">
                                          <p:stCondLst>
                                            <p:cond delay="0"/>
                                          </p:stCondLst>
                                        </p:cTn>
                                        <p:tgtEl>
                                          <p:spTgt spid="23"/>
                                        </p:tgtEl>
                                        <p:attrNameLst>
                                          <p:attrName>style.visibility</p:attrName>
                                        </p:attrNameLst>
                                      </p:cBhvr>
                                      <p:to>
                                        <p:strVal val="visible"/>
                                      </p:to>
                                    </p:set>
                                    <p:anim calcmode="lin" valueType="num">
                                      <p:cBhvr additive="base">
                                        <p:cTn id="117" dur="450" decel="100000" fill="hold"/>
                                        <p:tgtEl>
                                          <p:spTgt spid="23"/>
                                        </p:tgtEl>
                                        <p:attrNameLst>
                                          <p:attrName>ppt_w</p:attrName>
                                        </p:attrNameLst>
                                      </p:cBhvr>
                                      <p:tavLst>
                                        <p:tav tm="0">
                                          <p:val>
                                            <p:strVal val="0"/>
                                          </p:val>
                                        </p:tav>
                                        <p:tav tm="100000">
                                          <p:val>
                                            <p:strVal val="#ppt_w"/>
                                          </p:val>
                                        </p:tav>
                                      </p:tavLst>
                                    </p:anim>
                                    <p:anim calcmode="lin" valueType="num">
                                      <p:cBhvr additive="base">
                                        <p:cTn id="118" dur="450" decel="100000" fill="hold"/>
                                        <p:tgtEl>
                                          <p:spTgt spid="23"/>
                                        </p:tgtEl>
                                        <p:attrNameLst>
                                          <p:attrName>ppt_h</p:attrName>
                                        </p:attrNameLst>
                                      </p:cBhvr>
                                      <p:tavLst>
                                        <p:tav tm="0">
                                          <p:val>
                                            <p:strVal val="0"/>
                                          </p:val>
                                        </p:tav>
                                        <p:tav tm="100000">
                                          <p:val>
                                            <p:strVal val="#ppt_h"/>
                                          </p:val>
                                        </p:tav>
                                      </p:tavLst>
                                    </p:anim>
                                    <p:animEffect transition="in" filter="fade">
                                      <p:cBhvr>
                                        <p:cTn id="119" dur="450"/>
                                        <p:tgtEl>
                                          <p:spTgt spid="23"/>
                                        </p:tgtEl>
                                      </p:cBhvr>
                                    </p:animEffect>
                                  </p:childTnLst>
                                </p:cTn>
                              </p:par>
                              <p:par>
                                <p:cTn id="120" presetID="53" presetClass="entr" presetSubtype="16" fill="hold" grpId="0" nodeType="withEffect">
                                  <p:stCondLst>
                                    <p:cond delay="650"/>
                                  </p:stCondLst>
                                  <p:childTnLst>
                                    <p:set>
                                      <p:cBhvr>
                                        <p:cTn id="121" dur="1" fill="hold">
                                          <p:stCondLst>
                                            <p:cond delay="0"/>
                                          </p:stCondLst>
                                        </p:cTn>
                                        <p:tgtEl>
                                          <p:spTgt spid="24"/>
                                        </p:tgtEl>
                                        <p:attrNameLst>
                                          <p:attrName>style.visibility</p:attrName>
                                        </p:attrNameLst>
                                      </p:cBhvr>
                                      <p:to>
                                        <p:strVal val="visible"/>
                                      </p:to>
                                    </p:set>
                                    <p:anim calcmode="lin" valueType="num">
                                      <p:cBhvr additive="base">
                                        <p:cTn id="122" dur="450" decel="100000" fill="hold"/>
                                        <p:tgtEl>
                                          <p:spTgt spid="24"/>
                                        </p:tgtEl>
                                        <p:attrNameLst>
                                          <p:attrName>ppt_w</p:attrName>
                                        </p:attrNameLst>
                                      </p:cBhvr>
                                      <p:tavLst>
                                        <p:tav tm="0">
                                          <p:val>
                                            <p:strVal val="0"/>
                                          </p:val>
                                        </p:tav>
                                        <p:tav tm="100000">
                                          <p:val>
                                            <p:strVal val="#ppt_w"/>
                                          </p:val>
                                        </p:tav>
                                      </p:tavLst>
                                    </p:anim>
                                    <p:anim calcmode="lin" valueType="num">
                                      <p:cBhvr additive="base">
                                        <p:cTn id="123" dur="450" decel="100000" fill="hold"/>
                                        <p:tgtEl>
                                          <p:spTgt spid="24"/>
                                        </p:tgtEl>
                                        <p:attrNameLst>
                                          <p:attrName>ppt_h</p:attrName>
                                        </p:attrNameLst>
                                      </p:cBhvr>
                                      <p:tavLst>
                                        <p:tav tm="0">
                                          <p:val>
                                            <p:strVal val="0"/>
                                          </p:val>
                                        </p:tav>
                                        <p:tav tm="100000">
                                          <p:val>
                                            <p:strVal val="#ppt_h"/>
                                          </p:val>
                                        </p:tav>
                                      </p:tavLst>
                                    </p:anim>
                                    <p:animEffect transition="in" filter="fade">
                                      <p:cBhvr>
                                        <p:cTn id="124"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15524"/>
                </a:solidFill>
                <a:latin typeface="JF Flat" pitchFamily="34" charset="0"/>
                <a:ea typeface="JF Flat" pitchFamily="34" charset="-122"/>
                <a:cs typeface="JF Flat" pitchFamily="34" charset="-120"/>
              </a:rPr>
              <a:t>10  |  التوصيات</a:t>
            </a:r>
            <a:endParaRPr lang="en-US" sz="1300" dirty="0"/>
          </a:p>
        </p:txBody>
      </p:sp>
      <p:sp>
        <p:nvSpPr>
          <p:cNvPr id="3" name="Text 1"/>
          <p:cNvSpPr/>
          <p:nvPr>
            <p:ph idx="103"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06305C"/>
                </a:solidFill>
                <a:latin typeface="JF Flat" pitchFamily="34" charset="0"/>
                <a:ea typeface="JF Flat" pitchFamily="34" charset="-122"/>
                <a:cs typeface="JF Flat" pitchFamily="34" charset="-120"/>
              </a:rPr>
              <a:t>التوصيات</a:t>
            </a:r>
            <a:endParaRPr lang="en-US" sz="3000" dirty="0"/>
          </a:p>
        </p:txBody>
      </p:sp>
      <p:sp>
        <p:nvSpPr>
          <p:cNvPr id="4" name="anim21_0"/>
          <p:cNvSpPr/>
          <p:nvPr/>
        </p:nvSpPr>
        <p:spPr>
          <a:xfrm>
            <a:off x="11368735" y="1810512"/>
            <a:ext cx="0" cy="4032504"/>
          </a:xfrm>
          <a:prstGeom prst="line">
            <a:avLst/>
          </a:prstGeom>
          <a:noFill/>
          <a:ln w="25400">
            <a:solidFill>
              <a:srgbClr val="F8C9B5"/>
            </a:solidFill>
            <a:prstDash val="dash"/>
          </a:ln>
        </p:spPr>
      </p:sp>
      <p:sp>
        <p:nvSpPr>
          <p:cNvPr id="5" name="anim21_1"/>
          <p:cNvSpPr/>
          <p:nvPr/>
        </p:nvSpPr>
        <p:spPr>
          <a:xfrm>
            <a:off x="11094415" y="1554480"/>
            <a:ext cx="548640" cy="548640"/>
          </a:xfrm>
          <a:prstGeom prst="ellipse">
            <a:avLst/>
          </a:prstGeom>
          <a:solidFill>
            <a:srgbClr val="F15524"/>
          </a:solidFill>
          <a:ln w="12700">
            <a:solidFill>
              <a:srgbClr val="F15524"/>
            </a:solidFill>
            <a:prstDash val="solid"/>
          </a:ln>
        </p:spPr>
      </p:sp>
      <p:sp>
        <p:nvSpPr>
          <p:cNvPr id="6" name="anim21_2"/>
          <p:cNvSpPr txBox="1"/>
          <p:nvPr/>
        </p:nvSpPr>
        <p:spPr>
          <a:xfrm>
            <a:off x="11094415" y="155448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01</a:t>
            </a:r>
            <a:endParaRPr lang="en-US" sz="1400" dirty="0"/>
          </a:p>
        </p:txBody>
      </p:sp>
      <p:sp>
        <p:nvSpPr>
          <p:cNvPr id="7" name="anim21_3"/>
          <p:cNvSpPr txBox="1"/>
          <p:nvPr/>
        </p:nvSpPr>
        <p:spPr>
          <a:xfrm>
            <a:off x="8259775" y="1536192"/>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اعتماد المشروع استراتيجياً</a:t>
            </a:r>
            <a:endParaRPr lang="ar-SA" sz="1500" dirty="0"/>
          </a:p>
        </p:txBody>
      </p:sp>
      <p:sp>
        <p:nvSpPr>
          <p:cNvPr id="8" name="anim21_4"/>
          <p:cNvSpPr/>
          <p:nvPr/>
        </p:nvSpPr>
        <p:spPr>
          <a:xfrm>
            <a:off x="548640" y="1554480"/>
            <a:ext cx="7573975" cy="566928"/>
          </a:xfrm>
          <a:prstGeom prst="roundRect">
            <a:avLst>
              <a:gd name="adj" fmla="val 16129"/>
            </a:avLst>
          </a:prstGeom>
          <a:solidFill>
            <a:srgbClr val="FFFFFF"/>
          </a:solidFill>
          <a:ln w="9525">
            <a:solidFill>
              <a:srgbClr val="D6DFEA"/>
            </a:solidFill>
            <a:prstDash val="solid"/>
          </a:ln>
        </p:spPr>
      </p:sp>
      <p:sp>
        <p:nvSpPr>
          <p:cNvPr id="9" name="anim21_5"/>
          <p:cNvSpPr txBox="1"/>
          <p:nvPr/>
        </p:nvSpPr>
        <p:spPr>
          <a:xfrm>
            <a:off x="685800" y="1554480"/>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الموافقة المبدئية على مشروع إنشاء مركز البيانات الوطني باعتباره أحد المشروعات الداعمة للتحول الرقمي والبنية التحتية الرقمية للدولة الليبية.</a:t>
            </a:r>
            <a:endParaRPr lang="ar-SA" sz="1200" dirty="0"/>
          </a:p>
        </p:txBody>
      </p:sp>
      <p:sp>
        <p:nvSpPr>
          <p:cNvPr id="10" name="anim21_6"/>
          <p:cNvSpPr/>
          <p:nvPr/>
        </p:nvSpPr>
        <p:spPr>
          <a:xfrm>
            <a:off x="11094415" y="2226564"/>
            <a:ext cx="548640" cy="548640"/>
          </a:xfrm>
          <a:prstGeom prst="ellipse">
            <a:avLst/>
          </a:prstGeom>
          <a:solidFill>
            <a:srgbClr val="00539B"/>
          </a:solidFill>
          <a:ln w="12700">
            <a:solidFill>
              <a:srgbClr val="00539B"/>
            </a:solidFill>
            <a:prstDash val="solid"/>
          </a:ln>
        </p:spPr>
      </p:sp>
      <p:sp>
        <p:nvSpPr>
          <p:cNvPr id="11" name="anim21_7"/>
          <p:cNvSpPr txBox="1"/>
          <p:nvPr/>
        </p:nvSpPr>
        <p:spPr>
          <a:xfrm>
            <a:off x="11094415" y="2226564"/>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02</a:t>
            </a:r>
            <a:endParaRPr lang="en-US" sz="1400" dirty="0"/>
          </a:p>
        </p:txBody>
      </p:sp>
      <p:sp>
        <p:nvSpPr>
          <p:cNvPr id="12" name="anim21_8"/>
          <p:cNvSpPr txBox="1"/>
          <p:nvPr/>
        </p:nvSpPr>
        <p:spPr>
          <a:xfrm>
            <a:off x="8259775" y="2208276"/>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دراسة خيارات التمويل</a:t>
            </a:r>
            <a:endParaRPr lang="ar-SA" sz="1500" dirty="0"/>
          </a:p>
        </p:txBody>
      </p:sp>
      <p:sp>
        <p:nvSpPr>
          <p:cNvPr id="13" name="anim21_9"/>
          <p:cNvSpPr/>
          <p:nvPr/>
        </p:nvSpPr>
        <p:spPr>
          <a:xfrm>
            <a:off x="548640" y="2226564"/>
            <a:ext cx="7573975" cy="566928"/>
          </a:xfrm>
          <a:prstGeom prst="roundRect">
            <a:avLst>
              <a:gd name="adj" fmla="val 16129"/>
            </a:avLst>
          </a:prstGeom>
          <a:solidFill>
            <a:srgbClr val="F4F7FB"/>
          </a:solidFill>
          <a:ln w="9525">
            <a:solidFill>
              <a:srgbClr val="D6DFEA"/>
            </a:solidFill>
            <a:prstDash val="solid"/>
          </a:ln>
        </p:spPr>
      </p:sp>
      <p:sp>
        <p:nvSpPr>
          <p:cNvPr id="14" name="anim21_10"/>
          <p:cNvSpPr txBox="1"/>
          <p:nvPr/>
        </p:nvSpPr>
        <p:spPr>
          <a:xfrm>
            <a:off x="685800" y="2226564"/>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تقييم نماذج التمويل المباشر والشراكات الاستثمارية (PPP وBOT وتقاسم الإيرادات)، واختيار النموذج الذي يحقق التوازن بين العائد الاستثماري والمخاطر والمحافظة على السيادة على البيانات.</a:t>
            </a:r>
            <a:endParaRPr lang="ar-SA" sz="1200" dirty="0"/>
          </a:p>
        </p:txBody>
      </p:sp>
      <p:sp>
        <p:nvSpPr>
          <p:cNvPr id="15" name="anim21_11"/>
          <p:cNvSpPr/>
          <p:nvPr/>
        </p:nvSpPr>
        <p:spPr>
          <a:xfrm>
            <a:off x="11094415" y="2898648"/>
            <a:ext cx="548640" cy="548640"/>
          </a:xfrm>
          <a:prstGeom prst="ellipse">
            <a:avLst/>
          </a:prstGeom>
          <a:solidFill>
            <a:srgbClr val="00539B"/>
          </a:solidFill>
          <a:ln w="12700">
            <a:solidFill>
              <a:srgbClr val="00539B"/>
            </a:solidFill>
            <a:prstDash val="solid"/>
          </a:ln>
        </p:spPr>
      </p:sp>
      <p:sp>
        <p:nvSpPr>
          <p:cNvPr id="16" name="anim21_12"/>
          <p:cNvSpPr txBox="1"/>
          <p:nvPr/>
        </p:nvSpPr>
        <p:spPr>
          <a:xfrm>
            <a:off x="11094415" y="2898648"/>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03</a:t>
            </a:r>
            <a:endParaRPr lang="en-US" sz="1400" dirty="0"/>
          </a:p>
        </p:txBody>
      </p:sp>
      <p:sp>
        <p:nvSpPr>
          <p:cNvPr id="17" name="anim21_13"/>
          <p:cNvSpPr txBox="1"/>
          <p:nvPr/>
        </p:nvSpPr>
        <p:spPr>
          <a:xfrm>
            <a:off x="8259775" y="2880360"/>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الاستفادة من أصول الشركة</a:t>
            </a:r>
            <a:endParaRPr lang="ar-SA" sz="1500" dirty="0"/>
          </a:p>
        </p:txBody>
      </p:sp>
      <p:sp>
        <p:nvSpPr>
          <p:cNvPr id="18" name="anim21_14"/>
          <p:cNvSpPr/>
          <p:nvPr/>
        </p:nvSpPr>
        <p:spPr>
          <a:xfrm>
            <a:off x="548640" y="2898648"/>
            <a:ext cx="7573975" cy="566928"/>
          </a:xfrm>
          <a:prstGeom prst="roundRect">
            <a:avLst>
              <a:gd name="adj" fmla="val 16129"/>
            </a:avLst>
          </a:prstGeom>
          <a:solidFill>
            <a:srgbClr val="FFFFFF"/>
          </a:solidFill>
          <a:ln w="9525">
            <a:solidFill>
              <a:srgbClr val="D6DFEA"/>
            </a:solidFill>
            <a:prstDash val="solid"/>
          </a:ln>
        </p:spPr>
      </p:sp>
      <p:sp>
        <p:nvSpPr>
          <p:cNvPr id="19" name="anim21_15"/>
          <p:cNvSpPr txBox="1"/>
          <p:nvPr/>
        </p:nvSpPr>
        <p:spPr>
          <a:xfrm>
            <a:off x="685800" y="2898648"/>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توظيف البنية التحتية والشبكة الحكومية الآمنة والأراضي والكوادر المتاحة لخفض التكاليف وتعزيز التكامل بين الخدمات.</a:t>
            </a:r>
            <a:endParaRPr lang="ar-SA" sz="1200" dirty="0"/>
          </a:p>
        </p:txBody>
      </p:sp>
      <p:sp>
        <p:nvSpPr>
          <p:cNvPr id="20" name="anim21_16"/>
          <p:cNvSpPr/>
          <p:nvPr/>
        </p:nvSpPr>
        <p:spPr>
          <a:xfrm>
            <a:off x="11094415" y="3570732"/>
            <a:ext cx="548640" cy="548640"/>
          </a:xfrm>
          <a:prstGeom prst="ellipse">
            <a:avLst/>
          </a:prstGeom>
          <a:solidFill>
            <a:srgbClr val="00539B"/>
          </a:solidFill>
          <a:ln w="12700">
            <a:solidFill>
              <a:srgbClr val="00539B"/>
            </a:solidFill>
            <a:prstDash val="solid"/>
          </a:ln>
        </p:spPr>
      </p:sp>
      <p:sp>
        <p:nvSpPr>
          <p:cNvPr id="21" name="anim21_17"/>
          <p:cNvSpPr txBox="1"/>
          <p:nvPr/>
        </p:nvSpPr>
        <p:spPr>
          <a:xfrm>
            <a:off x="11094415" y="357073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04</a:t>
            </a:r>
            <a:endParaRPr lang="en-US" sz="1400" dirty="0"/>
          </a:p>
        </p:txBody>
      </p:sp>
      <p:sp>
        <p:nvSpPr>
          <p:cNvPr id="22" name="anim21_18"/>
          <p:cNvSpPr txBox="1"/>
          <p:nvPr/>
        </p:nvSpPr>
        <p:spPr>
          <a:xfrm>
            <a:off x="8259775" y="3552444"/>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ضمان الاعتمادية والأمن</a:t>
            </a:r>
            <a:endParaRPr lang="ar-SA" sz="1500" dirty="0"/>
          </a:p>
        </p:txBody>
      </p:sp>
      <p:sp>
        <p:nvSpPr>
          <p:cNvPr id="23" name="anim21_19"/>
          <p:cNvSpPr/>
          <p:nvPr/>
        </p:nvSpPr>
        <p:spPr>
          <a:xfrm>
            <a:off x="548640" y="3570732"/>
            <a:ext cx="7573975" cy="566928"/>
          </a:xfrm>
          <a:prstGeom prst="roundRect">
            <a:avLst>
              <a:gd name="adj" fmla="val 16129"/>
            </a:avLst>
          </a:prstGeom>
          <a:solidFill>
            <a:srgbClr val="F4F7FB"/>
          </a:solidFill>
          <a:ln w="9525">
            <a:solidFill>
              <a:srgbClr val="D6DFEA"/>
            </a:solidFill>
            <a:prstDash val="solid"/>
          </a:ln>
        </p:spPr>
      </p:sp>
      <p:sp>
        <p:nvSpPr>
          <p:cNvPr id="24" name="anim21_20"/>
          <p:cNvSpPr txBox="1"/>
          <p:nvPr/>
        </p:nvSpPr>
        <p:spPr>
          <a:xfrm>
            <a:off x="685800" y="3570732"/>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اعتماد المعايير الدولية المستهدفة، ولا سيما Uptime Tier III وISO/IEC 27001، مع توفير متطلبات الأمن السيبراني واستمرارية الأعمال والتعافي من الكوارث.</a:t>
            </a:r>
            <a:endParaRPr lang="ar-SA" sz="1200" dirty="0"/>
          </a:p>
        </p:txBody>
      </p:sp>
      <p:sp>
        <p:nvSpPr>
          <p:cNvPr id="25" name="anim21_21"/>
          <p:cNvSpPr/>
          <p:nvPr/>
        </p:nvSpPr>
        <p:spPr>
          <a:xfrm>
            <a:off x="11094415" y="4242816"/>
            <a:ext cx="548640" cy="548640"/>
          </a:xfrm>
          <a:prstGeom prst="ellipse">
            <a:avLst/>
          </a:prstGeom>
          <a:solidFill>
            <a:srgbClr val="00539B"/>
          </a:solidFill>
          <a:ln w="12700">
            <a:solidFill>
              <a:srgbClr val="00539B"/>
            </a:solidFill>
            <a:prstDash val="solid"/>
          </a:ln>
        </p:spPr>
      </p:sp>
      <p:sp>
        <p:nvSpPr>
          <p:cNvPr id="26" name="anim21_22"/>
          <p:cNvSpPr txBox="1"/>
          <p:nvPr/>
        </p:nvSpPr>
        <p:spPr>
          <a:xfrm>
            <a:off x="11094415" y="4242816"/>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05</a:t>
            </a:r>
            <a:endParaRPr lang="en-US" sz="1400" dirty="0"/>
          </a:p>
        </p:txBody>
      </p:sp>
      <p:sp>
        <p:nvSpPr>
          <p:cNvPr id="27" name="anim21_23"/>
          <p:cNvSpPr txBox="1"/>
          <p:nvPr/>
        </p:nvSpPr>
        <p:spPr>
          <a:xfrm>
            <a:off x="8259775" y="4224528"/>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الجاهزية التشغيلية والتجارية</a:t>
            </a:r>
            <a:endParaRPr lang="ar-SA" sz="1500" dirty="0"/>
          </a:p>
        </p:txBody>
      </p:sp>
      <p:sp>
        <p:nvSpPr>
          <p:cNvPr id="28" name="anim21_24"/>
          <p:cNvSpPr/>
          <p:nvPr/>
        </p:nvSpPr>
        <p:spPr>
          <a:xfrm>
            <a:off x="548640" y="4242816"/>
            <a:ext cx="7573975" cy="566928"/>
          </a:xfrm>
          <a:prstGeom prst="roundRect">
            <a:avLst>
              <a:gd name="adj" fmla="val 16129"/>
            </a:avLst>
          </a:prstGeom>
          <a:solidFill>
            <a:srgbClr val="FFFFFF"/>
          </a:solidFill>
          <a:ln w="9525">
            <a:solidFill>
              <a:srgbClr val="D6DFEA"/>
            </a:solidFill>
            <a:prstDash val="solid"/>
          </a:ln>
        </p:spPr>
      </p:sp>
      <p:sp>
        <p:nvSpPr>
          <p:cNvPr id="29" name="anim21_25"/>
          <p:cNvSpPr txBox="1"/>
          <p:nvPr/>
        </p:nvSpPr>
        <p:spPr>
          <a:xfrm>
            <a:off x="685800" y="4242816"/>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إعداد الهيكل التنظيمي وخطة تأهيل الكوادر، واعتماد استراتيجية تسعير وتسويق وآليات تعاقد وتحصيل واضحة، وبناء شراكات مع مزودي التقنية والخدمات السحابية.</a:t>
            </a:r>
            <a:endParaRPr lang="ar-SA" sz="1200" dirty="0"/>
          </a:p>
        </p:txBody>
      </p:sp>
      <p:sp>
        <p:nvSpPr>
          <p:cNvPr id="30" name="anim21_26"/>
          <p:cNvSpPr/>
          <p:nvPr/>
        </p:nvSpPr>
        <p:spPr>
          <a:xfrm>
            <a:off x="11094415" y="4914900"/>
            <a:ext cx="548640" cy="548640"/>
          </a:xfrm>
          <a:prstGeom prst="ellipse">
            <a:avLst/>
          </a:prstGeom>
          <a:solidFill>
            <a:srgbClr val="00539B"/>
          </a:solidFill>
          <a:ln w="12700">
            <a:solidFill>
              <a:srgbClr val="00539B"/>
            </a:solidFill>
            <a:prstDash val="solid"/>
          </a:ln>
        </p:spPr>
      </p:sp>
      <p:sp>
        <p:nvSpPr>
          <p:cNvPr id="31" name="anim21_27"/>
          <p:cNvSpPr txBox="1"/>
          <p:nvPr/>
        </p:nvSpPr>
        <p:spPr>
          <a:xfrm>
            <a:off x="11094415" y="49149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06</a:t>
            </a:r>
            <a:endParaRPr lang="en-US" sz="1400" dirty="0"/>
          </a:p>
        </p:txBody>
      </p:sp>
      <p:sp>
        <p:nvSpPr>
          <p:cNvPr id="32" name="anim21_28"/>
          <p:cNvSpPr txBox="1"/>
          <p:nvPr/>
        </p:nvSpPr>
        <p:spPr>
          <a:xfrm>
            <a:off x="8259775" y="4896612"/>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استكمال المتطلبات التنظيمية</a:t>
            </a:r>
            <a:endParaRPr lang="ar-SA" sz="1500" dirty="0"/>
          </a:p>
        </p:txBody>
      </p:sp>
      <p:sp>
        <p:nvSpPr>
          <p:cNvPr id="33" name="anim21_29"/>
          <p:cNvSpPr/>
          <p:nvPr/>
        </p:nvSpPr>
        <p:spPr>
          <a:xfrm>
            <a:off x="548640" y="4914900"/>
            <a:ext cx="7573975" cy="566928"/>
          </a:xfrm>
          <a:prstGeom prst="roundRect">
            <a:avLst>
              <a:gd name="adj" fmla="val 16129"/>
            </a:avLst>
          </a:prstGeom>
          <a:solidFill>
            <a:srgbClr val="F4F7FB"/>
          </a:solidFill>
          <a:ln w="9525">
            <a:solidFill>
              <a:srgbClr val="D6DFEA"/>
            </a:solidFill>
            <a:prstDash val="solid"/>
          </a:ln>
        </p:spPr>
      </p:sp>
      <p:sp>
        <p:nvSpPr>
          <p:cNvPr id="34" name="anim21_30"/>
          <p:cNvSpPr txBox="1"/>
          <p:nvPr/>
        </p:nvSpPr>
        <p:spPr>
          <a:xfrm>
            <a:off x="685800" y="4914900"/>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التنسيق مع الجهات المختصة للتحقق من التراخيص والاشتراطات القانونية ورسوم الخدمات والالتزامات المرتبطة باستضافة البيانات الحكومية.</a:t>
            </a:r>
            <a:endParaRPr lang="ar-SA" sz="1200" dirty="0"/>
          </a:p>
        </p:txBody>
      </p:sp>
      <p:sp>
        <p:nvSpPr>
          <p:cNvPr id="35" name="anim21_31"/>
          <p:cNvSpPr/>
          <p:nvPr/>
        </p:nvSpPr>
        <p:spPr>
          <a:xfrm>
            <a:off x="11094415" y="5586984"/>
            <a:ext cx="548640" cy="548640"/>
          </a:xfrm>
          <a:prstGeom prst="ellipse">
            <a:avLst/>
          </a:prstGeom>
          <a:solidFill>
            <a:srgbClr val="00539B"/>
          </a:solidFill>
          <a:ln w="12700">
            <a:solidFill>
              <a:srgbClr val="00539B"/>
            </a:solidFill>
            <a:prstDash val="solid"/>
          </a:ln>
        </p:spPr>
      </p:sp>
      <p:sp>
        <p:nvSpPr>
          <p:cNvPr id="36" name="anim21_32"/>
          <p:cNvSpPr txBox="1"/>
          <p:nvPr/>
        </p:nvSpPr>
        <p:spPr>
          <a:xfrm>
            <a:off x="11094415" y="5586984"/>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JF Flat" pitchFamily="34" charset="0"/>
                <a:ea typeface="JF Flat" pitchFamily="34" charset="-122"/>
                <a:cs typeface="JF Flat" pitchFamily="34" charset="-120"/>
              </a:rPr>
              <a:t>07</a:t>
            </a:r>
            <a:endParaRPr lang="en-US" sz="1400" dirty="0"/>
          </a:p>
        </p:txBody>
      </p:sp>
      <p:sp>
        <p:nvSpPr>
          <p:cNvPr id="37" name="anim21_33"/>
          <p:cNvSpPr txBox="1"/>
          <p:nvPr/>
        </p:nvSpPr>
        <p:spPr>
          <a:xfrm>
            <a:off x="8259775" y="5568696"/>
            <a:ext cx="2697480" cy="585216"/>
          </a:xfrm>
          <a:prstGeom prst="rect">
            <a:avLst/>
          </a:prstGeom>
          <a:noFill/>
          <a:ln/>
        </p:spPr>
        <p:txBody>
          <a:bodyPr wrap="square" lIns="0" tIns="0" rIns="0" bIns="0" rtlCol="0" anchor="ctr"/>
          <a:lstStyle/>
          <a:p>
            <a:pPr rtl="1" algn="r" indent="0" marL="0">
              <a:buNone/>
            </a:pPr>
            <a:r>
              <a:rPr lang="ar-SA" altLang="en-US" sz="1500" b="1" dirty="0">
                <a:solidFill>
                  <a:srgbClr val="06305C"/>
                </a:solidFill>
                <a:latin typeface="JF Flat" pitchFamily="34" charset="0"/>
                <a:ea typeface="JF Flat" pitchFamily="34" charset="-122"/>
                <a:cs typeface="JF Flat" pitchFamily="34" charset="-120"/>
              </a:rPr>
              <a:t>استكمال الدراسات التفصيلية</a:t>
            </a:r>
            <a:endParaRPr lang="ar-SA" sz="1500" dirty="0"/>
          </a:p>
        </p:txBody>
      </p:sp>
      <p:sp>
        <p:nvSpPr>
          <p:cNvPr id="38" name="anim21_34"/>
          <p:cNvSpPr/>
          <p:nvPr/>
        </p:nvSpPr>
        <p:spPr>
          <a:xfrm>
            <a:off x="548640" y="5586984"/>
            <a:ext cx="7573975" cy="566928"/>
          </a:xfrm>
          <a:prstGeom prst="roundRect">
            <a:avLst>
              <a:gd name="adj" fmla="val 16129"/>
            </a:avLst>
          </a:prstGeom>
          <a:solidFill>
            <a:srgbClr val="FFFFFF"/>
          </a:solidFill>
          <a:ln w="9525">
            <a:solidFill>
              <a:srgbClr val="D6DFEA"/>
            </a:solidFill>
            <a:prstDash val="solid"/>
          </a:ln>
        </p:spPr>
      </p:sp>
      <p:sp>
        <p:nvSpPr>
          <p:cNvPr id="39" name="anim21_35"/>
          <p:cNvSpPr txBox="1"/>
          <p:nvPr/>
        </p:nvSpPr>
        <p:spPr>
          <a:xfrm>
            <a:off x="685800" y="5586984"/>
            <a:ext cx="7299655" cy="566928"/>
          </a:xfrm>
          <a:prstGeom prst="rect">
            <a:avLst/>
          </a:prstGeom>
          <a:noFill/>
          <a:ln/>
        </p:spPr>
        <p:txBody>
          <a:bodyPr wrap="square" lIns="0" tIns="0" rIns="0" bIns="0" rtlCol="0" anchor="ctr"/>
          <a:lstStyle/>
          <a:p>
            <a:pPr rtl="1" algn="r" indent="0" marL="0">
              <a:buNone/>
            </a:pPr>
            <a:r>
              <a:rPr lang="ar-SA" altLang="en-US" sz="1200" dirty="0">
                <a:solidFill>
                  <a:srgbClr val="1F2937"/>
                </a:solidFill>
                <a:latin typeface="JF Flat" pitchFamily="34" charset="0"/>
                <a:ea typeface="JF Flat" pitchFamily="34" charset="-122"/>
                <a:cs typeface="JF Flat" pitchFamily="34" charset="-120"/>
              </a:rPr>
              <a:t>استمرار عمل الفريق المختص لاستكمال الدراسات الهندسية والتقنية والمالية والتجارية، وإعداد خطة تنفيذ متكاملة تُعرض على الإدارة العليا لاعتماد الاستثمار النهائي.</a:t>
            </a:r>
            <a:endParaRPr lang="ar-SA" sz="12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15524"/>
                </a:solidFill>
                <a:latin typeface="JF Flat"/>
                <a:ea typeface="JF Flat"/>
                <a:cs typeface="JF Flat"/>
              </a:defRPr>
            </a:lvl1pPr>
          </a:lstStyle>
          <a:p>
            <a:pPr algn="l"/>
            <a:fld id="{F7021451-1387-4CA6-816F-3879F97B5CBC}" type="slidenum">
              <a:rPr b="1"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13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7"/>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13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8"/>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3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anim calcmode="lin" valueType="num">
                                      <p:cBhvr additive="base">
                                        <p:cTn id="2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26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anim calcmode="lin" valueType="num">
                                      <p:cBhvr additive="base">
                                        <p:cTn id="2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12"/>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26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anim calcmode="lin" valueType="num">
                                      <p:cBhvr additive="base">
                                        <p:cTn id="3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13"/>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26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anim calcmode="lin" valueType="num">
                                      <p:cBhvr additive="base">
                                        <p:cTn id="3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4"/>
                                        </p:tgtEl>
                                        <p:attrNameLst>
                                          <p:attrName>ppt_y</p:attrName>
                                        </p:attrNameLst>
                                      </p:cBhvr>
                                      <p:tavLst>
                                        <p:tav tm="0">
                                          <p:val>
                                            <p:strVal val="#ppt_y+.03"/>
                                          </p:val>
                                        </p:tav>
                                        <p:tav tm="100000">
                                          <p:val>
                                            <p:strVal val="#ppt_y"/>
                                          </p:val>
                                        </p:tav>
                                      </p:tavLst>
                                    </p:anim>
                                  </p:childTnLst>
                                </p:cTn>
                              </p:par>
                              <p:par>
                                <p:cTn id="40" presetID="53" presetClass="entr" presetSubtype="16" fill="hold" grpId="0" nodeType="withEffect">
                                  <p:stCondLst>
                                    <p:cond delay="29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450" decel="100000" fill="hold"/>
                                        <p:tgtEl>
                                          <p:spTgt spid="5"/>
                                        </p:tgtEl>
                                        <p:attrNameLst>
                                          <p:attrName>ppt_w</p:attrName>
                                        </p:attrNameLst>
                                      </p:cBhvr>
                                      <p:tavLst>
                                        <p:tav tm="0">
                                          <p:val>
                                            <p:strVal val="0"/>
                                          </p:val>
                                        </p:tav>
                                        <p:tav tm="100000">
                                          <p:val>
                                            <p:strVal val="#ppt_w"/>
                                          </p:val>
                                        </p:tav>
                                      </p:tavLst>
                                    </p:anim>
                                    <p:anim calcmode="lin" valueType="num">
                                      <p:cBhvr additive="base">
                                        <p:cTn id="43" dur="450" decel="100000" fill="hold"/>
                                        <p:tgtEl>
                                          <p:spTgt spid="5"/>
                                        </p:tgtEl>
                                        <p:attrNameLst>
                                          <p:attrName>ppt_h</p:attrName>
                                        </p:attrNameLst>
                                      </p:cBhvr>
                                      <p:tavLst>
                                        <p:tav tm="0">
                                          <p:val>
                                            <p:strVal val="0"/>
                                          </p:val>
                                        </p:tav>
                                        <p:tav tm="100000">
                                          <p:val>
                                            <p:strVal val="#ppt_h"/>
                                          </p:val>
                                        </p:tav>
                                      </p:tavLst>
                                    </p:anim>
                                    <p:animEffect transition="in" filter="fade">
                                      <p:cBhvr>
                                        <p:cTn id="44" dur="450"/>
                                        <p:tgtEl>
                                          <p:spTgt spid="5"/>
                                        </p:tgtEl>
                                      </p:cBhvr>
                                    </p:animEffect>
                                  </p:childTnLst>
                                </p:cTn>
                              </p:par>
                              <p:par>
                                <p:cTn id="45" presetID="53" presetClass="entr" presetSubtype="16" fill="hold" grpId="0" nodeType="withEffect">
                                  <p:stCondLst>
                                    <p:cond delay="35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450" decel="100000" fill="hold"/>
                                        <p:tgtEl>
                                          <p:spTgt spid="6"/>
                                        </p:tgtEl>
                                        <p:attrNameLst>
                                          <p:attrName>ppt_w</p:attrName>
                                        </p:attrNameLst>
                                      </p:cBhvr>
                                      <p:tavLst>
                                        <p:tav tm="0">
                                          <p:val>
                                            <p:strVal val="0"/>
                                          </p:val>
                                        </p:tav>
                                        <p:tav tm="100000">
                                          <p:val>
                                            <p:strVal val="#ppt_w"/>
                                          </p:val>
                                        </p:tav>
                                      </p:tavLst>
                                    </p:anim>
                                    <p:anim calcmode="lin" valueType="num">
                                      <p:cBhvr additive="base">
                                        <p:cTn id="48" dur="450" decel="100000" fill="hold"/>
                                        <p:tgtEl>
                                          <p:spTgt spid="6"/>
                                        </p:tgtEl>
                                        <p:attrNameLst>
                                          <p:attrName>ppt_h</p:attrName>
                                        </p:attrNameLst>
                                      </p:cBhvr>
                                      <p:tavLst>
                                        <p:tav tm="0">
                                          <p:val>
                                            <p:strVal val="0"/>
                                          </p:val>
                                        </p:tav>
                                        <p:tav tm="100000">
                                          <p:val>
                                            <p:strVal val="#ppt_h"/>
                                          </p:val>
                                        </p:tav>
                                      </p:tavLst>
                                    </p:anim>
                                    <p:animEffect transition="in" filter="fade">
                                      <p:cBhvr>
                                        <p:cTn id="49" dur="450"/>
                                        <p:tgtEl>
                                          <p:spTgt spid="6"/>
                                        </p:tgtEl>
                                      </p:cBhvr>
                                    </p:animEffect>
                                  </p:childTnLst>
                                </p:cTn>
                              </p:par>
                              <p:par>
                                <p:cTn id="50" presetID="42" presetClass="entr" presetSubtype="0" fill="hold" grpId="0" nodeType="withEffect">
                                  <p:stCondLst>
                                    <p:cond delay="39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anim calcmode="lin" valueType="num">
                                      <p:cBhvr additive="base">
                                        <p:cTn id="5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7"/>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39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anim calcmode="lin" valueType="num">
                                      <p:cBhvr additive="base">
                                        <p:cTn id="5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8"/>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39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anim calcmode="lin" valueType="num">
                                      <p:cBhvr additive="base">
                                        <p:cTn id="6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9"/>
                                        </p:tgtEl>
                                        <p:attrNameLst>
                                          <p:attrName>ppt_y</p:attrName>
                                        </p:attrNameLst>
                                      </p:cBhvr>
                                      <p:tavLst>
                                        <p:tav tm="0">
                                          <p:val>
                                            <p:strVal val="#ppt_y+.03"/>
                                          </p:val>
                                        </p:tav>
                                        <p:tav tm="100000">
                                          <p:val>
                                            <p:strVal val="#ppt_y"/>
                                          </p:val>
                                        </p:tav>
                                      </p:tavLst>
                                    </p:anim>
                                  </p:childTnLst>
                                </p:cTn>
                              </p:par>
                              <p:par>
                                <p:cTn id="65" presetID="53" presetClass="entr" presetSubtype="16" fill="hold" grpId="0" nodeType="withEffect">
                                  <p:stCondLst>
                                    <p:cond delay="42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450" decel="100000" fill="hold"/>
                                        <p:tgtEl>
                                          <p:spTgt spid="10"/>
                                        </p:tgtEl>
                                        <p:attrNameLst>
                                          <p:attrName>ppt_w</p:attrName>
                                        </p:attrNameLst>
                                      </p:cBhvr>
                                      <p:tavLst>
                                        <p:tav tm="0">
                                          <p:val>
                                            <p:strVal val="0"/>
                                          </p:val>
                                        </p:tav>
                                        <p:tav tm="100000">
                                          <p:val>
                                            <p:strVal val="#ppt_w"/>
                                          </p:val>
                                        </p:tav>
                                      </p:tavLst>
                                    </p:anim>
                                    <p:anim calcmode="lin" valueType="num">
                                      <p:cBhvr additive="base">
                                        <p:cTn id="68" dur="450" decel="100000" fill="hold"/>
                                        <p:tgtEl>
                                          <p:spTgt spid="10"/>
                                        </p:tgtEl>
                                        <p:attrNameLst>
                                          <p:attrName>ppt_h</p:attrName>
                                        </p:attrNameLst>
                                      </p:cBhvr>
                                      <p:tavLst>
                                        <p:tav tm="0">
                                          <p:val>
                                            <p:strVal val="0"/>
                                          </p:val>
                                        </p:tav>
                                        <p:tav tm="100000">
                                          <p:val>
                                            <p:strVal val="#ppt_h"/>
                                          </p:val>
                                        </p:tav>
                                      </p:tavLst>
                                    </p:anim>
                                    <p:animEffect transition="in" filter="fade">
                                      <p:cBhvr>
                                        <p:cTn id="69" dur="450"/>
                                        <p:tgtEl>
                                          <p:spTgt spid="10"/>
                                        </p:tgtEl>
                                      </p:cBhvr>
                                    </p:animEffect>
                                  </p:childTnLst>
                                </p:cTn>
                              </p:par>
                              <p:par>
                                <p:cTn id="70" presetID="53" presetClass="entr" presetSubtype="16" fill="hold" grpId="0" nodeType="withEffect">
                                  <p:stCondLst>
                                    <p:cond delay="480"/>
                                  </p:stCondLst>
                                  <p:childTnLst>
                                    <p:set>
                                      <p:cBhvr>
                                        <p:cTn id="71" dur="1" fill="hold">
                                          <p:stCondLst>
                                            <p:cond delay="0"/>
                                          </p:stCondLst>
                                        </p:cTn>
                                        <p:tgtEl>
                                          <p:spTgt spid="11"/>
                                        </p:tgtEl>
                                        <p:attrNameLst>
                                          <p:attrName>style.visibility</p:attrName>
                                        </p:attrNameLst>
                                      </p:cBhvr>
                                      <p:to>
                                        <p:strVal val="visible"/>
                                      </p:to>
                                    </p:set>
                                    <p:anim calcmode="lin" valueType="num">
                                      <p:cBhvr additive="base">
                                        <p:cTn id="72" dur="450" decel="100000" fill="hold"/>
                                        <p:tgtEl>
                                          <p:spTgt spid="11"/>
                                        </p:tgtEl>
                                        <p:attrNameLst>
                                          <p:attrName>ppt_w</p:attrName>
                                        </p:attrNameLst>
                                      </p:cBhvr>
                                      <p:tavLst>
                                        <p:tav tm="0">
                                          <p:val>
                                            <p:strVal val="0"/>
                                          </p:val>
                                        </p:tav>
                                        <p:tav tm="100000">
                                          <p:val>
                                            <p:strVal val="#ppt_w"/>
                                          </p:val>
                                        </p:tav>
                                      </p:tavLst>
                                    </p:anim>
                                    <p:anim calcmode="lin" valueType="num">
                                      <p:cBhvr additive="base">
                                        <p:cTn id="73" dur="450" decel="100000" fill="hold"/>
                                        <p:tgtEl>
                                          <p:spTgt spid="11"/>
                                        </p:tgtEl>
                                        <p:attrNameLst>
                                          <p:attrName>ppt_h</p:attrName>
                                        </p:attrNameLst>
                                      </p:cBhvr>
                                      <p:tavLst>
                                        <p:tav tm="0">
                                          <p:val>
                                            <p:strVal val="0"/>
                                          </p:val>
                                        </p:tav>
                                        <p:tav tm="100000">
                                          <p:val>
                                            <p:strVal val="#ppt_h"/>
                                          </p:val>
                                        </p:tav>
                                      </p:tavLst>
                                    </p:anim>
                                    <p:animEffect transition="in" filter="fade">
                                      <p:cBhvr>
                                        <p:cTn id="74" dur="450"/>
                                        <p:tgtEl>
                                          <p:spTgt spid="11"/>
                                        </p:tgtEl>
                                      </p:cBhvr>
                                    </p:animEffect>
                                  </p:childTnLst>
                                </p:cTn>
                              </p:par>
                              <p:par>
                                <p:cTn id="75" presetID="42" presetClass="entr" presetSubtype="0" fill="hold" grpId="0" nodeType="withEffect">
                                  <p:stCondLst>
                                    <p:cond delay="52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22"/>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52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600"/>
                                        <p:tgtEl>
                                          <p:spTgt spid="23"/>
                                        </p:tgtEl>
                                      </p:cBhvr>
                                    </p:animEffect>
                                    <p:anim calcmode="lin" valueType="num">
                                      <p:cBhvr additive="base">
                                        <p:cTn id="8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23"/>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52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600"/>
                                        <p:tgtEl>
                                          <p:spTgt spid="24"/>
                                        </p:tgtEl>
                                      </p:cBhvr>
                                    </p:animEffect>
                                    <p:anim calcmode="lin" valueType="num">
                                      <p:cBhvr additive="base">
                                        <p:cTn id="8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4"/>
                                        </p:tgtEl>
                                        <p:attrNameLst>
                                          <p:attrName>ppt_y</p:attrName>
                                        </p:attrNameLst>
                                      </p:cBhvr>
                                      <p:tavLst>
                                        <p:tav tm="0">
                                          <p:val>
                                            <p:strVal val="#ppt_y+.03"/>
                                          </p:val>
                                        </p:tav>
                                        <p:tav tm="100000">
                                          <p:val>
                                            <p:strVal val="#ppt_y"/>
                                          </p:val>
                                        </p:tav>
                                      </p:tavLst>
                                    </p:anim>
                                  </p:childTnLst>
                                </p:cTn>
                              </p:par>
                              <p:par>
                                <p:cTn id="90" presetID="53" presetClass="entr" presetSubtype="16" fill="hold" grpId="0" nodeType="withEffect">
                                  <p:stCondLst>
                                    <p:cond delay="550"/>
                                  </p:stCondLst>
                                  <p:childTnLst>
                                    <p:set>
                                      <p:cBhvr>
                                        <p:cTn id="91" dur="1" fill="hold">
                                          <p:stCondLst>
                                            <p:cond delay="0"/>
                                          </p:stCondLst>
                                        </p:cTn>
                                        <p:tgtEl>
                                          <p:spTgt spid="15"/>
                                        </p:tgtEl>
                                        <p:attrNameLst>
                                          <p:attrName>style.visibility</p:attrName>
                                        </p:attrNameLst>
                                      </p:cBhvr>
                                      <p:to>
                                        <p:strVal val="visible"/>
                                      </p:to>
                                    </p:set>
                                    <p:anim calcmode="lin" valueType="num">
                                      <p:cBhvr additive="base">
                                        <p:cTn id="92" dur="450" decel="100000" fill="hold"/>
                                        <p:tgtEl>
                                          <p:spTgt spid="15"/>
                                        </p:tgtEl>
                                        <p:attrNameLst>
                                          <p:attrName>ppt_w</p:attrName>
                                        </p:attrNameLst>
                                      </p:cBhvr>
                                      <p:tavLst>
                                        <p:tav tm="0">
                                          <p:val>
                                            <p:strVal val="0"/>
                                          </p:val>
                                        </p:tav>
                                        <p:tav tm="100000">
                                          <p:val>
                                            <p:strVal val="#ppt_w"/>
                                          </p:val>
                                        </p:tav>
                                      </p:tavLst>
                                    </p:anim>
                                    <p:anim calcmode="lin" valueType="num">
                                      <p:cBhvr additive="base">
                                        <p:cTn id="93" dur="450" decel="100000" fill="hold"/>
                                        <p:tgtEl>
                                          <p:spTgt spid="15"/>
                                        </p:tgtEl>
                                        <p:attrNameLst>
                                          <p:attrName>ppt_h</p:attrName>
                                        </p:attrNameLst>
                                      </p:cBhvr>
                                      <p:tavLst>
                                        <p:tav tm="0">
                                          <p:val>
                                            <p:strVal val="0"/>
                                          </p:val>
                                        </p:tav>
                                        <p:tav tm="100000">
                                          <p:val>
                                            <p:strVal val="#ppt_h"/>
                                          </p:val>
                                        </p:tav>
                                      </p:tavLst>
                                    </p:anim>
                                    <p:animEffect transition="in" filter="fade">
                                      <p:cBhvr>
                                        <p:cTn id="94" dur="450"/>
                                        <p:tgtEl>
                                          <p:spTgt spid="15"/>
                                        </p:tgtEl>
                                      </p:cBhvr>
                                    </p:animEffect>
                                  </p:childTnLst>
                                </p:cTn>
                              </p:par>
                              <p:par>
                                <p:cTn id="95" presetID="53" presetClass="entr" presetSubtype="16" fill="hold" grpId="0" nodeType="withEffect">
                                  <p:stCondLst>
                                    <p:cond delay="610"/>
                                  </p:stCondLst>
                                  <p:childTnLst>
                                    <p:set>
                                      <p:cBhvr>
                                        <p:cTn id="96" dur="1" fill="hold">
                                          <p:stCondLst>
                                            <p:cond delay="0"/>
                                          </p:stCondLst>
                                        </p:cTn>
                                        <p:tgtEl>
                                          <p:spTgt spid="16"/>
                                        </p:tgtEl>
                                        <p:attrNameLst>
                                          <p:attrName>style.visibility</p:attrName>
                                        </p:attrNameLst>
                                      </p:cBhvr>
                                      <p:to>
                                        <p:strVal val="visible"/>
                                      </p:to>
                                    </p:set>
                                    <p:anim calcmode="lin" valueType="num">
                                      <p:cBhvr additive="base">
                                        <p:cTn id="97" dur="450" decel="100000" fill="hold"/>
                                        <p:tgtEl>
                                          <p:spTgt spid="16"/>
                                        </p:tgtEl>
                                        <p:attrNameLst>
                                          <p:attrName>ppt_w</p:attrName>
                                        </p:attrNameLst>
                                      </p:cBhvr>
                                      <p:tavLst>
                                        <p:tav tm="0">
                                          <p:val>
                                            <p:strVal val="0"/>
                                          </p:val>
                                        </p:tav>
                                        <p:tav tm="100000">
                                          <p:val>
                                            <p:strVal val="#ppt_w"/>
                                          </p:val>
                                        </p:tav>
                                      </p:tavLst>
                                    </p:anim>
                                    <p:anim calcmode="lin" valueType="num">
                                      <p:cBhvr additive="base">
                                        <p:cTn id="98" dur="450" decel="100000" fill="hold"/>
                                        <p:tgtEl>
                                          <p:spTgt spid="16"/>
                                        </p:tgtEl>
                                        <p:attrNameLst>
                                          <p:attrName>ppt_h</p:attrName>
                                        </p:attrNameLst>
                                      </p:cBhvr>
                                      <p:tavLst>
                                        <p:tav tm="0">
                                          <p:val>
                                            <p:strVal val="0"/>
                                          </p:val>
                                        </p:tav>
                                        <p:tav tm="100000">
                                          <p:val>
                                            <p:strVal val="#ppt_h"/>
                                          </p:val>
                                        </p:tav>
                                      </p:tavLst>
                                    </p:anim>
                                    <p:animEffect transition="in" filter="fade">
                                      <p:cBhvr>
                                        <p:cTn id="99" dur="450"/>
                                        <p:tgtEl>
                                          <p:spTgt spid="16"/>
                                        </p:tgtEl>
                                      </p:cBhvr>
                                    </p:animEffect>
                                  </p:childTnLst>
                                </p:cTn>
                              </p:par>
                              <p:par>
                                <p:cTn id="100" presetID="42" presetClass="entr" presetSubtype="0" fill="hold" grpId="0" nodeType="withEffect">
                                  <p:stCondLst>
                                    <p:cond delay="65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anim calcmode="lin" valueType="num">
                                      <p:cBhvr additive="base">
                                        <p:cTn id="103" dur="600" decel="100000" fill="hold"/>
                                        <p:tgtEl>
                                          <p:spTgt spid="27"/>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7"/>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65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600"/>
                                        <p:tgtEl>
                                          <p:spTgt spid="28"/>
                                        </p:tgtEl>
                                      </p:cBhvr>
                                    </p:animEffect>
                                    <p:anim calcmode="lin" valueType="num">
                                      <p:cBhvr additive="base">
                                        <p:cTn id="108" dur="600" decel="100000" fill="hold"/>
                                        <p:tgtEl>
                                          <p:spTgt spid="28"/>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8"/>
                                        </p:tgtEl>
                                        <p:attrNameLst>
                                          <p:attrName>ppt_y</p:attrName>
                                        </p:attrNameLst>
                                      </p:cBhvr>
                                      <p:tavLst>
                                        <p:tav tm="0">
                                          <p:val>
                                            <p:strVal val="#ppt_y+.03"/>
                                          </p:val>
                                        </p:tav>
                                        <p:tav tm="100000">
                                          <p:val>
                                            <p:strVal val="#ppt_y"/>
                                          </p:val>
                                        </p:tav>
                                      </p:tavLst>
                                    </p:anim>
                                  </p:childTnLst>
                                </p:cTn>
                              </p:par>
                              <p:par>
                                <p:cTn id="110" presetID="42" presetClass="entr" presetSubtype="0" fill="hold" grpId="0" nodeType="withEffect">
                                  <p:stCondLst>
                                    <p:cond delay="65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600"/>
                                        <p:tgtEl>
                                          <p:spTgt spid="29"/>
                                        </p:tgtEl>
                                      </p:cBhvr>
                                    </p:animEffect>
                                    <p:anim calcmode="lin" valueType="num">
                                      <p:cBhvr additive="base">
                                        <p:cTn id="113" dur="600" decel="100000" fill="hold"/>
                                        <p:tgtEl>
                                          <p:spTgt spid="29"/>
                                        </p:tgtEl>
                                        <p:attrNameLst>
                                          <p:attrName>ppt_x</p:attrName>
                                        </p:attrNameLst>
                                      </p:cBhvr>
                                      <p:tavLst>
                                        <p:tav tm="0">
                                          <p:val>
                                            <p:strVal val="#ppt_x"/>
                                          </p:val>
                                        </p:tav>
                                        <p:tav tm="100000">
                                          <p:val>
                                            <p:strVal val="#ppt_x"/>
                                          </p:val>
                                        </p:tav>
                                      </p:tavLst>
                                    </p:anim>
                                    <p:anim calcmode="lin" valueType="num">
                                      <p:cBhvr additive="base">
                                        <p:cTn id="114" dur="600" decel="100000" fill="hold"/>
                                        <p:tgtEl>
                                          <p:spTgt spid="29"/>
                                        </p:tgtEl>
                                        <p:attrNameLst>
                                          <p:attrName>ppt_y</p:attrName>
                                        </p:attrNameLst>
                                      </p:cBhvr>
                                      <p:tavLst>
                                        <p:tav tm="0">
                                          <p:val>
                                            <p:strVal val="#ppt_y+.03"/>
                                          </p:val>
                                        </p:tav>
                                        <p:tav tm="100000">
                                          <p:val>
                                            <p:strVal val="#ppt_y"/>
                                          </p:val>
                                        </p:tav>
                                      </p:tavLst>
                                    </p:anim>
                                  </p:childTnLst>
                                </p:cTn>
                              </p:par>
                              <p:par>
                                <p:cTn id="115" presetID="53" presetClass="entr" presetSubtype="16" fill="hold" grpId="0" nodeType="withEffect">
                                  <p:stCondLst>
                                    <p:cond delay="680"/>
                                  </p:stCondLst>
                                  <p:childTnLst>
                                    <p:set>
                                      <p:cBhvr>
                                        <p:cTn id="116" dur="1" fill="hold">
                                          <p:stCondLst>
                                            <p:cond delay="0"/>
                                          </p:stCondLst>
                                        </p:cTn>
                                        <p:tgtEl>
                                          <p:spTgt spid="20"/>
                                        </p:tgtEl>
                                        <p:attrNameLst>
                                          <p:attrName>style.visibility</p:attrName>
                                        </p:attrNameLst>
                                      </p:cBhvr>
                                      <p:to>
                                        <p:strVal val="visible"/>
                                      </p:to>
                                    </p:set>
                                    <p:anim calcmode="lin" valueType="num">
                                      <p:cBhvr additive="base">
                                        <p:cTn id="117" dur="450" decel="100000" fill="hold"/>
                                        <p:tgtEl>
                                          <p:spTgt spid="20"/>
                                        </p:tgtEl>
                                        <p:attrNameLst>
                                          <p:attrName>ppt_w</p:attrName>
                                        </p:attrNameLst>
                                      </p:cBhvr>
                                      <p:tavLst>
                                        <p:tav tm="0">
                                          <p:val>
                                            <p:strVal val="0"/>
                                          </p:val>
                                        </p:tav>
                                        <p:tav tm="100000">
                                          <p:val>
                                            <p:strVal val="#ppt_w"/>
                                          </p:val>
                                        </p:tav>
                                      </p:tavLst>
                                    </p:anim>
                                    <p:anim calcmode="lin" valueType="num">
                                      <p:cBhvr additive="base">
                                        <p:cTn id="118" dur="450" decel="100000" fill="hold"/>
                                        <p:tgtEl>
                                          <p:spTgt spid="20"/>
                                        </p:tgtEl>
                                        <p:attrNameLst>
                                          <p:attrName>ppt_h</p:attrName>
                                        </p:attrNameLst>
                                      </p:cBhvr>
                                      <p:tavLst>
                                        <p:tav tm="0">
                                          <p:val>
                                            <p:strVal val="0"/>
                                          </p:val>
                                        </p:tav>
                                        <p:tav tm="100000">
                                          <p:val>
                                            <p:strVal val="#ppt_h"/>
                                          </p:val>
                                        </p:tav>
                                      </p:tavLst>
                                    </p:anim>
                                    <p:animEffect transition="in" filter="fade">
                                      <p:cBhvr>
                                        <p:cTn id="119" dur="450"/>
                                        <p:tgtEl>
                                          <p:spTgt spid="20"/>
                                        </p:tgtEl>
                                      </p:cBhvr>
                                    </p:animEffect>
                                  </p:childTnLst>
                                </p:cTn>
                              </p:par>
                              <p:par>
                                <p:cTn id="120" presetID="53" presetClass="entr" presetSubtype="16" fill="hold" grpId="0" nodeType="withEffect">
                                  <p:stCondLst>
                                    <p:cond delay="740"/>
                                  </p:stCondLst>
                                  <p:childTnLst>
                                    <p:set>
                                      <p:cBhvr>
                                        <p:cTn id="121" dur="1" fill="hold">
                                          <p:stCondLst>
                                            <p:cond delay="0"/>
                                          </p:stCondLst>
                                        </p:cTn>
                                        <p:tgtEl>
                                          <p:spTgt spid="21"/>
                                        </p:tgtEl>
                                        <p:attrNameLst>
                                          <p:attrName>style.visibility</p:attrName>
                                        </p:attrNameLst>
                                      </p:cBhvr>
                                      <p:to>
                                        <p:strVal val="visible"/>
                                      </p:to>
                                    </p:set>
                                    <p:anim calcmode="lin" valueType="num">
                                      <p:cBhvr additive="base">
                                        <p:cTn id="122" dur="450" decel="100000" fill="hold"/>
                                        <p:tgtEl>
                                          <p:spTgt spid="21"/>
                                        </p:tgtEl>
                                        <p:attrNameLst>
                                          <p:attrName>ppt_w</p:attrName>
                                        </p:attrNameLst>
                                      </p:cBhvr>
                                      <p:tavLst>
                                        <p:tav tm="0">
                                          <p:val>
                                            <p:strVal val="0"/>
                                          </p:val>
                                        </p:tav>
                                        <p:tav tm="100000">
                                          <p:val>
                                            <p:strVal val="#ppt_w"/>
                                          </p:val>
                                        </p:tav>
                                      </p:tavLst>
                                    </p:anim>
                                    <p:anim calcmode="lin" valueType="num">
                                      <p:cBhvr additive="base">
                                        <p:cTn id="123" dur="450" decel="100000" fill="hold"/>
                                        <p:tgtEl>
                                          <p:spTgt spid="21"/>
                                        </p:tgtEl>
                                        <p:attrNameLst>
                                          <p:attrName>ppt_h</p:attrName>
                                        </p:attrNameLst>
                                      </p:cBhvr>
                                      <p:tavLst>
                                        <p:tav tm="0">
                                          <p:val>
                                            <p:strVal val="0"/>
                                          </p:val>
                                        </p:tav>
                                        <p:tav tm="100000">
                                          <p:val>
                                            <p:strVal val="#ppt_h"/>
                                          </p:val>
                                        </p:tav>
                                      </p:tavLst>
                                    </p:anim>
                                    <p:animEffect transition="in" filter="fade">
                                      <p:cBhvr>
                                        <p:cTn id="124" dur="450"/>
                                        <p:tgtEl>
                                          <p:spTgt spid="21"/>
                                        </p:tgtEl>
                                      </p:cBhvr>
                                    </p:animEffect>
                                  </p:childTnLst>
                                </p:cTn>
                              </p:par>
                              <p:par>
                                <p:cTn id="125" presetID="42" presetClass="entr" presetSubtype="0" fill="hold" grpId="0" nodeType="withEffect">
                                  <p:stCondLst>
                                    <p:cond delay="78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600"/>
                                        <p:tgtEl>
                                          <p:spTgt spid="32"/>
                                        </p:tgtEl>
                                      </p:cBhvr>
                                    </p:animEffect>
                                    <p:anim calcmode="lin" valueType="num">
                                      <p:cBhvr additive="base">
                                        <p:cTn id="128" dur="600" decel="100000" fill="hold"/>
                                        <p:tgtEl>
                                          <p:spTgt spid="32"/>
                                        </p:tgtEl>
                                        <p:attrNameLst>
                                          <p:attrName>ppt_x</p:attrName>
                                        </p:attrNameLst>
                                      </p:cBhvr>
                                      <p:tavLst>
                                        <p:tav tm="0">
                                          <p:val>
                                            <p:strVal val="#ppt_x"/>
                                          </p:val>
                                        </p:tav>
                                        <p:tav tm="100000">
                                          <p:val>
                                            <p:strVal val="#ppt_x"/>
                                          </p:val>
                                        </p:tav>
                                      </p:tavLst>
                                    </p:anim>
                                    <p:anim calcmode="lin" valueType="num">
                                      <p:cBhvr additive="base">
                                        <p:cTn id="129" dur="600" decel="100000" fill="hold"/>
                                        <p:tgtEl>
                                          <p:spTgt spid="32"/>
                                        </p:tgtEl>
                                        <p:attrNameLst>
                                          <p:attrName>ppt_y</p:attrName>
                                        </p:attrNameLst>
                                      </p:cBhvr>
                                      <p:tavLst>
                                        <p:tav tm="0">
                                          <p:val>
                                            <p:strVal val="#ppt_y+.03"/>
                                          </p:val>
                                        </p:tav>
                                        <p:tav tm="100000">
                                          <p:val>
                                            <p:strVal val="#ppt_y"/>
                                          </p:val>
                                        </p:tav>
                                      </p:tavLst>
                                    </p:anim>
                                  </p:childTnLst>
                                </p:cTn>
                              </p:par>
                              <p:par>
                                <p:cTn id="130" presetID="42" presetClass="entr" presetSubtype="0" fill="hold" grpId="0" nodeType="withEffect">
                                  <p:stCondLst>
                                    <p:cond delay="78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600"/>
                                        <p:tgtEl>
                                          <p:spTgt spid="33"/>
                                        </p:tgtEl>
                                      </p:cBhvr>
                                    </p:animEffect>
                                    <p:anim calcmode="lin" valueType="num">
                                      <p:cBhvr additive="base">
                                        <p:cTn id="133" dur="600" decel="100000" fill="hold"/>
                                        <p:tgtEl>
                                          <p:spTgt spid="33"/>
                                        </p:tgtEl>
                                        <p:attrNameLst>
                                          <p:attrName>ppt_x</p:attrName>
                                        </p:attrNameLst>
                                      </p:cBhvr>
                                      <p:tavLst>
                                        <p:tav tm="0">
                                          <p:val>
                                            <p:strVal val="#ppt_x"/>
                                          </p:val>
                                        </p:tav>
                                        <p:tav tm="100000">
                                          <p:val>
                                            <p:strVal val="#ppt_x"/>
                                          </p:val>
                                        </p:tav>
                                      </p:tavLst>
                                    </p:anim>
                                    <p:anim calcmode="lin" valueType="num">
                                      <p:cBhvr additive="base">
                                        <p:cTn id="134" dur="600" decel="100000" fill="hold"/>
                                        <p:tgtEl>
                                          <p:spTgt spid="33"/>
                                        </p:tgtEl>
                                        <p:attrNameLst>
                                          <p:attrName>ppt_y</p:attrName>
                                        </p:attrNameLst>
                                      </p:cBhvr>
                                      <p:tavLst>
                                        <p:tav tm="0">
                                          <p:val>
                                            <p:strVal val="#ppt_y+.03"/>
                                          </p:val>
                                        </p:tav>
                                        <p:tav tm="100000">
                                          <p:val>
                                            <p:strVal val="#ppt_y"/>
                                          </p:val>
                                        </p:tav>
                                      </p:tavLst>
                                    </p:anim>
                                  </p:childTnLst>
                                </p:cTn>
                              </p:par>
                              <p:par>
                                <p:cTn id="135" presetID="42" presetClass="entr" presetSubtype="0" fill="hold" grpId="0" nodeType="withEffect">
                                  <p:stCondLst>
                                    <p:cond delay="78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600"/>
                                        <p:tgtEl>
                                          <p:spTgt spid="34"/>
                                        </p:tgtEl>
                                      </p:cBhvr>
                                    </p:animEffect>
                                    <p:anim calcmode="lin" valueType="num">
                                      <p:cBhvr additive="base">
                                        <p:cTn id="138" dur="600" decel="100000" fill="hold"/>
                                        <p:tgtEl>
                                          <p:spTgt spid="34"/>
                                        </p:tgtEl>
                                        <p:attrNameLst>
                                          <p:attrName>ppt_x</p:attrName>
                                        </p:attrNameLst>
                                      </p:cBhvr>
                                      <p:tavLst>
                                        <p:tav tm="0">
                                          <p:val>
                                            <p:strVal val="#ppt_x"/>
                                          </p:val>
                                        </p:tav>
                                        <p:tav tm="100000">
                                          <p:val>
                                            <p:strVal val="#ppt_x"/>
                                          </p:val>
                                        </p:tav>
                                      </p:tavLst>
                                    </p:anim>
                                    <p:anim calcmode="lin" valueType="num">
                                      <p:cBhvr additive="base">
                                        <p:cTn id="139" dur="600" decel="100000" fill="hold"/>
                                        <p:tgtEl>
                                          <p:spTgt spid="34"/>
                                        </p:tgtEl>
                                        <p:attrNameLst>
                                          <p:attrName>ppt_y</p:attrName>
                                        </p:attrNameLst>
                                      </p:cBhvr>
                                      <p:tavLst>
                                        <p:tav tm="0">
                                          <p:val>
                                            <p:strVal val="#ppt_y+.03"/>
                                          </p:val>
                                        </p:tav>
                                        <p:tav tm="100000">
                                          <p:val>
                                            <p:strVal val="#ppt_y"/>
                                          </p:val>
                                        </p:tav>
                                      </p:tavLst>
                                    </p:anim>
                                  </p:childTnLst>
                                </p:cTn>
                              </p:par>
                              <p:par>
                                <p:cTn id="140" presetID="53" presetClass="entr" presetSubtype="16" fill="hold" grpId="0" nodeType="withEffect">
                                  <p:stCondLst>
                                    <p:cond delay="810"/>
                                  </p:stCondLst>
                                  <p:childTnLst>
                                    <p:set>
                                      <p:cBhvr>
                                        <p:cTn id="141" dur="1" fill="hold">
                                          <p:stCondLst>
                                            <p:cond delay="0"/>
                                          </p:stCondLst>
                                        </p:cTn>
                                        <p:tgtEl>
                                          <p:spTgt spid="25"/>
                                        </p:tgtEl>
                                        <p:attrNameLst>
                                          <p:attrName>style.visibility</p:attrName>
                                        </p:attrNameLst>
                                      </p:cBhvr>
                                      <p:to>
                                        <p:strVal val="visible"/>
                                      </p:to>
                                    </p:set>
                                    <p:anim calcmode="lin" valueType="num">
                                      <p:cBhvr additive="base">
                                        <p:cTn id="142" dur="450" decel="100000" fill="hold"/>
                                        <p:tgtEl>
                                          <p:spTgt spid="25"/>
                                        </p:tgtEl>
                                        <p:attrNameLst>
                                          <p:attrName>ppt_w</p:attrName>
                                        </p:attrNameLst>
                                      </p:cBhvr>
                                      <p:tavLst>
                                        <p:tav tm="0">
                                          <p:val>
                                            <p:strVal val="0"/>
                                          </p:val>
                                        </p:tav>
                                        <p:tav tm="100000">
                                          <p:val>
                                            <p:strVal val="#ppt_w"/>
                                          </p:val>
                                        </p:tav>
                                      </p:tavLst>
                                    </p:anim>
                                    <p:anim calcmode="lin" valueType="num">
                                      <p:cBhvr additive="base">
                                        <p:cTn id="143" dur="450" decel="100000" fill="hold"/>
                                        <p:tgtEl>
                                          <p:spTgt spid="25"/>
                                        </p:tgtEl>
                                        <p:attrNameLst>
                                          <p:attrName>ppt_h</p:attrName>
                                        </p:attrNameLst>
                                      </p:cBhvr>
                                      <p:tavLst>
                                        <p:tav tm="0">
                                          <p:val>
                                            <p:strVal val="0"/>
                                          </p:val>
                                        </p:tav>
                                        <p:tav tm="100000">
                                          <p:val>
                                            <p:strVal val="#ppt_h"/>
                                          </p:val>
                                        </p:tav>
                                      </p:tavLst>
                                    </p:anim>
                                    <p:animEffect transition="in" filter="fade">
                                      <p:cBhvr>
                                        <p:cTn id="144" dur="450"/>
                                        <p:tgtEl>
                                          <p:spTgt spid="25"/>
                                        </p:tgtEl>
                                      </p:cBhvr>
                                    </p:animEffect>
                                  </p:childTnLst>
                                </p:cTn>
                              </p:par>
                              <p:par>
                                <p:cTn id="145" presetID="53" presetClass="entr" presetSubtype="16" fill="hold" grpId="0" nodeType="withEffect">
                                  <p:stCondLst>
                                    <p:cond delay="870"/>
                                  </p:stCondLst>
                                  <p:childTnLst>
                                    <p:set>
                                      <p:cBhvr>
                                        <p:cTn id="146" dur="1" fill="hold">
                                          <p:stCondLst>
                                            <p:cond delay="0"/>
                                          </p:stCondLst>
                                        </p:cTn>
                                        <p:tgtEl>
                                          <p:spTgt spid="26"/>
                                        </p:tgtEl>
                                        <p:attrNameLst>
                                          <p:attrName>style.visibility</p:attrName>
                                        </p:attrNameLst>
                                      </p:cBhvr>
                                      <p:to>
                                        <p:strVal val="visible"/>
                                      </p:to>
                                    </p:set>
                                    <p:anim calcmode="lin" valueType="num">
                                      <p:cBhvr additive="base">
                                        <p:cTn id="147" dur="450" decel="100000" fill="hold"/>
                                        <p:tgtEl>
                                          <p:spTgt spid="26"/>
                                        </p:tgtEl>
                                        <p:attrNameLst>
                                          <p:attrName>ppt_w</p:attrName>
                                        </p:attrNameLst>
                                      </p:cBhvr>
                                      <p:tavLst>
                                        <p:tav tm="0">
                                          <p:val>
                                            <p:strVal val="0"/>
                                          </p:val>
                                        </p:tav>
                                        <p:tav tm="100000">
                                          <p:val>
                                            <p:strVal val="#ppt_w"/>
                                          </p:val>
                                        </p:tav>
                                      </p:tavLst>
                                    </p:anim>
                                    <p:anim calcmode="lin" valueType="num">
                                      <p:cBhvr additive="base">
                                        <p:cTn id="148" dur="450" decel="100000" fill="hold"/>
                                        <p:tgtEl>
                                          <p:spTgt spid="26"/>
                                        </p:tgtEl>
                                        <p:attrNameLst>
                                          <p:attrName>ppt_h</p:attrName>
                                        </p:attrNameLst>
                                      </p:cBhvr>
                                      <p:tavLst>
                                        <p:tav tm="0">
                                          <p:val>
                                            <p:strVal val="0"/>
                                          </p:val>
                                        </p:tav>
                                        <p:tav tm="100000">
                                          <p:val>
                                            <p:strVal val="#ppt_h"/>
                                          </p:val>
                                        </p:tav>
                                      </p:tavLst>
                                    </p:anim>
                                    <p:animEffect transition="in" filter="fade">
                                      <p:cBhvr>
                                        <p:cTn id="149" dur="450"/>
                                        <p:tgtEl>
                                          <p:spTgt spid="26"/>
                                        </p:tgtEl>
                                      </p:cBhvr>
                                    </p:animEffect>
                                  </p:childTnLst>
                                </p:cTn>
                              </p:par>
                              <p:par>
                                <p:cTn id="150" presetID="42" presetClass="entr" presetSubtype="0" fill="hold" grpId="0" nodeType="withEffect">
                                  <p:stCondLst>
                                    <p:cond delay="91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600"/>
                                        <p:tgtEl>
                                          <p:spTgt spid="37"/>
                                        </p:tgtEl>
                                      </p:cBhvr>
                                    </p:animEffect>
                                    <p:anim calcmode="lin" valueType="num">
                                      <p:cBhvr additive="base">
                                        <p:cTn id="153" dur="600" decel="100000" fill="hold"/>
                                        <p:tgtEl>
                                          <p:spTgt spid="37"/>
                                        </p:tgtEl>
                                        <p:attrNameLst>
                                          <p:attrName>ppt_x</p:attrName>
                                        </p:attrNameLst>
                                      </p:cBhvr>
                                      <p:tavLst>
                                        <p:tav tm="0">
                                          <p:val>
                                            <p:strVal val="#ppt_x"/>
                                          </p:val>
                                        </p:tav>
                                        <p:tav tm="100000">
                                          <p:val>
                                            <p:strVal val="#ppt_x"/>
                                          </p:val>
                                        </p:tav>
                                      </p:tavLst>
                                    </p:anim>
                                    <p:anim calcmode="lin" valueType="num">
                                      <p:cBhvr additive="base">
                                        <p:cTn id="154" dur="600" decel="100000" fill="hold"/>
                                        <p:tgtEl>
                                          <p:spTgt spid="37"/>
                                        </p:tgtEl>
                                        <p:attrNameLst>
                                          <p:attrName>ppt_y</p:attrName>
                                        </p:attrNameLst>
                                      </p:cBhvr>
                                      <p:tavLst>
                                        <p:tav tm="0">
                                          <p:val>
                                            <p:strVal val="#ppt_y+.03"/>
                                          </p:val>
                                        </p:tav>
                                        <p:tav tm="100000">
                                          <p:val>
                                            <p:strVal val="#ppt_y"/>
                                          </p:val>
                                        </p:tav>
                                      </p:tavLst>
                                    </p:anim>
                                  </p:childTnLst>
                                </p:cTn>
                              </p:par>
                              <p:par>
                                <p:cTn id="155" presetID="42" presetClass="entr" presetSubtype="0" fill="hold" grpId="0" nodeType="withEffect">
                                  <p:stCondLst>
                                    <p:cond delay="91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600"/>
                                        <p:tgtEl>
                                          <p:spTgt spid="38"/>
                                        </p:tgtEl>
                                      </p:cBhvr>
                                    </p:animEffect>
                                    <p:anim calcmode="lin" valueType="num">
                                      <p:cBhvr additive="base">
                                        <p:cTn id="158" dur="600" decel="100000" fill="hold"/>
                                        <p:tgtEl>
                                          <p:spTgt spid="38"/>
                                        </p:tgtEl>
                                        <p:attrNameLst>
                                          <p:attrName>ppt_x</p:attrName>
                                        </p:attrNameLst>
                                      </p:cBhvr>
                                      <p:tavLst>
                                        <p:tav tm="0">
                                          <p:val>
                                            <p:strVal val="#ppt_x"/>
                                          </p:val>
                                        </p:tav>
                                        <p:tav tm="100000">
                                          <p:val>
                                            <p:strVal val="#ppt_x"/>
                                          </p:val>
                                        </p:tav>
                                      </p:tavLst>
                                    </p:anim>
                                    <p:anim calcmode="lin" valueType="num">
                                      <p:cBhvr additive="base">
                                        <p:cTn id="159" dur="600" decel="100000" fill="hold"/>
                                        <p:tgtEl>
                                          <p:spTgt spid="38"/>
                                        </p:tgtEl>
                                        <p:attrNameLst>
                                          <p:attrName>ppt_y</p:attrName>
                                        </p:attrNameLst>
                                      </p:cBhvr>
                                      <p:tavLst>
                                        <p:tav tm="0">
                                          <p:val>
                                            <p:strVal val="#ppt_y+.03"/>
                                          </p:val>
                                        </p:tav>
                                        <p:tav tm="100000">
                                          <p:val>
                                            <p:strVal val="#ppt_y"/>
                                          </p:val>
                                        </p:tav>
                                      </p:tavLst>
                                    </p:anim>
                                  </p:childTnLst>
                                </p:cTn>
                              </p:par>
                              <p:par>
                                <p:cTn id="160" presetID="42" presetClass="entr" presetSubtype="0" fill="hold" grpId="0" nodeType="withEffect">
                                  <p:stCondLst>
                                    <p:cond delay="91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600"/>
                                        <p:tgtEl>
                                          <p:spTgt spid="39"/>
                                        </p:tgtEl>
                                      </p:cBhvr>
                                    </p:animEffect>
                                    <p:anim calcmode="lin" valueType="num">
                                      <p:cBhvr additive="base">
                                        <p:cTn id="163" dur="600" decel="100000" fill="hold"/>
                                        <p:tgtEl>
                                          <p:spTgt spid="39"/>
                                        </p:tgtEl>
                                        <p:attrNameLst>
                                          <p:attrName>ppt_x</p:attrName>
                                        </p:attrNameLst>
                                      </p:cBhvr>
                                      <p:tavLst>
                                        <p:tav tm="0">
                                          <p:val>
                                            <p:strVal val="#ppt_x"/>
                                          </p:val>
                                        </p:tav>
                                        <p:tav tm="100000">
                                          <p:val>
                                            <p:strVal val="#ppt_x"/>
                                          </p:val>
                                        </p:tav>
                                      </p:tavLst>
                                    </p:anim>
                                    <p:anim calcmode="lin" valueType="num">
                                      <p:cBhvr additive="base">
                                        <p:cTn id="164" dur="600" decel="100000" fill="hold"/>
                                        <p:tgtEl>
                                          <p:spTgt spid="39"/>
                                        </p:tgtEl>
                                        <p:attrNameLst>
                                          <p:attrName>ppt_y</p:attrName>
                                        </p:attrNameLst>
                                      </p:cBhvr>
                                      <p:tavLst>
                                        <p:tav tm="0">
                                          <p:val>
                                            <p:strVal val="#ppt_y+.03"/>
                                          </p:val>
                                        </p:tav>
                                        <p:tav tm="100000">
                                          <p:val>
                                            <p:strVal val="#ppt_y"/>
                                          </p:val>
                                        </p:tav>
                                      </p:tavLst>
                                    </p:anim>
                                  </p:childTnLst>
                                </p:cTn>
                              </p:par>
                              <p:par>
                                <p:cTn id="165" presetID="53" presetClass="entr" presetSubtype="16" fill="hold" grpId="0" nodeType="withEffect">
                                  <p:stCondLst>
                                    <p:cond delay="940"/>
                                  </p:stCondLst>
                                  <p:childTnLst>
                                    <p:set>
                                      <p:cBhvr>
                                        <p:cTn id="166" dur="1" fill="hold">
                                          <p:stCondLst>
                                            <p:cond delay="0"/>
                                          </p:stCondLst>
                                        </p:cTn>
                                        <p:tgtEl>
                                          <p:spTgt spid="30"/>
                                        </p:tgtEl>
                                        <p:attrNameLst>
                                          <p:attrName>style.visibility</p:attrName>
                                        </p:attrNameLst>
                                      </p:cBhvr>
                                      <p:to>
                                        <p:strVal val="visible"/>
                                      </p:to>
                                    </p:set>
                                    <p:anim calcmode="lin" valueType="num">
                                      <p:cBhvr additive="base">
                                        <p:cTn id="167" dur="450" decel="100000" fill="hold"/>
                                        <p:tgtEl>
                                          <p:spTgt spid="30"/>
                                        </p:tgtEl>
                                        <p:attrNameLst>
                                          <p:attrName>ppt_w</p:attrName>
                                        </p:attrNameLst>
                                      </p:cBhvr>
                                      <p:tavLst>
                                        <p:tav tm="0">
                                          <p:val>
                                            <p:strVal val="0"/>
                                          </p:val>
                                        </p:tav>
                                        <p:tav tm="100000">
                                          <p:val>
                                            <p:strVal val="#ppt_w"/>
                                          </p:val>
                                        </p:tav>
                                      </p:tavLst>
                                    </p:anim>
                                    <p:anim calcmode="lin" valueType="num">
                                      <p:cBhvr additive="base">
                                        <p:cTn id="168" dur="450" decel="100000" fill="hold"/>
                                        <p:tgtEl>
                                          <p:spTgt spid="30"/>
                                        </p:tgtEl>
                                        <p:attrNameLst>
                                          <p:attrName>ppt_h</p:attrName>
                                        </p:attrNameLst>
                                      </p:cBhvr>
                                      <p:tavLst>
                                        <p:tav tm="0">
                                          <p:val>
                                            <p:strVal val="0"/>
                                          </p:val>
                                        </p:tav>
                                        <p:tav tm="100000">
                                          <p:val>
                                            <p:strVal val="#ppt_h"/>
                                          </p:val>
                                        </p:tav>
                                      </p:tavLst>
                                    </p:anim>
                                    <p:animEffect transition="in" filter="fade">
                                      <p:cBhvr>
                                        <p:cTn id="169" dur="450"/>
                                        <p:tgtEl>
                                          <p:spTgt spid="30"/>
                                        </p:tgtEl>
                                      </p:cBhvr>
                                    </p:animEffect>
                                  </p:childTnLst>
                                </p:cTn>
                              </p:par>
                              <p:par>
                                <p:cTn id="170" presetID="53" presetClass="entr" presetSubtype="16" fill="hold" grpId="0" nodeType="withEffect">
                                  <p:stCondLst>
                                    <p:cond delay="1000"/>
                                  </p:stCondLst>
                                  <p:childTnLst>
                                    <p:set>
                                      <p:cBhvr>
                                        <p:cTn id="171" dur="1" fill="hold">
                                          <p:stCondLst>
                                            <p:cond delay="0"/>
                                          </p:stCondLst>
                                        </p:cTn>
                                        <p:tgtEl>
                                          <p:spTgt spid="31"/>
                                        </p:tgtEl>
                                        <p:attrNameLst>
                                          <p:attrName>style.visibility</p:attrName>
                                        </p:attrNameLst>
                                      </p:cBhvr>
                                      <p:to>
                                        <p:strVal val="visible"/>
                                      </p:to>
                                    </p:set>
                                    <p:anim calcmode="lin" valueType="num">
                                      <p:cBhvr additive="base">
                                        <p:cTn id="172" dur="450" decel="100000" fill="hold"/>
                                        <p:tgtEl>
                                          <p:spTgt spid="31"/>
                                        </p:tgtEl>
                                        <p:attrNameLst>
                                          <p:attrName>ppt_w</p:attrName>
                                        </p:attrNameLst>
                                      </p:cBhvr>
                                      <p:tavLst>
                                        <p:tav tm="0">
                                          <p:val>
                                            <p:strVal val="0"/>
                                          </p:val>
                                        </p:tav>
                                        <p:tav tm="100000">
                                          <p:val>
                                            <p:strVal val="#ppt_w"/>
                                          </p:val>
                                        </p:tav>
                                      </p:tavLst>
                                    </p:anim>
                                    <p:anim calcmode="lin" valueType="num">
                                      <p:cBhvr additive="base">
                                        <p:cTn id="173" dur="450" decel="100000" fill="hold"/>
                                        <p:tgtEl>
                                          <p:spTgt spid="31"/>
                                        </p:tgtEl>
                                        <p:attrNameLst>
                                          <p:attrName>ppt_h</p:attrName>
                                        </p:attrNameLst>
                                      </p:cBhvr>
                                      <p:tavLst>
                                        <p:tav tm="0">
                                          <p:val>
                                            <p:strVal val="0"/>
                                          </p:val>
                                        </p:tav>
                                        <p:tav tm="100000">
                                          <p:val>
                                            <p:strVal val="#ppt_h"/>
                                          </p:val>
                                        </p:tav>
                                      </p:tavLst>
                                    </p:anim>
                                    <p:animEffect transition="in" filter="fade">
                                      <p:cBhvr>
                                        <p:cTn id="174" dur="450"/>
                                        <p:tgtEl>
                                          <p:spTgt spid="31"/>
                                        </p:tgtEl>
                                      </p:cBhvr>
                                    </p:animEffect>
                                  </p:childTnLst>
                                </p:cTn>
                              </p:par>
                              <p:par>
                                <p:cTn id="175" presetID="53" presetClass="entr" presetSubtype="16" fill="hold" grpId="0" nodeType="withEffect">
                                  <p:stCondLst>
                                    <p:cond delay="1070"/>
                                  </p:stCondLst>
                                  <p:childTnLst>
                                    <p:set>
                                      <p:cBhvr>
                                        <p:cTn id="176" dur="1" fill="hold">
                                          <p:stCondLst>
                                            <p:cond delay="0"/>
                                          </p:stCondLst>
                                        </p:cTn>
                                        <p:tgtEl>
                                          <p:spTgt spid="35"/>
                                        </p:tgtEl>
                                        <p:attrNameLst>
                                          <p:attrName>style.visibility</p:attrName>
                                        </p:attrNameLst>
                                      </p:cBhvr>
                                      <p:to>
                                        <p:strVal val="visible"/>
                                      </p:to>
                                    </p:set>
                                    <p:anim calcmode="lin" valueType="num">
                                      <p:cBhvr additive="base">
                                        <p:cTn id="177" dur="450" decel="100000" fill="hold"/>
                                        <p:tgtEl>
                                          <p:spTgt spid="35"/>
                                        </p:tgtEl>
                                        <p:attrNameLst>
                                          <p:attrName>ppt_w</p:attrName>
                                        </p:attrNameLst>
                                      </p:cBhvr>
                                      <p:tavLst>
                                        <p:tav tm="0">
                                          <p:val>
                                            <p:strVal val="0"/>
                                          </p:val>
                                        </p:tav>
                                        <p:tav tm="100000">
                                          <p:val>
                                            <p:strVal val="#ppt_w"/>
                                          </p:val>
                                        </p:tav>
                                      </p:tavLst>
                                    </p:anim>
                                    <p:anim calcmode="lin" valueType="num">
                                      <p:cBhvr additive="base">
                                        <p:cTn id="178" dur="450" decel="100000" fill="hold"/>
                                        <p:tgtEl>
                                          <p:spTgt spid="35"/>
                                        </p:tgtEl>
                                        <p:attrNameLst>
                                          <p:attrName>ppt_h</p:attrName>
                                        </p:attrNameLst>
                                      </p:cBhvr>
                                      <p:tavLst>
                                        <p:tav tm="0">
                                          <p:val>
                                            <p:strVal val="0"/>
                                          </p:val>
                                        </p:tav>
                                        <p:tav tm="100000">
                                          <p:val>
                                            <p:strVal val="#ppt_h"/>
                                          </p:val>
                                        </p:tav>
                                      </p:tavLst>
                                    </p:anim>
                                    <p:animEffect transition="in" filter="fade">
                                      <p:cBhvr>
                                        <p:cTn id="179" dur="450"/>
                                        <p:tgtEl>
                                          <p:spTgt spid="35"/>
                                        </p:tgtEl>
                                      </p:cBhvr>
                                    </p:animEffect>
                                  </p:childTnLst>
                                </p:cTn>
                              </p:par>
                              <p:par>
                                <p:cTn id="180" presetID="53" presetClass="entr" presetSubtype="16" fill="hold" grpId="0" nodeType="withEffect">
                                  <p:stCondLst>
                                    <p:cond delay="1130"/>
                                  </p:stCondLst>
                                  <p:childTnLst>
                                    <p:set>
                                      <p:cBhvr>
                                        <p:cTn id="181" dur="1" fill="hold">
                                          <p:stCondLst>
                                            <p:cond delay="0"/>
                                          </p:stCondLst>
                                        </p:cTn>
                                        <p:tgtEl>
                                          <p:spTgt spid="36"/>
                                        </p:tgtEl>
                                        <p:attrNameLst>
                                          <p:attrName>style.visibility</p:attrName>
                                        </p:attrNameLst>
                                      </p:cBhvr>
                                      <p:to>
                                        <p:strVal val="visible"/>
                                      </p:to>
                                    </p:set>
                                    <p:anim calcmode="lin" valueType="num">
                                      <p:cBhvr additive="base">
                                        <p:cTn id="182" dur="450" decel="100000" fill="hold"/>
                                        <p:tgtEl>
                                          <p:spTgt spid="36"/>
                                        </p:tgtEl>
                                        <p:attrNameLst>
                                          <p:attrName>ppt_w</p:attrName>
                                        </p:attrNameLst>
                                      </p:cBhvr>
                                      <p:tavLst>
                                        <p:tav tm="0">
                                          <p:val>
                                            <p:strVal val="0"/>
                                          </p:val>
                                        </p:tav>
                                        <p:tav tm="100000">
                                          <p:val>
                                            <p:strVal val="#ppt_w"/>
                                          </p:val>
                                        </p:tav>
                                      </p:tavLst>
                                    </p:anim>
                                    <p:anim calcmode="lin" valueType="num">
                                      <p:cBhvr additive="base">
                                        <p:cTn id="183" dur="450" decel="100000" fill="hold"/>
                                        <p:tgtEl>
                                          <p:spTgt spid="36"/>
                                        </p:tgtEl>
                                        <p:attrNameLst>
                                          <p:attrName>ppt_h</p:attrName>
                                        </p:attrNameLst>
                                      </p:cBhvr>
                                      <p:tavLst>
                                        <p:tav tm="0">
                                          <p:val>
                                            <p:strVal val="0"/>
                                          </p:val>
                                        </p:tav>
                                        <p:tav tm="100000">
                                          <p:val>
                                            <p:strVal val="#ppt_h"/>
                                          </p:val>
                                        </p:tav>
                                      </p:tavLst>
                                    </p:anim>
                                    <p:animEffect transition="in" filter="fade">
                                      <p:cBhvr>
                                        <p:cTn id="184"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2103120" y="384048"/>
            <a:ext cx="9539935" cy="292608"/>
          </a:xfrm>
          <a:prstGeom prst="rect">
            <a:avLst/>
          </a:prstGeom>
          <a:noFill/>
          <a:ln/>
        </p:spPr>
        <p:txBody>
          <a:bodyPr wrap="square" lIns="0" tIns="0" rIns="0" bIns="0" rtlCol="0" anchor="ctr"/>
          <a:lstStyle/>
          <a:p>
            <a:pPr rtl="1" algn="r" indent="0" marL="0">
              <a:buNone/>
            </a:pPr>
            <a:r>
              <a:rPr lang="en-US" sz="1300" b="1" dirty="0">
                <a:solidFill>
                  <a:srgbClr val="F7941D"/>
                </a:solidFill>
                <a:latin typeface="JF Flat" pitchFamily="34" charset="0"/>
                <a:ea typeface="JF Flat" pitchFamily="34" charset="-122"/>
                <a:cs typeface="JF Flat" pitchFamily="34" charset="-120"/>
              </a:rPr>
              <a:t>10  |  الفوائد الاستراتيجية</a:t>
            </a:r>
            <a:endParaRPr lang="en-US" sz="1300" dirty="0"/>
          </a:p>
        </p:txBody>
      </p:sp>
      <p:sp>
        <p:nvSpPr>
          <p:cNvPr id="3" name="Text 0"/>
          <p:cNvSpPr/>
          <p:nvPr>
            <p:ph idx="102" type="title" hasCustomPrompt="1"/>
          </p:nvPr>
        </p:nvSpPr>
        <p:spPr>
          <a:xfrm>
            <a:off x="2103120" y="676656"/>
            <a:ext cx="9539935" cy="603504"/>
          </a:xfrm>
          <a:prstGeom prst="rect">
            <a:avLst/>
          </a:prstGeom>
          <a:noFill/>
          <a:ln/>
        </p:spPr>
        <p:txBody>
          <a:bodyPr wrap="square" lIns="0" tIns="0" rIns="0" bIns="0" rtlCol="0" anchor="ctr"/>
          <a:lstStyle/>
          <a:p>
            <a:pPr rtl="1" algn="r" indent="0" marL="0">
              <a:buNone/>
            </a:pPr>
            <a:r>
              <a:rPr lang="en-US" sz="3000" b="1" dirty="0">
                <a:solidFill>
                  <a:srgbClr val="FFFFFF"/>
                </a:solidFill>
                <a:latin typeface="JF Flat" pitchFamily="34" charset="0"/>
                <a:ea typeface="JF Flat" pitchFamily="34" charset="-122"/>
                <a:cs typeface="JF Flat" pitchFamily="34" charset="-120"/>
              </a:rPr>
              <a:t>الفوائد الاستراتيجية للمشروع</a:t>
            </a:r>
            <a:endParaRPr lang="en-US" sz="3000" dirty="0"/>
          </a:p>
        </p:txBody>
      </p:sp>
      <p:sp>
        <p:nvSpPr>
          <p:cNvPr id="4" name="anim22_0"/>
          <p:cNvSpPr/>
          <p:nvPr/>
        </p:nvSpPr>
        <p:spPr>
          <a:xfrm>
            <a:off x="9607052" y="1828800"/>
            <a:ext cx="2036003" cy="3200400"/>
          </a:xfrm>
          <a:prstGeom prst="roundRect">
            <a:avLst>
              <a:gd name="adj" fmla="val 5389"/>
            </a:avLst>
          </a:prstGeom>
          <a:solidFill>
            <a:srgbClr val="FFFFFF">
              <a:alpha val="10000"/>
            </a:srgbClr>
          </a:solidFill>
          <a:ln w="9525">
            <a:solidFill>
              <a:srgbClr val="FFFFFF">
                <a:alpha val="25000"/>
              </a:srgbClr>
            </a:solidFill>
            <a:prstDash val="solid"/>
          </a:ln>
        </p:spPr>
      </p:sp>
      <p:sp>
        <p:nvSpPr>
          <p:cNvPr id="5" name="anim22_1"/>
          <p:cNvSpPr/>
          <p:nvPr/>
        </p:nvSpPr>
        <p:spPr>
          <a:xfrm>
            <a:off x="10076414" y="2194560"/>
            <a:ext cx="1097280" cy="1097280"/>
          </a:xfrm>
          <a:prstGeom prst="ellipse">
            <a:avLst/>
          </a:prstGeom>
          <a:solidFill>
            <a:srgbClr val="F15524"/>
          </a:solidFill>
          <a:ln w="38100">
            <a:solidFill>
              <a:srgbClr val="F7941D"/>
            </a:solidFill>
            <a:prstDash val="solid"/>
          </a:ln>
        </p:spPr>
      </p:sp>
      <p:pic>
        <p:nvPicPr>
          <p:cNvPr id="6" name="anim22_2" descr="preencoded.png">    </p:cNvPr>
          <p:cNvPicPr>
            <a:picLocks noChangeAspect="1"/>
          </p:cNvPicPr>
          <p:nvPr/>
        </p:nvPicPr>
        <p:blipFill>
          <a:blip r:embed="rId1"/>
          <a:stretch>
            <a:fillRect/>
          </a:stretch>
        </p:blipFill>
        <p:spPr>
          <a:xfrm>
            <a:off x="10350734" y="2468880"/>
            <a:ext cx="548640" cy="548640"/>
          </a:xfrm>
          <a:prstGeom prst="rect">
            <a:avLst/>
          </a:prstGeom>
        </p:spPr>
      </p:pic>
      <p:sp>
        <p:nvSpPr>
          <p:cNvPr id="7" name="anim22_3"/>
          <p:cNvSpPr txBox="1"/>
          <p:nvPr/>
        </p:nvSpPr>
        <p:spPr>
          <a:xfrm>
            <a:off x="9789932" y="3520440"/>
            <a:ext cx="1670243" cy="1325880"/>
          </a:xfrm>
          <a:prstGeom prst="rect">
            <a:avLst/>
          </a:prstGeom>
          <a:noFill/>
          <a:ln/>
        </p:spPr>
        <p:txBody>
          <a:bodyPr wrap="square" lIns="0" tIns="0" rIns="0" bIns="0" rtlCol="0" anchor="t"/>
          <a:lstStyle/>
          <a:p>
            <a:pPr rtl="1" algn="ctr" indent="0" marL="0">
              <a:lnSpc>
                <a:spcPct val="110000"/>
              </a:lnSpc>
              <a:buNone/>
            </a:pPr>
            <a:r>
              <a:rPr lang="ar-SA" altLang="en-US" sz="1500" b="1" dirty="0">
                <a:solidFill>
                  <a:srgbClr val="FFFFFF"/>
                </a:solidFill>
                <a:latin typeface="JF Flat" pitchFamily="34" charset="0"/>
                <a:ea typeface="JF Flat" pitchFamily="34" charset="-122"/>
                <a:cs typeface="JF Flat" pitchFamily="34" charset="-120"/>
              </a:rPr>
              <a:t>توطين استضافة البيانات والخدمات الحكومية</a:t>
            </a:r>
            <a:endParaRPr lang="ar-SA" sz="1500" dirty="0"/>
          </a:p>
        </p:txBody>
      </p:sp>
      <p:sp>
        <p:nvSpPr>
          <p:cNvPr id="8" name="anim22_4"/>
          <p:cNvSpPr/>
          <p:nvPr/>
        </p:nvSpPr>
        <p:spPr>
          <a:xfrm>
            <a:off x="7342449" y="1828800"/>
            <a:ext cx="2036003" cy="3200400"/>
          </a:xfrm>
          <a:prstGeom prst="roundRect">
            <a:avLst>
              <a:gd name="adj" fmla="val 5389"/>
            </a:avLst>
          </a:prstGeom>
          <a:solidFill>
            <a:srgbClr val="FFFFFF">
              <a:alpha val="10000"/>
            </a:srgbClr>
          </a:solidFill>
          <a:ln w="9525">
            <a:solidFill>
              <a:srgbClr val="FFFFFF">
                <a:alpha val="25000"/>
              </a:srgbClr>
            </a:solidFill>
            <a:prstDash val="solid"/>
          </a:ln>
        </p:spPr>
      </p:sp>
      <p:sp>
        <p:nvSpPr>
          <p:cNvPr id="9" name="anim22_5"/>
          <p:cNvSpPr/>
          <p:nvPr/>
        </p:nvSpPr>
        <p:spPr>
          <a:xfrm>
            <a:off x="7811811" y="2194560"/>
            <a:ext cx="1097280" cy="1097280"/>
          </a:xfrm>
          <a:prstGeom prst="ellipse">
            <a:avLst/>
          </a:prstGeom>
          <a:solidFill>
            <a:srgbClr val="F15524"/>
          </a:solidFill>
          <a:ln w="38100">
            <a:solidFill>
              <a:srgbClr val="F7941D"/>
            </a:solidFill>
            <a:prstDash val="solid"/>
          </a:ln>
        </p:spPr>
      </p:sp>
      <p:pic>
        <p:nvPicPr>
          <p:cNvPr id="10" name="anim22_6" descr="preencoded.png">    </p:cNvPr>
          <p:cNvPicPr>
            <a:picLocks noChangeAspect="1"/>
          </p:cNvPicPr>
          <p:nvPr/>
        </p:nvPicPr>
        <p:blipFill>
          <a:blip r:embed="rId2"/>
          <a:stretch>
            <a:fillRect/>
          </a:stretch>
        </p:blipFill>
        <p:spPr>
          <a:xfrm>
            <a:off x="8086131" y="2468880"/>
            <a:ext cx="548640" cy="548640"/>
          </a:xfrm>
          <a:prstGeom prst="rect">
            <a:avLst/>
          </a:prstGeom>
        </p:spPr>
      </p:pic>
      <p:sp>
        <p:nvSpPr>
          <p:cNvPr id="11" name="anim22_7"/>
          <p:cNvSpPr txBox="1"/>
          <p:nvPr/>
        </p:nvSpPr>
        <p:spPr>
          <a:xfrm>
            <a:off x="7525329" y="3520440"/>
            <a:ext cx="1670243" cy="1325880"/>
          </a:xfrm>
          <a:prstGeom prst="rect">
            <a:avLst/>
          </a:prstGeom>
          <a:noFill/>
          <a:ln/>
        </p:spPr>
        <p:txBody>
          <a:bodyPr wrap="square" lIns="0" tIns="0" rIns="0" bIns="0" rtlCol="0" anchor="t"/>
          <a:lstStyle/>
          <a:p>
            <a:pPr rtl="1" algn="ctr" indent="0" marL="0">
              <a:lnSpc>
                <a:spcPct val="110000"/>
              </a:lnSpc>
              <a:buNone/>
            </a:pPr>
            <a:r>
              <a:rPr lang="ar-SA" altLang="en-US" sz="1500" b="1" dirty="0">
                <a:solidFill>
                  <a:srgbClr val="FFFFFF"/>
                </a:solidFill>
                <a:latin typeface="JF Flat" pitchFamily="34" charset="0"/>
                <a:ea typeface="JF Flat" pitchFamily="34" charset="-122"/>
                <a:cs typeface="JF Flat" pitchFamily="34" charset="-120"/>
              </a:rPr>
              <a:t>تعزيز أمن المعلومات واستمرارية الأعمال</a:t>
            </a:r>
            <a:endParaRPr lang="ar-SA" sz="1500" dirty="0"/>
          </a:p>
        </p:txBody>
      </p:sp>
      <p:sp>
        <p:nvSpPr>
          <p:cNvPr id="12" name="anim22_8"/>
          <p:cNvSpPr/>
          <p:nvPr/>
        </p:nvSpPr>
        <p:spPr>
          <a:xfrm>
            <a:off x="5077846" y="1828800"/>
            <a:ext cx="2036003" cy="3200400"/>
          </a:xfrm>
          <a:prstGeom prst="roundRect">
            <a:avLst>
              <a:gd name="adj" fmla="val 5389"/>
            </a:avLst>
          </a:prstGeom>
          <a:solidFill>
            <a:srgbClr val="FFFFFF">
              <a:alpha val="10000"/>
            </a:srgbClr>
          </a:solidFill>
          <a:ln w="9525">
            <a:solidFill>
              <a:srgbClr val="FFFFFF">
                <a:alpha val="25000"/>
              </a:srgbClr>
            </a:solidFill>
            <a:prstDash val="solid"/>
          </a:ln>
        </p:spPr>
      </p:sp>
      <p:sp>
        <p:nvSpPr>
          <p:cNvPr id="13" name="anim22_9"/>
          <p:cNvSpPr/>
          <p:nvPr/>
        </p:nvSpPr>
        <p:spPr>
          <a:xfrm>
            <a:off x="5547208" y="2194560"/>
            <a:ext cx="1097280" cy="1097280"/>
          </a:xfrm>
          <a:prstGeom prst="ellipse">
            <a:avLst/>
          </a:prstGeom>
          <a:solidFill>
            <a:srgbClr val="F15524"/>
          </a:solidFill>
          <a:ln w="38100">
            <a:solidFill>
              <a:srgbClr val="F7941D"/>
            </a:solidFill>
            <a:prstDash val="solid"/>
          </a:ln>
        </p:spPr>
      </p:sp>
      <p:pic>
        <p:nvPicPr>
          <p:cNvPr id="14" name="anim22_10" descr="preencoded.png">    </p:cNvPr>
          <p:cNvPicPr>
            <a:picLocks noChangeAspect="1"/>
          </p:cNvPicPr>
          <p:nvPr/>
        </p:nvPicPr>
        <p:blipFill>
          <a:blip r:embed="rId3"/>
          <a:stretch>
            <a:fillRect/>
          </a:stretch>
        </p:blipFill>
        <p:spPr>
          <a:xfrm>
            <a:off x="5821528" y="2468880"/>
            <a:ext cx="548640" cy="548640"/>
          </a:xfrm>
          <a:prstGeom prst="rect">
            <a:avLst/>
          </a:prstGeom>
        </p:spPr>
      </p:pic>
      <p:sp>
        <p:nvSpPr>
          <p:cNvPr id="15" name="anim22_11"/>
          <p:cNvSpPr txBox="1"/>
          <p:nvPr/>
        </p:nvSpPr>
        <p:spPr>
          <a:xfrm>
            <a:off x="5260726" y="3520440"/>
            <a:ext cx="1670243" cy="1325880"/>
          </a:xfrm>
          <a:prstGeom prst="rect">
            <a:avLst/>
          </a:prstGeom>
          <a:noFill/>
          <a:ln/>
        </p:spPr>
        <p:txBody>
          <a:bodyPr wrap="square" lIns="0" tIns="0" rIns="0" bIns="0" rtlCol="0" anchor="t"/>
          <a:lstStyle/>
          <a:p>
            <a:pPr rtl="1" algn="ctr" indent="0" marL="0">
              <a:lnSpc>
                <a:spcPct val="110000"/>
              </a:lnSpc>
              <a:buNone/>
            </a:pPr>
            <a:r>
              <a:rPr lang="ar-SA" altLang="en-US" sz="1500" b="1" dirty="0">
                <a:solidFill>
                  <a:srgbClr val="FFFFFF"/>
                </a:solidFill>
                <a:latin typeface="JF Flat" pitchFamily="34" charset="0"/>
                <a:ea typeface="JF Flat" pitchFamily="34" charset="-122"/>
                <a:cs typeface="JF Flat" pitchFamily="34" charset="-120"/>
              </a:rPr>
              <a:t>رفع كفاءة الاستفادة من البنية التحتية الشبكية للشركة</a:t>
            </a:r>
            <a:endParaRPr lang="ar-SA" sz="1500" dirty="0"/>
          </a:p>
        </p:txBody>
      </p:sp>
      <p:sp>
        <p:nvSpPr>
          <p:cNvPr id="16" name="anim22_12"/>
          <p:cNvSpPr/>
          <p:nvPr/>
        </p:nvSpPr>
        <p:spPr>
          <a:xfrm>
            <a:off x="2813243" y="1828800"/>
            <a:ext cx="2036003" cy="3200400"/>
          </a:xfrm>
          <a:prstGeom prst="roundRect">
            <a:avLst>
              <a:gd name="adj" fmla="val 5389"/>
            </a:avLst>
          </a:prstGeom>
          <a:solidFill>
            <a:srgbClr val="FFFFFF">
              <a:alpha val="10000"/>
            </a:srgbClr>
          </a:solidFill>
          <a:ln w="9525">
            <a:solidFill>
              <a:srgbClr val="FFFFFF">
                <a:alpha val="25000"/>
              </a:srgbClr>
            </a:solidFill>
            <a:prstDash val="solid"/>
          </a:ln>
        </p:spPr>
      </p:sp>
      <p:sp>
        <p:nvSpPr>
          <p:cNvPr id="17" name="anim22_13"/>
          <p:cNvSpPr/>
          <p:nvPr/>
        </p:nvSpPr>
        <p:spPr>
          <a:xfrm>
            <a:off x="3282605" y="2194560"/>
            <a:ext cx="1097280" cy="1097280"/>
          </a:xfrm>
          <a:prstGeom prst="ellipse">
            <a:avLst/>
          </a:prstGeom>
          <a:solidFill>
            <a:srgbClr val="F15524"/>
          </a:solidFill>
          <a:ln w="38100">
            <a:solidFill>
              <a:srgbClr val="F7941D"/>
            </a:solidFill>
            <a:prstDash val="solid"/>
          </a:ln>
        </p:spPr>
      </p:sp>
      <p:pic>
        <p:nvPicPr>
          <p:cNvPr id="18" name="anim22_14" descr="preencoded.png">    </p:cNvPr>
          <p:cNvPicPr>
            <a:picLocks noChangeAspect="1"/>
          </p:cNvPicPr>
          <p:nvPr/>
        </p:nvPicPr>
        <p:blipFill>
          <a:blip r:embed="rId4"/>
          <a:stretch>
            <a:fillRect/>
          </a:stretch>
        </p:blipFill>
        <p:spPr>
          <a:xfrm>
            <a:off x="3556925" y="2468880"/>
            <a:ext cx="548640" cy="548640"/>
          </a:xfrm>
          <a:prstGeom prst="rect">
            <a:avLst/>
          </a:prstGeom>
        </p:spPr>
      </p:pic>
      <p:sp>
        <p:nvSpPr>
          <p:cNvPr id="19" name="anim22_15"/>
          <p:cNvSpPr txBox="1"/>
          <p:nvPr/>
        </p:nvSpPr>
        <p:spPr>
          <a:xfrm>
            <a:off x="2996123" y="3520440"/>
            <a:ext cx="1670243" cy="1325880"/>
          </a:xfrm>
          <a:prstGeom prst="rect">
            <a:avLst/>
          </a:prstGeom>
          <a:noFill/>
          <a:ln/>
        </p:spPr>
        <p:txBody>
          <a:bodyPr wrap="square" lIns="0" tIns="0" rIns="0" bIns="0" rtlCol="0" anchor="t"/>
          <a:lstStyle/>
          <a:p>
            <a:pPr rtl="1" algn="ctr" indent="0" marL="0">
              <a:lnSpc>
                <a:spcPct val="110000"/>
              </a:lnSpc>
              <a:buNone/>
            </a:pPr>
            <a:r>
              <a:rPr lang="ar-SA" altLang="en-US" sz="1500" b="1" dirty="0">
                <a:solidFill>
                  <a:srgbClr val="FFFFFF"/>
                </a:solidFill>
                <a:latin typeface="JF Flat" pitchFamily="34" charset="0"/>
                <a:ea typeface="JF Flat" pitchFamily="34" charset="-122"/>
                <a:cs typeface="JF Flat" pitchFamily="34" charset="-120"/>
              </a:rPr>
              <a:t>الحد من ازدواجية الاستثمارات الحكومية</a:t>
            </a:r>
            <a:endParaRPr lang="ar-SA" sz="1500" dirty="0"/>
          </a:p>
        </p:txBody>
      </p:sp>
      <p:sp>
        <p:nvSpPr>
          <p:cNvPr id="20" name="anim22_16"/>
          <p:cNvSpPr/>
          <p:nvPr/>
        </p:nvSpPr>
        <p:spPr>
          <a:xfrm>
            <a:off x="548640" y="1828800"/>
            <a:ext cx="2036003" cy="3200400"/>
          </a:xfrm>
          <a:prstGeom prst="roundRect">
            <a:avLst>
              <a:gd name="adj" fmla="val 5389"/>
            </a:avLst>
          </a:prstGeom>
          <a:solidFill>
            <a:srgbClr val="FFFFFF">
              <a:alpha val="10000"/>
            </a:srgbClr>
          </a:solidFill>
          <a:ln w="9525">
            <a:solidFill>
              <a:srgbClr val="FFFFFF">
                <a:alpha val="25000"/>
              </a:srgbClr>
            </a:solidFill>
            <a:prstDash val="solid"/>
          </a:ln>
        </p:spPr>
      </p:sp>
      <p:sp>
        <p:nvSpPr>
          <p:cNvPr id="21" name="anim22_17"/>
          <p:cNvSpPr/>
          <p:nvPr/>
        </p:nvSpPr>
        <p:spPr>
          <a:xfrm>
            <a:off x="1018002" y="2194560"/>
            <a:ext cx="1097280" cy="1097280"/>
          </a:xfrm>
          <a:prstGeom prst="ellipse">
            <a:avLst/>
          </a:prstGeom>
          <a:solidFill>
            <a:srgbClr val="F15524"/>
          </a:solidFill>
          <a:ln w="38100">
            <a:solidFill>
              <a:srgbClr val="F7941D"/>
            </a:solidFill>
            <a:prstDash val="solid"/>
          </a:ln>
        </p:spPr>
      </p:sp>
      <p:pic>
        <p:nvPicPr>
          <p:cNvPr id="22" name="anim22_18" descr="preencoded.png">    </p:cNvPr>
          <p:cNvPicPr>
            <a:picLocks noChangeAspect="1"/>
          </p:cNvPicPr>
          <p:nvPr/>
        </p:nvPicPr>
        <p:blipFill>
          <a:blip r:embed="rId5"/>
          <a:stretch>
            <a:fillRect/>
          </a:stretch>
        </p:blipFill>
        <p:spPr>
          <a:xfrm>
            <a:off x="1292322" y="2468880"/>
            <a:ext cx="548640" cy="548640"/>
          </a:xfrm>
          <a:prstGeom prst="rect">
            <a:avLst/>
          </a:prstGeom>
        </p:spPr>
      </p:pic>
      <p:sp>
        <p:nvSpPr>
          <p:cNvPr id="23" name="anim22_19"/>
          <p:cNvSpPr txBox="1"/>
          <p:nvPr/>
        </p:nvSpPr>
        <p:spPr>
          <a:xfrm>
            <a:off x="731520" y="3520440"/>
            <a:ext cx="1670243" cy="1325880"/>
          </a:xfrm>
          <a:prstGeom prst="rect">
            <a:avLst/>
          </a:prstGeom>
          <a:noFill/>
          <a:ln/>
        </p:spPr>
        <p:txBody>
          <a:bodyPr wrap="square" lIns="0" tIns="0" rIns="0" bIns="0" rtlCol="0" anchor="t"/>
          <a:lstStyle/>
          <a:p>
            <a:pPr rtl="1" algn="ctr" indent="0" marL="0">
              <a:lnSpc>
                <a:spcPct val="110000"/>
              </a:lnSpc>
              <a:buNone/>
            </a:pPr>
            <a:r>
              <a:rPr lang="ar-SA" altLang="en-US" sz="1500" b="1" dirty="0">
                <a:solidFill>
                  <a:srgbClr val="FFFFFF"/>
                </a:solidFill>
                <a:latin typeface="JF Flat" pitchFamily="34" charset="0"/>
                <a:ea typeface="JF Flat" pitchFamily="34" charset="-122"/>
                <a:cs typeface="JF Flat" pitchFamily="34" charset="-120"/>
              </a:rPr>
              <a:t>تطوير الخبرات المحلية، وتوفير منصة قابلة للتوسع للخدمات الرقمية</a:t>
            </a:r>
            <a:endParaRPr lang="ar-SA" sz="1500" dirty="0"/>
          </a:p>
        </p:txBody>
      </p:sp>
      <p:sp>
        <p:nvSpPr>
          <p:cNvPr id="24" name="anim22_20"/>
          <p:cNvSpPr txBox="1"/>
          <p:nvPr/>
        </p:nvSpPr>
        <p:spPr>
          <a:xfrm>
            <a:off x="548640" y="5440680"/>
            <a:ext cx="11094415" cy="457200"/>
          </a:xfrm>
          <a:prstGeom prst="rect">
            <a:avLst/>
          </a:prstGeom>
          <a:noFill/>
          <a:ln/>
        </p:spPr>
        <p:txBody>
          <a:bodyPr wrap="square" lIns="0" tIns="0" rIns="0" bIns="0" rtlCol="0" anchor="t"/>
          <a:lstStyle/>
          <a:p>
            <a:pPr rtl="1" algn="ctr" indent="0" marL="0">
              <a:buNone/>
            </a:pPr>
            <a:r>
              <a:rPr lang="ar-SA" altLang="en-US" sz="2000" b="1" dirty="0">
                <a:solidFill>
                  <a:srgbClr val="F7941D"/>
                </a:solidFill>
                <a:latin typeface="JF Flat" pitchFamily="34" charset="0"/>
                <a:ea typeface="JF Flat" pitchFamily="34" charset="-122"/>
                <a:cs typeface="JF Flat" pitchFamily="34" charset="-120"/>
              </a:rPr>
              <a:t>منصة وطنية قابلة للتوسع لدعم التحول الرقمي في ليبيا</a:t>
            </a:r>
            <a:endParaRPr lang="ar-SA" sz="2000" dirty="0"/>
          </a:p>
        </p:txBody>
      </p:sp>
      <p:sp>
        <p:nvSpPr>
          <p:cNvPr id="25" name="Slide Number Placeholder 0"/>
          <p:cNvSpPr>
            <a:spLocks noGrp="1"/>
          </p:cNvSpPr>
          <p:nvPr>
            <p:ph type="sldNum" sz="quarter" idx="4294967295"/>
          </p:nvPr>
        </p:nvSpPr>
        <p:spPr>
          <a:xfrm>
            <a:off x="548640" y="6391656"/>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941D"/>
                </a:solidFill>
                <a:latin typeface="JF Flat"/>
                <a:ea typeface="JF Flat"/>
                <a:cs typeface="JF Flat"/>
              </a:defRPr>
            </a:lvl1pPr>
          </a:lstStyle>
          <a:p>
            <a:pPr algn="l"/>
            <a:fld id="{F7021451-1387-4CA6-816F-3879F97B5CBC}" type="slidenum">
              <a:rPr b="1"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anim calcmode="lin" valueType="num">
                                      <p:cBhvr additive="base">
                                        <p:cTn id="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9" dur="600" decel="100000" fill="hold"/>
                                        <p:tgtEl>
                                          <p:spTgt spid="4"/>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anim calcmode="lin" valueType="num">
                                      <p:cBhvr additive="base">
                                        <p:cTn id="1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5"/>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anim calcmode="lin" valueType="num">
                                      <p:cBhvr additive="base">
                                        <p:cTn id="1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6"/>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anim calcmode="lin" valueType="num">
                                      <p:cBhvr additive="base">
                                        <p:cTn id="23" dur="600" decel="100000" fill="hold"/>
                                        <p:tgtEl>
                                          <p:spTgt spid="7"/>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7"/>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13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anim calcmode="lin" valueType="num">
                                      <p:cBhvr additive="base">
                                        <p:cTn id="28" dur="600" decel="100000" fill="hold"/>
                                        <p:tgtEl>
                                          <p:spTgt spid="8"/>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8"/>
                                        </p:tgtEl>
                                        <p:attrNameLst>
                                          <p:attrName>ppt_y</p:attrName>
                                        </p:attrNameLst>
                                      </p:cBhvr>
                                      <p:tavLst>
                                        <p:tav tm="0">
                                          <p:val>
                                            <p:strVal val="#ppt_y+.03"/>
                                          </p:val>
                                        </p:tav>
                                        <p:tav tm="100000">
                                          <p:val>
                                            <p:strVal val="#ppt_y"/>
                                          </p:val>
                                        </p:tav>
                                      </p:tavLst>
                                    </p:anim>
                                  </p:childTnLst>
                                </p:cTn>
                              </p:par>
                              <p:par>
                                <p:cTn id="30" presetID="42" presetClass="entr" presetSubtype="0" fill="hold" grpId="0" nodeType="withEffect">
                                  <p:stCondLst>
                                    <p:cond delay="13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anim calcmode="lin" valueType="num">
                                      <p:cBhvr additive="base">
                                        <p:cTn id="33" dur="600" decel="100000" fill="hold"/>
                                        <p:tgtEl>
                                          <p:spTgt spid="9"/>
                                        </p:tgtEl>
                                        <p:attrNameLst>
                                          <p:attrName>ppt_x</p:attrName>
                                        </p:attrNameLst>
                                      </p:cBhvr>
                                      <p:tavLst>
                                        <p:tav tm="0">
                                          <p:val>
                                            <p:strVal val="#ppt_x"/>
                                          </p:val>
                                        </p:tav>
                                        <p:tav tm="100000">
                                          <p:val>
                                            <p:strVal val="#ppt_x"/>
                                          </p:val>
                                        </p:tav>
                                      </p:tavLst>
                                    </p:anim>
                                    <p:anim calcmode="lin" valueType="num">
                                      <p:cBhvr additive="base">
                                        <p:cTn id="34" dur="600" decel="100000" fill="hold"/>
                                        <p:tgtEl>
                                          <p:spTgt spid="9"/>
                                        </p:tgtEl>
                                        <p:attrNameLst>
                                          <p:attrName>ppt_y</p:attrName>
                                        </p:attrNameLst>
                                      </p:cBhvr>
                                      <p:tavLst>
                                        <p:tav tm="0">
                                          <p:val>
                                            <p:strVal val="#ppt_y+.03"/>
                                          </p:val>
                                        </p:tav>
                                        <p:tav tm="100000">
                                          <p:val>
                                            <p:strVal val="#ppt_y"/>
                                          </p:val>
                                        </p:tav>
                                      </p:tavLst>
                                    </p:anim>
                                  </p:childTnLst>
                                </p:cTn>
                              </p:par>
                              <p:par>
                                <p:cTn id="35" presetID="42" presetClass="entr" presetSubtype="0" fill="hold" grpId="0" nodeType="withEffect">
                                  <p:stCondLst>
                                    <p:cond delay="13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additive="base">
                                        <p:cTn id="38" dur="600" decel="100000" fill="hold"/>
                                        <p:tgtEl>
                                          <p:spTgt spid="10"/>
                                        </p:tgtEl>
                                        <p:attrNameLst>
                                          <p:attrName>ppt_x</p:attrName>
                                        </p:attrNameLst>
                                      </p:cBhvr>
                                      <p:tavLst>
                                        <p:tav tm="0">
                                          <p:val>
                                            <p:strVal val="#ppt_x"/>
                                          </p:val>
                                        </p:tav>
                                        <p:tav tm="100000">
                                          <p:val>
                                            <p:strVal val="#ppt_x"/>
                                          </p:val>
                                        </p:tav>
                                      </p:tavLst>
                                    </p:anim>
                                    <p:anim calcmode="lin" valueType="num">
                                      <p:cBhvr additive="base">
                                        <p:cTn id="39" dur="600" decel="100000" fill="hold"/>
                                        <p:tgtEl>
                                          <p:spTgt spid="10"/>
                                        </p:tgtEl>
                                        <p:attrNameLst>
                                          <p:attrName>ppt_y</p:attrName>
                                        </p:attrNameLst>
                                      </p:cBhvr>
                                      <p:tavLst>
                                        <p:tav tm="0">
                                          <p:val>
                                            <p:strVal val="#ppt_y+.03"/>
                                          </p:val>
                                        </p:tav>
                                        <p:tav tm="100000">
                                          <p:val>
                                            <p:strVal val="#ppt_y"/>
                                          </p:val>
                                        </p:tav>
                                      </p:tavLst>
                                    </p:anim>
                                  </p:childTnLst>
                                </p:cTn>
                              </p:par>
                              <p:par>
                                <p:cTn id="40" presetID="42" presetClass="entr" presetSubtype="0" fill="hold" grpId="0" nodeType="withEffect">
                                  <p:stCondLst>
                                    <p:cond delay="13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additive="base">
                                        <p:cTn id="43" dur="600" decel="100000" fill="hold"/>
                                        <p:tgtEl>
                                          <p:spTgt spid="11"/>
                                        </p:tgtEl>
                                        <p:attrNameLst>
                                          <p:attrName>ppt_x</p:attrName>
                                        </p:attrNameLst>
                                      </p:cBhvr>
                                      <p:tavLst>
                                        <p:tav tm="0">
                                          <p:val>
                                            <p:strVal val="#ppt_x"/>
                                          </p:val>
                                        </p:tav>
                                        <p:tav tm="100000">
                                          <p:val>
                                            <p:strVal val="#ppt_x"/>
                                          </p:val>
                                        </p:tav>
                                      </p:tavLst>
                                    </p:anim>
                                    <p:anim calcmode="lin" valueType="num">
                                      <p:cBhvr additive="base">
                                        <p:cTn id="44" dur="600" decel="100000" fill="hold"/>
                                        <p:tgtEl>
                                          <p:spTgt spid="11"/>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26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additive="base">
                                        <p:cTn id="48" dur="600" decel="100000" fill="hold"/>
                                        <p:tgtEl>
                                          <p:spTgt spid="12"/>
                                        </p:tgtEl>
                                        <p:attrNameLst>
                                          <p:attrName>ppt_x</p:attrName>
                                        </p:attrNameLst>
                                      </p:cBhvr>
                                      <p:tavLst>
                                        <p:tav tm="0">
                                          <p:val>
                                            <p:strVal val="#ppt_x"/>
                                          </p:val>
                                        </p:tav>
                                        <p:tav tm="100000">
                                          <p:val>
                                            <p:strVal val="#ppt_x"/>
                                          </p:val>
                                        </p:tav>
                                      </p:tavLst>
                                    </p:anim>
                                    <p:anim calcmode="lin" valueType="num">
                                      <p:cBhvr additive="base">
                                        <p:cTn id="49" dur="600" decel="100000" fill="hold"/>
                                        <p:tgtEl>
                                          <p:spTgt spid="12"/>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26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additive="base">
                                        <p:cTn id="53" dur="600" decel="100000" fill="hold"/>
                                        <p:tgtEl>
                                          <p:spTgt spid="13"/>
                                        </p:tgtEl>
                                        <p:attrNameLst>
                                          <p:attrName>ppt_x</p:attrName>
                                        </p:attrNameLst>
                                      </p:cBhvr>
                                      <p:tavLst>
                                        <p:tav tm="0">
                                          <p:val>
                                            <p:strVal val="#ppt_x"/>
                                          </p:val>
                                        </p:tav>
                                        <p:tav tm="100000">
                                          <p:val>
                                            <p:strVal val="#ppt_x"/>
                                          </p:val>
                                        </p:tav>
                                      </p:tavLst>
                                    </p:anim>
                                    <p:anim calcmode="lin" valueType="num">
                                      <p:cBhvr additive="base">
                                        <p:cTn id="54" dur="600" decel="100000" fill="hold"/>
                                        <p:tgtEl>
                                          <p:spTgt spid="13"/>
                                        </p:tgtEl>
                                        <p:attrNameLst>
                                          <p:attrName>ppt_y</p:attrName>
                                        </p:attrNameLst>
                                      </p:cBhvr>
                                      <p:tavLst>
                                        <p:tav tm="0">
                                          <p:val>
                                            <p:strVal val="#ppt_y+.03"/>
                                          </p:val>
                                        </p:tav>
                                        <p:tav tm="100000">
                                          <p:val>
                                            <p:strVal val="#ppt_y"/>
                                          </p:val>
                                        </p:tav>
                                      </p:tavLst>
                                    </p:anim>
                                  </p:childTnLst>
                                </p:cTn>
                              </p:par>
                              <p:par>
                                <p:cTn id="55" presetID="42" presetClass="entr" presetSubtype="0" fill="hold" grpId="0" nodeType="withEffect">
                                  <p:stCondLst>
                                    <p:cond delay="26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decel="100000" fill="hold"/>
                                        <p:tgtEl>
                                          <p:spTgt spid="14"/>
                                        </p:tgtEl>
                                        <p:attrNameLst>
                                          <p:attrName>ppt_x</p:attrName>
                                        </p:attrNameLst>
                                      </p:cBhvr>
                                      <p:tavLst>
                                        <p:tav tm="0">
                                          <p:val>
                                            <p:strVal val="#ppt_x"/>
                                          </p:val>
                                        </p:tav>
                                        <p:tav tm="100000">
                                          <p:val>
                                            <p:strVal val="#ppt_x"/>
                                          </p:val>
                                        </p:tav>
                                      </p:tavLst>
                                    </p:anim>
                                    <p:anim calcmode="lin" valueType="num">
                                      <p:cBhvr additive="base">
                                        <p:cTn id="59" dur="600" decel="100000" fill="hold"/>
                                        <p:tgtEl>
                                          <p:spTgt spid="14"/>
                                        </p:tgtEl>
                                        <p:attrNameLst>
                                          <p:attrName>ppt_y</p:attrName>
                                        </p:attrNameLst>
                                      </p:cBhvr>
                                      <p:tavLst>
                                        <p:tav tm="0">
                                          <p:val>
                                            <p:strVal val="#ppt_y+.03"/>
                                          </p:val>
                                        </p:tav>
                                        <p:tav tm="100000">
                                          <p:val>
                                            <p:strVal val="#ppt_y"/>
                                          </p:val>
                                        </p:tav>
                                      </p:tavLst>
                                    </p:anim>
                                  </p:childTnLst>
                                </p:cTn>
                              </p:par>
                              <p:par>
                                <p:cTn id="60" presetID="42" presetClass="entr" presetSubtype="0" fill="hold" grpId="0" nodeType="withEffect">
                                  <p:stCondLst>
                                    <p:cond delay="26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600"/>
                                        <p:tgtEl>
                                          <p:spTgt spid="15"/>
                                        </p:tgtEl>
                                      </p:cBhvr>
                                    </p:animEffect>
                                    <p:anim calcmode="lin" valueType="num">
                                      <p:cBhvr additive="base">
                                        <p:cTn id="63" dur="600" decel="100000" fill="hold"/>
                                        <p:tgtEl>
                                          <p:spTgt spid="15"/>
                                        </p:tgtEl>
                                        <p:attrNameLst>
                                          <p:attrName>ppt_x</p:attrName>
                                        </p:attrNameLst>
                                      </p:cBhvr>
                                      <p:tavLst>
                                        <p:tav tm="0">
                                          <p:val>
                                            <p:strVal val="#ppt_x"/>
                                          </p:val>
                                        </p:tav>
                                        <p:tav tm="100000">
                                          <p:val>
                                            <p:strVal val="#ppt_x"/>
                                          </p:val>
                                        </p:tav>
                                      </p:tavLst>
                                    </p:anim>
                                    <p:anim calcmode="lin" valueType="num">
                                      <p:cBhvr additive="base">
                                        <p:cTn id="64" dur="600" decel="100000" fill="hold"/>
                                        <p:tgtEl>
                                          <p:spTgt spid="15"/>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3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600"/>
                                        <p:tgtEl>
                                          <p:spTgt spid="16"/>
                                        </p:tgtEl>
                                      </p:cBhvr>
                                    </p:animEffect>
                                    <p:anim calcmode="lin" valueType="num">
                                      <p:cBhvr additive="base">
                                        <p:cTn id="68" dur="600" decel="100000" fill="hold"/>
                                        <p:tgtEl>
                                          <p:spTgt spid="16"/>
                                        </p:tgtEl>
                                        <p:attrNameLst>
                                          <p:attrName>ppt_x</p:attrName>
                                        </p:attrNameLst>
                                      </p:cBhvr>
                                      <p:tavLst>
                                        <p:tav tm="0">
                                          <p:val>
                                            <p:strVal val="#ppt_x"/>
                                          </p:val>
                                        </p:tav>
                                        <p:tav tm="100000">
                                          <p:val>
                                            <p:strVal val="#ppt_x"/>
                                          </p:val>
                                        </p:tav>
                                      </p:tavLst>
                                    </p:anim>
                                    <p:anim calcmode="lin" valueType="num">
                                      <p:cBhvr additive="base">
                                        <p:cTn id="69" dur="600" decel="100000" fill="hold"/>
                                        <p:tgtEl>
                                          <p:spTgt spid="16"/>
                                        </p:tgtEl>
                                        <p:attrNameLst>
                                          <p:attrName>ppt_y</p:attrName>
                                        </p:attrNameLst>
                                      </p:cBhvr>
                                      <p:tavLst>
                                        <p:tav tm="0">
                                          <p:val>
                                            <p:strVal val="#ppt_y+.03"/>
                                          </p:val>
                                        </p:tav>
                                        <p:tav tm="100000">
                                          <p:val>
                                            <p:strVal val="#ppt_y"/>
                                          </p:val>
                                        </p:tav>
                                      </p:tavLst>
                                    </p:anim>
                                  </p:childTnLst>
                                </p:cTn>
                              </p:par>
                              <p:par>
                                <p:cTn id="70" presetID="42" presetClass="entr" presetSubtype="0" fill="hold" grpId="0" nodeType="withEffect">
                                  <p:stCondLst>
                                    <p:cond delay="39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600"/>
                                        <p:tgtEl>
                                          <p:spTgt spid="17"/>
                                        </p:tgtEl>
                                      </p:cBhvr>
                                    </p:animEffect>
                                    <p:anim calcmode="lin" valueType="num">
                                      <p:cBhvr additive="base">
                                        <p:cTn id="73" dur="600" decel="100000" fill="hold"/>
                                        <p:tgtEl>
                                          <p:spTgt spid="17"/>
                                        </p:tgtEl>
                                        <p:attrNameLst>
                                          <p:attrName>ppt_x</p:attrName>
                                        </p:attrNameLst>
                                      </p:cBhvr>
                                      <p:tavLst>
                                        <p:tav tm="0">
                                          <p:val>
                                            <p:strVal val="#ppt_x"/>
                                          </p:val>
                                        </p:tav>
                                        <p:tav tm="100000">
                                          <p:val>
                                            <p:strVal val="#ppt_x"/>
                                          </p:val>
                                        </p:tav>
                                      </p:tavLst>
                                    </p:anim>
                                    <p:anim calcmode="lin" valueType="num">
                                      <p:cBhvr additive="base">
                                        <p:cTn id="74" dur="600" decel="100000" fill="hold"/>
                                        <p:tgtEl>
                                          <p:spTgt spid="17"/>
                                        </p:tgtEl>
                                        <p:attrNameLst>
                                          <p:attrName>ppt_y</p:attrName>
                                        </p:attrNameLst>
                                      </p:cBhvr>
                                      <p:tavLst>
                                        <p:tav tm="0">
                                          <p:val>
                                            <p:strVal val="#ppt_y+.03"/>
                                          </p:val>
                                        </p:tav>
                                        <p:tav tm="100000">
                                          <p:val>
                                            <p:strVal val="#ppt_y"/>
                                          </p:val>
                                        </p:tav>
                                      </p:tavLst>
                                    </p:anim>
                                  </p:childTnLst>
                                </p:cTn>
                              </p:par>
                              <p:par>
                                <p:cTn id="75" presetID="42" presetClass="entr" presetSubtype="0" fill="hold" grpId="0" nodeType="withEffect">
                                  <p:stCondLst>
                                    <p:cond delay="39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600"/>
                                        <p:tgtEl>
                                          <p:spTgt spid="18"/>
                                        </p:tgtEl>
                                      </p:cBhvr>
                                    </p:animEffect>
                                    <p:anim calcmode="lin" valueType="num">
                                      <p:cBhvr additive="base">
                                        <p:cTn id="78" dur="600" decel="100000" fill="hold"/>
                                        <p:tgtEl>
                                          <p:spTgt spid="18"/>
                                        </p:tgtEl>
                                        <p:attrNameLst>
                                          <p:attrName>ppt_x</p:attrName>
                                        </p:attrNameLst>
                                      </p:cBhvr>
                                      <p:tavLst>
                                        <p:tav tm="0">
                                          <p:val>
                                            <p:strVal val="#ppt_x"/>
                                          </p:val>
                                        </p:tav>
                                        <p:tav tm="100000">
                                          <p:val>
                                            <p:strVal val="#ppt_x"/>
                                          </p:val>
                                        </p:tav>
                                      </p:tavLst>
                                    </p:anim>
                                    <p:anim calcmode="lin" valueType="num">
                                      <p:cBhvr additive="base">
                                        <p:cTn id="79" dur="600" decel="100000" fill="hold"/>
                                        <p:tgtEl>
                                          <p:spTgt spid="18"/>
                                        </p:tgtEl>
                                        <p:attrNameLst>
                                          <p:attrName>ppt_y</p:attrName>
                                        </p:attrNameLst>
                                      </p:cBhvr>
                                      <p:tavLst>
                                        <p:tav tm="0">
                                          <p:val>
                                            <p:strVal val="#ppt_y+.03"/>
                                          </p:val>
                                        </p:tav>
                                        <p:tav tm="100000">
                                          <p:val>
                                            <p:strVal val="#ppt_y"/>
                                          </p:val>
                                        </p:tav>
                                      </p:tavLst>
                                    </p:anim>
                                  </p:childTnLst>
                                </p:cTn>
                              </p:par>
                              <p:par>
                                <p:cTn id="80" presetID="42" presetClass="entr" presetSubtype="0" fill="hold" grpId="0" nodeType="withEffect">
                                  <p:stCondLst>
                                    <p:cond delay="39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600"/>
                                        <p:tgtEl>
                                          <p:spTgt spid="19"/>
                                        </p:tgtEl>
                                      </p:cBhvr>
                                    </p:animEffect>
                                    <p:anim calcmode="lin" valueType="num">
                                      <p:cBhvr additive="base">
                                        <p:cTn id="83" dur="600" decel="100000" fill="hold"/>
                                        <p:tgtEl>
                                          <p:spTgt spid="19"/>
                                        </p:tgtEl>
                                        <p:attrNameLst>
                                          <p:attrName>ppt_x</p:attrName>
                                        </p:attrNameLst>
                                      </p:cBhvr>
                                      <p:tavLst>
                                        <p:tav tm="0">
                                          <p:val>
                                            <p:strVal val="#ppt_x"/>
                                          </p:val>
                                        </p:tav>
                                        <p:tav tm="100000">
                                          <p:val>
                                            <p:strVal val="#ppt_x"/>
                                          </p:val>
                                        </p:tav>
                                      </p:tavLst>
                                    </p:anim>
                                    <p:anim calcmode="lin" valueType="num">
                                      <p:cBhvr additive="base">
                                        <p:cTn id="84" dur="600" decel="100000" fill="hold"/>
                                        <p:tgtEl>
                                          <p:spTgt spid="19"/>
                                        </p:tgtEl>
                                        <p:attrNameLst>
                                          <p:attrName>ppt_y</p:attrName>
                                        </p:attrNameLst>
                                      </p:cBhvr>
                                      <p:tavLst>
                                        <p:tav tm="0">
                                          <p:val>
                                            <p:strVal val="#ppt_y+.03"/>
                                          </p:val>
                                        </p:tav>
                                        <p:tav tm="100000">
                                          <p:val>
                                            <p:strVal val="#ppt_y"/>
                                          </p:val>
                                        </p:tav>
                                      </p:tavLst>
                                    </p:anim>
                                  </p:childTnLst>
                                </p:cTn>
                              </p:par>
                              <p:par>
                                <p:cTn id="85" presetID="42" presetClass="entr" presetSubtype="0" fill="hold" grpId="0" nodeType="withEffect">
                                  <p:stCondLst>
                                    <p:cond delay="52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600"/>
                                        <p:tgtEl>
                                          <p:spTgt spid="20"/>
                                        </p:tgtEl>
                                      </p:cBhvr>
                                    </p:animEffect>
                                    <p:anim calcmode="lin" valueType="num">
                                      <p:cBhvr additive="base">
                                        <p:cTn id="88" dur="600" decel="100000" fill="hold"/>
                                        <p:tgtEl>
                                          <p:spTgt spid="20"/>
                                        </p:tgtEl>
                                        <p:attrNameLst>
                                          <p:attrName>ppt_x</p:attrName>
                                        </p:attrNameLst>
                                      </p:cBhvr>
                                      <p:tavLst>
                                        <p:tav tm="0">
                                          <p:val>
                                            <p:strVal val="#ppt_x"/>
                                          </p:val>
                                        </p:tav>
                                        <p:tav tm="100000">
                                          <p:val>
                                            <p:strVal val="#ppt_x"/>
                                          </p:val>
                                        </p:tav>
                                      </p:tavLst>
                                    </p:anim>
                                    <p:anim calcmode="lin" valueType="num">
                                      <p:cBhvr additive="base">
                                        <p:cTn id="89" dur="600" decel="100000" fill="hold"/>
                                        <p:tgtEl>
                                          <p:spTgt spid="20"/>
                                        </p:tgtEl>
                                        <p:attrNameLst>
                                          <p:attrName>ppt_y</p:attrName>
                                        </p:attrNameLst>
                                      </p:cBhvr>
                                      <p:tavLst>
                                        <p:tav tm="0">
                                          <p:val>
                                            <p:strVal val="#ppt_y+.03"/>
                                          </p:val>
                                        </p:tav>
                                        <p:tav tm="100000">
                                          <p:val>
                                            <p:strVal val="#ppt_y"/>
                                          </p:val>
                                        </p:tav>
                                      </p:tavLst>
                                    </p:anim>
                                  </p:childTnLst>
                                </p:cTn>
                              </p:par>
                              <p:par>
                                <p:cTn id="90" presetID="42" presetClass="entr" presetSubtype="0" fill="hold" grpId="0" nodeType="withEffect">
                                  <p:stCondLst>
                                    <p:cond delay="52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600"/>
                                        <p:tgtEl>
                                          <p:spTgt spid="21"/>
                                        </p:tgtEl>
                                      </p:cBhvr>
                                    </p:animEffect>
                                    <p:anim calcmode="lin" valueType="num">
                                      <p:cBhvr additive="base">
                                        <p:cTn id="93" dur="600" decel="100000" fill="hold"/>
                                        <p:tgtEl>
                                          <p:spTgt spid="21"/>
                                        </p:tgtEl>
                                        <p:attrNameLst>
                                          <p:attrName>ppt_x</p:attrName>
                                        </p:attrNameLst>
                                      </p:cBhvr>
                                      <p:tavLst>
                                        <p:tav tm="0">
                                          <p:val>
                                            <p:strVal val="#ppt_x"/>
                                          </p:val>
                                        </p:tav>
                                        <p:tav tm="100000">
                                          <p:val>
                                            <p:strVal val="#ppt_x"/>
                                          </p:val>
                                        </p:tav>
                                      </p:tavLst>
                                    </p:anim>
                                    <p:anim calcmode="lin" valueType="num">
                                      <p:cBhvr additive="base">
                                        <p:cTn id="94" dur="600" decel="100000" fill="hold"/>
                                        <p:tgtEl>
                                          <p:spTgt spid="21"/>
                                        </p:tgtEl>
                                        <p:attrNameLst>
                                          <p:attrName>ppt_y</p:attrName>
                                        </p:attrNameLst>
                                      </p:cBhvr>
                                      <p:tavLst>
                                        <p:tav tm="0">
                                          <p:val>
                                            <p:strVal val="#ppt_y+.03"/>
                                          </p:val>
                                        </p:tav>
                                        <p:tav tm="100000">
                                          <p:val>
                                            <p:strVal val="#ppt_y"/>
                                          </p:val>
                                        </p:tav>
                                      </p:tavLst>
                                    </p:anim>
                                  </p:childTnLst>
                                </p:cTn>
                              </p:par>
                              <p:par>
                                <p:cTn id="95" presetID="42" presetClass="entr" presetSubtype="0" fill="hold" grpId="0" nodeType="withEffect">
                                  <p:stCondLst>
                                    <p:cond delay="52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600"/>
                                        <p:tgtEl>
                                          <p:spTgt spid="22"/>
                                        </p:tgtEl>
                                      </p:cBhvr>
                                    </p:animEffect>
                                    <p:anim calcmode="lin" valueType="num">
                                      <p:cBhvr additive="base">
                                        <p:cTn id="98" dur="600" decel="100000" fill="hold"/>
                                        <p:tgtEl>
                                          <p:spTgt spid="22"/>
                                        </p:tgtEl>
                                        <p:attrNameLst>
                                          <p:attrName>ppt_x</p:attrName>
                                        </p:attrNameLst>
                                      </p:cBhvr>
                                      <p:tavLst>
                                        <p:tav tm="0">
                                          <p:val>
                                            <p:strVal val="#ppt_x"/>
                                          </p:val>
                                        </p:tav>
                                        <p:tav tm="100000">
                                          <p:val>
                                            <p:strVal val="#ppt_x"/>
                                          </p:val>
                                        </p:tav>
                                      </p:tavLst>
                                    </p:anim>
                                    <p:anim calcmode="lin" valueType="num">
                                      <p:cBhvr additive="base">
                                        <p:cTn id="99" dur="600" decel="100000" fill="hold"/>
                                        <p:tgtEl>
                                          <p:spTgt spid="22"/>
                                        </p:tgtEl>
                                        <p:attrNameLst>
                                          <p:attrName>ppt_y</p:attrName>
                                        </p:attrNameLst>
                                      </p:cBhvr>
                                      <p:tavLst>
                                        <p:tav tm="0">
                                          <p:val>
                                            <p:strVal val="#ppt_y+.03"/>
                                          </p:val>
                                        </p:tav>
                                        <p:tav tm="100000">
                                          <p:val>
                                            <p:strVal val="#ppt_y"/>
                                          </p:val>
                                        </p:tav>
                                      </p:tavLst>
                                    </p:anim>
                                  </p:childTnLst>
                                </p:cTn>
                              </p:par>
                              <p:par>
                                <p:cTn id="100" presetID="42" presetClass="entr" presetSubtype="0" fill="hold" grpId="0" nodeType="withEffect">
                                  <p:stCondLst>
                                    <p:cond delay="52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600"/>
                                        <p:tgtEl>
                                          <p:spTgt spid="23"/>
                                        </p:tgtEl>
                                      </p:cBhvr>
                                    </p:animEffect>
                                    <p:anim calcmode="lin" valueType="num">
                                      <p:cBhvr additive="base">
                                        <p:cTn id="103" dur="600" decel="100000" fill="hold"/>
                                        <p:tgtEl>
                                          <p:spTgt spid="23"/>
                                        </p:tgtEl>
                                        <p:attrNameLst>
                                          <p:attrName>ppt_x</p:attrName>
                                        </p:attrNameLst>
                                      </p:cBhvr>
                                      <p:tavLst>
                                        <p:tav tm="0">
                                          <p:val>
                                            <p:strVal val="#ppt_x"/>
                                          </p:val>
                                        </p:tav>
                                        <p:tav tm="100000">
                                          <p:val>
                                            <p:strVal val="#ppt_x"/>
                                          </p:val>
                                        </p:tav>
                                      </p:tavLst>
                                    </p:anim>
                                    <p:anim calcmode="lin" valueType="num">
                                      <p:cBhvr additive="base">
                                        <p:cTn id="104" dur="600" decel="100000" fill="hold"/>
                                        <p:tgtEl>
                                          <p:spTgt spid="23"/>
                                        </p:tgtEl>
                                        <p:attrNameLst>
                                          <p:attrName>ppt_y</p:attrName>
                                        </p:attrNameLst>
                                      </p:cBhvr>
                                      <p:tavLst>
                                        <p:tav tm="0">
                                          <p:val>
                                            <p:strVal val="#ppt_y+.03"/>
                                          </p:val>
                                        </p:tav>
                                        <p:tav tm="100000">
                                          <p:val>
                                            <p:strVal val="#ppt_y"/>
                                          </p:val>
                                        </p:tav>
                                      </p:tavLst>
                                    </p:anim>
                                  </p:childTnLst>
                                </p:cTn>
                              </p:par>
                              <p:par>
                                <p:cTn id="105" presetID="42" presetClass="entr" presetSubtype="0" fill="hold" grpId="0" nodeType="withEffect">
                                  <p:stCondLst>
                                    <p:cond delay="52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600"/>
                                        <p:tgtEl>
                                          <p:spTgt spid="24"/>
                                        </p:tgtEl>
                                      </p:cBhvr>
                                    </p:animEffect>
                                    <p:anim calcmode="lin" valueType="num">
                                      <p:cBhvr additive="base">
                                        <p:cTn id="108" dur="600" decel="100000" fill="hold"/>
                                        <p:tgtEl>
                                          <p:spTgt spid="24"/>
                                        </p:tgtEl>
                                        <p:attrNameLst>
                                          <p:attrName>ppt_x</p:attrName>
                                        </p:attrNameLst>
                                      </p:cBhvr>
                                      <p:tavLst>
                                        <p:tav tm="0">
                                          <p:val>
                                            <p:strVal val="#ppt_x"/>
                                          </p:val>
                                        </p:tav>
                                        <p:tav tm="100000">
                                          <p:val>
                                            <p:strVal val="#ppt_x"/>
                                          </p:val>
                                        </p:tav>
                                      </p:tavLst>
                                    </p:anim>
                                    <p:anim calcmode="lin" valueType="num">
                                      <p:cBhvr additive="base">
                                        <p:cTn id="109" dur="600" decel="100000" fill="hold"/>
                                        <p:tgtEl>
                                          <p:spTgt spid="2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anim23_0" descr="assets/logo_white.png">    </p:cNvPr>
          <p:cNvPicPr>
            <a:picLocks noChangeAspect="1"/>
          </p:cNvPicPr>
          <p:nvPr/>
        </p:nvPicPr>
        <p:blipFill>
          <a:blip r:embed="rId1"/>
          <a:stretch>
            <a:fillRect/>
          </a:stretch>
        </p:blipFill>
        <p:spPr>
          <a:xfrm>
            <a:off x="9265615" y="640080"/>
            <a:ext cx="2377440" cy="1366114"/>
          </a:xfrm>
          <a:prstGeom prst="rect">
            <a:avLst/>
          </a:prstGeom>
        </p:spPr>
      </p:pic>
      <p:sp>
        <p:nvSpPr>
          <p:cNvPr id="3" name="anim23_1"/>
          <p:cNvSpPr txBox="1"/>
          <p:nvPr/>
        </p:nvSpPr>
        <p:spPr>
          <a:xfrm>
            <a:off x="5120640" y="2468880"/>
            <a:ext cx="6522415" cy="1097280"/>
          </a:xfrm>
          <a:prstGeom prst="rect">
            <a:avLst/>
          </a:prstGeom>
          <a:noFill/>
          <a:ln/>
        </p:spPr>
        <p:txBody>
          <a:bodyPr wrap="square" lIns="0" tIns="0" rIns="0" bIns="0" rtlCol="0" anchor="ctr"/>
          <a:lstStyle/>
          <a:p>
            <a:pPr rtl="1" algn="r" indent="0" marL="0">
              <a:buNone/>
            </a:pPr>
            <a:r>
              <a:rPr lang="ar-SA" altLang="en-US" sz="6000" b="1" dirty="0">
                <a:solidFill>
                  <a:srgbClr val="FFFFFF"/>
                </a:solidFill>
                <a:latin typeface="JF Flat" pitchFamily="34" charset="0"/>
                <a:ea typeface="JF Flat" pitchFamily="34" charset="-122"/>
                <a:cs typeface="JF Flat" pitchFamily="34" charset="-120"/>
              </a:rPr>
              <a:t>شكراً لكم</a:t>
            </a:r>
            <a:endParaRPr lang="ar-SA" sz="6000" dirty="0"/>
          </a:p>
        </p:txBody>
      </p:sp>
      <p:sp>
        <p:nvSpPr>
          <p:cNvPr id="4" name="anim23_2"/>
          <p:cNvSpPr txBox="1"/>
          <p:nvPr/>
        </p:nvSpPr>
        <p:spPr>
          <a:xfrm>
            <a:off x="5120640" y="3611880"/>
            <a:ext cx="6522415" cy="457200"/>
          </a:xfrm>
          <a:prstGeom prst="rect">
            <a:avLst/>
          </a:prstGeom>
          <a:noFill/>
          <a:ln/>
        </p:spPr>
        <p:txBody>
          <a:bodyPr wrap="square" lIns="0" tIns="0" rIns="0" bIns="0" rtlCol="0" anchor="t"/>
          <a:lstStyle/>
          <a:p>
            <a:pPr rtl="1" algn="r" indent="0" marL="0">
              <a:buNone/>
            </a:pPr>
            <a:r>
              <a:rPr lang="ar-SA" altLang="en-US" sz="2000" b="1" dirty="0">
                <a:solidFill>
                  <a:srgbClr val="F7941D"/>
                </a:solidFill>
                <a:latin typeface="JF Flat" pitchFamily="34" charset="0"/>
                <a:ea typeface="JF Flat" pitchFamily="34" charset="-122"/>
                <a:cs typeface="JF Flat" pitchFamily="34" charset="-120"/>
              </a:rPr>
              <a:t>نحو بنية تحتية رقمية وطنية آمنة وموثوقة</a:t>
            </a:r>
            <a:endParaRPr lang="ar-SA" sz="2000" dirty="0"/>
          </a:p>
        </p:txBody>
      </p:sp>
      <p:sp>
        <p:nvSpPr>
          <p:cNvPr id="5" name="anim23_3"/>
          <p:cNvSpPr txBox="1"/>
          <p:nvPr/>
        </p:nvSpPr>
        <p:spPr>
          <a:xfrm>
            <a:off x="5486400" y="5989320"/>
            <a:ext cx="6156655" cy="320040"/>
          </a:xfrm>
          <a:prstGeom prst="rect">
            <a:avLst/>
          </a:prstGeom>
          <a:noFill/>
          <a:ln/>
        </p:spPr>
        <p:txBody>
          <a:bodyPr wrap="square" lIns="0" tIns="0" rIns="0" bIns="0" rtlCol="0" anchor="t"/>
          <a:lstStyle/>
          <a:p>
            <a:pPr rtl="1" algn="r" indent="0" marL="0">
              <a:buNone/>
            </a:pPr>
            <a:r>
              <a:rPr lang="ar-SA" altLang="en-US" sz="1400" b="1" dirty="0">
                <a:solidFill>
                  <a:srgbClr val="FFFFFF"/>
                </a:solidFill>
                <a:latin typeface="JF Flat" pitchFamily="34" charset="0"/>
                <a:ea typeface="JF Flat" pitchFamily="34" charset="-122"/>
                <a:cs typeface="JF Flat" pitchFamily="34" charset="-120"/>
              </a:rPr>
              <a:t>شركة الجيل الجديد للتقنية</a:t>
            </a:r>
            <a:endParaRPr lang="ar-SA" sz="1400" dirty="0"/>
          </a:p>
        </p:txBody>
      </p:sp>
      <p:sp>
        <p:nvSpPr>
          <p:cNvPr id="6" name="anim23_4"/>
          <p:cNvSpPr txBox="1"/>
          <p:nvPr/>
        </p:nvSpPr>
        <p:spPr>
          <a:xfrm>
            <a:off x="5486400" y="6291072"/>
            <a:ext cx="6156655" cy="256032"/>
          </a:xfrm>
          <a:prstGeom prst="rect">
            <a:avLst/>
          </a:prstGeom>
          <a:noFill/>
          <a:ln/>
        </p:spPr>
        <p:txBody>
          <a:bodyPr wrap="square" lIns="0" tIns="0" rIns="0" bIns="0" rtlCol="0" anchor="t"/>
          <a:lstStyle/>
          <a:p>
            <a:pPr algn="r" indent="0" marL="0">
              <a:buNone/>
            </a:pPr>
            <a:r>
              <a:rPr lang="ar-SA" altLang="en-US" sz="1000" spc="200" kern="0" dirty="0">
                <a:solidFill>
                  <a:srgbClr val="8FB0D6"/>
                </a:solidFill>
                <a:latin typeface="JF Flat" pitchFamily="34" charset="0"/>
                <a:ea typeface="JF Flat" pitchFamily="34" charset="-122"/>
                <a:cs typeface="JF Flat" pitchFamily="34" charset="-120"/>
              </a:rPr>
              <a:t>ALJEEL ALJADEED FOR TECHNOLOGY</a:t>
            </a:r>
            <a:endParaRPr lang="ar-SA"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decel="100000" fill="hold"/>
                                        <p:tgtEl>
                                          <p:spTgt spid="2"/>
                                        </p:tgtEl>
                                        <p:attrNameLst>
                                          <p:attrName>ppt_w</p:attrName>
                                        </p:attrNameLst>
                                      </p:cBhvr>
                                      <p:tavLst>
                                        <p:tav tm="0">
                                          <p:val>
                                            <p:strVal val="#ppt_w*0.85"/>
                                          </p:val>
                                        </p:tav>
                                        <p:tav tm="100000">
                                          <p:val>
                                            <p:strVal val="#ppt_w"/>
                                          </p:val>
                                        </p:tav>
                                      </p:tavLst>
                                    </p:anim>
                                    <p:anim calcmode="lin" valueType="num">
                                      <p:cBhvr additive="base">
                                        <p:cTn id="8" dur="800" decel="100000" fill="hold"/>
                                        <p:tgtEl>
                                          <p:spTgt spid="2"/>
                                        </p:tgtEl>
                                        <p:attrNameLst>
                                          <p:attrName>ppt_h</p:attrName>
                                        </p:attrNameLst>
                                      </p:cBhvr>
                                      <p:tavLst>
                                        <p:tav tm="0">
                                          <p:val>
                                            <p:strVal val="#ppt_h*0.85"/>
                                          </p:val>
                                        </p:tav>
                                        <p:tav tm="100000">
                                          <p:val>
                                            <p:strVal val="#ppt_h"/>
                                          </p:val>
                                        </p:tav>
                                      </p:tavLst>
                                    </p:anim>
                                    <p:animEffect transition="in" filter="fade">
                                      <p:cBhvr>
                                        <p:cTn id="9" dur="800"/>
                                        <p:tgtEl>
                                          <p:spTgt spid="2"/>
                                        </p:tgtEl>
                                      </p:cBhvr>
                                    </p:animEffect>
                                  </p:childTnLst>
                                </p:cTn>
                              </p:par>
                              <p:par>
                                <p:cTn id="10" presetID="42" presetClass="entr" presetSubtype="0" fill="hold" grpId="0" nodeType="withEffect">
                                  <p:stCondLst>
                                    <p:cond delay="13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600"/>
                                        <p:tgtEl>
                                          <p:spTgt spid="3"/>
                                        </p:tgtEl>
                                      </p:cBhvr>
                                    </p:animEffect>
                                    <p:anim calcmode="lin" valueType="num">
                                      <p:cBhvr additive="base">
                                        <p:cTn id="13" dur="600" decel="100000" fill="hold"/>
                                        <p:tgtEl>
                                          <p:spTgt spid="3"/>
                                        </p:tgtEl>
                                        <p:attrNameLst>
                                          <p:attrName>ppt_x</p:attrName>
                                        </p:attrNameLst>
                                      </p:cBhvr>
                                      <p:tavLst>
                                        <p:tav tm="0">
                                          <p:val>
                                            <p:strVal val="#ppt_x"/>
                                          </p:val>
                                        </p:tav>
                                        <p:tav tm="100000">
                                          <p:val>
                                            <p:strVal val="#ppt_x"/>
                                          </p:val>
                                        </p:tav>
                                      </p:tavLst>
                                    </p:anim>
                                    <p:anim calcmode="lin" valueType="num">
                                      <p:cBhvr additive="base">
                                        <p:cTn id="14" dur="600" decel="100000" fill="hold"/>
                                        <p:tgtEl>
                                          <p:spTgt spid="3"/>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26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600"/>
                                        <p:tgtEl>
                                          <p:spTgt spid="4"/>
                                        </p:tgtEl>
                                      </p:cBhvr>
                                    </p:animEffect>
                                    <p:anim calcmode="lin" valueType="num">
                                      <p:cBhvr additive="base">
                                        <p:cTn id="18" dur="600" decel="100000" fill="hold"/>
                                        <p:tgtEl>
                                          <p:spTgt spid="4"/>
                                        </p:tgtEl>
                                        <p:attrNameLst>
                                          <p:attrName>ppt_x</p:attrName>
                                        </p:attrNameLst>
                                      </p:cBhvr>
                                      <p:tavLst>
                                        <p:tav tm="0">
                                          <p:val>
                                            <p:strVal val="#ppt_x"/>
                                          </p:val>
                                        </p:tav>
                                        <p:tav tm="100000">
                                          <p:val>
                                            <p:strVal val="#ppt_x"/>
                                          </p:val>
                                        </p:tav>
                                      </p:tavLst>
                                    </p:anim>
                                    <p:anim calcmode="lin" valueType="num">
                                      <p:cBhvr additive="base">
                                        <p:cTn id="19" dur="600" decel="100000" fill="hold"/>
                                        <p:tgtEl>
                                          <p:spTgt spid="4"/>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39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additive="base">
                                        <p:cTn id="23" dur="600" decel="100000" fill="hold"/>
                                        <p:tgtEl>
                                          <p:spTgt spid="5"/>
                                        </p:tgtEl>
                                        <p:attrNameLst>
                                          <p:attrName>ppt_x</p:attrName>
                                        </p:attrNameLst>
                                      </p:cBhvr>
                                      <p:tavLst>
                                        <p:tav tm="0">
                                          <p:val>
                                            <p:strVal val="#ppt_x"/>
                                          </p:val>
                                        </p:tav>
                                        <p:tav tm="100000">
                                          <p:val>
                                            <p:strVal val="#ppt_x"/>
                                          </p:val>
                                        </p:tav>
                                      </p:tavLst>
                                    </p:anim>
                                    <p:anim calcmode="lin" valueType="num">
                                      <p:cBhvr additive="base">
                                        <p:cTn id="24" dur="600" decel="100000" fill="hold"/>
                                        <p:tgtEl>
                                          <p:spTgt spid="5"/>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39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anim calcmode="lin" valueType="num">
                                      <p:cBhvr additive="base">
                                        <p:cTn id="28" dur="600" decel="100000" fill="hold"/>
                                        <p:tgtEl>
                                          <p:spTgt spid="6"/>
                                        </p:tgtEl>
                                        <p:attrNameLst>
                                          <p:attrName>ppt_x</p:attrName>
                                        </p:attrNameLst>
                                      </p:cBhvr>
                                      <p:tavLst>
                                        <p:tav tm="0">
                                          <p:val>
                                            <p:strVal val="#ppt_x"/>
                                          </p:val>
                                        </p:tav>
                                        <p:tav tm="100000">
                                          <p:val>
                                            <p:strVal val="#ppt_x"/>
                                          </p:val>
                                        </p:tav>
                                      </p:tavLst>
                                    </p:anim>
                                    <p:anim calcmode="lin" valueType="num">
                                      <p:cBhvr additive="base">
                                        <p:cTn id="29" dur="600" decel="100000" fill="hold"/>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Aljeel Aljadeed">
  <a:themeElements>
    <a:clrScheme name="Aljeel Aljadeed">
      <a:dk1>
        <a:srgbClr val="1F2937"/>
      </a:dk1>
      <a:lt1>
        <a:srgbClr val="FFFFFF"/>
      </a:lt1>
      <a:dk2>
        <a:srgbClr val="06305C"/>
      </a:dk2>
      <a:lt2>
        <a:srgbClr val="F4F7FB"/>
      </a:lt2>
      <a:accent1>
        <a:srgbClr val="F15524"/>
      </a:accent1>
      <a:accent2>
        <a:srgbClr val="00539B"/>
      </a:accent2>
      <a:accent3>
        <a:srgbClr val="F7941D"/>
      </a:accent3>
      <a:accent4>
        <a:srgbClr val="4A90D9"/>
      </a:accent4>
      <a:accent5>
        <a:srgbClr val="8A9BB0"/>
      </a:accent5>
      <a:accent6>
        <a:srgbClr val="06305C"/>
      </a:accent6>
      <a:hlink>
        <a:srgbClr val="00539B"/>
      </a:hlink>
      <a:folHlink>
        <a:srgbClr val="6B4FA0"/>
      </a:folHlink>
    </a:clrScheme>
    <a:fontScheme name="Aljeel Aljadeed">
      <a:majorFont>
        <a:latin typeface="JF Flat"/>
        <a:ea typeface=""/>
        <a:cs typeface="JF Flat"/>
        <a:font script="Jpan" typeface="游ゴシック Light"/>
        <a:font script="Hang" typeface="맑은 고딕"/>
        <a:font script="Hans" typeface="等线 Light"/>
        <a:font script="Hant" typeface="新細明體"/>
        <a:font script="Arab" typeface="JF Flat"/>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F Flat"/>
        <a:ea typeface=""/>
        <a:cs typeface="JF Flat"/>
        <a:font script="Jpan" typeface="游ゴシック"/>
        <a:font script="Hang" typeface="맑은 고딕"/>
        <a:font script="Hans" typeface="等线"/>
        <a:font script="Hant" typeface="新細明體"/>
        <a:font script="Arab" typeface="JF Flat"/>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شركة الجيل الجديد للتقنية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مشروع إنشاء مركز البيانات الوطني</dc:title>
  <dc:subject>PptxGenJS Presentation</dc:subject>
  <dc:creator>شركة الجيل الجديد للتقنية</dc:creator>
  <cp:lastModifiedBy>شركة الجيل الجديد للتقنية</cp:lastModifiedBy>
  <cp:revision>1</cp:revision>
  <dcterms:created xsi:type="dcterms:W3CDTF">2026-10-21T19:07:31Z</dcterms:created>
  <dcterms:modified xsi:type="dcterms:W3CDTF">2026-10-21T19:07:31Z</dcterms:modified>
</cp:coreProperties>
</file>